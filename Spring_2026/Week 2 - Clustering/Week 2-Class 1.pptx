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1"/>
  </p:notesMasterIdLst>
  <p:sldIdLst>
    <p:sldId id="328" r:id="rId2"/>
    <p:sldId id="258" r:id="rId3"/>
    <p:sldId id="374" r:id="rId4"/>
    <p:sldId id="329" r:id="rId5"/>
    <p:sldId id="259" r:id="rId6"/>
    <p:sldId id="260" r:id="rId7"/>
    <p:sldId id="261" r:id="rId8"/>
    <p:sldId id="263" r:id="rId9"/>
    <p:sldId id="267" r:id="rId10"/>
    <p:sldId id="269" r:id="rId11"/>
    <p:sldId id="270" r:id="rId12"/>
    <p:sldId id="271" r:id="rId13"/>
    <p:sldId id="272" r:id="rId14"/>
    <p:sldId id="274" r:id="rId15"/>
    <p:sldId id="275" r:id="rId16"/>
    <p:sldId id="276" r:id="rId17"/>
    <p:sldId id="278" r:id="rId18"/>
    <p:sldId id="375" r:id="rId19"/>
    <p:sldId id="376" r:id="rId20"/>
    <p:sldId id="365" r:id="rId21"/>
    <p:sldId id="366" r:id="rId22"/>
    <p:sldId id="367" r:id="rId23"/>
    <p:sldId id="368" r:id="rId24"/>
    <p:sldId id="369" r:id="rId25"/>
    <p:sldId id="377" r:id="rId26"/>
    <p:sldId id="330" r:id="rId27"/>
    <p:sldId id="331" r:id="rId28"/>
    <p:sldId id="332" r:id="rId29"/>
    <p:sldId id="378" r:id="rId30"/>
    <p:sldId id="333" r:id="rId31"/>
    <p:sldId id="334" r:id="rId32"/>
    <p:sldId id="262" r:id="rId33"/>
    <p:sldId id="335" r:id="rId34"/>
    <p:sldId id="264" r:id="rId35"/>
    <p:sldId id="265" r:id="rId36"/>
    <p:sldId id="336" r:id="rId37"/>
    <p:sldId id="268" r:id="rId38"/>
    <p:sldId id="337" r:id="rId39"/>
    <p:sldId id="338" r:id="rId40"/>
    <p:sldId id="339" r:id="rId41"/>
    <p:sldId id="340" r:id="rId42"/>
    <p:sldId id="273" r:id="rId43"/>
    <p:sldId id="341" r:id="rId44"/>
    <p:sldId id="342" r:id="rId45"/>
    <p:sldId id="343" r:id="rId46"/>
    <p:sldId id="344" r:id="rId47"/>
    <p:sldId id="345" r:id="rId48"/>
    <p:sldId id="346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3" r:id="rId62"/>
    <p:sldId id="379" r:id="rId63"/>
    <p:sldId id="380" r:id="rId64"/>
    <p:sldId id="381" r:id="rId65"/>
    <p:sldId id="382" r:id="rId66"/>
    <p:sldId id="383" r:id="rId67"/>
    <p:sldId id="384" r:id="rId68"/>
    <p:sldId id="294" r:id="rId69"/>
    <p:sldId id="373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1"/>
    <p:restoredTop sz="87160" autoAdjust="0"/>
  </p:normalViewPr>
  <p:slideViewPr>
    <p:cSldViewPr snapToGrid="0" snapToObjects="1">
      <p:cViewPr varScale="1">
        <p:scale>
          <a:sx n="90" d="100"/>
          <a:sy n="90" d="100"/>
        </p:scale>
        <p:origin x="21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C0FA3B-E749-470E-A449-198C5DC3E6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A1B9EE-2B6D-42BD-A508-7ACFF7FA70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Metrics spaces and coverings</a:t>
          </a:r>
        </a:p>
      </dgm:t>
    </dgm:pt>
    <dgm:pt modelId="{2AB349C9-CF27-4D17-BBAA-F7A35966DA4B}" type="parTrans" cxnId="{C1107DD1-0444-4950-BCF9-A609DE579A95}">
      <dgm:prSet/>
      <dgm:spPr/>
      <dgm:t>
        <a:bodyPr/>
        <a:lstStyle/>
        <a:p>
          <a:endParaRPr lang="en-US"/>
        </a:p>
      </dgm:t>
    </dgm:pt>
    <dgm:pt modelId="{618AA33F-16E8-4611-A56F-7A3A7D4E6BB2}" type="sibTrans" cxnId="{C1107DD1-0444-4950-BCF9-A609DE579A95}">
      <dgm:prSet/>
      <dgm:spPr/>
      <dgm:t>
        <a:bodyPr/>
        <a:lstStyle/>
        <a:p>
          <a:endParaRPr lang="en-US"/>
        </a:p>
      </dgm:t>
    </dgm:pt>
    <dgm:pt modelId="{29C84367-EDFD-4B9E-8A82-AC8E3ADC33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Clustering in metric spaces, </a:t>
          </a:r>
        </a:p>
      </dgm:t>
    </dgm:pt>
    <dgm:pt modelId="{F9A45D00-9050-4F30-9884-8C8D6430F1B8}" type="parTrans" cxnId="{F081A0C3-0E55-485A-B57E-C6B0390514C3}">
      <dgm:prSet/>
      <dgm:spPr/>
      <dgm:t>
        <a:bodyPr/>
        <a:lstStyle/>
        <a:p>
          <a:endParaRPr lang="en-US"/>
        </a:p>
      </dgm:t>
    </dgm:pt>
    <dgm:pt modelId="{6E058104-2CA7-466F-82B9-F56DD273692E}" type="sibTrans" cxnId="{F081A0C3-0E55-485A-B57E-C6B0390514C3}">
      <dgm:prSet/>
      <dgm:spPr/>
      <dgm:t>
        <a:bodyPr/>
        <a:lstStyle/>
        <a:p>
          <a:endParaRPr lang="en-US"/>
        </a:p>
      </dgm:t>
    </dgm:pt>
    <dgm:pt modelId="{01A1DEBA-9C7A-4D2E-967B-96B1CBDECF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k-center problem</a:t>
          </a:r>
        </a:p>
      </dgm:t>
    </dgm:pt>
    <dgm:pt modelId="{AB82F024-D8C9-49C8-9303-9FA29AC94326}" type="parTrans" cxnId="{C4D85984-6498-42CC-A52F-395CE58E8EF2}">
      <dgm:prSet/>
      <dgm:spPr/>
      <dgm:t>
        <a:bodyPr/>
        <a:lstStyle/>
        <a:p>
          <a:endParaRPr lang="en-US"/>
        </a:p>
      </dgm:t>
    </dgm:pt>
    <dgm:pt modelId="{B14F8205-D81F-4CCE-8DCC-CD903EA539D0}" type="sibTrans" cxnId="{C4D85984-6498-42CC-A52F-395CE58E8EF2}">
      <dgm:prSet/>
      <dgm:spPr/>
      <dgm:t>
        <a:bodyPr/>
        <a:lstStyle/>
        <a:p>
          <a:endParaRPr lang="en-US"/>
        </a:p>
      </dgm:t>
    </dgm:pt>
    <dgm:pt modelId="{1CC9A1B6-4216-4873-B712-DC7706CB42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k-means problem</a:t>
          </a:r>
        </a:p>
      </dgm:t>
    </dgm:pt>
    <dgm:pt modelId="{845B89F2-9B05-4366-9BCB-176834F6D5F8}" type="parTrans" cxnId="{3B4757A8-7DC0-4B69-8FAE-CECFB0F3795B}">
      <dgm:prSet/>
      <dgm:spPr/>
      <dgm:t>
        <a:bodyPr/>
        <a:lstStyle/>
        <a:p>
          <a:endParaRPr lang="en-US"/>
        </a:p>
      </dgm:t>
    </dgm:pt>
    <dgm:pt modelId="{3C214B1D-CF2E-457F-B703-1579149943C2}" type="sibTrans" cxnId="{3B4757A8-7DC0-4B69-8FAE-CECFB0F3795B}">
      <dgm:prSet/>
      <dgm:spPr/>
      <dgm:t>
        <a:bodyPr/>
        <a:lstStyle/>
        <a:p>
          <a:endParaRPr lang="en-US"/>
        </a:p>
      </dgm:t>
    </dgm:pt>
    <dgm:pt modelId="{135D95C5-45DC-4F11-A61F-7FA7E82901B0}" type="pres">
      <dgm:prSet presAssocID="{EAC0FA3B-E749-470E-A449-198C5DC3E675}" presName="root" presStyleCnt="0">
        <dgm:presLayoutVars>
          <dgm:dir/>
          <dgm:resizeHandles val="exact"/>
        </dgm:presLayoutVars>
      </dgm:prSet>
      <dgm:spPr/>
    </dgm:pt>
    <dgm:pt modelId="{F5518B80-B165-4A54-8116-A1D72EAAA0A8}" type="pres">
      <dgm:prSet presAssocID="{85A1B9EE-2B6D-42BD-A508-7ACFF7FA70A1}" presName="compNode" presStyleCnt="0"/>
      <dgm:spPr/>
    </dgm:pt>
    <dgm:pt modelId="{7C8F27E1-F667-42E5-8FD7-B4B54FE51A78}" type="pres">
      <dgm:prSet presAssocID="{85A1B9EE-2B6D-42BD-A508-7ACFF7FA70A1}" presName="bgRect" presStyleLbl="bgShp" presStyleIdx="0" presStyleCnt="4"/>
      <dgm:spPr/>
    </dgm:pt>
    <dgm:pt modelId="{A3724645-458B-4142-8145-C096B0847A9B}" type="pres">
      <dgm:prSet presAssocID="{85A1B9EE-2B6D-42BD-A508-7ACFF7FA70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08626FB-7760-4C52-A86C-EA66EAE56E1B}" type="pres">
      <dgm:prSet presAssocID="{85A1B9EE-2B6D-42BD-A508-7ACFF7FA70A1}" presName="spaceRect" presStyleCnt="0"/>
      <dgm:spPr/>
    </dgm:pt>
    <dgm:pt modelId="{25DAE232-59BE-4945-8525-A92799187A71}" type="pres">
      <dgm:prSet presAssocID="{85A1B9EE-2B6D-42BD-A508-7ACFF7FA70A1}" presName="parTx" presStyleLbl="revTx" presStyleIdx="0" presStyleCnt="4">
        <dgm:presLayoutVars>
          <dgm:chMax val="0"/>
          <dgm:chPref val="0"/>
        </dgm:presLayoutVars>
      </dgm:prSet>
      <dgm:spPr/>
    </dgm:pt>
    <dgm:pt modelId="{725A03A7-FAC3-4CFC-A104-6850E5ACA519}" type="pres">
      <dgm:prSet presAssocID="{618AA33F-16E8-4611-A56F-7A3A7D4E6BB2}" presName="sibTrans" presStyleCnt="0"/>
      <dgm:spPr/>
    </dgm:pt>
    <dgm:pt modelId="{F8CAFECB-8FD0-49F1-B483-4CB0172305D9}" type="pres">
      <dgm:prSet presAssocID="{29C84367-EDFD-4B9E-8A82-AC8E3ADC33E1}" presName="compNode" presStyleCnt="0"/>
      <dgm:spPr/>
    </dgm:pt>
    <dgm:pt modelId="{E9B01364-CC1B-4D90-AE55-FFA6362C2963}" type="pres">
      <dgm:prSet presAssocID="{29C84367-EDFD-4B9E-8A82-AC8E3ADC33E1}" presName="bgRect" presStyleLbl="bgShp" presStyleIdx="1" presStyleCnt="4"/>
      <dgm:spPr/>
    </dgm:pt>
    <dgm:pt modelId="{462B08F1-B11B-450B-8E95-419012A340AC}" type="pres">
      <dgm:prSet presAssocID="{29C84367-EDFD-4B9E-8A82-AC8E3ADC33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953FBBC-A902-4864-AA91-11AE2FDA1C32}" type="pres">
      <dgm:prSet presAssocID="{29C84367-EDFD-4B9E-8A82-AC8E3ADC33E1}" presName="spaceRect" presStyleCnt="0"/>
      <dgm:spPr/>
    </dgm:pt>
    <dgm:pt modelId="{A166CF2A-5F07-4CBD-90F8-7B0AB88D85BA}" type="pres">
      <dgm:prSet presAssocID="{29C84367-EDFD-4B9E-8A82-AC8E3ADC33E1}" presName="parTx" presStyleLbl="revTx" presStyleIdx="1" presStyleCnt="4">
        <dgm:presLayoutVars>
          <dgm:chMax val="0"/>
          <dgm:chPref val="0"/>
        </dgm:presLayoutVars>
      </dgm:prSet>
      <dgm:spPr/>
    </dgm:pt>
    <dgm:pt modelId="{8D184E9F-3012-47D0-846F-9EC3A89D1F46}" type="pres">
      <dgm:prSet presAssocID="{6E058104-2CA7-466F-82B9-F56DD273692E}" presName="sibTrans" presStyleCnt="0"/>
      <dgm:spPr/>
    </dgm:pt>
    <dgm:pt modelId="{13220C7A-9C5A-4C00-AB13-F2A5F3DA210E}" type="pres">
      <dgm:prSet presAssocID="{01A1DEBA-9C7A-4D2E-967B-96B1CBDECFA1}" presName="compNode" presStyleCnt="0"/>
      <dgm:spPr/>
    </dgm:pt>
    <dgm:pt modelId="{EFDA88A6-DC3D-4EAE-9440-CFF72BEC1B3A}" type="pres">
      <dgm:prSet presAssocID="{01A1DEBA-9C7A-4D2E-967B-96B1CBDECFA1}" presName="bgRect" presStyleLbl="bgShp" presStyleIdx="2" presStyleCnt="4"/>
      <dgm:spPr/>
    </dgm:pt>
    <dgm:pt modelId="{C31CE981-474F-4C1F-8114-4D9AFAB1178B}" type="pres">
      <dgm:prSet presAssocID="{01A1DEBA-9C7A-4D2E-967B-96B1CBDECF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C69AF625-6562-4FE0-897D-922CE353F2A9}" type="pres">
      <dgm:prSet presAssocID="{01A1DEBA-9C7A-4D2E-967B-96B1CBDECFA1}" presName="spaceRect" presStyleCnt="0"/>
      <dgm:spPr/>
    </dgm:pt>
    <dgm:pt modelId="{D42CE0C2-14E6-4039-BBE6-E8FA6504E380}" type="pres">
      <dgm:prSet presAssocID="{01A1DEBA-9C7A-4D2E-967B-96B1CBDECFA1}" presName="parTx" presStyleLbl="revTx" presStyleIdx="2" presStyleCnt="4">
        <dgm:presLayoutVars>
          <dgm:chMax val="0"/>
          <dgm:chPref val="0"/>
        </dgm:presLayoutVars>
      </dgm:prSet>
      <dgm:spPr/>
    </dgm:pt>
    <dgm:pt modelId="{A33968BE-9710-471C-81C4-4598F1B3DB80}" type="pres">
      <dgm:prSet presAssocID="{B14F8205-D81F-4CCE-8DCC-CD903EA539D0}" presName="sibTrans" presStyleCnt="0"/>
      <dgm:spPr/>
    </dgm:pt>
    <dgm:pt modelId="{E3127E3A-FC57-4DFA-9989-F25B0F456816}" type="pres">
      <dgm:prSet presAssocID="{1CC9A1B6-4216-4873-B712-DC7706CB42F1}" presName="compNode" presStyleCnt="0"/>
      <dgm:spPr/>
    </dgm:pt>
    <dgm:pt modelId="{F1F8BE14-0348-4094-B8D5-71073A41DCC4}" type="pres">
      <dgm:prSet presAssocID="{1CC9A1B6-4216-4873-B712-DC7706CB42F1}" presName="bgRect" presStyleLbl="bgShp" presStyleIdx="3" presStyleCnt="4"/>
      <dgm:spPr/>
    </dgm:pt>
    <dgm:pt modelId="{E36A0CB6-1B0C-4EDB-8020-EAF518B546FE}" type="pres">
      <dgm:prSet presAssocID="{1CC9A1B6-4216-4873-B712-DC7706CB42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CAA75B6-4FDE-4ECD-B681-27AEE4FFE285}" type="pres">
      <dgm:prSet presAssocID="{1CC9A1B6-4216-4873-B712-DC7706CB42F1}" presName="spaceRect" presStyleCnt="0"/>
      <dgm:spPr/>
    </dgm:pt>
    <dgm:pt modelId="{5F301717-4298-43FB-AB9A-0E9FA13C722D}" type="pres">
      <dgm:prSet presAssocID="{1CC9A1B6-4216-4873-B712-DC7706CB42F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D67CE3F-7211-4600-ADE3-EC7FEEB1D951}" type="presOf" srcId="{EAC0FA3B-E749-470E-A449-198C5DC3E675}" destId="{135D95C5-45DC-4F11-A61F-7FA7E82901B0}" srcOrd="0" destOrd="0" presId="urn:microsoft.com/office/officeart/2018/2/layout/IconVerticalSolidList"/>
    <dgm:cxn modelId="{C4D85984-6498-42CC-A52F-395CE58E8EF2}" srcId="{EAC0FA3B-E749-470E-A449-198C5DC3E675}" destId="{01A1DEBA-9C7A-4D2E-967B-96B1CBDECFA1}" srcOrd="2" destOrd="0" parTransId="{AB82F024-D8C9-49C8-9303-9FA29AC94326}" sibTransId="{B14F8205-D81F-4CCE-8DCC-CD903EA539D0}"/>
    <dgm:cxn modelId="{B2551C8A-E398-49D1-ADEF-B5B3BC2103E9}" type="presOf" srcId="{29C84367-EDFD-4B9E-8A82-AC8E3ADC33E1}" destId="{A166CF2A-5F07-4CBD-90F8-7B0AB88D85BA}" srcOrd="0" destOrd="0" presId="urn:microsoft.com/office/officeart/2018/2/layout/IconVerticalSolidList"/>
    <dgm:cxn modelId="{3B4757A8-7DC0-4B69-8FAE-CECFB0F3795B}" srcId="{EAC0FA3B-E749-470E-A449-198C5DC3E675}" destId="{1CC9A1B6-4216-4873-B712-DC7706CB42F1}" srcOrd="3" destOrd="0" parTransId="{845B89F2-9B05-4366-9BCB-176834F6D5F8}" sibTransId="{3C214B1D-CF2E-457F-B703-1579149943C2}"/>
    <dgm:cxn modelId="{520816B7-BFB1-4604-9C6B-5F6603D5A608}" type="presOf" srcId="{01A1DEBA-9C7A-4D2E-967B-96B1CBDECFA1}" destId="{D42CE0C2-14E6-4039-BBE6-E8FA6504E380}" srcOrd="0" destOrd="0" presId="urn:microsoft.com/office/officeart/2018/2/layout/IconVerticalSolidList"/>
    <dgm:cxn modelId="{F081A0C3-0E55-485A-B57E-C6B0390514C3}" srcId="{EAC0FA3B-E749-470E-A449-198C5DC3E675}" destId="{29C84367-EDFD-4B9E-8A82-AC8E3ADC33E1}" srcOrd="1" destOrd="0" parTransId="{F9A45D00-9050-4F30-9884-8C8D6430F1B8}" sibTransId="{6E058104-2CA7-466F-82B9-F56DD273692E}"/>
    <dgm:cxn modelId="{1CD373C9-2DCA-424F-BAE8-3EC2E9B89DDE}" type="presOf" srcId="{1CC9A1B6-4216-4873-B712-DC7706CB42F1}" destId="{5F301717-4298-43FB-AB9A-0E9FA13C722D}" srcOrd="0" destOrd="0" presId="urn:microsoft.com/office/officeart/2018/2/layout/IconVerticalSolidList"/>
    <dgm:cxn modelId="{CA542ECB-0A07-433C-A6FD-5812CCC51B0D}" type="presOf" srcId="{85A1B9EE-2B6D-42BD-A508-7ACFF7FA70A1}" destId="{25DAE232-59BE-4945-8525-A92799187A71}" srcOrd="0" destOrd="0" presId="urn:microsoft.com/office/officeart/2018/2/layout/IconVerticalSolidList"/>
    <dgm:cxn modelId="{C1107DD1-0444-4950-BCF9-A609DE579A95}" srcId="{EAC0FA3B-E749-470E-A449-198C5DC3E675}" destId="{85A1B9EE-2B6D-42BD-A508-7ACFF7FA70A1}" srcOrd="0" destOrd="0" parTransId="{2AB349C9-CF27-4D17-BBAA-F7A35966DA4B}" sibTransId="{618AA33F-16E8-4611-A56F-7A3A7D4E6BB2}"/>
    <dgm:cxn modelId="{949EC3FD-E167-404F-90EC-80F18A016390}" type="presParOf" srcId="{135D95C5-45DC-4F11-A61F-7FA7E82901B0}" destId="{F5518B80-B165-4A54-8116-A1D72EAAA0A8}" srcOrd="0" destOrd="0" presId="urn:microsoft.com/office/officeart/2018/2/layout/IconVerticalSolidList"/>
    <dgm:cxn modelId="{B74855DA-C76D-4375-90C3-727C60D48026}" type="presParOf" srcId="{F5518B80-B165-4A54-8116-A1D72EAAA0A8}" destId="{7C8F27E1-F667-42E5-8FD7-B4B54FE51A78}" srcOrd="0" destOrd="0" presId="urn:microsoft.com/office/officeart/2018/2/layout/IconVerticalSolidList"/>
    <dgm:cxn modelId="{C81D8C80-887C-4296-A402-7CC5397440B5}" type="presParOf" srcId="{F5518B80-B165-4A54-8116-A1D72EAAA0A8}" destId="{A3724645-458B-4142-8145-C096B0847A9B}" srcOrd="1" destOrd="0" presId="urn:microsoft.com/office/officeart/2018/2/layout/IconVerticalSolidList"/>
    <dgm:cxn modelId="{3C6E8502-95E7-4ABC-BB99-8E17DB64DC5D}" type="presParOf" srcId="{F5518B80-B165-4A54-8116-A1D72EAAA0A8}" destId="{B08626FB-7760-4C52-A86C-EA66EAE56E1B}" srcOrd="2" destOrd="0" presId="urn:microsoft.com/office/officeart/2018/2/layout/IconVerticalSolidList"/>
    <dgm:cxn modelId="{BC65B884-2EF3-4827-93C8-CA39275BB544}" type="presParOf" srcId="{F5518B80-B165-4A54-8116-A1D72EAAA0A8}" destId="{25DAE232-59BE-4945-8525-A92799187A71}" srcOrd="3" destOrd="0" presId="urn:microsoft.com/office/officeart/2018/2/layout/IconVerticalSolidList"/>
    <dgm:cxn modelId="{CC0E5D84-2752-4675-B7ED-98D1D4D9ED68}" type="presParOf" srcId="{135D95C5-45DC-4F11-A61F-7FA7E82901B0}" destId="{725A03A7-FAC3-4CFC-A104-6850E5ACA519}" srcOrd="1" destOrd="0" presId="urn:microsoft.com/office/officeart/2018/2/layout/IconVerticalSolidList"/>
    <dgm:cxn modelId="{E4CFCB27-61D2-4930-8E87-5D55B85C60A7}" type="presParOf" srcId="{135D95C5-45DC-4F11-A61F-7FA7E82901B0}" destId="{F8CAFECB-8FD0-49F1-B483-4CB0172305D9}" srcOrd="2" destOrd="0" presId="urn:microsoft.com/office/officeart/2018/2/layout/IconVerticalSolidList"/>
    <dgm:cxn modelId="{B7191751-112A-4441-828D-C7B1A7E56AAE}" type="presParOf" srcId="{F8CAFECB-8FD0-49F1-B483-4CB0172305D9}" destId="{E9B01364-CC1B-4D90-AE55-FFA6362C2963}" srcOrd="0" destOrd="0" presId="urn:microsoft.com/office/officeart/2018/2/layout/IconVerticalSolidList"/>
    <dgm:cxn modelId="{57DBB724-4975-4691-BD8E-F3D8D71902A7}" type="presParOf" srcId="{F8CAFECB-8FD0-49F1-B483-4CB0172305D9}" destId="{462B08F1-B11B-450B-8E95-419012A340AC}" srcOrd="1" destOrd="0" presId="urn:microsoft.com/office/officeart/2018/2/layout/IconVerticalSolidList"/>
    <dgm:cxn modelId="{95649D7B-4157-4272-88E3-213612C1CEF1}" type="presParOf" srcId="{F8CAFECB-8FD0-49F1-B483-4CB0172305D9}" destId="{7953FBBC-A902-4864-AA91-11AE2FDA1C32}" srcOrd="2" destOrd="0" presId="urn:microsoft.com/office/officeart/2018/2/layout/IconVerticalSolidList"/>
    <dgm:cxn modelId="{4EABFBA7-E39B-4578-8869-0CB7D66C9F1F}" type="presParOf" srcId="{F8CAFECB-8FD0-49F1-B483-4CB0172305D9}" destId="{A166CF2A-5F07-4CBD-90F8-7B0AB88D85BA}" srcOrd="3" destOrd="0" presId="urn:microsoft.com/office/officeart/2018/2/layout/IconVerticalSolidList"/>
    <dgm:cxn modelId="{EABB1B56-DF44-4DF2-AEC0-C169E1A526D7}" type="presParOf" srcId="{135D95C5-45DC-4F11-A61F-7FA7E82901B0}" destId="{8D184E9F-3012-47D0-846F-9EC3A89D1F46}" srcOrd="3" destOrd="0" presId="urn:microsoft.com/office/officeart/2018/2/layout/IconVerticalSolidList"/>
    <dgm:cxn modelId="{E6A0299F-2BFE-4123-9783-D86CC9A6DBA6}" type="presParOf" srcId="{135D95C5-45DC-4F11-A61F-7FA7E82901B0}" destId="{13220C7A-9C5A-4C00-AB13-F2A5F3DA210E}" srcOrd="4" destOrd="0" presId="urn:microsoft.com/office/officeart/2018/2/layout/IconVerticalSolidList"/>
    <dgm:cxn modelId="{3F8ED518-4C82-43C1-AA84-234839C8D856}" type="presParOf" srcId="{13220C7A-9C5A-4C00-AB13-F2A5F3DA210E}" destId="{EFDA88A6-DC3D-4EAE-9440-CFF72BEC1B3A}" srcOrd="0" destOrd="0" presId="urn:microsoft.com/office/officeart/2018/2/layout/IconVerticalSolidList"/>
    <dgm:cxn modelId="{CEA7F4DB-1B7A-4527-B4BE-3962C1D7A58E}" type="presParOf" srcId="{13220C7A-9C5A-4C00-AB13-F2A5F3DA210E}" destId="{C31CE981-474F-4C1F-8114-4D9AFAB1178B}" srcOrd="1" destOrd="0" presId="urn:microsoft.com/office/officeart/2018/2/layout/IconVerticalSolidList"/>
    <dgm:cxn modelId="{B722ED87-3737-4720-A7F2-FFB274DFE030}" type="presParOf" srcId="{13220C7A-9C5A-4C00-AB13-F2A5F3DA210E}" destId="{C69AF625-6562-4FE0-897D-922CE353F2A9}" srcOrd="2" destOrd="0" presId="urn:microsoft.com/office/officeart/2018/2/layout/IconVerticalSolidList"/>
    <dgm:cxn modelId="{E9B58D9C-3398-47CA-8B9A-D5ADB679A242}" type="presParOf" srcId="{13220C7A-9C5A-4C00-AB13-F2A5F3DA210E}" destId="{D42CE0C2-14E6-4039-BBE6-E8FA6504E380}" srcOrd="3" destOrd="0" presId="urn:microsoft.com/office/officeart/2018/2/layout/IconVerticalSolidList"/>
    <dgm:cxn modelId="{AECCADA9-D230-4C4D-84A0-31C89241D023}" type="presParOf" srcId="{135D95C5-45DC-4F11-A61F-7FA7E82901B0}" destId="{A33968BE-9710-471C-81C4-4598F1B3DB80}" srcOrd="5" destOrd="0" presId="urn:microsoft.com/office/officeart/2018/2/layout/IconVerticalSolidList"/>
    <dgm:cxn modelId="{0BC56969-5CEE-4DA3-8F07-A27440F70A35}" type="presParOf" srcId="{135D95C5-45DC-4F11-A61F-7FA7E82901B0}" destId="{E3127E3A-FC57-4DFA-9989-F25B0F456816}" srcOrd="6" destOrd="0" presId="urn:microsoft.com/office/officeart/2018/2/layout/IconVerticalSolidList"/>
    <dgm:cxn modelId="{E491197F-0E70-4836-A937-5B0DC96D6A10}" type="presParOf" srcId="{E3127E3A-FC57-4DFA-9989-F25B0F456816}" destId="{F1F8BE14-0348-4094-B8D5-71073A41DCC4}" srcOrd="0" destOrd="0" presId="urn:microsoft.com/office/officeart/2018/2/layout/IconVerticalSolidList"/>
    <dgm:cxn modelId="{BFB78177-416F-4478-BBE6-1E3C5A6E4733}" type="presParOf" srcId="{E3127E3A-FC57-4DFA-9989-F25B0F456816}" destId="{E36A0CB6-1B0C-4EDB-8020-EAF518B546FE}" srcOrd="1" destOrd="0" presId="urn:microsoft.com/office/officeart/2018/2/layout/IconVerticalSolidList"/>
    <dgm:cxn modelId="{7FD243EF-295C-4E09-BB84-493B1CFE7C7B}" type="presParOf" srcId="{E3127E3A-FC57-4DFA-9989-F25B0F456816}" destId="{7CAA75B6-4FDE-4ECD-B681-27AEE4FFE285}" srcOrd="2" destOrd="0" presId="urn:microsoft.com/office/officeart/2018/2/layout/IconVerticalSolidList"/>
    <dgm:cxn modelId="{DDA4D50B-BA28-41F5-935E-4FBC4255E102}" type="presParOf" srcId="{E3127E3A-FC57-4DFA-9989-F25B0F456816}" destId="{5F301717-4298-43FB-AB9A-0E9FA13C72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F27E1-F667-42E5-8FD7-B4B54FE51A78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24645-458B-4142-8145-C096B0847A9B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AE232-59BE-4945-8525-A92799187A71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Metrics spaces and coverings</a:t>
          </a:r>
        </a:p>
      </dsp:txBody>
      <dsp:txXfrm>
        <a:off x="1099610" y="1878"/>
        <a:ext cx="7129989" cy="952043"/>
      </dsp:txXfrm>
    </dsp:sp>
    <dsp:sp modelId="{E9B01364-CC1B-4D90-AE55-FFA6362C2963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B08F1-B11B-450B-8E95-419012A340AC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6CF2A-5F07-4CBD-90F8-7B0AB88D85BA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Clustering in metric spaces, </a:t>
          </a:r>
        </a:p>
      </dsp:txBody>
      <dsp:txXfrm>
        <a:off x="1099610" y="1191932"/>
        <a:ext cx="7129989" cy="952043"/>
      </dsp:txXfrm>
    </dsp:sp>
    <dsp:sp modelId="{EFDA88A6-DC3D-4EAE-9440-CFF72BEC1B3A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CE981-474F-4C1F-8114-4D9AFAB1178B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CE0C2-14E6-4039-BBE6-E8FA6504E380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k-center problem</a:t>
          </a:r>
        </a:p>
      </dsp:txBody>
      <dsp:txXfrm>
        <a:off x="1099610" y="2381986"/>
        <a:ext cx="7129989" cy="952043"/>
      </dsp:txXfrm>
    </dsp:sp>
    <dsp:sp modelId="{F1F8BE14-0348-4094-B8D5-71073A41DCC4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A0CB6-1B0C-4EDB-8020-EAF518B546FE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01717-4298-43FB-AB9A-0E9FA13C722D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k-means problem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dirty="0"/>
                  <a:t>Linear classifiers (e.g., Perceptron, SVM):</a:t>
                </a:r>
                <a:endParaRPr lang="en-US" sz="1200" dirty="0"/>
              </a:p>
              <a:p>
                <a:r>
                  <a:rPr lang="en-US" sz="1200" dirty="0"/>
                  <a:t>Use hyperplanes as decision boundaries.</a:t>
                </a:r>
              </a:p>
              <a:p>
                <a:r>
                  <a:rPr lang="en-US" sz="1200" dirty="0"/>
                  <a:t>The orientation is defined by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US" sz="1200" dirty="0"/>
                  <a:t>, and the position is shifted by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en-US" sz="1200" dirty="0"/>
                  <a:t>.</a:t>
                </a:r>
              </a:p>
              <a:p>
                <a:r>
                  <a:rPr lang="en-US" sz="1200" b="1" dirty="0"/>
                  <a:t>Dimensionality reduction (e.g., PCA):</a:t>
                </a:r>
                <a:endParaRPr lang="en-US" sz="1200" dirty="0"/>
              </a:p>
              <a:p>
                <a:r>
                  <a:rPr lang="en-US" sz="1200" dirty="0"/>
                  <a:t>Subspaces (like hyperplanes) are used to represent data in fewer dimensions.</a:t>
                </a:r>
              </a:p>
              <a:p>
                <a:r>
                  <a:rPr lang="en-US" sz="1200" b="1" dirty="0"/>
                  <a:t>Clustering:</a:t>
                </a:r>
                <a:endParaRPr lang="en-US" sz="1200" dirty="0"/>
              </a:p>
              <a:p>
                <a:r>
                  <a:rPr lang="en-US" sz="1200" dirty="0"/>
                  <a:t>Though clustering doesn’t usually define explicit hyperplanes, algorithms like </a:t>
                </a:r>
                <a:r>
                  <a:rPr lang="en-US" sz="1200" b="1" dirty="0"/>
                  <a:t>k-means</a:t>
                </a:r>
                <a:r>
                  <a:rPr lang="en-US" sz="1200" dirty="0"/>
                  <a:t> implicitly divide data using Voronoi partitions (hyperplane boundaries between centers)</a:t>
                </a:r>
              </a:p>
              <a:p>
                <a:endParaRPr lang="en-US" sz="12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53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41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38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25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77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42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15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4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13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12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77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56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3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E17D-3B5D-2A3B-F89E-AF265CF7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72AAC-987C-0A6D-63E9-21ADF2FEF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24B4C-05B2-DD36-7BC9-0F8A35DDB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51E24-E22F-B626-5EEA-5F8B46369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39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4B74B-2A93-27A1-9C40-2BBEE3AC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C67A7-52F4-0D0B-BBB5-FE6BCABC0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DBFD7-7B61-B7C7-1272-0B413A2F1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2F57-6375-03F5-EC42-993C74096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6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3FEA-E22E-5C77-852F-9ED02485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AD53D-B92E-CB2B-6781-61018050B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691D2-3552-F7FA-B10F-C4527BE05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1F9C4-74D8-4E99-E0BA-0B0DAD4D7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1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4D1D-235D-4EF4-E27C-F871A33C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39885-E552-3EBE-9B1F-BF278CA73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E9AC1-9AF1-F535-EAA2-BFCDDBA4C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0F3FF-08A7-9EDB-7522-5902E6490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50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95BD-963B-33DA-EA1A-596DC5D9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BAD00-0921-5216-3B80-D0AA1E469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57CF2-5B16-D8F2-D989-B430A2FD1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265CD-C639-49DF-30EA-69ECE5DBA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66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BF8F-EE9C-B113-CB5A-13D84D89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F31F0-114C-8D41-9362-D7AE5D5F6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26116-A68A-1400-D87C-73E6A9410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ED508-9B89-9184-EDDF-4BB94CEF3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398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390" y="6376229"/>
            <a:ext cx="3409123" cy="365125"/>
          </a:xfrm>
        </p:spPr>
        <p:txBody>
          <a:bodyPr/>
          <a:lstStyle/>
          <a:p>
            <a:r>
              <a:rPr lang="en-US" dirty="0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9329" y="6301408"/>
            <a:ext cx="2961861" cy="556591"/>
          </a:xfr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 lIns="0" tIns="0" rIns="0" bIns="0"/>
          <a:lstStyle>
            <a:lvl1pPr algn="ctr">
              <a:defRPr sz="1100" b="0" i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defRPr>
            </a:lvl1pPr>
          </a:lstStyle>
          <a:p>
            <a:pPr marL="9525">
              <a:lnSpc>
                <a:spcPts val="930"/>
              </a:lnSpc>
            </a:pPr>
            <a:r>
              <a:rPr lang="en-US"/>
              <a:t>CS 472/572 – Unsupervised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5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7704" y="1757275"/>
            <a:ext cx="3768090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25">
              <a:lnSpc>
                <a:spcPts val="930"/>
              </a:lnSpc>
            </a:pPr>
            <a:endParaRPr lang="en-US" spc="-8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25">
              <a:lnSpc>
                <a:spcPts val="930"/>
              </a:lnSpc>
            </a:pPr>
            <a:r>
              <a:rPr lang="en-US" spc="-8"/>
              <a:t>CS 472/572 – Unsupervised Machine Learning</a:t>
            </a:r>
            <a:endParaRPr lang="en-US" spc="-8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9525">
              <a:lnSpc>
                <a:spcPts val="930"/>
              </a:lnSpc>
            </a:pPr>
            <a:fld id="{81D60167-4931-47E6-BA6A-407CBD079E47}" type="slidenum">
              <a:rPr lang="en-US" spc="-19" smtClean="0"/>
              <a:pPr marL="9525">
                <a:lnSpc>
                  <a:spcPts val="930"/>
                </a:lnSpc>
              </a:pPr>
              <a:t>‹#›</a:t>
            </a:fld>
            <a:endParaRPr lang="en-US" spc="-19" dirty="0"/>
          </a:p>
        </p:txBody>
      </p:sp>
    </p:spTree>
    <p:extLst>
      <p:ext uri="{BB962C8B-B14F-4D97-AF65-F5344CB8AC3E}">
        <p14:creationId xmlns:p14="http://schemas.microsoft.com/office/powerpoint/2010/main" val="295807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99390" y="6410739"/>
            <a:ext cx="2660744" cy="3452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  <a:endParaRPr lang="en-US" sz="1100" b="0" i="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processi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1607876" y="1832345"/>
            <a:ext cx="6121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CS 472/572</a:t>
            </a:r>
          </a:p>
          <a:p>
            <a:pPr algn="ctr"/>
            <a:r>
              <a:rPr lang="en-US" sz="2800" b="1" dirty="0"/>
              <a:t>  Unsupervised Machine Learning</a:t>
            </a:r>
            <a:endParaRPr lang="en-US" sz="105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866" y="4610631"/>
            <a:ext cx="6858000" cy="123148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Spring </a:t>
            </a:r>
            <a:r>
              <a:rPr sz="2000" dirty="0">
                <a:solidFill>
                  <a:schemeClr val="tx1"/>
                </a:solidFill>
              </a:rPr>
              <a:t>202</a:t>
            </a:r>
            <a:r>
              <a:rPr lang="en-US" sz="2000" dirty="0">
                <a:solidFill>
                  <a:schemeClr val="tx1"/>
                </a:solidFill>
              </a:rPr>
              <a:t>6</a:t>
            </a:r>
            <a:endParaRPr sz="2000" dirty="0">
              <a:solidFill>
                <a:schemeClr val="tx1"/>
              </a:solidFill>
            </a:endParaRPr>
          </a:p>
          <a:p>
            <a:r>
              <a:rPr sz="2000" dirty="0">
                <a:solidFill>
                  <a:schemeClr val="tx1"/>
                </a:solidFill>
              </a:rPr>
              <a:t>Instructor: Dr. Khondker Fariha Hossain</a:t>
            </a:r>
            <a:endParaRPr lang="en-US" sz="2000" dirty="0">
              <a:solidFill>
                <a:schemeClr val="tx1"/>
              </a:solidFill>
            </a:endParaRPr>
          </a:p>
          <a:p>
            <a:endParaRPr sz="2000" dirty="0">
              <a:solidFill>
                <a:schemeClr val="tx1"/>
              </a:solidFill>
            </a:endParaRPr>
          </a:p>
          <a:p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E0BA2A-FF20-6CCE-9B7C-3B9E47537101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1752600" y="3007205"/>
            <a:ext cx="62484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Clustering 1</a:t>
            </a:r>
          </a:p>
          <a:p>
            <a:pPr algn="ctr"/>
            <a:r>
              <a:rPr lang="en-US" sz="1600" b="1" dirty="0"/>
              <a:t>Week-2 -Class -1</a:t>
            </a:r>
            <a:endParaRPr lang="en-US" sz="400" b="1" dirty="0"/>
          </a:p>
          <a:p>
            <a:pPr algn="ctr"/>
            <a:endParaRPr lang="en-US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8BB169-C297-8747-2C7E-20A34A3B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DB8F-E668-BE6C-4294-3D5F8140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6CFF31-D18D-DA71-C84B-7BDC192CA452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Topics</a:t>
            </a:r>
          </a:p>
        </p:txBody>
      </p:sp>
      <p:sp>
        <p:nvSpPr>
          <p:cNvPr id="30" name="Shape 68">
            <a:extLst>
              <a:ext uri="{FF2B5EF4-FFF2-40B4-BE49-F238E27FC236}">
                <a16:creationId xmlns:a16="http://schemas.microsoft.com/office/drawing/2014/main" id="{C3A0B4E5-A8E3-18AA-09B5-5D53B625504C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E0D94E4E-A1D1-6E78-3683-44AB6C81B884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A89B4693-6684-1844-0686-F64369BD6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460491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31C5F4-DC05-C166-524C-65FF05874257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1A038-B354-1EE9-1F99-2FEB69FA85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0FF31-ED89-850D-97BB-14C1B5C91BE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7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3B1C-0D25-DE2E-9ACD-0F5D8944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04CB190-1757-68D2-6B4E-060D27614B85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marR="3810">
              <a:lnSpc>
                <a:spcPts val="3570"/>
              </a:lnSpc>
              <a:spcBef>
                <a:spcPts val="521"/>
              </a:spcBef>
            </a:pPr>
            <a:r>
              <a:rPr lang="en-US" sz="5400" spc="-8" dirty="0">
                <a:solidFill>
                  <a:srgbClr val="FFFFFF"/>
                </a:solidFill>
                <a:latin typeface="Calibri Light"/>
                <a:cs typeface="Calibri Light"/>
              </a:rPr>
              <a:t>   Linear </a:t>
            </a:r>
            <a:r>
              <a:rPr lang="en-US" sz="5400" spc="-19" dirty="0">
                <a:solidFill>
                  <a:srgbClr val="FFFFFF"/>
                </a:solidFill>
                <a:latin typeface="Calibri Light"/>
                <a:cs typeface="Calibri Light"/>
              </a:rPr>
              <a:t>Algebra</a:t>
            </a:r>
            <a:endParaRPr lang="en-US" sz="5400" dirty="0">
              <a:latin typeface="Calibri Light"/>
              <a:cs typeface="Calibri Light"/>
            </a:endParaRPr>
          </a:p>
        </p:txBody>
      </p:sp>
      <p:sp>
        <p:nvSpPr>
          <p:cNvPr id="30" name="Shape 68">
            <a:extLst>
              <a:ext uri="{FF2B5EF4-FFF2-40B4-BE49-F238E27FC236}">
                <a16:creationId xmlns:a16="http://schemas.microsoft.com/office/drawing/2014/main" id="{972A65D6-61AE-7F54-D0B7-88FC57CB882C}"/>
              </a:ext>
            </a:extLst>
          </p:cNvPr>
          <p:cNvSpPr txBox="1"/>
          <p:nvPr/>
        </p:nvSpPr>
        <p:spPr>
          <a:xfrm>
            <a:off x="4435351" y="1513294"/>
            <a:ext cx="4430250" cy="12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1686D12D-2AA1-4ACF-AF2D-3F694EE50E8E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23DD9-7F34-5962-D8DF-70FFBE208F79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45828-7F07-B351-0C3F-EFF4ABA5F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4FFB005B-74C5-3C42-831C-58DAC5456B78}"/>
              </a:ext>
            </a:extLst>
          </p:cNvPr>
          <p:cNvSpPr txBox="1"/>
          <p:nvPr/>
        </p:nvSpPr>
        <p:spPr>
          <a:xfrm>
            <a:off x="349781" y="1478500"/>
            <a:ext cx="8444437" cy="18344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lnSpc>
                <a:spcPts val="1331"/>
              </a:lnSpc>
              <a:spcBef>
                <a:spcPts val="75"/>
              </a:spcBef>
              <a:buFont typeface="Arial MT"/>
              <a:buChar char="•"/>
              <a:tabLst>
                <a:tab pos="180499" algn="l"/>
              </a:tabLst>
            </a:pPr>
            <a:r>
              <a:rPr sz="1600" spc="-8" dirty="0">
                <a:latin typeface="Calibri"/>
                <a:cs typeface="Calibri"/>
              </a:rPr>
              <a:t>Scalars</a:t>
            </a:r>
            <a:endParaRPr sz="1600" dirty="0">
              <a:latin typeface="Calibri"/>
              <a:cs typeface="Calibri"/>
            </a:endParaRPr>
          </a:p>
          <a:p>
            <a:pPr marL="523399" lvl="1" indent="-170974">
              <a:lnSpc>
                <a:spcPts val="1320"/>
              </a:lnSpc>
              <a:buFont typeface="Arial MT"/>
              <a:buChar char="•"/>
              <a:tabLst>
                <a:tab pos="523399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scalar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field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define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vector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space</a:t>
            </a:r>
            <a:endParaRPr sz="1600" dirty="0">
              <a:latin typeface="Calibri"/>
              <a:cs typeface="Calibri"/>
            </a:endParaRPr>
          </a:p>
          <a:p>
            <a:pPr marL="523875" marR="225266" lvl="1" indent="-171450">
              <a:lnSpc>
                <a:spcPct val="70000"/>
              </a:lnSpc>
              <a:spcBef>
                <a:spcPts val="390"/>
              </a:spcBef>
              <a:buFont typeface="Arial MT"/>
              <a:buChar char="•"/>
              <a:tabLst>
                <a:tab pos="523875" algn="l"/>
              </a:tabLst>
            </a:pPr>
            <a:r>
              <a:rPr sz="1600" dirty="0">
                <a:latin typeface="Calibri"/>
                <a:cs typeface="Calibri"/>
              </a:rPr>
              <a:t>In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computing,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scalar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synonymous</a:t>
            </a:r>
            <a:r>
              <a:rPr sz="1600" spc="-4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8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variable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storage </a:t>
            </a:r>
            <a:r>
              <a:rPr sz="1600" dirty="0">
                <a:latin typeface="Calibri"/>
                <a:cs typeface="Calibri"/>
              </a:rPr>
              <a:t>location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paired</a:t>
            </a:r>
            <a:r>
              <a:rPr sz="1600" spc="-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symbolic</a:t>
            </a:r>
            <a:r>
              <a:rPr sz="1600" spc="-38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name</a:t>
            </a:r>
            <a:endParaRPr lang="en-US" sz="1600" spc="-15" dirty="0">
              <a:latin typeface="Calibri"/>
              <a:cs typeface="Calibri"/>
            </a:endParaRPr>
          </a:p>
          <a:p>
            <a:pPr marL="523875" marR="225266" lvl="1" indent="-171450">
              <a:lnSpc>
                <a:spcPct val="70000"/>
              </a:lnSpc>
              <a:spcBef>
                <a:spcPts val="390"/>
              </a:spcBef>
              <a:buFont typeface="Arial MT"/>
              <a:buChar char="•"/>
              <a:tabLst>
                <a:tab pos="523875" algn="l"/>
              </a:tabLst>
            </a:pPr>
            <a:endParaRPr sz="1600" dirty="0">
              <a:latin typeface="Calibri"/>
              <a:cs typeface="Calibri"/>
            </a:endParaRPr>
          </a:p>
          <a:p>
            <a:pPr marL="180499" indent="-170974">
              <a:lnSpc>
                <a:spcPts val="1335"/>
              </a:lnSpc>
              <a:spcBef>
                <a:spcPts val="341"/>
              </a:spcBef>
              <a:buFont typeface="Arial MT"/>
              <a:buChar char="•"/>
              <a:tabLst>
                <a:tab pos="180499" algn="l"/>
              </a:tabLst>
            </a:pPr>
            <a:r>
              <a:rPr sz="1600" spc="-8" dirty="0">
                <a:latin typeface="Calibri"/>
                <a:cs typeface="Calibri"/>
              </a:rPr>
              <a:t>Vectors</a:t>
            </a:r>
            <a:endParaRPr lang="en-US" sz="1600" spc="-8" dirty="0">
              <a:latin typeface="Calibri"/>
              <a:cs typeface="Calibri"/>
            </a:endParaRPr>
          </a:p>
          <a:p>
            <a:pPr marL="180499" indent="-170974">
              <a:lnSpc>
                <a:spcPts val="1335"/>
              </a:lnSpc>
              <a:spcBef>
                <a:spcPts val="341"/>
              </a:spcBef>
              <a:buFont typeface="Arial MT"/>
              <a:buChar char="•"/>
              <a:tabLst>
                <a:tab pos="180499" algn="l"/>
              </a:tabLst>
            </a:pPr>
            <a:endParaRPr sz="1600" dirty="0">
              <a:latin typeface="Calibri"/>
              <a:cs typeface="Calibri"/>
            </a:endParaRPr>
          </a:p>
          <a:p>
            <a:pPr marL="523399" lvl="1" indent="-170974">
              <a:lnSpc>
                <a:spcPts val="1133"/>
              </a:lnSpc>
              <a:buFont typeface="Arial MT"/>
              <a:buChar char="•"/>
              <a:tabLst>
                <a:tab pos="523399" algn="l"/>
              </a:tabLst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positive</a:t>
            </a:r>
            <a:r>
              <a:rPr sz="1600" spc="-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integer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n,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vector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n-tuple,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ordered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(multi)set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array</a:t>
            </a:r>
            <a:r>
              <a:rPr sz="1600" spc="-38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numbers,</a:t>
            </a:r>
            <a:r>
              <a:rPr lang="en-US" sz="1600" spc="-8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-38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1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scalars.</a:t>
            </a:r>
            <a:endParaRPr sz="1600" dirty="0">
              <a:latin typeface="Calibri"/>
              <a:cs typeface="Calibri"/>
            </a:endParaRPr>
          </a:p>
          <a:p>
            <a:pPr marL="170974" marR="3530441" lvl="1" indent="-170974" algn="r">
              <a:lnSpc>
                <a:spcPts val="1339"/>
              </a:lnSpc>
              <a:buFont typeface="Arial MT"/>
              <a:buChar char="•"/>
              <a:tabLst>
                <a:tab pos="170974" algn="l"/>
              </a:tabLst>
            </a:pPr>
            <a:r>
              <a:rPr sz="1600" dirty="0">
                <a:latin typeface="Calibri"/>
                <a:cs typeface="Calibri"/>
              </a:rPr>
              <a:t>Row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spc="-19" dirty="0">
                <a:latin typeface="Calibri"/>
                <a:cs typeface="Calibri"/>
              </a:rPr>
              <a:t>vector,</a:t>
            </a:r>
            <a:r>
              <a:rPr sz="1600" spc="-23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column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vector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B8ECFFA-0C28-8F96-A521-48471BA1960B}"/>
              </a:ext>
            </a:extLst>
          </p:cNvPr>
          <p:cNvSpPr txBox="1"/>
          <p:nvPr/>
        </p:nvSpPr>
        <p:spPr>
          <a:xfrm>
            <a:off x="571381" y="3462675"/>
            <a:ext cx="7727940" cy="8431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0974">
              <a:lnSpc>
                <a:spcPts val="1335"/>
              </a:lnSpc>
              <a:spcBef>
                <a:spcPts val="75"/>
              </a:spcBef>
              <a:buFont typeface="Arial MT"/>
              <a:buChar char="•"/>
              <a:tabLst>
                <a:tab pos="180499" algn="l"/>
              </a:tabLst>
            </a:pPr>
            <a:r>
              <a:rPr spc="-8" dirty="0">
                <a:latin typeface="Calibri"/>
                <a:cs typeface="Calibri"/>
              </a:rPr>
              <a:t>Matrices</a:t>
            </a:r>
            <a:endParaRPr dirty="0">
              <a:latin typeface="Calibri"/>
              <a:cs typeface="Calibri"/>
            </a:endParaRPr>
          </a:p>
          <a:p>
            <a:pPr marL="523399" lvl="1" indent="-170974">
              <a:lnSpc>
                <a:spcPts val="1335"/>
              </a:lnSpc>
              <a:buFont typeface="Arial MT"/>
              <a:buChar char="•"/>
              <a:tabLst>
                <a:tab pos="523399" algn="l"/>
              </a:tabLst>
            </a:pPr>
            <a:r>
              <a:rPr dirty="0">
                <a:latin typeface="Calibri"/>
                <a:cs typeface="Calibri"/>
              </a:rPr>
              <a:t>a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matrix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group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8" dirty="0">
                <a:latin typeface="Calibri"/>
                <a:cs typeface="Calibri"/>
              </a:rPr>
              <a:t> vectors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same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dimension</a:t>
            </a:r>
            <a:endParaRPr dirty="0">
              <a:latin typeface="Calibri"/>
              <a:cs typeface="Calibri"/>
            </a:endParaRPr>
          </a:p>
          <a:p>
            <a:pPr marL="180499" indent="-170974">
              <a:spcBef>
                <a:spcPts val="341"/>
              </a:spcBef>
              <a:buFont typeface="Arial MT"/>
              <a:buChar char="•"/>
              <a:tabLst>
                <a:tab pos="180499" algn="l"/>
              </a:tabLst>
            </a:pPr>
            <a:r>
              <a:rPr spc="-8" dirty="0">
                <a:latin typeface="Calibri"/>
                <a:cs typeface="Calibri"/>
              </a:rPr>
              <a:t>Tensors</a:t>
            </a:r>
            <a:endParaRPr dirty="0">
              <a:latin typeface="Calibri"/>
              <a:cs typeface="Calibri"/>
            </a:endParaRPr>
          </a:p>
          <a:p>
            <a:pPr marL="523399" lvl="1" indent="-170974">
              <a:spcBef>
                <a:spcPts val="23"/>
              </a:spcBef>
              <a:buFont typeface="Arial MT"/>
              <a:buChar char="•"/>
              <a:tabLst>
                <a:tab pos="523399" algn="l"/>
              </a:tabLst>
            </a:pPr>
            <a:r>
              <a:rPr sz="1200" dirty="0">
                <a:latin typeface="Calibri"/>
                <a:cs typeface="Calibri"/>
              </a:rPr>
              <a:t>A</a:t>
            </a:r>
            <a:r>
              <a:rPr sz="1200" spc="-19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tensor</a:t>
            </a:r>
            <a:r>
              <a:rPr sz="1200" i="1" spc="-11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1" dirty="0">
                <a:latin typeface="Calibri"/>
                <a:cs typeface="Calibri"/>
              </a:rPr>
              <a:t> </a:t>
            </a:r>
            <a:r>
              <a:rPr sz="1200" spc="-8" dirty="0">
                <a:latin typeface="Calibri"/>
                <a:cs typeface="Calibri"/>
              </a:rPr>
              <a:t>multidimensional</a:t>
            </a:r>
            <a:r>
              <a:rPr sz="1200" spc="23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array</a:t>
            </a:r>
            <a:r>
              <a:rPr sz="1200" spc="-19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8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4" dirty="0">
                <a:latin typeface="Calibri"/>
                <a:cs typeface="Calibri"/>
              </a:rPr>
              <a:t> </a:t>
            </a:r>
            <a:r>
              <a:rPr sz="1200" spc="-8" dirty="0">
                <a:latin typeface="Calibri"/>
                <a:cs typeface="Calibri"/>
              </a:rPr>
              <a:t>fundamental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8" dirty="0">
                <a:latin typeface="Calibri"/>
                <a:cs typeface="Calibri"/>
              </a:rPr>
              <a:t>level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F1CB6D2D-5D5E-E1BB-680A-3436A652A8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5365" y="4450750"/>
            <a:ext cx="5441599" cy="180998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6F804-D6CE-A03E-FD5A-E6422263D4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0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7288" y="1641729"/>
            <a:ext cx="3349591" cy="38313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7121" y="2670717"/>
            <a:ext cx="5042212" cy="2304381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179070" marR="72866" indent="-170021">
              <a:lnSpc>
                <a:spcPts val="1620"/>
              </a:lnSpc>
              <a:spcBef>
                <a:spcPts val="281"/>
              </a:spcBef>
              <a:buFont typeface="Arial MT"/>
              <a:buChar char="•"/>
              <a:tabLst>
                <a:tab pos="180975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field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geometry,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hyperplane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subspace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dimension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less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than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its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ambient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space.</a:t>
            </a:r>
            <a:endParaRPr lang="en-US" spc="-8" dirty="0">
              <a:latin typeface="Calibri"/>
              <a:cs typeface="Calibri"/>
            </a:endParaRPr>
          </a:p>
          <a:p>
            <a:pPr marL="179070" marR="72866" indent="-170021">
              <a:lnSpc>
                <a:spcPts val="1620"/>
              </a:lnSpc>
              <a:spcBef>
                <a:spcPts val="281"/>
              </a:spcBef>
              <a:buFont typeface="Arial MT"/>
              <a:buChar char="•"/>
              <a:tabLst>
                <a:tab pos="180975" algn="l"/>
              </a:tabLst>
            </a:pPr>
            <a:endParaRPr dirty="0">
              <a:latin typeface="Calibri"/>
              <a:cs typeface="Calibri"/>
            </a:endParaRPr>
          </a:p>
          <a:p>
            <a:pPr marL="180975" marR="3810" indent="-171926">
              <a:lnSpc>
                <a:spcPts val="1620"/>
              </a:lnSpc>
              <a:spcBef>
                <a:spcPts val="750"/>
              </a:spcBef>
              <a:buFont typeface="Arial MT"/>
              <a:buChar char="•"/>
              <a:tabLst>
                <a:tab pos="180975" algn="l"/>
              </a:tabLst>
            </a:pPr>
            <a:r>
              <a:rPr dirty="0">
                <a:latin typeface="Calibri"/>
                <a:cs typeface="Calibri"/>
              </a:rPr>
              <a:t>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hyperplane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mathematical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construct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divides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n</a:t>
            </a:r>
            <a:r>
              <a:rPr spc="-8" dirty="0">
                <a:latin typeface="Calibri"/>
                <a:cs typeface="Calibri"/>
              </a:rPr>
              <a:t>-</a:t>
            </a:r>
            <a:r>
              <a:rPr dirty="0">
                <a:latin typeface="Calibri"/>
                <a:cs typeface="Calibri"/>
              </a:rPr>
              <a:t>dimensional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space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into </a:t>
            </a:r>
            <a:r>
              <a:rPr spc="-8" dirty="0">
                <a:latin typeface="Calibri"/>
                <a:cs typeface="Calibri"/>
              </a:rPr>
              <a:t>separate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“parts”</a:t>
            </a:r>
            <a:endParaRPr lang="en-US" spc="-8" dirty="0">
              <a:latin typeface="Calibri"/>
              <a:cs typeface="Calibri"/>
            </a:endParaRPr>
          </a:p>
          <a:p>
            <a:pPr marL="180975" marR="3810" indent="-171926">
              <a:lnSpc>
                <a:spcPts val="1620"/>
              </a:lnSpc>
              <a:spcBef>
                <a:spcPts val="750"/>
              </a:spcBef>
              <a:buFont typeface="Arial MT"/>
              <a:buChar char="•"/>
              <a:tabLst>
                <a:tab pos="180975" algn="l"/>
              </a:tabLst>
            </a:pPr>
            <a:endParaRPr dirty="0">
              <a:latin typeface="Calibri"/>
              <a:cs typeface="Calibri"/>
            </a:endParaRPr>
          </a:p>
          <a:p>
            <a:pPr marL="180975" marR="325755" indent="-171926">
              <a:lnSpc>
                <a:spcPct val="90100"/>
              </a:lnSpc>
              <a:spcBef>
                <a:spcPts val="727"/>
              </a:spcBef>
              <a:buFont typeface="Arial MT"/>
              <a:buChar char="•"/>
              <a:tabLst>
                <a:tab pos="180975" algn="l"/>
              </a:tabLst>
            </a:pPr>
            <a:r>
              <a:rPr dirty="0">
                <a:latin typeface="Calibri"/>
                <a:cs typeface="Calibri"/>
              </a:rPr>
              <a:t>Optimizing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parameters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the </a:t>
            </a:r>
            <a:r>
              <a:rPr spc="-8" dirty="0">
                <a:latin typeface="Calibri"/>
                <a:cs typeface="Calibri"/>
              </a:rPr>
              <a:t>hyperplane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concept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linear modeling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FF2B10-CC4E-2C80-1616-D68D512D4DD2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marR="3810">
              <a:lnSpc>
                <a:spcPts val="3570"/>
              </a:lnSpc>
              <a:spcBef>
                <a:spcPts val="521"/>
              </a:spcBef>
            </a:pPr>
            <a:r>
              <a:rPr lang="en-US" sz="5400" spc="-26" dirty="0"/>
              <a:t>   Hyperplanes</a:t>
            </a:r>
            <a:endParaRPr lang="en-US" sz="5400" b="1" dirty="0">
              <a:latin typeface="Calibri Light"/>
              <a:cs typeface="Calibri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AE4F8-E17D-35DE-FE80-292A0429CC98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CC8B5A-A534-87A1-74A8-B93F6EBFD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5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202370"/>
            <a:ext cx="7660005" cy="331885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80022" marR="186690" indent="-170974">
              <a:lnSpc>
                <a:spcPts val="2265"/>
              </a:lnSpc>
              <a:spcBef>
                <a:spcPts val="360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dot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product</a:t>
            </a:r>
            <a:r>
              <a:rPr sz="2100" spc="-2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takes</a:t>
            </a:r>
            <a:r>
              <a:rPr sz="2100" spc="-6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two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vectors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same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length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returns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38" dirty="0">
                <a:latin typeface="Calibri"/>
                <a:cs typeface="Calibri"/>
              </a:rPr>
              <a:t>a 	</a:t>
            </a:r>
            <a:r>
              <a:rPr sz="2100" dirty="0">
                <a:latin typeface="Calibri"/>
                <a:cs typeface="Calibri"/>
              </a:rPr>
              <a:t>single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number.</a:t>
            </a:r>
            <a:endParaRPr sz="2100">
              <a:latin typeface="Calibri"/>
              <a:cs typeface="Calibri"/>
            </a:endParaRPr>
          </a:p>
          <a:p>
            <a:pPr marL="522923" lvl="1" indent="-170497">
              <a:spcBef>
                <a:spcPts val="153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Compute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dot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product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a=(1,2,3)</a:t>
            </a:r>
            <a:r>
              <a:rPr i="1"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b=(4,-</a:t>
            </a:r>
            <a:r>
              <a:rPr i="1" spc="-15" dirty="0">
                <a:latin typeface="Calibri"/>
                <a:cs typeface="Calibri"/>
              </a:rPr>
              <a:t>5,6)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61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a.b=</a:t>
            </a:r>
            <a:r>
              <a:rPr i="1" spc="49" dirty="0">
                <a:latin typeface="Calibri"/>
                <a:cs typeface="Calibri"/>
              </a:rPr>
              <a:t> </a:t>
            </a:r>
            <a:r>
              <a:rPr i="1" spc="-19" dirty="0">
                <a:latin typeface="Calibri"/>
                <a:cs typeface="Calibri"/>
              </a:rPr>
              <a:t>1*4+2*-</a:t>
            </a:r>
            <a:r>
              <a:rPr i="1" spc="-8" dirty="0">
                <a:latin typeface="Calibri"/>
                <a:cs typeface="Calibri"/>
              </a:rPr>
              <a:t>5+3*6=4-10+18=12</a:t>
            </a:r>
            <a:endParaRPr>
              <a:latin typeface="Calibri"/>
              <a:cs typeface="Calibri"/>
            </a:endParaRPr>
          </a:p>
          <a:p>
            <a:pPr marL="180022" marR="304800" indent="-170974">
              <a:lnSpc>
                <a:spcPts val="2265"/>
              </a:lnSpc>
              <a:spcBef>
                <a:spcPts val="765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latin typeface="Calibri"/>
                <a:cs typeface="Calibri"/>
              </a:rPr>
              <a:t>dot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product</a:t>
            </a:r>
            <a:r>
              <a:rPr sz="2100" spc="-1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measure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how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big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individual</a:t>
            </a:r>
            <a:r>
              <a:rPr sz="2100" spc="-1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elements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in 	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</a:t>
            </a:r>
            <a:endParaRPr sz="2100">
              <a:latin typeface="Calibri"/>
              <a:cs typeface="Calibri"/>
            </a:endParaRPr>
          </a:p>
          <a:p>
            <a:pPr marL="180022" marR="3810" indent="-170974">
              <a:lnSpc>
                <a:spcPts val="2265"/>
              </a:lnSpc>
              <a:spcBef>
                <a:spcPts val="75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latin typeface="Calibri"/>
                <a:cs typeface="Calibri"/>
              </a:rPr>
              <a:t>Two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vectors</a:t>
            </a:r>
            <a:r>
              <a:rPr sz="2100" spc="-7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7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rather</a:t>
            </a:r>
            <a:r>
              <a:rPr sz="2100" spc="-7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large</a:t>
            </a:r>
            <a:r>
              <a:rPr sz="2100" spc="-7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values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give</a:t>
            </a:r>
            <a:r>
              <a:rPr sz="2100" spc="-7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rather</a:t>
            </a:r>
            <a:r>
              <a:rPr sz="2100" spc="-7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large</a:t>
            </a:r>
            <a:r>
              <a:rPr sz="2100" spc="-7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results,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and 	</a:t>
            </a:r>
            <a:r>
              <a:rPr sz="2100" dirty="0">
                <a:latin typeface="Calibri"/>
                <a:cs typeface="Calibri"/>
              </a:rPr>
              <a:t>two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rather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small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values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give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rather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small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values</a:t>
            </a:r>
            <a:endParaRPr sz="2100">
              <a:latin typeface="Calibri"/>
              <a:cs typeface="Calibri"/>
            </a:endParaRPr>
          </a:p>
          <a:p>
            <a:pPr marL="180022" marR="704374" indent="-170974">
              <a:lnSpc>
                <a:spcPts val="2265"/>
              </a:lnSpc>
              <a:spcBef>
                <a:spcPts val="76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i="1" dirty="0">
                <a:latin typeface="Calibri"/>
                <a:cs typeface="Calibri"/>
              </a:rPr>
              <a:t>cosine</a:t>
            </a:r>
            <a:r>
              <a:rPr sz="2100" i="1" spc="-49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similarity</a:t>
            </a:r>
            <a:r>
              <a:rPr sz="2100" i="1" spc="-38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-</a:t>
            </a:r>
            <a:r>
              <a:rPr sz="2100" i="1" spc="-3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mathematical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notion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3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dot</a:t>
            </a:r>
            <a:r>
              <a:rPr sz="2100" spc="-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product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two 	</a:t>
            </a:r>
            <a:r>
              <a:rPr sz="2100" dirty="0">
                <a:latin typeface="Calibri"/>
                <a:cs typeface="Calibri"/>
              </a:rPr>
              <a:t>normalized</a:t>
            </a:r>
            <a:r>
              <a:rPr sz="2100" spc="-105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83B579-5F96-6FE2-6FF2-72BC5C8D8B52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marR="3810">
              <a:lnSpc>
                <a:spcPts val="3570"/>
              </a:lnSpc>
              <a:spcBef>
                <a:spcPts val="521"/>
              </a:spcBef>
            </a:pPr>
            <a:r>
              <a:rPr lang="en-US" sz="5400" dirty="0"/>
              <a:t>  Dot</a:t>
            </a:r>
            <a:r>
              <a:rPr lang="en-US" sz="5400" spc="-161" dirty="0"/>
              <a:t> </a:t>
            </a:r>
            <a:r>
              <a:rPr lang="en-US" sz="5400" spc="-26" dirty="0"/>
              <a:t>product</a:t>
            </a:r>
            <a:endParaRPr lang="en-US" sz="5400" dirty="0">
              <a:latin typeface="Calibri Light"/>
              <a:cs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27FAE-6346-370B-3211-0DAB38763E69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BC7353-7205-751C-3E30-B4A8AFDC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15310" y="284260"/>
            <a:ext cx="6172200" cy="74876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4800" spc="-41" dirty="0">
                <a:solidFill>
                  <a:schemeClr val="bg1"/>
                </a:solidFill>
              </a:rPr>
              <a:t>Element-</a:t>
            </a:r>
            <a:r>
              <a:rPr sz="4800" dirty="0">
                <a:solidFill>
                  <a:schemeClr val="bg1"/>
                </a:solidFill>
              </a:rPr>
              <a:t>wise</a:t>
            </a:r>
            <a:r>
              <a:rPr sz="4800" spc="-139" dirty="0">
                <a:solidFill>
                  <a:schemeClr val="bg1"/>
                </a:solidFill>
              </a:rPr>
              <a:t> </a:t>
            </a:r>
            <a:r>
              <a:rPr sz="4800" spc="-23" dirty="0">
                <a:solidFill>
                  <a:schemeClr val="bg1"/>
                </a:solidFill>
              </a:rPr>
              <a:t>product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6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202370"/>
            <a:ext cx="7361396" cy="93102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80022" marR="3810" indent="-170974" algn="just">
              <a:lnSpc>
                <a:spcPts val="2265"/>
              </a:lnSpc>
              <a:spcBef>
                <a:spcPts val="360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latin typeface="Calibri"/>
                <a:cs typeface="Calibri"/>
              </a:rPr>
              <a:t>takes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two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vectors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same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length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produces</a:t>
            </a:r>
            <a:r>
              <a:rPr sz="2100" spc="-2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vector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the 	</a:t>
            </a:r>
            <a:r>
              <a:rPr sz="2100" dirty="0">
                <a:latin typeface="Calibri"/>
                <a:cs typeface="Calibri"/>
              </a:rPr>
              <a:t>same</a:t>
            </a:r>
            <a:r>
              <a:rPr sz="2100" spc="-6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length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6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-6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corresponding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element</a:t>
            </a:r>
            <a:r>
              <a:rPr sz="2100" spc="-6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multiplied</a:t>
            </a:r>
            <a:r>
              <a:rPr sz="2100" spc="-3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together 	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two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source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vectors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3167" y="3454353"/>
            <a:ext cx="4400290" cy="726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98346" y="352647"/>
            <a:ext cx="4016503" cy="624690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4000" spc="-15" dirty="0">
                <a:solidFill>
                  <a:schemeClr val="bg1"/>
                </a:solidFill>
              </a:rPr>
              <a:t>Outer</a:t>
            </a:r>
            <a:r>
              <a:rPr sz="4000" spc="-131" dirty="0">
                <a:solidFill>
                  <a:schemeClr val="bg1"/>
                </a:solidFill>
              </a:rPr>
              <a:t> </a:t>
            </a:r>
            <a:r>
              <a:rPr sz="4000" spc="-23" dirty="0">
                <a:solidFill>
                  <a:schemeClr val="bg1"/>
                </a:solidFill>
              </a:rPr>
              <a:t>product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7</a:t>
            </a:fld>
            <a:endParaRPr spc="-19" dirty="0"/>
          </a:p>
        </p:txBody>
      </p:sp>
      <p:sp>
        <p:nvSpPr>
          <p:cNvPr id="3" name="object 3"/>
          <p:cNvSpPr/>
          <p:nvPr/>
        </p:nvSpPr>
        <p:spPr>
          <a:xfrm>
            <a:off x="1" y="1669923"/>
            <a:ext cx="65246" cy="505301"/>
          </a:xfrm>
          <a:custGeom>
            <a:avLst/>
            <a:gdLst/>
            <a:ahLst/>
            <a:cxnLst/>
            <a:rect l="l" t="t" r="r" b="b"/>
            <a:pathLst>
              <a:path w="86995" h="673735">
                <a:moveTo>
                  <a:pt x="86868" y="0"/>
                </a:moveTo>
                <a:lnTo>
                  <a:pt x="0" y="0"/>
                </a:lnTo>
                <a:lnTo>
                  <a:pt x="0" y="673608"/>
                </a:lnTo>
                <a:lnTo>
                  <a:pt x="86868" y="673608"/>
                </a:lnTo>
                <a:lnTo>
                  <a:pt x="868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20015" y="1669923"/>
            <a:ext cx="146685" cy="505301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98347" y="2450591"/>
            <a:ext cx="3731895" cy="20955"/>
          </a:xfrm>
          <a:custGeom>
            <a:avLst/>
            <a:gdLst/>
            <a:ahLst/>
            <a:cxnLst/>
            <a:rect l="l" t="t" r="r" b="b"/>
            <a:pathLst>
              <a:path w="4975860" h="27939">
                <a:moveTo>
                  <a:pt x="4975860" y="0"/>
                </a:moveTo>
                <a:lnTo>
                  <a:pt x="0" y="0"/>
                </a:lnTo>
                <a:lnTo>
                  <a:pt x="0" y="27432"/>
                </a:lnTo>
                <a:lnTo>
                  <a:pt x="4975860" y="27432"/>
                </a:lnTo>
                <a:lnTo>
                  <a:pt x="497586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502082" y="2984183"/>
            <a:ext cx="3822859" cy="167722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499" indent="-170974">
              <a:lnSpc>
                <a:spcPts val="1710"/>
              </a:lnSpc>
              <a:spcBef>
                <a:spcPts val="79"/>
              </a:spcBef>
              <a:buFont typeface="Arial MT"/>
              <a:buChar char="•"/>
              <a:tabLst>
                <a:tab pos="180499" algn="l"/>
              </a:tabLst>
            </a:pPr>
            <a:r>
              <a:rPr sz="1500" dirty="0">
                <a:latin typeface="Calibri"/>
                <a:cs typeface="Calibri"/>
              </a:rPr>
              <a:t>known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“tensor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product”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two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input</a:t>
            </a:r>
            <a:endParaRPr sz="1500">
              <a:latin typeface="Calibri"/>
              <a:cs typeface="Calibri"/>
            </a:endParaRPr>
          </a:p>
          <a:p>
            <a:pPr marL="180975">
              <a:lnSpc>
                <a:spcPts val="1710"/>
              </a:lnSpc>
            </a:pPr>
            <a:r>
              <a:rPr sz="1500" spc="-8" dirty="0">
                <a:latin typeface="Calibri"/>
                <a:cs typeface="Calibri"/>
              </a:rPr>
              <a:t>vectors</a:t>
            </a:r>
            <a:endParaRPr sz="1500">
              <a:latin typeface="Calibri"/>
              <a:cs typeface="Calibri"/>
            </a:endParaRPr>
          </a:p>
          <a:p>
            <a:pPr marL="180975" marR="386238" indent="-171450">
              <a:lnSpc>
                <a:spcPts val="1620"/>
              </a:lnSpc>
              <a:spcBef>
                <a:spcPts val="773"/>
              </a:spcBef>
              <a:buFont typeface="Arial MT"/>
              <a:buChar char="•"/>
              <a:tabLst>
                <a:tab pos="180975" algn="l"/>
              </a:tabLst>
            </a:pPr>
            <a:r>
              <a:rPr sz="1500" spc="-8" dirty="0">
                <a:latin typeface="Calibri"/>
                <a:cs typeface="Calibri"/>
              </a:rPr>
              <a:t>take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element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column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vector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and </a:t>
            </a:r>
            <a:r>
              <a:rPr sz="1500" dirty="0">
                <a:latin typeface="Calibri"/>
                <a:cs typeface="Calibri"/>
              </a:rPr>
              <a:t>multiply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elements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9" dirty="0">
                <a:latin typeface="Calibri"/>
                <a:cs typeface="Calibri"/>
              </a:rPr>
              <a:t> row </a:t>
            </a:r>
            <a:r>
              <a:rPr sz="1500" dirty="0">
                <a:latin typeface="Calibri"/>
                <a:cs typeface="Calibri"/>
              </a:rPr>
              <a:t>vector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creating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new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row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resultant matrix</a:t>
            </a:r>
            <a:endParaRPr sz="1500">
              <a:latin typeface="Calibri"/>
              <a:cs typeface="Calibri"/>
            </a:endParaRPr>
          </a:p>
          <a:p>
            <a:pPr marL="180499" indent="-170974">
              <a:spcBef>
                <a:spcPts val="551"/>
              </a:spcBef>
              <a:buFont typeface="Arial MT"/>
              <a:buChar char="•"/>
              <a:tabLst>
                <a:tab pos="180499" algn="l"/>
              </a:tabLst>
            </a:pPr>
            <a:r>
              <a:rPr sz="1500" dirty="0">
                <a:latin typeface="Calibri"/>
                <a:cs typeface="Calibri"/>
              </a:rPr>
              <a:t>outer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u</a:t>
            </a:r>
            <a:r>
              <a:rPr sz="1500" i="1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v</a:t>
            </a:r>
            <a:r>
              <a:rPr sz="1500" i="1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obtained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follows: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31485" y="857250"/>
            <a:ext cx="4112895" cy="5143500"/>
            <a:chOff x="6708647" y="0"/>
            <a:chExt cx="5483860" cy="6858000"/>
          </a:xfrm>
        </p:grpSpPr>
        <p:sp>
          <p:nvSpPr>
            <p:cNvPr id="8" name="object 8"/>
            <p:cNvSpPr/>
            <p:nvPr/>
          </p:nvSpPr>
          <p:spPr>
            <a:xfrm>
              <a:off x="10696955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8647" y="342900"/>
              <a:ext cx="5128259" cy="32064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0379" y="358140"/>
              <a:ext cx="4845050" cy="2923540"/>
            </a:xfrm>
            <a:custGeom>
              <a:avLst/>
              <a:gdLst/>
              <a:ahLst/>
              <a:cxnLst/>
              <a:rect l="l" t="t" r="r" b="b"/>
              <a:pathLst>
                <a:path w="4845050" h="2923540">
                  <a:moveTo>
                    <a:pt x="4844796" y="0"/>
                  </a:moveTo>
                  <a:lnTo>
                    <a:pt x="0" y="0"/>
                  </a:lnTo>
                  <a:lnTo>
                    <a:pt x="0" y="2923031"/>
                  </a:lnTo>
                  <a:lnTo>
                    <a:pt x="4844796" y="2923031"/>
                  </a:lnTo>
                  <a:lnTo>
                    <a:pt x="4844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06055" y="582168"/>
              <a:ext cx="2526792" cy="16108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8647" y="3489959"/>
              <a:ext cx="5128259" cy="32080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0379" y="3505200"/>
              <a:ext cx="4845050" cy="2924810"/>
            </a:xfrm>
            <a:custGeom>
              <a:avLst/>
              <a:gdLst/>
              <a:ahLst/>
              <a:cxnLst/>
              <a:rect l="l" t="t" r="r" b="b"/>
              <a:pathLst>
                <a:path w="4845050" h="2924810">
                  <a:moveTo>
                    <a:pt x="4844796" y="0"/>
                  </a:moveTo>
                  <a:lnTo>
                    <a:pt x="0" y="0"/>
                  </a:lnTo>
                  <a:lnTo>
                    <a:pt x="0" y="2924556"/>
                  </a:lnTo>
                  <a:lnTo>
                    <a:pt x="4844796" y="2924556"/>
                  </a:lnTo>
                  <a:lnTo>
                    <a:pt x="4844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5051" y="3535679"/>
              <a:ext cx="2769107" cy="28635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2900" y="297646"/>
            <a:ext cx="6172200" cy="687207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 algn="l">
              <a:spcBef>
                <a:spcPts val="79"/>
              </a:spcBef>
            </a:pPr>
            <a:r>
              <a:rPr sz="4400" dirty="0">
                <a:solidFill>
                  <a:schemeClr val="bg1"/>
                </a:solidFill>
              </a:rPr>
              <a:t>Sample</a:t>
            </a:r>
            <a:r>
              <a:rPr sz="4400" spc="8" dirty="0">
                <a:solidFill>
                  <a:schemeClr val="bg1"/>
                </a:solidFill>
              </a:rPr>
              <a:t> </a:t>
            </a:r>
            <a:r>
              <a:rPr sz="4400" spc="-38" dirty="0">
                <a:solidFill>
                  <a:schemeClr val="bg1"/>
                </a:solidFill>
              </a:rPr>
              <a:t>Data-</a:t>
            </a:r>
            <a:r>
              <a:rPr sz="4400" spc="-15" dirty="0">
                <a:solidFill>
                  <a:schemeClr val="bg1"/>
                </a:solidFill>
              </a:rPr>
              <a:t>Iris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8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160080"/>
            <a:ext cx="3730466" cy="311607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975" indent="-171450">
              <a:spcBef>
                <a:spcPts val="7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5.1,3.5,1.4,0.2,Iris-setosa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41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4.9,3.0,1.4,0.2,Iris-setosa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4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4.7,3.2,1.3,0.2,Iris-setosa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53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7.0,3.2,4.7,1.4,Iris-versicolor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45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6.4,3.2,4.5,1.5,Iris-versicolor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45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6.9,3.1,4.9,1.5,Iris-versicolor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56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6.3,3.3,6.0,2.5,Iris-virginica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spcBef>
                <a:spcPts val="45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5.8,2.7,5.1,1.9,Iris-virginica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lnSpc>
                <a:spcPts val="2228"/>
              </a:lnSpc>
              <a:spcBef>
                <a:spcPts val="45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8" dirty="0">
                <a:latin typeface="Calibri"/>
                <a:cs typeface="Calibri"/>
              </a:rPr>
              <a:t>7.1,3.0,5.9,2.1,Iris-virginica</a:t>
            </a:r>
            <a:endParaRPr sz="1950" dirty="0">
              <a:latin typeface="Calibri"/>
              <a:cs typeface="Calibri"/>
            </a:endParaRPr>
          </a:p>
          <a:p>
            <a:pPr marL="180975" indent="-171450">
              <a:lnSpc>
                <a:spcPts val="3128"/>
              </a:lnSpc>
              <a:buFont typeface="Arial MT"/>
              <a:buChar char="•"/>
              <a:tabLst>
                <a:tab pos="180975" algn="l"/>
              </a:tabLst>
            </a:pPr>
            <a:r>
              <a:rPr sz="2700" dirty="0">
                <a:latin typeface="Calibri"/>
                <a:cs typeface="Calibri"/>
              </a:rPr>
              <a:t>Four</a:t>
            </a:r>
            <a:r>
              <a:rPr sz="2700" spc="-49" dirty="0">
                <a:latin typeface="Calibri"/>
                <a:cs typeface="Calibri"/>
              </a:rPr>
              <a:t> </a:t>
            </a:r>
            <a:r>
              <a:rPr sz="2700" spc="-8" dirty="0">
                <a:latin typeface="Calibri"/>
                <a:cs typeface="Calibri"/>
              </a:rPr>
              <a:t>features</a:t>
            </a:r>
            <a:r>
              <a:rPr sz="2700" spc="-56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38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4" dirty="0">
                <a:latin typeface="Calibri"/>
                <a:cs typeface="Calibri"/>
              </a:rPr>
              <a:t> </a:t>
            </a:r>
            <a:r>
              <a:rPr sz="2700" spc="-8" dirty="0">
                <a:latin typeface="Calibri"/>
                <a:cs typeface="Calibri"/>
              </a:rPr>
              <a:t>label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2899" y="466264"/>
            <a:ext cx="7291277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 algn="l">
              <a:spcBef>
                <a:spcPts val="79"/>
              </a:spcBef>
            </a:pPr>
            <a:r>
              <a:rPr sz="4000" spc="-15" dirty="0">
                <a:solidFill>
                  <a:schemeClr val="bg1"/>
                </a:solidFill>
              </a:rPr>
              <a:t>Solving</a:t>
            </a:r>
            <a:r>
              <a:rPr sz="4000" spc="-131" dirty="0">
                <a:solidFill>
                  <a:schemeClr val="bg1"/>
                </a:solidFill>
              </a:rPr>
              <a:t> </a:t>
            </a:r>
            <a:r>
              <a:rPr sz="4000" spc="-41" dirty="0">
                <a:solidFill>
                  <a:schemeClr val="bg1"/>
                </a:solidFill>
              </a:rPr>
              <a:t>Systems</a:t>
            </a:r>
            <a:r>
              <a:rPr sz="4000" spc="-120" dirty="0">
                <a:solidFill>
                  <a:schemeClr val="bg1"/>
                </a:solidFill>
              </a:rPr>
              <a:t> </a:t>
            </a:r>
            <a:r>
              <a:rPr sz="4000" dirty="0">
                <a:solidFill>
                  <a:schemeClr val="bg1"/>
                </a:solidFill>
              </a:rPr>
              <a:t>of</a:t>
            </a:r>
            <a:r>
              <a:rPr sz="4000" spc="-105" dirty="0">
                <a:solidFill>
                  <a:schemeClr val="bg1"/>
                </a:solidFill>
              </a:rPr>
              <a:t> </a:t>
            </a:r>
            <a:r>
              <a:rPr sz="4000" spc="-23" dirty="0">
                <a:solidFill>
                  <a:schemeClr val="bg1"/>
                </a:solidFill>
              </a:rPr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4" y="2659570"/>
            <a:ext cx="7609523" cy="204671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048" marR="71438">
              <a:lnSpc>
                <a:spcPts val="2265"/>
              </a:lnSpc>
              <a:spcBef>
                <a:spcPts val="360"/>
              </a:spcBef>
              <a:tabLst>
                <a:tab pos="180975" algn="l"/>
              </a:tabLst>
            </a:pPr>
            <a:r>
              <a:rPr sz="2100" dirty="0">
                <a:latin typeface="Calibri"/>
                <a:cs typeface="Calibri"/>
              </a:rPr>
              <a:t>why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machine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learning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algorithms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want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represented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38" dirty="0">
                <a:latin typeface="Calibri"/>
                <a:cs typeface="Calibri"/>
              </a:rPr>
              <a:t>a 	</a:t>
            </a:r>
            <a:r>
              <a:rPr sz="2100" spc="-8" dirty="0">
                <a:latin typeface="Calibri"/>
                <a:cs typeface="Calibri"/>
              </a:rPr>
              <a:t>matrix?</a:t>
            </a:r>
            <a:endParaRPr sz="2100" dirty="0">
              <a:latin typeface="Calibri"/>
              <a:cs typeface="Calibri"/>
            </a:endParaRPr>
          </a:p>
          <a:p>
            <a:pPr marL="180022" marR="3810" indent="-170974">
              <a:lnSpc>
                <a:spcPts val="2265"/>
              </a:lnSpc>
              <a:spcBef>
                <a:spcPts val="76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latin typeface="Calibri"/>
                <a:cs typeface="Calibri"/>
              </a:rPr>
              <a:t>In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world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linear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algebra,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interested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solving</a:t>
            </a:r>
            <a:r>
              <a:rPr sz="2100" spc="-38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systems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of 	</a:t>
            </a:r>
            <a:r>
              <a:rPr sz="2100" dirty="0">
                <a:latin typeface="Calibri"/>
                <a:cs typeface="Calibri"/>
              </a:rPr>
              <a:t>linear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equations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form:</a:t>
            </a:r>
            <a:endParaRPr sz="2100" dirty="0">
              <a:latin typeface="Calibri"/>
              <a:cs typeface="Calibri"/>
            </a:endParaRPr>
          </a:p>
          <a:p>
            <a:pPr marL="866775" lvl="1" indent="-171450">
              <a:spcBef>
                <a:spcPts val="203"/>
              </a:spcBef>
              <a:buFont typeface="Arial MT"/>
              <a:buChar char="•"/>
              <a:tabLst>
                <a:tab pos="866775" algn="l"/>
              </a:tabLst>
            </a:pPr>
            <a:r>
              <a:rPr sz="1500" i="1" dirty="0">
                <a:latin typeface="Calibri"/>
                <a:cs typeface="Calibri"/>
              </a:rPr>
              <a:t>Ax</a:t>
            </a:r>
            <a:r>
              <a:rPr sz="1500" i="1" spc="-15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=</a:t>
            </a:r>
            <a:r>
              <a:rPr sz="1500" i="1" spc="-4" dirty="0">
                <a:latin typeface="Calibri"/>
                <a:cs typeface="Calibri"/>
              </a:rPr>
              <a:t> </a:t>
            </a:r>
            <a:r>
              <a:rPr sz="1500" i="1" spc="-38" dirty="0">
                <a:latin typeface="Calibri"/>
                <a:cs typeface="Calibri"/>
              </a:rPr>
              <a:t>b</a:t>
            </a:r>
            <a:endParaRPr sz="1500" dirty="0">
              <a:latin typeface="Calibri"/>
              <a:cs typeface="Calibri"/>
            </a:endParaRPr>
          </a:p>
          <a:p>
            <a:pPr marL="866775" lvl="1" indent="-171450">
              <a:lnSpc>
                <a:spcPts val="1710"/>
              </a:lnSpc>
              <a:spcBef>
                <a:spcPts val="199"/>
              </a:spcBef>
              <a:buFont typeface="Arial MT"/>
              <a:buChar char="•"/>
              <a:tabLst>
                <a:tab pos="866775" algn="l"/>
              </a:tabLst>
            </a:pPr>
            <a:r>
              <a:rPr sz="1500" dirty="0">
                <a:latin typeface="Calibri"/>
                <a:cs typeface="Calibri"/>
              </a:rPr>
              <a:t>where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A</a:t>
            </a:r>
            <a:r>
              <a:rPr sz="1500" i="1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matrix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row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vectors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b</a:t>
            </a:r>
            <a:r>
              <a:rPr sz="1500" i="1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column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vector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labels</a:t>
            </a:r>
            <a:endParaRPr sz="1500" dirty="0">
              <a:latin typeface="Calibri"/>
              <a:cs typeface="Calibri"/>
            </a:endParaRPr>
          </a:p>
          <a:p>
            <a:pPr marL="866775">
              <a:lnSpc>
                <a:spcPts val="1710"/>
              </a:lnSpc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vector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A</a:t>
            </a:r>
            <a:r>
              <a:rPr sz="1500" i="1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matrix.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2900" y="343917"/>
            <a:ext cx="6172200" cy="687207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>
                <a:solidFill>
                  <a:schemeClr val="bg1"/>
                </a:solidFill>
              </a:rPr>
              <a:t>Visualizing</a:t>
            </a:r>
            <a:r>
              <a:rPr spc="-6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spc="-8" dirty="0">
                <a:solidFill>
                  <a:schemeClr val="bg1"/>
                </a:solidFill>
              </a:rPr>
              <a:t>equation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10</a:t>
            </a:fld>
            <a:endParaRPr spc="-19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1815" y="4405129"/>
            <a:ext cx="1523125" cy="4332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661" y="2518248"/>
            <a:ext cx="7235959" cy="13309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1504" y="3940455"/>
            <a:ext cx="6378893" cy="41998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4314" indent="-214789">
              <a:lnSpc>
                <a:spcPts val="1601"/>
              </a:lnSpc>
              <a:spcBef>
                <a:spcPts val="75"/>
              </a:spcBef>
              <a:buChar char="•"/>
              <a:tabLst>
                <a:tab pos="224314" algn="l"/>
              </a:tabLst>
            </a:pPr>
            <a:r>
              <a:rPr sz="1350" dirty="0">
                <a:latin typeface="Arial MT"/>
                <a:cs typeface="Arial MT"/>
              </a:rPr>
              <a:t>system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is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said</a:t>
            </a:r>
            <a:r>
              <a:rPr sz="1350" spc="-23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to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be</a:t>
            </a:r>
            <a:r>
              <a:rPr sz="1350" spc="-23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“consistent” if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there</a:t>
            </a:r>
            <a:r>
              <a:rPr sz="1350" spc="-19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exists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a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parameter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vector </a:t>
            </a:r>
            <a:r>
              <a:rPr sz="1350" i="1" dirty="0">
                <a:latin typeface="Arial"/>
                <a:cs typeface="Arial"/>
              </a:rPr>
              <a:t>x</a:t>
            </a:r>
            <a:r>
              <a:rPr sz="1350" i="1" spc="-15" dirty="0">
                <a:latin typeface="Arial"/>
                <a:cs typeface="Arial"/>
              </a:rPr>
              <a:t> </a:t>
            </a:r>
            <a:r>
              <a:rPr sz="1350" dirty="0">
                <a:latin typeface="Arial MT"/>
                <a:cs typeface="Arial MT"/>
              </a:rPr>
              <a:t>such</a:t>
            </a:r>
            <a:r>
              <a:rPr sz="1350" spc="-19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that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spc="-19" dirty="0">
                <a:latin typeface="Arial MT"/>
                <a:cs typeface="Arial MT"/>
              </a:rPr>
              <a:t>the</a:t>
            </a:r>
            <a:endParaRPr sz="1350" dirty="0">
              <a:latin typeface="Arial MT"/>
              <a:cs typeface="Arial MT"/>
            </a:endParaRPr>
          </a:p>
          <a:p>
            <a:pPr marL="224314">
              <a:lnSpc>
                <a:spcPts val="1601"/>
              </a:lnSpc>
            </a:pPr>
            <a:r>
              <a:rPr sz="1350" dirty="0">
                <a:latin typeface="Arial MT"/>
                <a:cs typeface="Arial MT"/>
              </a:rPr>
              <a:t>solution</a:t>
            </a:r>
            <a:r>
              <a:rPr sz="1350" spc="-26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to</a:t>
            </a:r>
            <a:r>
              <a:rPr sz="1350" spc="-19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this</a:t>
            </a:r>
            <a:r>
              <a:rPr sz="1350" spc="-23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equation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can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be</a:t>
            </a:r>
            <a:r>
              <a:rPr sz="1350" spc="-26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represented</a:t>
            </a:r>
            <a:r>
              <a:rPr sz="1350" spc="-4" dirty="0">
                <a:latin typeface="Arial MT"/>
                <a:cs typeface="Arial MT"/>
              </a:rPr>
              <a:t> </a:t>
            </a:r>
            <a:r>
              <a:rPr sz="1350" spc="-19" dirty="0">
                <a:latin typeface="Arial MT"/>
                <a:cs typeface="Arial MT"/>
              </a:rPr>
              <a:t>as</a:t>
            </a:r>
            <a:endParaRPr sz="13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7352" y="371806"/>
            <a:ext cx="8329295" cy="528991"/>
          </a:xfrm>
          <a:prstGeom prst="rect">
            <a:avLst/>
          </a:prstGeom>
        </p:spPr>
        <p:txBody>
          <a:bodyPr vert="horz" wrap="square" lIns="0" tIns="66675" rIns="0" bIns="0" rtlCol="0" anchor="ctr">
            <a:spAutoFit/>
          </a:bodyPr>
          <a:lstStyle/>
          <a:p>
            <a:pPr marL="9525" marR="3810" algn="l">
              <a:lnSpc>
                <a:spcPts val="3563"/>
              </a:lnSpc>
              <a:spcBef>
                <a:spcPts val="525"/>
              </a:spcBef>
            </a:pPr>
            <a:r>
              <a:rPr sz="3200" spc="-23" dirty="0">
                <a:solidFill>
                  <a:schemeClr val="bg1"/>
                </a:solidFill>
              </a:rPr>
              <a:t>Methods</a:t>
            </a:r>
            <a:r>
              <a:rPr sz="3200" spc="-143" dirty="0">
                <a:solidFill>
                  <a:schemeClr val="bg1"/>
                </a:solidFill>
              </a:rPr>
              <a:t> </a:t>
            </a:r>
            <a:r>
              <a:rPr sz="3200" spc="-8" dirty="0">
                <a:solidFill>
                  <a:schemeClr val="bg1"/>
                </a:solidFill>
              </a:rPr>
              <a:t>for</a:t>
            </a:r>
            <a:r>
              <a:rPr sz="3200" spc="-139" dirty="0">
                <a:solidFill>
                  <a:schemeClr val="bg1"/>
                </a:solidFill>
              </a:rPr>
              <a:t> </a:t>
            </a:r>
            <a:r>
              <a:rPr sz="3200" spc="-15" dirty="0">
                <a:solidFill>
                  <a:schemeClr val="bg1"/>
                </a:solidFill>
              </a:rPr>
              <a:t>solving</a:t>
            </a:r>
            <a:r>
              <a:rPr sz="3200" spc="-153" dirty="0">
                <a:solidFill>
                  <a:schemeClr val="bg1"/>
                </a:solidFill>
              </a:rPr>
              <a:t> </a:t>
            </a:r>
            <a:r>
              <a:rPr sz="3200" spc="-38" dirty="0">
                <a:solidFill>
                  <a:schemeClr val="bg1"/>
                </a:solidFill>
              </a:rPr>
              <a:t>systems</a:t>
            </a:r>
            <a:r>
              <a:rPr sz="3200" spc="-139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of</a:t>
            </a:r>
            <a:r>
              <a:rPr sz="3200" spc="-135" dirty="0">
                <a:solidFill>
                  <a:schemeClr val="bg1"/>
                </a:solidFill>
              </a:rPr>
              <a:t> </a:t>
            </a:r>
            <a:r>
              <a:rPr sz="3200" spc="-8" dirty="0">
                <a:solidFill>
                  <a:schemeClr val="bg1"/>
                </a:solidFill>
              </a:rPr>
              <a:t>linear 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750" y="1980472"/>
            <a:ext cx="7487603" cy="30963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0499" indent="-170974">
              <a:spcBef>
                <a:spcPts val="285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dirty="0">
                <a:latin typeface="Calibri"/>
                <a:cs typeface="Calibri"/>
              </a:rPr>
              <a:t>Direct</a:t>
            </a:r>
            <a:r>
              <a:rPr sz="2100" spc="-79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method</a:t>
            </a:r>
            <a:endParaRPr sz="2100" dirty="0">
              <a:latin typeface="Calibri"/>
              <a:cs typeface="Calibri"/>
            </a:endParaRPr>
          </a:p>
          <a:p>
            <a:pPr marL="522923" marR="138113" lvl="1" indent="-170497">
              <a:lnSpc>
                <a:spcPts val="1943"/>
              </a:lnSpc>
              <a:spcBef>
                <a:spcPts val="428"/>
              </a:spcBef>
              <a:buFont typeface="Arial MT"/>
              <a:buChar char="•"/>
              <a:tabLst>
                <a:tab pos="523875" algn="l"/>
              </a:tabLst>
            </a:pPr>
            <a:r>
              <a:rPr spc="-8" dirty="0">
                <a:latin typeface="Calibri"/>
                <a:cs typeface="Calibri"/>
              </a:rPr>
              <a:t>effective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training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i="1" dirty="0">
                <a:latin typeface="Calibri"/>
                <a:cs typeface="Calibri"/>
              </a:rPr>
              <a:t>A</a:t>
            </a:r>
            <a:r>
              <a:rPr i="1"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</a:t>
            </a:r>
            <a:r>
              <a:rPr dirty="0">
                <a:latin typeface="Calibri"/>
                <a:cs typeface="Calibri"/>
              </a:rPr>
              <a:t>)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 	</a:t>
            </a:r>
            <a:r>
              <a:rPr dirty="0">
                <a:latin typeface="Calibri"/>
                <a:cs typeface="Calibri"/>
              </a:rPr>
              <a:t>single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computer</a:t>
            </a:r>
            <a:endParaRPr dirty="0">
              <a:latin typeface="Calibri"/>
              <a:cs typeface="Calibri"/>
            </a:endParaRPr>
          </a:p>
          <a:p>
            <a:pPr marL="522923" lvl="1" indent="-170497">
              <a:spcBef>
                <a:spcPts val="139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Gaussian</a:t>
            </a:r>
            <a:r>
              <a:rPr i="1" spc="-56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Elimination</a:t>
            </a:r>
            <a:r>
              <a:rPr i="1"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Normal</a:t>
            </a:r>
            <a:r>
              <a:rPr i="1" spc="-49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Equations</a:t>
            </a:r>
            <a:endParaRPr dirty="0">
              <a:latin typeface="Calibri"/>
              <a:cs typeface="Calibri"/>
            </a:endParaRPr>
          </a:p>
          <a:p>
            <a:pPr marL="180499" indent="-170974">
              <a:spcBef>
                <a:spcPts val="472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spc="-8" dirty="0">
                <a:latin typeface="Calibri"/>
                <a:cs typeface="Calibri"/>
              </a:rPr>
              <a:t>Iterative</a:t>
            </a:r>
            <a:r>
              <a:rPr sz="2100" spc="-6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methods</a:t>
            </a:r>
            <a:endParaRPr sz="2100" dirty="0">
              <a:latin typeface="Calibri"/>
              <a:cs typeface="Calibri"/>
            </a:endParaRPr>
          </a:p>
          <a:p>
            <a:pPr marL="522923" lvl="1" indent="-170497">
              <a:spcBef>
                <a:spcPts val="184"/>
              </a:spcBef>
              <a:buFont typeface="Arial MT"/>
              <a:buChar char="•"/>
              <a:tabLst>
                <a:tab pos="522923" algn="l"/>
              </a:tabLst>
            </a:pPr>
            <a:r>
              <a:rPr spc="-8" dirty="0">
                <a:latin typeface="Calibri"/>
                <a:cs typeface="Calibri"/>
              </a:rPr>
              <a:t>effective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doesn’t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main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single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computer</a:t>
            </a:r>
            <a:endParaRPr dirty="0">
              <a:latin typeface="Calibri"/>
              <a:cs typeface="Calibri"/>
            </a:endParaRPr>
          </a:p>
          <a:p>
            <a:pPr marL="522923" marR="598170" lvl="1" indent="-170497">
              <a:lnSpc>
                <a:spcPts val="1943"/>
              </a:lnSpc>
              <a:spcBef>
                <a:spcPts val="401"/>
              </a:spcBef>
              <a:buFont typeface="Arial MT"/>
              <a:buChar char="•"/>
              <a:tabLst>
                <a:tab pos="523875" algn="l"/>
              </a:tabLst>
            </a:pPr>
            <a:r>
              <a:rPr i="1" dirty="0">
                <a:latin typeface="Calibri"/>
                <a:cs typeface="Calibri"/>
              </a:rPr>
              <a:t>Stochastic</a:t>
            </a:r>
            <a:r>
              <a:rPr i="1" spc="-64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Gradient</a:t>
            </a:r>
            <a:r>
              <a:rPr i="1" spc="-68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Descent</a:t>
            </a:r>
            <a:r>
              <a:rPr i="1"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(SDG),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Conjugate</a:t>
            </a:r>
            <a:r>
              <a:rPr i="1" spc="-68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Gradient</a:t>
            </a:r>
            <a:r>
              <a:rPr i="1" spc="-68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Methods</a:t>
            </a:r>
            <a:r>
              <a:rPr i="1" spc="-64" dirty="0">
                <a:latin typeface="Calibri"/>
                <a:cs typeface="Calibri"/>
              </a:rPr>
              <a:t> </a:t>
            </a:r>
            <a:r>
              <a:rPr i="1" spc="-19" dirty="0">
                <a:latin typeface="Calibri"/>
                <a:cs typeface="Calibri"/>
              </a:rPr>
              <a:t>and 	</a:t>
            </a:r>
            <a:r>
              <a:rPr i="1" spc="-8" dirty="0">
                <a:latin typeface="Calibri"/>
                <a:cs typeface="Calibri"/>
              </a:rPr>
              <a:t>Alternating</a:t>
            </a:r>
            <a:r>
              <a:rPr i="1" spc="-53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Least</a:t>
            </a:r>
            <a:r>
              <a:rPr i="1" spc="-41" dirty="0">
                <a:latin typeface="Calibri"/>
                <a:cs typeface="Calibri"/>
              </a:rPr>
              <a:t> </a:t>
            </a:r>
            <a:r>
              <a:rPr i="1" spc="-8" dirty="0">
                <a:latin typeface="Calibri"/>
                <a:cs typeface="Calibri"/>
              </a:rPr>
              <a:t>Squares</a:t>
            </a:r>
            <a:endParaRPr dirty="0">
              <a:latin typeface="Calibri"/>
              <a:cs typeface="Calibri"/>
            </a:endParaRPr>
          </a:p>
          <a:p>
            <a:pPr marL="180022" marR="187166" indent="-170974">
              <a:lnSpc>
                <a:spcPts val="2265"/>
              </a:lnSpc>
              <a:spcBef>
                <a:spcPts val="743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100" spc="-8" dirty="0">
                <a:latin typeface="Calibri"/>
                <a:cs typeface="Calibri"/>
              </a:rPr>
              <a:t>O</a:t>
            </a:r>
            <a:r>
              <a:rPr sz="2100" spc="-8" dirty="0">
                <a:latin typeface="Calibri"/>
                <a:cs typeface="Calibri"/>
              </a:rPr>
              <a:t>perating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input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dataset</a:t>
            </a:r>
            <a:r>
              <a:rPr sz="2100" spc="-6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these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methods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require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6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convert 	</a:t>
            </a:r>
            <a:r>
              <a:rPr sz="2100" dirty="0">
                <a:latin typeface="Calibri"/>
                <a:cs typeface="Calibri"/>
              </a:rPr>
              <a:t>raw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input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input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matrix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i="1" spc="-19" dirty="0">
                <a:latin typeface="Calibri"/>
                <a:cs typeface="Calibri"/>
              </a:rPr>
              <a:t>A</a:t>
            </a:r>
            <a:r>
              <a:rPr sz="2100" spc="-19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879" y="439334"/>
            <a:ext cx="6172200" cy="564096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 algn="l">
              <a:spcBef>
                <a:spcPts val="79"/>
              </a:spcBef>
            </a:pPr>
            <a:r>
              <a:rPr sz="3600" spc="-30" dirty="0">
                <a:solidFill>
                  <a:schemeClr val="bg1"/>
                </a:solidFill>
                <a:latin typeface="+mj-lt"/>
              </a:rPr>
              <a:t>Statistics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342900" y="1597134"/>
            <a:ext cx="2826068" cy="3722173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0499" indent="-170974">
              <a:spcBef>
                <a:spcPts val="285"/>
              </a:spcBef>
              <a:buFont typeface="Arial MT"/>
              <a:buChar char="•"/>
              <a:tabLst>
                <a:tab pos="180499" algn="l"/>
              </a:tabLst>
            </a:pPr>
            <a:r>
              <a:rPr dirty="0"/>
              <a:t>descriptive</a:t>
            </a:r>
            <a:r>
              <a:rPr spc="-98" dirty="0"/>
              <a:t> </a:t>
            </a:r>
            <a:r>
              <a:rPr spc="-8" dirty="0"/>
              <a:t>statistics</a:t>
            </a:r>
          </a:p>
          <a:p>
            <a:pPr marL="865823" lvl="1" indent="-170497">
              <a:spcBef>
                <a:spcPts val="184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8" dirty="0">
                <a:latin typeface="Calibri"/>
                <a:cs typeface="Calibri"/>
              </a:rPr>
              <a:t>Histograms</a:t>
            </a:r>
            <a:endParaRPr sz="1800" dirty="0">
              <a:latin typeface="Calibri"/>
              <a:cs typeface="Calibri"/>
            </a:endParaRPr>
          </a:p>
          <a:p>
            <a:pPr marL="865823" lvl="1" indent="-170497">
              <a:spcBef>
                <a:spcPts val="164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8" dirty="0">
                <a:latin typeface="Calibri"/>
                <a:cs typeface="Calibri"/>
              </a:rPr>
              <a:t>Boxplots</a:t>
            </a:r>
            <a:endParaRPr sz="1800" dirty="0">
              <a:latin typeface="Calibri"/>
              <a:cs typeface="Calibri"/>
            </a:endParaRPr>
          </a:p>
          <a:p>
            <a:pPr marL="865823" lvl="1" indent="-170497">
              <a:spcBef>
                <a:spcPts val="150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8" dirty="0">
                <a:latin typeface="Calibri"/>
                <a:cs typeface="Calibri"/>
              </a:rPr>
              <a:t>Scatterplots</a:t>
            </a:r>
            <a:endParaRPr sz="1800" dirty="0">
              <a:latin typeface="Calibri"/>
              <a:cs typeface="Calibri"/>
            </a:endParaRPr>
          </a:p>
          <a:p>
            <a:pPr marL="865823" lvl="1" indent="-170497">
              <a:spcBef>
                <a:spcPts val="164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15" dirty="0">
                <a:latin typeface="Calibri"/>
                <a:cs typeface="Calibri"/>
              </a:rPr>
              <a:t>Mean</a:t>
            </a:r>
            <a:endParaRPr sz="1800" dirty="0">
              <a:latin typeface="Calibri"/>
              <a:cs typeface="Calibri"/>
            </a:endParaRPr>
          </a:p>
          <a:p>
            <a:pPr marL="865823" lvl="1" indent="-170497">
              <a:spcBef>
                <a:spcPts val="161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8" dirty="0">
                <a:latin typeface="Calibri"/>
                <a:cs typeface="Calibri"/>
              </a:rPr>
              <a:t>Standard</a:t>
            </a:r>
            <a:r>
              <a:rPr sz="1800" spc="-49" dirty="0">
                <a:latin typeface="Calibri"/>
                <a:cs typeface="Calibri"/>
              </a:rPr>
              <a:t> </a:t>
            </a:r>
            <a:r>
              <a:rPr sz="1800" spc="-8" dirty="0">
                <a:latin typeface="Calibri"/>
                <a:cs typeface="Calibri"/>
              </a:rPr>
              <a:t>deviation</a:t>
            </a:r>
            <a:endParaRPr sz="1800" dirty="0">
              <a:latin typeface="Calibri"/>
              <a:cs typeface="Calibri"/>
            </a:endParaRPr>
          </a:p>
          <a:p>
            <a:pPr marL="865823" lvl="1" indent="-170497">
              <a:spcBef>
                <a:spcPts val="153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dirty="0">
                <a:latin typeface="Calibri"/>
                <a:cs typeface="Calibri"/>
              </a:rPr>
              <a:t>Correlation</a:t>
            </a:r>
            <a:r>
              <a:rPr sz="1800" spc="-94" dirty="0">
                <a:latin typeface="Calibri"/>
                <a:cs typeface="Calibri"/>
              </a:rPr>
              <a:t> </a:t>
            </a:r>
            <a:r>
              <a:rPr sz="1800" spc="-8" dirty="0">
                <a:latin typeface="Calibri"/>
                <a:cs typeface="Calibri"/>
              </a:rPr>
              <a:t>coefficient</a:t>
            </a:r>
            <a:endParaRPr sz="1800" dirty="0">
              <a:latin typeface="Calibri"/>
              <a:cs typeface="Calibri"/>
            </a:endParaRPr>
          </a:p>
          <a:p>
            <a:pPr marL="180499" indent="-170974">
              <a:spcBef>
                <a:spcPts val="484"/>
              </a:spcBef>
              <a:buFont typeface="Arial MT"/>
              <a:buChar char="•"/>
              <a:tabLst>
                <a:tab pos="180499" algn="l"/>
              </a:tabLst>
            </a:pPr>
            <a:r>
              <a:rPr spc="-8" dirty="0"/>
              <a:t>inferential</a:t>
            </a:r>
            <a:r>
              <a:rPr spc="-90" dirty="0"/>
              <a:t> </a:t>
            </a:r>
            <a:r>
              <a:rPr spc="-8" dirty="0"/>
              <a:t>statistics</a:t>
            </a:r>
          </a:p>
          <a:p>
            <a:pPr marL="865823" lvl="1" indent="-170497">
              <a:spcBef>
                <a:spcPts val="172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11" dirty="0">
                <a:latin typeface="Calibri"/>
                <a:cs typeface="Calibri"/>
              </a:rPr>
              <a:t>p-</a:t>
            </a:r>
            <a:r>
              <a:rPr sz="1800" spc="-8" dirty="0">
                <a:latin typeface="Calibri"/>
                <a:cs typeface="Calibri"/>
              </a:rPr>
              <a:t>values</a:t>
            </a:r>
            <a:endParaRPr sz="1800" dirty="0">
              <a:latin typeface="Calibri"/>
              <a:cs typeface="Calibri"/>
            </a:endParaRPr>
          </a:p>
          <a:p>
            <a:pPr marL="865823" lvl="1" indent="-170497">
              <a:spcBef>
                <a:spcPts val="161"/>
              </a:spcBef>
              <a:buFont typeface="Arial MT"/>
              <a:buChar char="•"/>
              <a:tabLst>
                <a:tab pos="865823" algn="l"/>
              </a:tabLst>
            </a:pPr>
            <a:r>
              <a:rPr sz="1800" spc="-8" dirty="0">
                <a:latin typeface="Calibri"/>
                <a:cs typeface="Calibri"/>
              </a:rPr>
              <a:t>Credibility/confidence</a:t>
            </a:r>
            <a:r>
              <a:rPr sz="1800" spc="-38" dirty="0">
                <a:latin typeface="Calibri"/>
                <a:cs typeface="Calibri"/>
              </a:rPr>
              <a:t> </a:t>
            </a:r>
            <a:r>
              <a:rPr sz="1800" spc="-8" dirty="0">
                <a:latin typeface="Calibri"/>
                <a:cs typeface="Calibri"/>
              </a:rPr>
              <a:t>intervals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12</a:t>
            </a:fld>
            <a:endParaRPr spc="-19" dirty="0"/>
          </a:p>
        </p:txBody>
      </p:sp>
      <p:sp>
        <p:nvSpPr>
          <p:cNvPr id="4" name="object 4"/>
          <p:cNvSpPr txBox="1"/>
          <p:nvPr/>
        </p:nvSpPr>
        <p:spPr>
          <a:xfrm>
            <a:off x="4514850" y="1597134"/>
            <a:ext cx="3981926" cy="1297952"/>
          </a:xfrm>
          <a:prstGeom prst="rect">
            <a:avLst/>
          </a:prstGeom>
        </p:spPr>
        <p:txBody>
          <a:bodyPr vert="horz" wrap="square" lIns="0" tIns="50959" rIns="0" bIns="0" rtlCol="0">
            <a:spAutoFit/>
          </a:bodyPr>
          <a:lstStyle/>
          <a:p>
            <a:pPr marL="180022" indent="-170497">
              <a:spcBef>
                <a:spcPts val="401"/>
              </a:spcBef>
              <a:buFont typeface="Arial MT"/>
              <a:buChar char="•"/>
              <a:tabLst>
                <a:tab pos="180022" algn="l"/>
              </a:tabLst>
            </a:pPr>
            <a:r>
              <a:rPr sz="2100" dirty="0">
                <a:latin typeface="Calibri"/>
                <a:cs typeface="Calibri"/>
              </a:rPr>
              <a:t>Probability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inferential</a:t>
            </a:r>
            <a:r>
              <a:rPr sz="2100" spc="-83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statistics</a:t>
            </a:r>
            <a:endParaRPr sz="2100" dirty="0">
              <a:latin typeface="Calibri"/>
              <a:cs typeface="Calibri"/>
            </a:endParaRPr>
          </a:p>
          <a:p>
            <a:pPr marL="866299" lvl="1" indent="-170974">
              <a:lnSpc>
                <a:spcPts val="1710"/>
              </a:lnSpc>
              <a:spcBef>
                <a:spcPts val="240"/>
              </a:spcBef>
              <a:buFont typeface="Arial MT"/>
              <a:buChar char="•"/>
              <a:tabLst>
                <a:tab pos="866299" algn="l"/>
              </a:tabLst>
            </a:pPr>
            <a:r>
              <a:rPr sz="1500" dirty="0">
                <a:latin typeface="Calibri"/>
                <a:cs typeface="Calibri"/>
              </a:rPr>
              <a:t>Probability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reasons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population</a:t>
            </a:r>
            <a:endParaRPr sz="1500" dirty="0">
              <a:latin typeface="Calibri"/>
              <a:cs typeface="Calibri"/>
            </a:endParaRPr>
          </a:p>
          <a:p>
            <a:pPr marL="866775">
              <a:lnSpc>
                <a:spcPts val="1710"/>
              </a:lnSpc>
            </a:pPr>
            <a:r>
              <a:rPr sz="1500" dirty="0">
                <a:latin typeface="Calibri"/>
                <a:cs typeface="Calibri"/>
              </a:rPr>
              <a:t>to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sample</a:t>
            </a:r>
            <a:endParaRPr sz="1500" dirty="0">
              <a:latin typeface="Calibri"/>
              <a:cs typeface="Calibri"/>
            </a:endParaRPr>
          </a:p>
          <a:p>
            <a:pPr marL="866775" marR="310991" lvl="1" indent="-171450">
              <a:lnSpc>
                <a:spcPts val="1620"/>
              </a:lnSpc>
              <a:spcBef>
                <a:spcPts val="398"/>
              </a:spcBef>
              <a:buFont typeface="Arial MT"/>
              <a:buChar char="•"/>
              <a:tabLst>
                <a:tab pos="866775" algn="l"/>
              </a:tabLst>
            </a:pPr>
            <a:r>
              <a:rPr sz="1500" spc="-8" dirty="0">
                <a:latin typeface="Calibri"/>
                <a:cs typeface="Calibri"/>
              </a:rPr>
              <a:t>Inferential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statistics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reason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sample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population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2900" y="360851"/>
            <a:ext cx="6172200" cy="687207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 algn="l">
              <a:spcBef>
                <a:spcPts val="79"/>
              </a:spcBef>
            </a:pPr>
            <a:r>
              <a:rPr spc="-34" dirty="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13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175206"/>
            <a:ext cx="7368540" cy="308866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0499" indent="-170974">
              <a:spcBef>
                <a:spcPts val="285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dirty="0">
                <a:latin typeface="Calibri"/>
                <a:cs typeface="Calibri"/>
              </a:rPr>
              <a:t>probability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event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E</a:t>
            </a:r>
            <a:r>
              <a:rPr sz="2100" i="1" spc="-41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i</a:t>
            </a:r>
            <a:r>
              <a:rPr sz="2100" dirty="0">
                <a:latin typeface="Calibri"/>
                <a:cs typeface="Calibri"/>
              </a:rPr>
              <a:t>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number</a:t>
            </a:r>
            <a:r>
              <a:rPr sz="2100" spc="-2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always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between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0</a:t>
            </a:r>
            <a:r>
              <a:rPr sz="2100" spc="-3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38" dirty="0">
                <a:latin typeface="Calibri"/>
                <a:cs typeface="Calibri"/>
              </a:rPr>
              <a:t> 1</a:t>
            </a:r>
            <a:endParaRPr sz="2100">
              <a:latin typeface="Calibri"/>
              <a:cs typeface="Calibri"/>
            </a:endParaRPr>
          </a:p>
          <a:p>
            <a:pPr marL="522923" lvl="1" indent="-170497">
              <a:spcBef>
                <a:spcPts val="184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0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</a:t>
            </a:r>
            <a:r>
              <a:rPr i="1"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chance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occurring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64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1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</a:t>
            </a:r>
            <a:r>
              <a:rPr i="1"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certain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occur</a:t>
            </a:r>
            <a:endParaRPr>
              <a:latin typeface="Calibri"/>
              <a:cs typeface="Calibri"/>
            </a:endParaRPr>
          </a:p>
          <a:p>
            <a:pPr marL="180499" indent="-170974">
              <a:spcBef>
                <a:spcPts val="472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b="1" dirty="0">
                <a:latin typeface="Calibri"/>
                <a:cs typeface="Calibri"/>
              </a:rPr>
              <a:t>Conditional</a:t>
            </a:r>
            <a:r>
              <a:rPr sz="2100" b="1" spc="-98" dirty="0">
                <a:latin typeface="Calibri"/>
                <a:cs typeface="Calibri"/>
              </a:rPr>
              <a:t> </a:t>
            </a:r>
            <a:r>
              <a:rPr sz="2100" b="1" spc="-8" dirty="0">
                <a:latin typeface="Calibri"/>
                <a:cs typeface="Calibri"/>
              </a:rPr>
              <a:t>Probabilities</a:t>
            </a:r>
            <a:endParaRPr sz="2100">
              <a:latin typeface="Calibri"/>
              <a:cs typeface="Calibri"/>
            </a:endParaRPr>
          </a:p>
          <a:p>
            <a:pPr marL="522923" marR="3810" lvl="1" indent="-170497">
              <a:lnSpc>
                <a:spcPts val="1943"/>
              </a:lnSpc>
              <a:spcBef>
                <a:spcPts val="428"/>
              </a:spcBef>
              <a:buFont typeface="Arial MT"/>
              <a:buChar char="•"/>
              <a:tabLst>
                <a:tab pos="523875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probability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given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based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existing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presence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another 	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9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occurring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27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</a:t>
            </a:r>
            <a:r>
              <a:rPr i="1"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|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F</a:t>
            </a:r>
            <a:r>
              <a:rPr i="1" spc="-8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)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64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E</a:t>
            </a:r>
            <a:r>
              <a:rPr i="1"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we’re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interested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probability.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61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F</a:t>
            </a:r>
            <a:r>
              <a:rPr i="1"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already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occurred.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53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E.g</a:t>
            </a:r>
            <a:r>
              <a:rPr i="1" spc="-34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(ICU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Death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|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Poor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Heart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Rate)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5166" y="435487"/>
            <a:ext cx="6172200" cy="687207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 algn="l">
              <a:spcBef>
                <a:spcPts val="79"/>
              </a:spcBef>
            </a:pPr>
            <a:r>
              <a:rPr spc="-26" dirty="0">
                <a:solidFill>
                  <a:schemeClr val="bg1"/>
                </a:solidFill>
              </a:rPr>
              <a:t>Distributions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14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202370"/>
            <a:ext cx="7739063" cy="330090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80022" marR="126206" indent="-170974">
              <a:lnSpc>
                <a:spcPts val="2265"/>
              </a:lnSpc>
              <a:spcBef>
                <a:spcPts val="360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probability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distribution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6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specification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stochastic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structure 	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6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random</a:t>
            </a:r>
            <a:r>
              <a:rPr sz="2100" spc="-4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variables</a:t>
            </a:r>
            <a:endParaRPr sz="2100">
              <a:latin typeface="Calibri"/>
              <a:cs typeface="Calibri"/>
            </a:endParaRPr>
          </a:p>
          <a:p>
            <a:pPr marL="180499" indent="-170974">
              <a:lnSpc>
                <a:spcPts val="2393"/>
              </a:lnSpc>
              <a:spcBef>
                <a:spcPts val="476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common</a:t>
            </a:r>
            <a:r>
              <a:rPr sz="2100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distribution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known</a:t>
            </a:r>
            <a:r>
              <a:rPr sz="2100" spc="-4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normal</a:t>
            </a:r>
            <a:r>
              <a:rPr sz="2100" i="1" spc="-56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distribution</a:t>
            </a:r>
            <a:r>
              <a:rPr sz="2100" i="1" spc="-5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also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called</a:t>
            </a:r>
            <a:endParaRPr sz="2100">
              <a:latin typeface="Calibri"/>
              <a:cs typeface="Calibri"/>
            </a:endParaRPr>
          </a:p>
          <a:p>
            <a:pPr marL="180975">
              <a:lnSpc>
                <a:spcPts val="2393"/>
              </a:lnSpc>
            </a:pPr>
            <a:r>
              <a:rPr sz="2100" i="1" dirty="0">
                <a:latin typeface="Calibri"/>
                <a:cs typeface="Calibri"/>
              </a:rPr>
              <a:t>Gaussian</a:t>
            </a:r>
            <a:r>
              <a:rPr sz="2100" i="1" spc="-34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distribution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3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3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bell</a:t>
            </a:r>
            <a:r>
              <a:rPr sz="2100" i="1" spc="-26" dirty="0">
                <a:latin typeface="Calibri"/>
                <a:cs typeface="Calibri"/>
              </a:rPr>
              <a:t> </a:t>
            </a:r>
            <a:r>
              <a:rPr sz="2100" i="1" spc="-8" dirty="0">
                <a:latin typeface="Calibri"/>
                <a:cs typeface="Calibri"/>
              </a:rPr>
              <a:t>curve</a:t>
            </a:r>
            <a:endParaRPr sz="2100">
              <a:latin typeface="Calibri"/>
              <a:cs typeface="Calibri"/>
            </a:endParaRPr>
          </a:p>
          <a:p>
            <a:pPr marL="180499" indent="-170974">
              <a:spcBef>
                <a:spcPts val="495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i="1" dirty="0">
                <a:latin typeface="Calibri"/>
                <a:cs typeface="Calibri"/>
              </a:rPr>
              <a:t>Discrete</a:t>
            </a:r>
            <a:r>
              <a:rPr sz="2100" i="1" spc="-105" dirty="0">
                <a:latin typeface="Calibri"/>
                <a:cs typeface="Calibri"/>
              </a:rPr>
              <a:t> </a:t>
            </a:r>
            <a:r>
              <a:rPr sz="2100" i="1" spc="-8" dirty="0">
                <a:latin typeface="Calibri"/>
                <a:cs typeface="Calibri"/>
              </a:rPr>
              <a:t>distribution</a:t>
            </a:r>
            <a:endParaRPr sz="2100">
              <a:latin typeface="Calibri"/>
              <a:cs typeface="Calibri"/>
            </a:endParaRPr>
          </a:p>
          <a:p>
            <a:pPr marL="522923" lvl="1" indent="-170497">
              <a:spcBef>
                <a:spcPts val="180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data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assume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only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certain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values.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57"/>
              </a:spcBef>
              <a:buFont typeface="Arial MT"/>
              <a:buChar char="•"/>
              <a:tabLst>
                <a:tab pos="522923" algn="l"/>
              </a:tabLst>
            </a:pPr>
            <a:r>
              <a:rPr i="1" dirty="0">
                <a:latin typeface="Calibri"/>
                <a:cs typeface="Calibri"/>
              </a:rPr>
              <a:t>E.g</a:t>
            </a:r>
            <a:r>
              <a:rPr i="1"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binomial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distribution</a:t>
            </a:r>
            <a:endParaRPr>
              <a:latin typeface="Calibri"/>
              <a:cs typeface="Calibri"/>
            </a:endParaRPr>
          </a:p>
          <a:p>
            <a:pPr marL="180499" indent="-170974">
              <a:spcBef>
                <a:spcPts val="480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i="1" dirty="0">
                <a:latin typeface="Calibri"/>
                <a:cs typeface="Calibri"/>
              </a:rPr>
              <a:t>Continuous</a:t>
            </a:r>
            <a:r>
              <a:rPr sz="2100" i="1" spc="-75" dirty="0">
                <a:latin typeface="Calibri"/>
                <a:cs typeface="Calibri"/>
              </a:rPr>
              <a:t> </a:t>
            </a:r>
            <a:r>
              <a:rPr sz="2100" i="1" spc="-8" dirty="0">
                <a:latin typeface="Calibri"/>
                <a:cs typeface="Calibri"/>
              </a:rPr>
              <a:t>distribution</a:t>
            </a:r>
            <a:endParaRPr sz="2100">
              <a:latin typeface="Calibri"/>
              <a:cs typeface="Calibri"/>
            </a:endParaRPr>
          </a:p>
          <a:p>
            <a:pPr marL="522923" lvl="1" indent="-170497">
              <a:spcBef>
                <a:spcPts val="176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data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any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within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range</a:t>
            </a:r>
            <a:endParaRPr>
              <a:latin typeface="Calibri"/>
              <a:cs typeface="Calibri"/>
            </a:endParaRPr>
          </a:p>
          <a:p>
            <a:pPr marL="522923" lvl="1" indent="-170497">
              <a:spcBef>
                <a:spcPts val="164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E.g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normal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distribution</a:t>
            </a:r>
            <a:endParaRPr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257" y="3429001"/>
            <a:ext cx="3253340" cy="20108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7877" y="445346"/>
            <a:ext cx="7887055" cy="543835"/>
          </a:xfrm>
          <a:prstGeom prst="rect">
            <a:avLst/>
          </a:prstGeom>
        </p:spPr>
        <p:txBody>
          <a:bodyPr vert="horz" wrap="square" lIns="0" tIns="67151" rIns="0" bIns="0" rtlCol="0" anchor="ctr">
            <a:spAutoFit/>
          </a:bodyPr>
          <a:lstStyle/>
          <a:p>
            <a:pPr marL="9525" marR="3810" algn="l">
              <a:lnSpc>
                <a:spcPts val="3563"/>
              </a:lnSpc>
              <a:spcBef>
                <a:spcPts val="529"/>
              </a:spcBef>
            </a:pPr>
            <a:r>
              <a:rPr dirty="0">
                <a:solidFill>
                  <a:schemeClr val="bg1"/>
                </a:solidFill>
              </a:rPr>
              <a:t>Examples</a:t>
            </a:r>
            <a:r>
              <a:rPr spc="-4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34" dirty="0">
                <a:solidFill>
                  <a:schemeClr val="bg1"/>
                </a:solidFill>
              </a:rPr>
              <a:t> </a:t>
            </a:r>
            <a:r>
              <a:rPr spc="-8" dirty="0">
                <a:solidFill>
                  <a:schemeClr val="bg1"/>
                </a:solidFill>
              </a:rPr>
              <a:t>normal distribution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15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461077" y="2292912"/>
            <a:ext cx="3342323" cy="2752516"/>
          </a:xfrm>
          <a:prstGeom prst="rect">
            <a:avLst/>
          </a:prstGeom>
        </p:spPr>
        <p:txBody>
          <a:bodyPr vert="horz" wrap="square" lIns="0" tIns="67151" rIns="0" bIns="0" rtlCol="0">
            <a:spAutoFit/>
          </a:bodyPr>
          <a:lstStyle/>
          <a:p>
            <a:pPr marL="180975" marR="123349" indent="-171450">
              <a:lnSpc>
                <a:spcPts val="1875"/>
              </a:lnSpc>
              <a:spcBef>
                <a:spcPts val="52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dirty="0">
                <a:latin typeface="Calibri"/>
                <a:cs typeface="Calibri"/>
              </a:rPr>
              <a:t>Other</a:t>
            </a:r>
            <a:r>
              <a:rPr sz="1950" spc="-68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relevant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distributions</a:t>
            </a:r>
            <a:r>
              <a:rPr sz="1950" spc="-83" dirty="0">
                <a:latin typeface="Calibri"/>
                <a:cs typeface="Calibri"/>
              </a:rPr>
              <a:t> </a:t>
            </a:r>
            <a:r>
              <a:rPr sz="1950" spc="-19" dirty="0">
                <a:latin typeface="Calibri"/>
                <a:cs typeface="Calibri"/>
              </a:rPr>
              <a:t>in </a:t>
            </a:r>
            <a:r>
              <a:rPr sz="1950" dirty="0">
                <a:latin typeface="Calibri"/>
                <a:cs typeface="Calibri"/>
              </a:rPr>
              <a:t>machine</a:t>
            </a:r>
            <a:r>
              <a:rPr sz="1950" spc="-38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learning</a:t>
            </a:r>
            <a:r>
              <a:rPr sz="1950" spc="-23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include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19" dirty="0">
                <a:latin typeface="Calibri"/>
                <a:cs typeface="Calibri"/>
              </a:rPr>
              <a:t>the </a:t>
            </a:r>
            <a:r>
              <a:rPr sz="1950" spc="-8" dirty="0">
                <a:latin typeface="Calibri"/>
                <a:cs typeface="Calibri"/>
              </a:rPr>
              <a:t>following:</a:t>
            </a:r>
            <a:endParaRPr sz="1950" dirty="0">
              <a:latin typeface="Calibri"/>
              <a:cs typeface="Calibri"/>
            </a:endParaRPr>
          </a:p>
          <a:p>
            <a:pPr marL="523875" lvl="1" indent="-171450">
              <a:lnSpc>
                <a:spcPts val="1969"/>
              </a:lnSpc>
              <a:buFont typeface="Arial MT"/>
              <a:buChar char="•"/>
              <a:tabLst>
                <a:tab pos="523875" algn="l"/>
              </a:tabLst>
            </a:pPr>
            <a:r>
              <a:rPr sz="1650" dirty="0">
                <a:latin typeface="Calibri"/>
                <a:cs typeface="Calibri"/>
              </a:rPr>
              <a:t>Binomial </a:t>
            </a:r>
            <a:r>
              <a:rPr sz="1650" spc="-8" dirty="0">
                <a:latin typeface="Calibri"/>
                <a:cs typeface="Calibri"/>
              </a:rPr>
              <a:t>distribution</a:t>
            </a:r>
            <a:endParaRPr sz="1650" dirty="0">
              <a:latin typeface="Calibri"/>
              <a:cs typeface="Calibri"/>
            </a:endParaRPr>
          </a:p>
          <a:p>
            <a:pPr marL="523875" lvl="1" indent="-171450">
              <a:lnSpc>
                <a:spcPts val="1958"/>
              </a:lnSpc>
              <a:buFont typeface="Arial MT"/>
              <a:buChar char="•"/>
              <a:tabLst>
                <a:tab pos="523875" algn="l"/>
              </a:tabLst>
            </a:pPr>
            <a:r>
              <a:rPr sz="1650" spc="-8" dirty="0">
                <a:latin typeface="Calibri"/>
                <a:cs typeface="Calibri"/>
              </a:rPr>
              <a:t>Inverse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Gaussian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distribution</a:t>
            </a:r>
            <a:endParaRPr sz="1650" dirty="0">
              <a:latin typeface="Calibri"/>
              <a:cs typeface="Calibri"/>
            </a:endParaRPr>
          </a:p>
          <a:p>
            <a:pPr marL="523875" lvl="1" indent="-171450">
              <a:lnSpc>
                <a:spcPts val="1973"/>
              </a:lnSpc>
              <a:buFont typeface="Arial MT"/>
              <a:buChar char="•"/>
              <a:tabLst>
                <a:tab pos="523875" algn="l"/>
              </a:tabLst>
            </a:pPr>
            <a:r>
              <a:rPr sz="1650" dirty="0">
                <a:latin typeface="Calibri"/>
                <a:cs typeface="Calibri"/>
              </a:rPr>
              <a:t>Log</a:t>
            </a:r>
            <a:r>
              <a:rPr sz="1650" spc="-26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normal</a:t>
            </a:r>
            <a:r>
              <a:rPr sz="1650" spc="-19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distribution</a:t>
            </a:r>
            <a:endParaRPr sz="1650" dirty="0">
              <a:latin typeface="Calibri"/>
              <a:cs typeface="Calibri"/>
            </a:endParaRPr>
          </a:p>
          <a:p>
            <a:pPr lvl="1">
              <a:spcBef>
                <a:spcPts val="349"/>
              </a:spcBef>
              <a:buFont typeface="Arial MT"/>
              <a:buChar char="•"/>
            </a:pPr>
            <a:endParaRPr sz="1650" dirty="0">
              <a:latin typeface="Calibri"/>
              <a:cs typeface="Calibri"/>
            </a:endParaRPr>
          </a:p>
          <a:p>
            <a:pPr marL="180022" marR="3810" indent="-170497">
              <a:lnSpc>
                <a:spcPct val="80000"/>
              </a:lnSpc>
              <a:buFont typeface="Arial MT"/>
              <a:buChar char="•"/>
              <a:tabLst>
                <a:tab pos="180975" algn="l"/>
              </a:tabLst>
            </a:pP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Distribution</a:t>
            </a:r>
            <a:r>
              <a:rPr spc="-6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pc="-4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pc="-5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spc="-6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19" dirty="0">
                <a:solidFill>
                  <a:srgbClr val="C00000"/>
                </a:solidFill>
                <a:latin typeface="Calibri"/>
                <a:cs typeface="Calibri"/>
              </a:rPr>
              <a:t>in 	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spc="-3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learning</a:t>
            </a:r>
            <a:r>
              <a:rPr spc="-4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pc="-2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important</a:t>
            </a:r>
            <a:r>
              <a:rPr spc="-4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19" dirty="0">
                <a:solidFill>
                  <a:srgbClr val="C00000"/>
                </a:solidFill>
                <a:latin typeface="Calibri"/>
                <a:cs typeface="Calibri"/>
              </a:rPr>
              <a:t>to 	</a:t>
            </a:r>
            <a:r>
              <a:rPr spc="-8" dirty="0">
                <a:solidFill>
                  <a:srgbClr val="C00000"/>
                </a:solidFill>
                <a:latin typeface="Calibri"/>
                <a:cs typeface="Calibri"/>
              </a:rPr>
              <a:t>understand</a:t>
            </a:r>
            <a:r>
              <a:rPr spc="-5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how</a:t>
            </a:r>
            <a:r>
              <a:rPr spc="-3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C00000"/>
                </a:solidFill>
                <a:latin typeface="Calibri"/>
                <a:cs typeface="Calibri"/>
              </a:rPr>
              <a:t>vectorize</a:t>
            </a:r>
            <a:r>
              <a:rPr spc="-4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19" dirty="0">
                <a:solidFill>
                  <a:srgbClr val="C00000"/>
                </a:solidFill>
                <a:latin typeface="Calibri"/>
                <a:cs typeface="Calibri"/>
              </a:rPr>
              <a:t>the 	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pc="-6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pc="-5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C00000"/>
                </a:solidFill>
                <a:latin typeface="Calibri"/>
                <a:cs typeface="Calibri"/>
              </a:rPr>
              <a:t>modeling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6233" y="1436328"/>
            <a:ext cx="4229196" cy="4383617"/>
            <a:chOff x="6092952" y="0"/>
            <a:chExt cx="6099175" cy="6858000"/>
          </a:xfrm>
        </p:grpSpPr>
        <p:sp>
          <p:nvSpPr>
            <p:cNvPr id="5" name="object 5"/>
            <p:cNvSpPr/>
            <p:nvPr/>
          </p:nvSpPr>
          <p:spPr>
            <a:xfrm>
              <a:off x="6092952" y="0"/>
              <a:ext cx="6099175" cy="6858000"/>
            </a:xfrm>
            <a:custGeom>
              <a:avLst/>
              <a:gdLst/>
              <a:ahLst/>
              <a:cxnLst/>
              <a:rect l="l" t="t" r="r" b="b"/>
              <a:pathLst>
                <a:path w="6099175" h="6858000">
                  <a:moveTo>
                    <a:pt x="609904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9048" y="6858000"/>
                  </a:lnTo>
                  <a:lnTo>
                    <a:pt x="6099048" y="0"/>
                  </a:lnTo>
                  <a:close/>
                </a:path>
              </a:pathLst>
            </a:custGeom>
            <a:solidFill>
              <a:srgbClr val="C7C9C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3576" y="513587"/>
              <a:ext cx="5257800" cy="58658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77584" y="557783"/>
              <a:ext cx="5130165" cy="5739765"/>
            </a:xfrm>
            <a:custGeom>
              <a:avLst/>
              <a:gdLst/>
              <a:ahLst/>
              <a:cxnLst/>
              <a:rect l="l" t="t" r="r" b="b"/>
              <a:pathLst>
                <a:path w="5130165" h="5739765">
                  <a:moveTo>
                    <a:pt x="5129783" y="0"/>
                  </a:moveTo>
                  <a:lnTo>
                    <a:pt x="0" y="0"/>
                  </a:lnTo>
                  <a:lnTo>
                    <a:pt x="0" y="5739384"/>
                  </a:lnTo>
                  <a:lnTo>
                    <a:pt x="5129783" y="5739384"/>
                  </a:lnTo>
                  <a:lnTo>
                    <a:pt x="5129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6577584" y="557783"/>
              <a:ext cx="5130165" cy="5739765"/>
            </a:xfrm>
            <a:custGeom>
              <a:avLst/>
              <a:gdLst/>
              <a:ahLst/>
              <a:cxnLst/>
              <a:rect l="l" t="t" r="r" b="b"/>
              <a:pathLst>
                <a:path w="5130165" h="5739765">
                  <a:moveTo>
                    <a:pt x="0" y="5739384"/>
                  </a:moveTo>
                  <a:lnTo>
                    <a:pt x="5129783" y="5739384"/>
                  </a:lnTo>
                  <a:lnTo>
                    <a:pt x="5129783" y="0"/>
                  </a:lnTo>
                  <a:lnTo>
                    <a:pt x="0" y="0"/>
                  </a:lnTo>
                  <a:lnTo>
                    <a:pt x="0" y="5739384"/>
                  </a:lnTo>
                  <a:close/>
                </a:path>
              </a:pathLst>
            </a:custGeom>
            <a:ln w="9143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5243" y="1208531"/>
              <a:ext cx="4467167" cy="44377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148427" y="159802"/>
            <a:ext cx="8180546" cy="8713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14325" rIns="0" bIns="0" rtlCol="0" anchor="ctr">
            <a:spAutoFit/>
          </a:bodyPr>
          <a:lstStyle/>
          <a:p>
            <a:pPr marL="370523" algn="l">
              <a:spcBef>
                <a:spcPts val="2475"/>
              </a:spcBef>
            </a:pPr>
            <a:r>
              <a:rPr sz="3600" spc="-15" dirty="0">
                <a:solidFill>
                  <a:srgbClr val="FFFFFF"/>
                </a:solidFill>
              </a:rPr>
              <a:t>Long-</a:t>
            </a:r>
            <a:r>
              <a:rPr sz="3600" dirty="0">
                <a:solidFill>
                  <a:srgbClr val="FFFFFF"/>
                </a:solidFill>
              </a:rPr>
              <a:t>tailed</a:t>
            </a:r>
            <a:r>
              <a:rPr sz="3600" spc="-68" dirty="0">
                <a:solidFill>
                  <a:srgbClr val="FFFFFF"/>
                </a:solidFill>
              </a:rPr>
              <a:t> </a:t>
            </a:r>
            <a:r>
              <a:rPr sz="3600" spc="-8" dirty="0">
                <a:solidFill>
                  <a:srgbClr val="FFFFFF"/>
                </a:solidFill>
              </a:rPr>
              <a:t>distribution</a:t>
            </a:r>
            <a:endParaRPr sz="360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914900" y="5702925"/>
            <a:ext cx="1600200" cy="11702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>
              <a:lnSpc>
                <a:spcPts val="930"/>
              </a:lnSpc>
            </a:pPr>
            <a:fld id="{81D60167-4931-47E6-BA6A-407CBD079E47}" type="slidenum">
              <a:rPr spc="-19" dirty="0"/>
              <a:pPr marL="9525">
                <a:lnSpc>
                  <a:spcPts val="930"/>
                </a:lnSpc>
              </a:pPr>
              <a:t>16</a:t>
            </a:fld>
            <a:endParaRPr spc="-19" dirty="0"/>
          </a:p>
        </p:txBody>
      </p:sp>
      <p:sp>
        <p:nvSpPr>
          <p:cNvPr id="8" name="object 8"/>
          <p:cNvSpPr txBox="1"/>
          <p:nvPr/>
        </p:nvSpPr>
        <p:spPr>
          <a:xfrm>
            <a:off x="148427" y="2607387"/>
            <a:ext cx="3856307" cy="2120132"/>
          </a:xfrm>
          <a:prstGeom prst="rect">
            <a:avLst/>
          </a:prstGeom>
        </p:spPr>
        <p:txBody>
          <a:bodyPr vert="horz" wrap="square" lIns="0" tIns="37148" rIns="0" bIns="0" rtlCol="0">
            <a:spAutoFit/>
          </a:bodyPr>
          <a:lstStyle/>
          <a:p>
            <a:pPr marL="180499" marR="3810" indent="-171450">
              <a:lnSpc>
                <a:spcPts val="1785"/>
              </a:lnSpc>
              <a:spcBef>
                <a:spcPts val="293"/>
              </a:spcBef>
              <a:buFont typeface="Arial MT"/>
              <a:buChar char="•"/>
              <a:tabLst>
                <a:tab pos="180499" algn="l"/>
              </a:tabLst>
            </a:pPr>
            <a:r>
              <a:rPr sz="1650" spc="-8" dirty="0">
                <a:latin typeface="Calibri"/>
                <a:cs typeface="Calibri"/>
              </a:rPr>
              <a:t>high-</a:t>
            </a:r>
            <a:r>
              <a:rPr sz="1650" dirty="0">
                <a:latin typeface="Calibri"/>
                <a:cs typeface="Calibri"/>
              </a:rPr>
              <a:t>frequency</a:t>
            </a:r>
            <a:r>
              <a:rPr sz="1650" spc="-26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population</a:t>
            </a:r>
            <a:r>
              <a:rPr sz="1650" spc="-34" dirty="0">
                <a:latin typeface="Calibri"/>
                <a:cs typeface="Calibri"/>
              </a:rPr>
              <a:t> </a:t>
            </a:r>
            <a:r>
              <a:rPr sz="1650" spc="-19" dirty="0">
                <a:latin typeface="Calibri"/>
                <a:cs typeface="Calibri"/>
              </a:rPr>
              <a:t>is </a:t>
            </a:r>
            <a:r>
              <a:rPr sz="1650" spc="-8" dirty="0">
                <a:latin typeface="Calibri"/>
                <a:cs typeface="Calibri"/>
              </a:rPr>
              <a:t>followed</a:t>
            </a:r>
            <a:r>
              <a:rPr sz="1650" spc="-19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by</a:t>
            </a:r>
            <a:r>
              <a:rPr sz="1650" spc="-19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low-frequency </a:t>
            </a:r>
            <a:r>
              <a:rPr sz="1650" dirty="0">
                <a:latin typeface="Calibri"/>
                <a:cs typeface="Calibri"/>
              </a:rPr>
              <a:t>population</a:t>
            </a:r>
            <a:r>
              <a:rPr sz="1650" spc="-41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that</a:t>
            </a:r>
            <a:r>
              <a:rPr sz="1650" spc="-19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gradually </a:t>
            </a:r>
            <a:r>
              <a:rPr sz="1650" dirty="0">
                <a:latin typeface="Calibri"/>
                <a:cs typeface="Calibri"/>
              </a:rPr>
              <a:t>decreases</a:t>
            </a:r>
            <a:r>
              <a:rPr sz="1650" spc="-49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56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asymptotic</a:t>
            </a:r>
            <a:r>
              <a:rPr sz="1650" spc="-49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fashion</a:t>
            </a:r>
            <a:endParaRPr sz="1650" dirty="0">
              <a:latin typeface="Calibri"/>
              <a:cs typeface="Calibri"/>
            </a:endParaRPr>
          </a:p>
          <a:p>
            <a:pPr marL="180499" indent="-170974">
              <a:spcBef>
                <a:spcPts val="514"/>
              </a:spcBef>
              <a:buFont typeface="Arial MT"/>
              <a:buChar char="•"/>
              <a:tabLst>
                <a:tab pos="180499" algn="l"/>
              </a:tabLst>
            </a:pPr>
            <a:r>
              <a:rPr sz="1650" spc="-8" dirty="0">
                <a:latin typeface="Calibri"/>
                <a:cs typeface="Calibri"/>
              </a:rPr>
              <a:t>Examples</a:t>
            </a:r>
            <a:endParaRPr sz="1650" dirty="0">
              <a:latin typeface="Calibri"/>
              <a:cs typeface="Calibri"/>
            </a:endParaRPr>
          </a:p>
          <a:p>
            <a:pPr marL="523399" lvl="1" indent="-171450">
              <a:spcBef>
                <a:spcPts val="183"/>
              </a:spcBef>
              <a:buFont typeface="Arial MT"/>
              <a:buChar char="•"/>
              <a:tabLst>
                <a:tab pos="523399" algn="l"/>
              </a:tabLst>
            </a:pPr>
            <a:r>
              <a:rPr sz="1650" i="1" spc="-8" dirty="0">
                <a:latin typeface="Calibri"/>
                <a:cs typeface="Calibri"/>
              </a:rPr>
              <a:t>Earthquake</a:t>
            </a:r>
            <a:r>
              <a:rPr sz="1650" i="1" spc="-49" dirty="0">
                <a:latin typeface="Calibri"/>
                <a:cs typeface="Calibri"/>
              </a:rPr>
              <a:t> </a:t>
            </a:r>
            <a:r>
              <a:rPr sz="1650" i="1" spc="-8" dirty="0">
                <a:latin typeface="Calibri"/>
                <a:cs typeface="Calibri"/>
              </a:rPr>
              <a:t>damage</a:t>
            </a:r>
            <a:endParaRPr sz="1650" dirty="0">
              <a:latin typeface="Calibri"/>
              <a:cs typeface="Calibri"/>
            </a:endParaRPr>
          </a:p>
          <a:p>
            <a:pPr marL="523399" lvl="1" indent="-171450">
              <a:spcBef>
                <a:spcPts val="169"/>
              </a:spcBef>
              <a:buFont typeface="Arial MT"/>
              <a:buChar char="•"/>
              <a:tabLst>
                <a:tab pos="523399" algn="l"/>
              </a:tabLst>
            </a:pPr>
            <a:r>
              <a:rPr sz="1650" i="1" dirty="0">
                <a:latin typeface="Calibri"/>
                <a:cs typeface="Calibri"/>
              </a:rPr>
              <a:t>Crop</a:t>
            </a:r>
            <a:r>
              <a:rPr sz="1650" i="1" spc="-15" dirty="0">
                <a:latin typeface="Calibri"/>
                <a:cs typeface="Calibri"/>
              </a:rPr>
              <a:t> </a:t>
            </a:r>
            <a:r>
              <a:rPr sz="1650" i="1" spc="-8" dirty="0">
                <a:latin typeface="Calibri"/>
                <a:cs typeface="Calibri"/>
              </a:rPr>
              <a:t>yields</a:t>
            </a:r>
            <a:endParaRPr sz="1650" dirty="0">
              <a:latin typeface="Calibri"/>
              <a:cs typeface="Calibri"/>
            </a:endParaRPr>
          </a:p>
          <a:p>
            <a:pPr marL="523399" lvl="1" indent="-171450">
              <a:lnSpc>
                <a:spcPts val="1883"/>
              </a:lnSpc>
              <a:spcBef>
                <a:spcPts val="180"/>
              </a:spcBef>
              <a:buFont typeface="Arial MT"/>
              <a:buChar char="•"/>
              <a:tabLst>
                <a:tab pos="523399" algn="l"/>
              </a:tabLst>
            </a:pPr>
            <a:r>
              <a:rPr sz="1650" i="1" dirty="0">
                <a:latin typeface="Calibri"/>
                <a:cs typeface="Calibri"/>
              </a:rPr>
              <a:t>Predicting</a:t>
            </a:r>
            <a:r>
              <a:rPr sz="1650" i="1" spc="-53" dirty="0">
                <a:latin typeface="Calibri"/>
                <a:cs typeface="Calibri"/>
              </a:rPr>
              <a:t> </a:t>
            </a:r>
            <a:r>
              <a:rPr sz="1650" i="1" dirty="0">
                <a:latin typeface="Calibri"/>
                <a:cs typeface="Calibri"/>
              </a:rPr>
              <a:t>fatality</a:t>
            </a:r>
            <a:r>
              <a:rPr sz="1650" i="1" spc="-60" dirty="0">
                <a:latin typeface="Calibri"/>
                <a:cs typeface="Calibri"/>
              </a:rPr>
              <a:t> </a:t>
            </a:r>
            <a:r>
              <a:rPr sz="1650" i="1" dirty="0">
                <a:latin typeface="Calibri"/>
                <a:cs typeface="Calibri"/>
              </a:rPr>
              <a:t>post</a:t>
            </a:r>
            <a:r>
              <a:rPr sz="1650" i="1" spc="-53" dirty="0">
                <a:latin typeface="Calibri"/>
                <a:cs typeface="Calibri"/>
              </a:rPr>
              <a:t> </a:t>
            </a:r>
            <a:r>
              <a:rPr sz="1650" i="1" spc="-19" dirty="0">
                <a:latin typeface="Calibri"/>
                <a:cs typeface="Calibri"/>
              </a:rPr>
              <a:t>ICU</a:t>
            </a:r>
            <a:endParaRPr sz="1650" dirty="0">
              <a:latin typeface="Calibri"/>
              <a:cs typeface="Calibri"/>
            </a:endParaRPr>
          </a:p>
          <a:p>
            <a:pPr marL="523399">
              <a:lnSpc>
                <a:spcPts val="1883"/>
              </a:lnSpc>
            </a:pPr>
            <a:r>
              <a:rPr sz="1650" i="1" spc="-8" dirty="0">
                <a:latin typeface="Calibri"/>
                <a:cs typeface="Calibri"/>
              </a:rPr>
              <a:t>visit</a:t>
            </a:r>
            <a:endParaRPr sz="165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400" y="2006600"/>
            <a:ext cx="4142867" cy="27209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0EBA862E-A765-9086-967F-1A904E1743C7}"/>
              </a:ext>
            </a:extLst>
          </p:cNvPr>
          <p:cNvSpPr txBox="1"/>
          <p:nvPr/>
        </p:nvSpPr>
        <p:spPr>
          <a:xfrm>
            <a:off x="321497" y="423830"/>
            <a:ext cx="5060526" cy="517642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9525" marR="3810">
              <a:lnSpc>
                <a:spcPct val="90000"/>
              </a:lnSpc>
              <a:spcBef>
                <a:spcPts val="472"/>
              </a:spcBef>
            </a:pPr>
            <a:r>
              <a:rPr sz="3300" spc="-8" dirty="0">
                <a:solidFill>
                  <a:srgbClr val="FFFFFF"/>
                </a:solidFill>
                <a:latin typeface="+mj-lt"/>
                <a:cs typeface="Calibri Light"/>
              </a:rPr>
              <a:t>Samples Versus </a:t>
            </a:r>
            <a:r>
              <a:rPr sz="3300" spc="-41" dirty="0">
                <a:solidFill>
                  <a:srgbClr val="FFFFFF"/>
                </a:solidFill>
                <a:latin typeface="+mj-lt"/>
                <a:cs typeface="Calibri Light"/>
              </a:rPr>
              <a:t>Population</a:t>
            </a:r>
            <a:endParaRPr sz="3300" dirty="0">
              <a:latin typeface="+mj-lt"/>
              <a:cs typeface="Calibri Light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ECAC0F72-176C-E9D5-0200-4FE33BE47DD2}"/>
              </a:ext>
            </a:extLst>
          </p:cNvPr>
          <p:cNvSpPr txBox="1"/>
          <p:nvPr/>
        </p:nvSpPr>
        <p:spPr>
          <a:xfrm>
            <a:off x="321497" y="2116046"/>
            <a:ext cx="4851083" cy="10688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79546" indent="-170021" algn="just">
              <a:lnSpc>
                <a:spcPts val="1620"/>
              </a:lnSpc>
              <a:spcBef>
                <a:spcPts val="79"/>
              </a:spcBef>
              <a:buFont typeface="Arial MT"/>
              <a:buChar char="•"/>
              <a:tabLst>
                <a:tab pos="179546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population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defined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we’d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to</a:t>
            </a:r>
            <a:endParaRPr sz="1500" dirty="0">
              <a:latin typeface="Calibri"/>
              <a:cs typeface="Calibri"/>
            </a:endParaRPr>
          </a:p>
          <a:p>
            <a:pPr marL="180975" algn="just">
              <a:lnSpc>
                <a:spcPts val="1620"/>
              </a:lnSpc>
            </a:pPr>
            <a:r>
              <a:rPr sz="1500" dirty="0">
                <a:latin typeface="Calibri"/>
                <a:cs typeface="Calibri"/>
              </a:rPr>
              <a:t>study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experiment</a:t>
            </a:r>
            <a:endParaRPr sz="1500" dirty="0">
              <a:latin typeface="Calibri"/>
              <a:cs typeface="Calibri"/>
            </a:endParaRPr>
          </a:p>
          <a:p>
            <a:pPr marL="179546" marR="180022" indent="-170497" algn="just">
              <a:lnSpc>
                <a:spcPct val="80000"/>
              </a:lnSpc>
              <a:spcBef>
                <a:spcPts val="746"/>
              </a:spcBef>
              <a:buFont typeface="Arial MT"/>
              <a:buChar char="•"/>
              <a:tabLst>
                <a:tab pos="180975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subset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population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that 	</a:t>
            </a:r>
            <a:r>
              <a:rPr sz="1500" dirty="0">
                <a:latin typeface="Calibri"/>
                <a:cs typeface="Calibri"/>
              </a:rPr>
              <a:t>hopefully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represents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accurate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distribution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data 	</a:t>
            </a:r>
            <a:r>
              <a:rPr sz="1500" dirty="0">
                <a:latin typeface="Calibri"/>
                <a:cs typeface="Calibri"/>
              </a:rPr>
              <a:t>without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introducing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sampling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bias</a:t>
            </a:r>
            <a:endParaRPr sz="1500" dirty="0">
              <a:latin typeface="Calibri"/>
              <a:cs typeface="Calibri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7CD7F5EF-D24C-F25E-9BA8-D01B48803D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868" y="3657443"/>
            <a:ext cx="5292254" cy="2439418"/>
          </a:xfrm>
          <a:prstGeom prst="rect">
            <a:avLst/>
          </a:prstGeom>
        </p:spPr>
      </p:pic>
      <p:pic>
        <p:nvPicPr>
          <p:cNvPr id="14" name="object 5">
            <a:extLst>
              <a:ext uri="{FF2B5EF4-FFF2-40B4-BE49-F238E27FC236}">
                <a16:creationId xmlns:a16="http://schemas.microsoft.com/office/drawing/2014/main" id="{EA388ACF-BCB0-8C24-FB03-5A078835CD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1290" y="1826221"/>
            <a:ext cx="3177777" cy="18665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9459-0C74-62FE-6FFC-CBC61646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7109D2-F361-99BF-FF9D-3B4E2BB84F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0285" y="415217"/>
            <a:ext cx="5137204" cy="56361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z="3600" spc="-30" dirty="0">
                <a:solidFill>
                  <a:schemeClr val="bg1"/>
                </a:solidFill>
              </a:rPr>
              <a:t>Resampling</a:t>
            </a:r>
            <a:r>
              <a:rPr sz="3600" spc="-101" dirty="0">
                <a:solidFill>
                  <a:schemeClr val="bg1"/>
                </a:solidFill>
              </a:rPr>
              <a:t> </a:t>
            </a:r>
            <a:r>
              <a:rPr sz="3600" spc="-8" dirty="0">
                <a:solidFill>
                  <a:schemeClr val="bg1"/>
                </a:solidFill>
              </a:rPr>
              <a:t>Methods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CFBAF10-DDC6-D6E5-30AA-F78CE5627344}"/>
              </a:ext>
            </a:extLst>
          </p:cNvPr>
          <p:cNvSpPr txBox="1"/>
          <p:nvPr/>
        </p:nvSpPr>
        <p:spPr>
          <a:xfrm>
            <a:off x="541629" y="2184082"/>
            <a:ext cx="4975860" cy="2626521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180975" marR="142875" indent="-171926">
              <a:lnSpc>
                <a:spcPts val="1620"/>
              </a:lnSpc>
              <a:spcBef>
                <a:spcPts val="281"/>
              </a:spcBef>
              <a:buClr>
                <a:srgbClr val="EF8831"/>
              </a:buClr>
              <a:buFont typeface="Arial MT"/>
              <a:buChar char="•"/>
              <a:tabLst>
                <a:tab pos="180975" algn="l"/>
              </a:tabLst>
            </a:pPr>
            <a:r>
              <a:rPr sz="1500" dirty="0">
                <a:latin typeface="Calibri"/>
                <a:cs typeface="Calibri"/>
              </a:rPr>
              <a:t>They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involve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repeatedly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drawing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samples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training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set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refitting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model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interest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order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to </a:t>
            </a:r>
            <a:r>
              <a:rPr sz="1500" dirty="0">
                <a:latin typeface="Calibri"/>
                <a:cs typeface="Calibri"/>
              </a:rPr>
              <a:t>obtain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additional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information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about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fitted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model.</a:t>
            </a:r>
            <a:endParaRPr sz="1500">
              <a:latin typeface="Calibri"/>
              <a:cs typeface="Calibri"/>
            </a:endParaRPr>
          </a:p>
          <a:p>
            <a:pPr marL="180975" indent="-171450">
              <a:spcBef>
                <a:spcPts val="544"/>
              </a:spcBef>
              <a:buClr>
                <a:srgbClr val="EF8831"/>
              </a:buClr>
              <a:buFont typeface="Arial MT"/>
              <a:buChar char="•"/>
              <a:tabLst>
                <a:tab pos="180975" algn="l"/>
              </a:tabLst>
            </a:pPr>
            <a:r>
              <a:rPr sz="1500" i="1" spc="-8" dirty="0">
                <a:latin typeface="Calibri"/>
                <a:cs typeface="Calibri"/>
              </a:rPr>
              <a:t>Bootstrapping</a:t>
            </a:r>
            <a:endParaRPr sz="1500">
              <a:latin typeface="Calibri"/>
              <a:cs typeface="Calibri"/>
            </a:endParaRPr>
          </a:p>
          <a:p>
            <a:pPr marL="523875" marR="168593" lvl="1" indent="-171926">
              <a:lnSpc>
                <a:spcPts val="1620"/>
              </a:lnSpc>
              <a:spcBef>
                <a:spcPts val="401"/>
              </a:spcBef>
              <a:buClr>
                <a:srgbClr val="EF8831"/>
              </a:buClr>
              <a:buFont typeface="Arial MT"/>
              <a:buChar char="•"/>
              <a:tabLst>
                <a:tab pos="523875" algn="l"/>
              </a:tabLst>
            </a:pPr>
            <a:r>
              <a:rPr sz="1500" dirty="0">
                <a:latin typeface="Calibri"/>
                <a:cs typeface="Calibri"/>
              </a:rPr>
              <a:t>drawing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random</a:t>
            </a:r>
            <a:r>
              <a:rPr sz="1500" spc="-6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samples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another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to </a:t>
            </a:r>
            <a:r>
              <a:rPr sz="1500" spc="-8" dirty="0">
                <a:latin typeface="Calibri"/>
                <a:cs typeface="Calibri"/>
              </a:rPr>
              <a:t>generate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new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balance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between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samples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class</a:t>
            </a:r>
            <a:endParaRPr sz="1500">
              <a:latin typeface="Calibri"/>
              <a:cs typeface="Calibri"/>
            </a:endParaRPr>
          </a:p>
          <a:p>
            <a:pPr marL="180975" indent="-171450">
              <a:spcBef>
                <a:spcPts val="544"/>
              </a:spcBef>
              <a:buClr>
                <a:srgbClr val="EF8831"/>
              </a:buClr>
              <a:buFont typeface="Arial MT"/>
              <a:buChar char="•"/>
              <a:tabLst>
                <a:tab pos="180975" algn="l"/>
              </a:tabLst>
            </a:pPr>
            <a:r>
              <a:rPr sz="1500" spc="-15" dirty="0">
                <a:latin typeface="Calibri"/>
                <a:cs typeface="Calibri"/>
              </a:rPr>
              <a:t>Cross-</a:t>
            </a:r>
            <a:r>
              <a:rPr sz="1500" spc="-8" dirty="0">
                <a:latin typeface="Calibri"/>
                <a:cs typeface="Calibri"/>
              </a:rPr>
              <a:t>validation</a:t>
            </a:r>
            <a:endParaRPr sz="1500">
              <a:latin typeface="Calibri"/>
              <a:cs typeface="Calibri"/>
            </a:endParaRPr>
          </a:p>
          <a:p>
            <a:pPr marL="523875" marR="3810" lvl="1" indent="-171926">
              <a:lnSpc>
                <a:spcPts val="1620"/>
              </a:lnSpc>
              <a:spcBef>
                <a:spcPts val="405"/>
              </a:spcBef>
              <a:buClr>
                <a:srgbClr val="EF8831"/>
              </a:buClr>
              <a:buFont typeface="Arial MT"/>
              <a:buChar char="•"/>
              <a:tabLst>
                <a:tab pos="523875" algn="l"/>
              </a:tabLst>
            </a:pPr>
            <a:r>
              <a:rPr sz="1500" dirty="0">
                <a:latin typeface="Calibri"/>
                <a:cs typeface="Calibri"/>
              </a:rPr>
              <a:t>split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training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dataset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N</a:t>
            </a:r>
            <a:r>
              <a:rPr sz="1500" i="1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splits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then </a:t>
            </a:r>
            <a:r>
              <a:rPr sz="1500" spc="-8" dirty="0">
                <a:latin typeface="Calibri"/>
                <a:cs typeface="Calibri"/>
              </a:rPr>
              <a:t>separate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splits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training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groups</a:t>
            </a:r>
            <a:endParaRPr sz="1500">
              <a:latin typeface="Calibri"/>
              <a:cs typeface="Calibri"/>
            </a:endParaRPr>
          </a:p>
          <a:p>
            <a:pPr marL="523875" lvl="1" indent="-171450">
              <a:spcBef>
                <a:spcPts val="172"/>
              </a:spcBef>
              <a:buClr>
                <a:srgbClr val="EF8831"/>
              </a:buClr>
              <a:buFont typeface="Arial MT"/>
              <a:buChar char="•"/>
              <a:tabLst>
                <a:tab pos="523875" algn="l"/>
              </a:tabLst>
            </a:pPr>
            <a:r>
              <a:rPr sz="1500" spc="-8" dirty="0">
                <a:latin typeface="Calibri"/>
                <a:cs typeface="Calibri"/>
              </a:rPr>
              <a:t>researchers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have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found</a:t>
            </a:r>
            <a:r>
              <a:rPr sz="1500" spc="-4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10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splits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work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well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practice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F296476-84EA-4940-D27A-95ABC161A5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2139" y="3609593"/>
            <a:ext cx="3206115" cy="1587627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EFF83A6A-14BD-8421-2B20-D5D6C6A0FA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6431" y="2365164"/>
            <a:ext cx="3137534" cy="86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12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EF63-3074-0CDB-488C-C8749C70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64085F1-E881-1230-AB80-CDA52082F53F}"/>
              </a:ext>
            </a:extLst>
          </p:cNvPr>
          <p:cNvSpPr txBox="1"/>
          <p:nvPr/>
        </p:nvSpPr>
        <p:spPr>
          <a:xfrm>
            <a:off x="402588" y="2084192"/>
            <a:ext cx="7740015" cy="2689615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180499" indent="-170974">
              <a:spcBef>
                <a:spcPts val="281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b="1" dirty="0">
                <a:latin typeface="Calibri"/>
                <a:cs typeface="Calibri"/>
              </a:rPr>
              <a:t>Selection</a:t>
            </a:r>
            <a:r>
              <a:rPr sz="2100" b="1" spc="-68" dirty="0">
                <a:latin typeface="Calibri"/>
                <a:cs typeface="Calibri"/>
              </a:rPr>
              <a:t> </a:t>
            </a:r>
            <a:r>
              <a:rPr sz="2100" b="1" spc="-15" dirty="0">
                <a:latin typeface="Calibri"/>
                <a:cs typeface="Calibri"/>
              </a:rPr>
              <a:t>Bias</a:t>
            </a:r>
            <a:endParaRPr sz="2100" dirty="0">
              <a:latin typeface="Calibri"/>
              <a:cs typeface="Calibri"/>
            </a:endParaRPr>
          </a:p>
          <a:p>
            <a:pPr marL="522923" marR="3810" lvl="1" indent="-170497">
              <a:lnSpc>
                <a:spcPct val="90100"/>
              </a:lnSpc>
              <a:spcBef>
                <a:spcPts val="398"/>
              </a:spcBef>
              <a:buFont typeface="Arial MT"/>
              <a:buChar char="•"/>
              <a:tabLst>
                <a:tab pos="523875" algn="l"/>
              </a:tabLst>
            </a:pPr>
            <a:r>
              <a:rPr dirty="0">
                <a:latin typeface="Calibri"/>
                <a:cs typeface="Calibri"/>
              </a:rPr>
              <a:t>situation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where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analysis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been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conducted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among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subset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data</a:t>
            </a:r>
            <a:r>
              <a:rPr spc="450" dirty="0">
                <a:latin typeface="Calibri"/>
                <a:cs typeface="Calibri"/>
              </a:rPr>
              <a:t> 	</a:t>
            </a:r>
            <a:r>
              <a:rPr dirty="0">
                <a:latin typeface="Calibri"/>
                <a:cs typeface="Calibri"/>
              </a:rPr>
              <a:t>(a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sample)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goal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drawing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conclusions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about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population,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the 	</a:t>
            </a:r>
            <a:r>
              <a:rPr dirty="0">
                <a:latin typeface="Calibri"/>
                <a:cs typeface="Calibri"/>
              </a:rPr>
              <a:t>resulting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conclusions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likely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wrong</a:t>
            </a:r>
            <a:endParaRPr dirty="0">
              <a:latin typeface="Calibri"/>
              <a:cs typeface="Calibri"/>
            </a:endParaRPr>
          </a:p>
          <a:p>
            <a:pPr marL="522923" lvl="1" indent="-170497">
              <a:spcBef>
                <a:spcPts val="161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dealing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sampling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does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proper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randomization</a:t>
            </a:r>
            <a:endParaRPr dirty="0">
              <a:latin typeface="Calibri"/>
              <a:cs typeface="Calibri"/>
            </a:endParaRPr>
          </a:p>
          <a:p>
            <a:pPr marL="522923" marR="218599" lvl="1" indent="-170497">
              <a:lnSpc>
                <a:spcPts val="1943"/>
              </a:lnSpc>
              <a:spcBef>
                <a:spcPts val="401"/>
              </a:spcBef>
              <a:buFont typeface="Arial MT"/>
              <a:buChar char="•"/>
              <a:tabLst>
                <a:tab pos="523875" algn="l"/>
              </a:tabLst>
            </a:pPr>
            <a:r>
              <a:rPr spc="-8" dirty="0">
                <a:latin typeface="Calibri"/>
                <a:cs typeface="Calibri"/>
              </a:rPr>
              <a:t>skews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sample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way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sample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representative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the 	</a:t>
            </a:r>
            <a:r>
              <a:rPr dirty="0">
                <a:latin typeface="Calibri"/>
                <a:cs typeface="Calibri"/>
              </a:rPr>
              <a:t>population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model</a:t>
            </a:r>
            <a:endParaRPr dirty="0">
              <a:latin typeface="Calibri"/>
              <a:cs typeface="Calibri"/>
            </a:endParaRPr>
          </a:p>
          <a:p>
            <a:pPr marL="180499" indent="-170974">
              <a:spcBef>
                <a:spcPts val="458"/>
              </a:spcBef>
              <a:buFont typeface="Arial MT"/>
              <a:buChar char="•"/>
              <a:tabLst>
                <a:tab pos="180499" algn="l"/>
              </a:tabLst>
            </a:pPr>
            <a:r>
              <a:rPr sz="2100" b="1" spc="-8" dirty="0">
                <a:latin typeface="Calibri"/>
                <a:cs typeface="Calibri"/>
              </a:rPr>
              <a:t>Likelihood</a:t>
            </a:r>
            <a:endParaRPr sz="2100" dirty="0">
              <a:latin typeface="Calibri"/>
              <a:cs typeface="Calibri"/>
            </a:endParaRPr>
          </a:p>
          <a:p>
            <a:pPr marL="522923" lvl="1" indent="-170497">
              <a:spcBef>
                <a:spcPts val="172"/>
              </a:spcBef>
              <a:buFont typeface="Arial MT"/>
              <a:buChar char="•"/>
              <a:tabLst>
                <a:tab pos="522923" algn="l"/>
              </a:tabLst>
            </a:pPr>
            <a:r>
              <a:rPr dirty="0">
                <a:latin typeface="Calibri"/>
                <a:cs typeface="Calibri"/>
              </a:rPr>
              <a:t>an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reasonable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probability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happening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still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might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not.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6979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4667" y="-124464"/>
            <a:ext cx="6962547" cy="1231927"/>
          </a:xfrm>
          <a:prstGeom prst="rect">
            <a:avLst/>
          </a:prstGeom>
        </p:spPr>
        <p:txBody>
          <a:bodyPr vert="horz" wrap="none" lIns="0" tIns="732333" rIns="0" bIns="0" rtlCol="0" anchor="t">
            <a:spAutoFit/>
          </a:bodyPr>
          <a:lstStyle/>
          <a:p>
            <a:pPr marL="375285" algn="l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chemeClr val="bg1"/>
                </a:solidFill>
              </a:rPr>
              <a:t>Supervised</a:t>
            </a:r>
            <a:r>
              <a:rPr sz="3200" spc="-80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vs.</a:t>
            </a:r>
            <a:r>
              <a:rPr sz="3200" spc="-40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Unsupervised</a:t>
            </a:r>
            <a:r>
              <a:rPr sz="3200" spc="-65" dirty="0">
                <a:solidFill>
                  <a:schemeClr val="bg1"/>
                </a:solidFill>
              </a:rPr>
              <a:t> </a:t>
            </a:r>
            <a:r>
              <a:rPr sz="3200" spc="-10" dirty="0">
                <a:solidFill>
                  <a:schemeClr val="bg1"/>
                </a:solidFill>
              </a:rPr>
              <a:t>Learning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149" y="2214023"/>
            <a:ext cx="7923530" cy="2911438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1600" dirty="0">
                <a:solidFill>
                  <a:srgbClr val="F83E23"/>
                </a:solidFill>
                <a:latin typeface="Tahoma"/>
                <a:cs typeface="Tahoma"/>
              </a:rPr>
              <a:t>Supervised</a:t>
            </a:r>
            <a:r>
              <a:rPr sz="1600" spc="-20" dirty="0">
                <a:solidFill>
                  <a:srgbClr val="F83E23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83E23"/>
                </a:solidFill>
                <a:latin typeface="Tahoma"/>
                <a:cs typeface="Tahoma"/>
              </a:rPr>
              <a:t>learning</a:t>
            </a:r>
            <a:r>
              <a:rPr sz="1600" spc="-15" dirty="0">
                <a:solidFill>
                  <a:srgbClr val="F83E23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83E23"/>
                </a:solidFill>
                <a:latin typeface="Tahoma"/>
                <a:cs typeface="Tahoma"/>
              </a:rPr>
              <a:t>(classification)</a:t>
            </a:r>
            <a:endParaRPr sz="1600" dirty="0">
              <a:latin typeface="Tahoma"/>
              <a:cs typeface="Tahoma"/>
            </a:endParaRPr>
          </a:p>
          <a:p>
            <a:pPr marL="756285" marR="743585" lvl="1" indent="-287020">
              <a:lnSpc>
                <a:spcPct val="12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Supervision: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training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data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(observations, </a:t>
            </a:r>
            <a:r>
              <a:rPr sz="1600" dirty="0">
                <a:latin typeface="Tahoma"/>
                <a:cs typeface="Tahoma"/>
              </a:rPr>
              <a:t>measurements,</a:t>
            </a:r>
            <a:r>
              <a:rPr sz="1600" spc="-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etc.)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are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accompanied</a:t>
            </a:r>
            <a:r>
              <a:rPr sz="1600" spc="-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by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labels </a:t>
            </a:r>
            <a:r>
              <a:rPr sz="1600" dirty="0">
                <a:latin typeface="Tahoma"/>
                <a:cs typeface="Tahoma"/>
              </a:rPr>
              <a:t>indicating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class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observations</a:t>
            </a:r>
            <a:endParaRPr sz="16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115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New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data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is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classified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based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on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training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set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1600" dirty="0">
                <a:solidFill>
                  <a:srgbClr val="F83E23"/>
                </a:solidFill>
                <a:latin typeface="Tahoma"/>
                <a:cs typeface="Tahoma"/>
              </a:rPr>
              <a:t>Unsupervised</a:t>
            </a:r>
            <a:r>
              <a:rPr sz="1600" spc="-105" dirty="0">
                <a:solidFill>
                  <a:srgbClr val="F83E23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83E23"/>
                </a:solidFill>
                <a:latin typeface="Tahoma"/>
                <a:cs typeface="Tahoma"/>
              </a:rPr>
              <a:t>learning</a:t>
            </a:r>
            <a:r>
              <a:rPr sz="1600" spc="-120" dirty="0">
                <a:solidFill>
                  <a:srgbClr val="F83E23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3300"/>
                </a:solidFill>
                <a:latin typeface="Tahoma"/>
                <a:cs typeface="Tahoma"/>
              </a:rPr>
              <a:t>(clustering)</a:t>
            </a:r>
            <a:endParaRPr sz="16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115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The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class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labels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training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data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is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unknown</a:t>
            </a:r>
            <a:endParaRPr sz="16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2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Given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set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measurements,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observations,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etc.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with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aim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establishing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existence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classes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or </a:t>
            </a:r>
            <a:r>
              <a:rPr sz="1600" dirty="0">
                <a:latin typeface="Tahoma"/>
                <a:cs typeface="Tahoma"/>
              </a:rPr>
              <a:t>clusters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data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262467" y="-253430"/>
            <a:ext cx="6976533" cy="1268859"/>
          </a:xfrm>
          <a:prstGeom prst="rect">
            <a:avLst/>
          </a:prstGeom>
        </p:spPr>
        <p:txBody>
          <a:bodyPr vert="horz" wrap="square" lIns="0" tIns="646988" rIns="0" bIns="0" rtlCol="0">
            <a:spAutoFit/>
          </a:bodyPr>
          <a:lstStyle/>
          <a:p>
            <a:pPr marL="1430020" algn="l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chemeClr val="bg1"/>
                </a:solidFill>
              </a:rPr>
              <a:t>Issues:</a:t>
            </a:r>
            <a:r>
              <a:rPr sz="4000" spc="-20" dirty="0">
                <a:solidFill>
                  <a:schemeClr val="bg1"/>
                </a:solidFill>
              </a:rPr>
              <a:t> </a:t>
            </a:r>
            <a:r>
              <a:rPr sz="4000" dirty="0">
                <a:solidFill>
                  <a:schemeClr val="bg1"/>
                </a:solidFill>
              </a:rPr>
              <a:t>Data</a:t>
            </a:r>
            <a:r>
              <a:rPr sz="4000" spc="-35" dirty="0">
                <a:solidFill>
                  <a:schemeClr val="bg1"/>
                </a:solidFill>
              </a:rPr>
              <a:t> </a:t>
            </a:r>
            <a:r>
              <a:rPr sz="4000" spc="-10" dirty="0">
                <a:solidFill>
                  <a:schemeClr val="bg1"/>
                </a:solidFill>
              </a:rPr>
              <a:t>Preparation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2223205"/>
            <a:ext cx="7797800" cy="21643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1600" dirty="0">
                <a:latin typeface="Tahoma"/>
                <a:cs typeface="Tahoma"/>
              </a:rPr>
              <a:t>Data </a:t>
            </a:r>
            <a:r>
              <a:rPr sz="1600" spc="-10" dirty="0">
                <a:latin typeface="Tahoma"/>
                <a:cs typeface="Tahoma"/>
              </a:rPr>
              <a:t>cleaning</a:t>
            </a:r>
            <a:endParaRPr sz="16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Preprocess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data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order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to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reduce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noise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handle </a:t>
            </a:r>
            <a:r>
              <a:rPr sz="1600" dirty="0">
                <a:latin typeface="Tahoma"/>
                <a:cs typeface="Tahoma"/>
              </a:rPr>
              <a:t>missing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values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1600" spc="-10" dirty="0">
                <a:latin typeface="Tahoma"/>
                <a:cs typeface="Tahoma"/>
              </a:rPr>
              <a:t>Relevance</a:t>
            </a:r>
            <a:r>
              <a:rPr sz="1600" spc="-9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analysis</a:t>
            </a:r>
            <a:r>
              <a:rPr sz="1600" spc="-9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(feature</a:t>
            </a:r>
            <a:r>
              <a:rPr sz="1600" spc="-11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selection)</a:t>
            </a:r>
            <a:endParaRPr sz="16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86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Remove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the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irrelevant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or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redundant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attributes</a:t>
            </a:r>
            <a:endParaRPr sz="16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1600" dirty="0">
                <a:latin typeface="Tahoma"/>
                <a:cs typeface="Tahoma"/>
              </a:rPr>
              <a:t>Data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transformation</a:t>
            </a:r>
            <a:endParaRPr sz="16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86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Generalize</a:t>
            </a:r>
            <a:r>
              <a:rPr sz="1600" spc="-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and/or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normalize</a:t>
            </a:r>
            <a:r>
              <a:rPr sz="1600" spc="-9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data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664" y="3146212"/>
            <a:ext cx="3944470" cy="26365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8874" y="1474257"/>
            <a:ext cx="8658859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Unsupervised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Machine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Learning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technique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teaches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machines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use 	</a:t>
            </a:r>
            <a:r>
              <a:rPr sz="1800" dirty="0">
                <a:latin typeface="Tahoma"/>
                <a:cs typeface="Tahoma"/>
              </a:rPr>
              <a:t>unlabeled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unclassified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data.</a:t>
            </a:r>
            <a:endParaRPr sz="1800" dirty="0">
              <a:latin typeface="Tahoma"/>
              <a:cs typeface="Tahoma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idea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expose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computers</a:t>
            </a:r>
            <a:r>
              <a:rPr sz="1800" spc="1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large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volumes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varying</a:t>
            </a:r>
            <a:r>
              <a:rPr sz="1800" spc="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allow 	</a:t>
            </a:r>
            <a:r>
              <a:rPr sz="1800" dirty="0">
                <a:latin typeface="Tahoma"/>
                <a:cs typeface="Tahoma"/>
              </a:rPr>
              <a:t>them</a:t>
            </a:r>
            <a:r>
              <a:rPr sz="1800" spc="4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3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learn</a:t>
            </a:r>
            <a:r>
              <a:rPr sz="1800" spc="3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from</a:t>
            </a:r>
            <a:r>
              <a:rPr sz="1800" spc="3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4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</a:t>
            </a:r>
            <a:r>
              <a:rPr sz="1800" spc="3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3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provide</a:t>
            </a:r>
            <a:r>
              <a:rPr sz="1800" spc="409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previously</a:t>
            </a:r>
            <a:r>
              <a:rPr sz="1800" spc="3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unknown</a:t>
            </a:r>
            <a:r>
              <a:rPr sz="1800" spc="4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insights</a:t>
            </a:r>
            <a:r>
              <a:rPr sz="1800" spc="3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and 	</a:t>
            </a:r>
            <a:r>
              <a:rPr sz="1800" dirty="0">
                <a:latin typeface="Tahoma"/>
                <a:cs typeface="Tahoma"/>
              </a:rPr>
              <a:t>identify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hidden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patterns.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8627" y="1792817"/>
            <a:ext cx="8246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1831975" algn="l"/>
                <a:tab pos="2824480" algn="l"/>
                <a:tab pos="3725545" algn="l"/>
                <a:tab pos="4488815" algn="l"/>
                <a:tab pos="5198110" algn="l"/>
                <a:tab pos="5873115" algn="l"/>
                <a:tab pos="7191375" algn="l"/>
              </a:tabLst>
            </a:pP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utilize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algorithms:</a:t>
            </a:r>
            <a:endParaRPr lang="en-US" sz="180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299085" algn="l"/>
                <a:tab pos="1831975" algn="l"/>
                <a:tab pos="2824480" algn="l"/>
                <a:tab pos="3725545" algn="l"/>
                <a:tab pos="4488815" algn="l"/>
                <a:tab pos="5198110" algn="l"/>
                <a:tab pos="5873115" algn="l"/>
                <a:tab pos="719137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clustering,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association,</a:t>
            </a:r>
            <a:r>
              <a:rPr sz="18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8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dimensionality</a:t>
            </a:r>
            <a:r>
              <a:rPr sz="18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latin typeface="Arial" panose="020B0604020202020204" pitchFamily="34" charset="0"/>
                <a:cs typeface="Arial" panose="020B0604020202020204" pitchFamily="34" charset="0"/>
              </a:rPr>
              <a:t>reduction.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794" y="2963333"/>
            <a:ext cx="7258235" cy="25675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5073" y="1521620"/>
            <a:ext cx="8246109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Clustering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process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grouping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similar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entities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together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categories.</a:t>
            </a:r>
            <a:endParaRPr sz="1800" dirty="0">
              <a:latin typeface="Tahoma"/>
              <a:cs typeface="Tahoma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299085" algn="l"/>
                <a:tab pos="369570" algn="l"/>
              </a:tabLst>
            </a:pPr>
            <a:r>
              <a:rPr sz="1800" dirty="0">
                <a:latin typeface="Tahoma"/>
                <a:cs typeface="Tahoma"/>
              </a:rPr>
              <a:t>	Unsupervised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Machine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Learning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algorithms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aim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find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similarities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 </a:t>
            </a:r>
            <a:r>
              <a:rPr sz="1800" dirty="0">
                <a:latin typeface="Tahoma"/>
                <a:cs typeface="Tahoma"/>
              </a:rPr>
              <a:t>points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dataset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group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them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give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insights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into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underlying </a:t>
            </a:r>
            <a:r>
              <a:rPr sz="1800" dirty="0">
                <a:latin typeface="Tahoma"/>
                <a:cs typeface="Tahoma"/>
              </a:rPr>
              <a:t>patterns</a:t>
            </a:r>
            <a:r>
              <a:rPr sz="1800" spc="4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4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different</a:t>
            </a:r>
            <a:r>
              <a:rPr sz="1800" spc="4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groups,</a:t>
            </a:r>
            <a:r>
              <a:rPr sz="1800" spc="4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4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example,</a:t>
            </a:r>
            <a:r>
              <a:rPr sz="1800" spc="459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grouping</a:t>
            </a:r>
            <a:r>
              <a:rPr sz="1800" spc="4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documents</a:t>
            </a:r>
            <a:r>
              <a:rPr sz="1800" spc="4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by</a:t>
            </a:r>
            <a:r>
              <a:rPr sz="1800" spc="4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similar topics.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981" y="3429000"/>
            <a:ext cx="5490291" cy="24817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B802-8165-9B5F-E97F-3C016E6C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CC65D2FB-690A-5C71-25F9-F6A556A5C80B}"/>
              </a:ext>
            </a:extLst>
          </p:cNvPr>
          <p:cNvSpPr txBox="1">
            <a:spLocks/>
          </p:cNvSpPr>
          <p:nvPr/>
        </p:nvSpPr>
        <p:spPr>
          <a:xfrm>
            <a:off x="262467" y="-174095"/>
            <a:ext cx="8229600" cy="1331313"/>
          </a:xfrm>
          <a:prstGeom prst="rect">
            <a:avLst/>
          </a:prstGeom>
        </p:spPr>
        <p:txBody>
          <a:bodyPr vert="horz" wrap="square" lIns="0" tIns="830758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4769" algn="l">
              <a:spcBef>
                <a:spcPts val="105"/>
              </a:spcBef>
            </a:pPr>
            <a:r>
              <a:rPr lang="en-US" sz="3200" dirty="0">
                <a:solidFill>
                  <a:schemeClr val="bg1"/>
                </a:solidFill>
              </a:rPr>
              <a:t>Start</a:t>
            </a:r>
            <a:r>
              <a:rPr lang="en-US" sz="3200" spc="-3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with</a:t>
            </a:r>
            <a:r>
              <a:rPr lang="en-US" sz="3200" spc="-25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practical</a:t>
            </a:r>
            <a:r>
              <a:rPr lang="en-US" sz="3200" spc="-55" dirty="0">
                <a:solidFill>
                  <a:schemeClr val="bg1"/>
                </a:solidFill>
              </a:rPr>
              <a:t> </a:t>
            </a:r>
            <a:r>
              <a:rPr lang="en-US" sz="3200" spc="-10" dirty="0">
                <a:solidFill>
                  <a:schemeClr val="bg1"/>
                </a:solidFill>
              </a:rPr>
              <a:t>applications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6DF46DF-243B-34AC-E833-AE96ABD1EF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267" y="1683631"/>
            <a:ext cx="7382933" cy="381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78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82033" y="34415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5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48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Clustering??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5" y="1970151"/>
            <a:ext cx="216169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69069" indent="-159544">
              <a:spcBef>
                <a:spcPts val="75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dirty="0">
                <a:latin typeface="Georgia"/>
                <a:cs typeface="Georgia"/>
              </a:rPr>
              <a:t>Grouping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objects</a:t>
            </a:r>
            <a:endParaRPr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49136" y="2344055"/>
            <a:ext cx="5122544" cy="2818447"/>
            <a:chOff x="2465514" y="1982406"/>
            <a:chExt cx="6830059" cy="37579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9090" y="2088964"/>
              <a:ext cx="6562692" cy="36509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73451" y="1990344"/>
              <a:ext cx="2291080" cy="329565"/>
            </a:xfrm>
            <a:custGeom>
              <a:avLst/>
              <a:gdLst/>
              <a:ahLst/>
              <a:cxnLst/>
              <a:rect l="l" t="t" r="r" b="b"/>
              <a:pathLst>
                <a:path w="2291079" h="329564">
                  <a:moveTo>
                    <a:pt x="2290572" y="0"/>
                  </a:moveTo>
                  <a:lnTo>
                    <a:pt x="0" y="0"/>
                  </a:lnTo>
                  <a:lnTo>
                    <a:pt x="0" y="329184"/>
                  </a:lnTo>
                  <a:lnTo>
                    <a:pt x="2290572" y="329184"/>
                  </a:lnTo>
                  <a:lnTo>
                    <a:pt x="2290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2473451" y="1990344"/>
              <a:ext cx="2291080" cy="329565"/>
            </a:xfrm>
            <a:custGeom>
              <a:avLst/>
              <a:gdLst/>
              <a:ahLst/>
              <a:cxnLst/>
              <a:rect l="l" t="t" r="r" b="b"/>
              <a:pathLst>
                <a:path w="2291079" h="329564">
                  <a:moveTo>
                    <a:pt x="0" y="329184"/>
                  </a:moveTo>
                  <a:lnTo>
                    <a:pt x="2290572" y="329184"/>
                  </a:lnTo>
                  <a:lnTo>
                    <a:pt x="2290572" y="0"/>
                  </a:lnTo>
                  <a:lnTo>
                    <a:pt x="0" y="0"/>
                  </a:lnTo>
                  <a:lnTo>
                    <a:pt x="0" y="329184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8631936" y="5454396"/>
              <a:ext cx="655320" cy="242570"/>
            </a:xfrm>
            <a:custGeom>
              <a:avLst/>
              <a:gdLst/>
              <a:ahLst/>
              <a:cxnLst/>
              <a:rect l="l" t="t" r="r" b="b"/>
              <a:pathLst>
                <a:path w="655320" h="242570">
                  <a:moveTo>
                    <a:pt x="655320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655320" y="242315"/>
                  </a:lnTo>
                  <a:lnTo>
                    <a:pt x="655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8631936" y="5454396"/>
              <a:ext cx="655320" cy="242570"/>
            </a:xfrm>
            <a:custGeom>
              <a:avLst/>
              <a:gdLst/>
              <a:ahLst/>
              <a:cxnLst/>
              <a:rect l="l" t="t" r="r" b="b"/>
              <a:pathLst>
                <a:path w="655320" h="242570">
                  <a:moveTo>
                    <a:pt x="0" y="242315"/>
                  </a:moveTo>
                  <a:lnTo>
                    <a:pt x="655320" y="242315"/>
                  </a:lnTo>
                  <a:lnTo>
                    <a:pt x="655320" y="0"/>
                  </a:lnTo>
                  <a:lnTo>
                    <a:pt x="0" y="0"/>
                  </a:lnTo>
                  <a:lnTo>
                    <a:pt x="0" y="242315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38090" y="5315483"/>
            <a:ext cx="4545806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How</a:t>
            </a:r>
            <a:r>
              <a:rPr sz="2100" spc="-4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will</a:t>
            </a:r>
            <a:r>
              <a:rPr sz="2100" spc="-41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you</a:t>
            </a:r>
            <a:r>
              <a:rPr sz="2100" spc="-26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group</a:t>
            </a:r>
            <a:r>
              <a:rPr sz="2100" spc="-38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these</a:t>
            </a:r>
            <a:r>
              <a:rPr sz="2100" spc="-38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spc="-8" dirty="0">
                <a:solidFill>
                  <a:srgbClr val="C00000"/>
                </a:solidFill>
                <a:latin typeface="Comic Sans MS"/>
                <a:cs typeface="Comic Sans MS"/>
              </a:rPr>
              <a:t>together??</a:t>
            </a:r>
            <a:endParaRPr sz="21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60414" y="378025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5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48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Clustering??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6238" y="4659153"/>
            <a:ext cx="2210276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Option</a:t>
            </a:r>
            <a:r>
              <a:rPr sz="2100" spc="-26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1:</a:t>
            </a:r>
            <a:r>
              <a:rPr sz="2100" spc="-26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By</a:t>
            </a:r>
            <a:r>
              <a:rPr sz="2100" spc="-3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spc="-15" dirty="0">
                <a:solidFill>
                  <a:srgbClr val="C00000"/>
                </a:solidFill>
                <a:latin typeface="Comic Sans MS"/>
                <a:cs typeface="Comic Sans MS"/>
              </a:rPr>
              <a:t>Type</a:t>
            </a:r>
            <a:endParaRPr sz="21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144267"/>
            <a:ext cx="4481702" cy="23968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8591" y="2145411"/>
            <a:ext cx="4349115" cy="23957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60148" y="4659153"/>
            <a:ext cx="2286000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Option</a:t>
            </a:r>
            <a:r>
              <a:rPr sz="2100" spc="-23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2:</a:t>
            </a:r>
            <a:r>
              <a:rPr sz="2100" spc="-3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By</a:t>
            </a:r>
            <a:r>
              <a:rPr sz="2100" spc="-23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spc="-8" dirty="0">
                <a:solidFill>
                  <a:srgbClr val="C00000"/>
                </a:solidFill>
                <a:latin typeface="Comic Sans MS"/>
                <a:cs typeface="Comic Sans MS"/>
              </a:rPr>
              <a:t>Color</a:t>
            </a:r>
            <a:endParaRPr sz="21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90881" y="385929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5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48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Clustering??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897" y="4887544"/>
            <a:ext cx="2408873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Option</a:t>
            </a:r>
            <a:r>
              <a:rPr sz="2100" spc="-34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3:</a:t>
            </a:r>
            <a:r>
              <a:rPr sz="2100" spc="-41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C00000"/>
                </a:solidFill>
                <a:latin typeface="Comic Sans MS"/>
                <a:cs typeface="Comic Sans MS"/>
              </a:rPr>
              <a:t>By</a:t>
            </a:r>
            <a:r>
              <a:rPr sz="2100" spc="-38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100" spc="-8" dirty="0">
                <a:solidFill>
                  <a:srgbClr val="C00000"/>
                </a:solidFill>
                <a:latin typeface="Comic Sans MS"/>
                <a:cs typeface="Comic Sans MS"/>
              </a:rPr>
              <a:t>Shape</a:t>
            </a:r>
            <a:endParaRPr sz="21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09953" y="1877949"/>
            <a:ext cx="4622483" cy="3031808"/>
            <a:chOff x="2546604" y="1360932"/>
            <a:chExt cx="6163310" cy="4042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6604" y="1360932"/>
              <a:ext cx="6163056" cy="40340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00528" y="1565148"/>
              <a:ext cx="2641600" cy="745490"/>
            </a:xfrm>
            <a:custGeom>
              <a:avLst/>
              <a:gdLst/>
              <a:ahLst/>
              <a:cxnLst/>
              <a:rect l="l" t="t" r="r" b="b"/>
              <a:pathLst>
                <a:path w="2641600" h="745489">
                  <a:moveTo>
                    <a:pt x="2641092" y="0"/>
                  </a:moveTo>
                  <a:lnTo>
                    <a:pt x="0" y="0"/>
                  </a:lnTo>
                  <a:lnTo>
                    <a:pt x="0" y="745236"/>
                  </a:lnTo>
                  <a:lnTo>
                    <a:pt x="2641092" y="745236"/>
                  </a:lnTo>
                  <a:lnTo>
                    <a:pt x="2641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2700528" y="1565148"/>
              <a:ext cx="5783580" cy="3830320"/>
            </a:xfrm>
            <a:custGeom>
              <a:avLst/>
              <a:gdLst/>
              <a:ahLst/>
              <a:cxnLst/>
              <a:rect l="l" t="t" r="r" b="b"/>
              <a:pathLst>
                <a:path w="5783580" h="3830320">
                  <a:moveTo>
                    <a:pt x="0" y="745236"/>
                  </a:moveTo>
                  <a:lnTo>
                    <a:pt x="2641092" y="745236"/>
                  </a:lnTo>
                  <a:lnTo>
                    <a:pt x="2641092" y="0"/>
                  </a:lnTo>
                  <a:lnTo>
                    <a:pt x="0" y="0"/>
                  </a:lnTo>
                  <a:lnTo>
                    <a:pt x="0" y="745236"/>
                  </a:lnTo>
                  <a:close/>
                </a:path>
                <a:path w="5783580" h="3830320">
                  <a:moveTo>
                    <a:pt x="5300472" y="3829812"/>
                  </a:moveTo>
                  <a:lnTo>
                    <a:pt x="5783580" y="3829812"/>
                  </a:lnTo>
                  <a:lnTo>
                    <a:pt x="5783580" y="3549396"/>
                  </a:lnTo>
                  <a:lnTo>
                    <a:pt x="5300472" y="3549396"/>
                  </a:lnTo>
                  <a:lnTo>
                    <a:pt x="5300472" y="3829812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9D8D-FD55-ED4A-C7F1-A4E77FED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89299999-78FA-4C8E-88F6-C15DC2094CE0}"/>
              </a:ext>
            </a:extLst>
          </p:cNvPr>
          <p:cNvSpPr txBox="1">
            <a:spLocks/>
          </p:cNvSpPr>
          <p:nvPr/>
        </p:nvSpPr>
        <p:spPr>
          <a:xfrm>
            <a:off x="262467" y="-174095"/>
            <a:ext cx="8229600" cy="1331313"/>
          </a:xfrm>
          <a:prstGeom prst="rect">
            <a:avLst/>
          </a:prstGeom>
        </p:spPr>
        <p:txBody>
          <a:bodyPr vert="horz" wrap="square" lIns="0" tIns="830758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4769" algn="l">
              <a:spcBef>
                <a:spcPts val="105"/>
              </a:spcBef>
            </a:pPr>
            <a:r>
              <a:rPr lang="en-US" sz="3200" dirty="0">
                <a:solidFill>
                  <a:schemeClr val="bg1"/>
                </a:solidFill>
              </a:rPr>
              <a:t>Start</a:t>
            </a:r>
            <a:r>
              <a:rPr lang="en-US" sz="3200" spc="-3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with</a:t>
            </a:r>
            <a:r>
              <a:rPr lang="en-US" sz="3200" spc="-25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practical</a:t>
            </a:r>
            <a:r>
              <a:rPr lang="en-US" sz="3200" spc="-55" dirty="0">
                <a:solidFill>
                  <a:schemeClr val="bg1"/>
                </a:solidFill>
              </a:rPr>
              <a:t> </a:t>
            </a:r>
            <a:r>
              <a:rPr lang="en-US" sz="3200" spc="-10" dirty="0">
                <a:solidFill>
                  <a:schemeClr val="bg1"/>
                </a:solidFill>
              </a:rPr>
              <a:t>applications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966A7FC3-307F-0A2D-E2E3-EC6223A887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611" y="1705875"/>
            <a:ext cx="7627789" cy="41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28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1233" y="301824"/>
            <a:ext cx="74549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spc="45" dirty="0">
                <a:solidFill>
                  <a:schemeClr val="bg1"/>
                </a:solidFill>
              </a:rPr>
              <a:t>Cluster</a:t>
            </a:r>
            <a:r>
              <a:rPr spc="236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Analysis??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59232" y="3512636"/>
            <a:ext cx="7804613" cy="1969866"/>
          </a:xfrm>
          <a:prstGeom prst="rect">
            <a:avLst/>
          </a:prstGeom>
        </p:spPr>
        <p:txBody>
          <a:bodyPr vert="horz" wrap="square" lIns="0" tIns="40481" rIns="0" bIns="0" rtlCol="0">
            <a:spAutoFit/>
          </a:bodyPr>
          <a:lstStyle/>
          <a:p>
            <a:pPr marL="78104" marR="139065" indent="-68580">
              <a:lnSpc>
                <a:spcPts val="1943"/>
              </a:lnSpc>
              <a:spcBef>
                <a:spcPts val="319"/>
              </a:spcBef>
              <a:buClr>
                <a:srgbClr val="1CACE3"/>
              </a:buClr>
              <a:buFont typeface="Wingdings"/>
              <a:buChar char=""/>
              <a:tabLst>
                <a:tab pos="78104" algn="l"/>
                <a:tab pos="169069" algn="l"/>
              </a:tabLst>
            </a:pPr>
            <a:r>
              <a:rPr sz="2400" dirty="0"/>
              <a:t>	A</a:t>
            </a:r>
            <a:r>
              <a:rPr sz="2400" spc="-34" dirty="0"/>
              <a:t> </a:t>
            </a:r>
            <a:r>
              <a:rPr sz="2400" b="1" i="1" dirty="0">
                <a:latin typeface="Georgia"/>
                <a:cs typeface="Georgia"/>
              </a:rPr>
              <a:t>cluster</a:t>
            </a:r>
            <a:r>
              <a:rPr sz="2400" b="1" i="1" spc="-49" dirty="0">
                <a:latin typeface="Georgia"/>
                <a:cs typeface="Georgia"/>
              </a:rPr>
              <a:t> </a:t>
            </a:r>
            <a:r>
              <a:rPr sz="2400" dirty="0"/>
              <a:t>is</a:t>
            </a:r>
            <a:r>
              <a:rPr sz="2400" spc="-34" dirty="0"/>
              <a:t> </a:t>
            </a:r>
            <a:r>
              <a:rPr sz="2400" dirty="0"/>
              <a:t>a</a:t>
            </a:r>
            <a:r>
              <a:rPr sz="2400" spc="-34" dirty="0"/>
              <a:t> </a:t>
            </a:r>
            <a:r>
              <a:rPr sz="2400" dirty="0"/>
              <a:t>collection</a:t>
            </a:r>
            <a:r>
              <a:rPr sz="2400" spc="-38" dirty="0"/>
              <a:t> </a:t>
            </a:r>
            <a:r>
              <a:rPr sz="2400" dirty="0"/>
              <a:t>of</a:t>
            </a:r>
            <a:r>
              <a:rPr sz="2400" spc="-34" dirty="0"/>
              <a:t> </a:t>
            </a:r>
            <a:r>
              <a:rPr sz="2400" dirty="0"/>
              <a:t>data</a:t>
            </a:r>
            <a:r>
              <a:rPr sz="2400" spc="-38" dirty="0"/>
              <a:t> </a:t>
            </a:r>
            <a:r>
              <a:rPr sz="2400" dirty="0"/>
              <a:t>objects</a:t>
            </a:r>
            <a:r>
              <a:rPr sz="2400" spc="-26" dirty="0"/>
              <a:t> </a:t>
            </a:r>
            <a:r>
              <a:rPr sz="2400" dirty="0"/>
              <a:t>that</a:t>
            </a:r>
            <a:r>
              <a:rPr sz="2400" spc="-30" dirty="0"/>
              <a:t> </a:t>
            </a:r>
            <a:r>
              <a:rPr sz="2400" dirty="0"/>
              <a:t>are</a:t>
            </a:r>
            <a:r>
              <a:rPr sz="2400" spc="-26" dirty="0"/>
              <a:t> </a:t>
            </a:r>
            <a:r>
              <a:rPr sz="2400" i="1" dirty="0">
                <a:latin typeface="Georgia"/>
                <a:cs typeface="Georgia"/>
              </a:rPr>
              <a:t>similar</a:t>
            </a:r>
            <a:r>
              <a:rPr sz="2400" i="1" spc="-15" dirty="0">
                <a:latin typeface="Georgia"/>
                <a:cs typeface="Georgia"/>
              </a:rPr>
              <a:t> </a:t>
            </a:r>
            <a:r>
              <a:rPr sz="2400" dirty="0"/>
              <a:t>to</a:t>
            </a:r>
            <a:r>
              <a:rPr sz="2400" spc="-30" dirty="0"/>
              <a:t> </a:t>
            </a:r>
            <a:r>
              <a:rPr sz="2400" dirty="0"/>
              <a:t>one</a:t>
            </a:r>
            <a:r>
              <a:rPr sz="2400" spc="-41" dirty="0"/>
              <a:t> </a:t>
            </a:r>
            <a:r>
              <a:rPr sz="2400" spc="-8" dirty="0"/>
              <a:t>another </a:t>
            </a:r>
            <a:r>
              <a:rPr sz="2400" dirty="0"/>
              <a:t>within</a:t>
            </a:r>
            <a:r>
              <a:rPr sz="2400" spc="-41" dirty="0"/>
              <a:t> </a:t>
            </a:r>
            <a:r>
              <a:rPr sz="2400" dirty="0"/>
              <a:t>the</a:t>
            </a:r>
            <a:r>
              <a:rPr sz="2400" spc="-34" dirty="0"/>
              <a:t> </a:t>
            </a:r>
            <a:r>
              <a:rPr sz="2400" dirty="0"/>
              <a:t>same</a:t>
            </a:r>
            <a:r>
              <a:rPr sz="2400" spc="-34" dirty="0"/>
              <a:t> </a:t>
            </a:r>
            <a:r>
              <a:rPr sz="2400" dirty="0"/>
              <a:t>cluster</a:t>
            </a:r>
            <a:r>
              <a:rPr sz="2400" spc="-38" dirty="0"/>
              <a:t> </a:t>
            </a:r>
            <a:r>
              <a:rPr sz="2400" dirty="0"/>
              <a:t>and</a:t>
            </a:r>
            <a:r>
              <a:rPr sz="2400" spc="-41" dirty="0"/>
              <a:t> </a:t>
            </a:r>
            <a:r>
              <a:rPr sz="2400" dirty="0"/>
              <a:t>are</a:t>
            </a:r>
            <a:r>
              <a:rPr sz="2400" spc="-53" dirty="0"/>
              <a:t> </a:t>
            </a:r>
            <a:r>
              <a:rPr sz="2400" i="1" dirty="0">
                <a:latin typeface="Georgia"/>
                <a:cs typeface="Georgia"/>
              </a:rPr>
              <a:t>dissimilar</a:t>
            </a:r>
            <a:r>
              <a:rPr sz="2400" i="1" spc="-15" dirty="0">
                <a:latin typeface="Georgia"/>
                <a:cs typeface="Georgia"/>
              </a:rPr>
              <a:t> </a:t>
            </a:r>
            <a:r>
              <a:rPr sz="2400" dirty="0"/>
              <a:t>to</a:t>
            </a:r>
            <a:r>
              <a:rPr sz="2400" spc="-38" dirty="0"/>
              <a:t> </a:t>
            </a:r>
            <a:r>
              <a:rPr sz="2400" dirty="0"/>
              <a:t>the</a:t>
            </a:r>
            <a:r>
              <a:rPr sz="2400" spc="-41" dirty="0"/>
              <a:t> </a:t>
            </a:r>
            <a:r>
              <a:rPr sz="2400" dirty="0"/>
              <a:t>objects</a:t>
            </a:r>
            <a:r>
              <a:rPr sz="2400" spc="-38" dirty="0"/>
              <a:t> </a:t>
            </a:r>
            <a:r>
              <a:rPr sz="2400" dirty="0"/>
              <a:t>in</a:t>
            </a:r>
            <a:r>
              <a:rPr sz="2400" spc="-56" dirty="0"/>
              <a:t> </a:t>
            </a:r>
            <a:r>
              <a:rPr sz="2400" dirty="0"/>
              <a:t>other</a:t>
            </a:r>
            <a:r>
              <a:rPr sz="2400" spc="-34" dirty="0"/>
              <a:t> </a:t>
            </a:r>
            <a:r>
              <a:rPr sz="2400" spc="-8" dirty="0"/>
              <a:t>clusters.</a:t>
            </a:r>
            <a:endParaRPr lang="en-US" sz="2400" spc="-8" dirty="0"/>
          </a:p>
          <a:p>
            <a:pPr marL="78104" marR="139065" indent="-68580">
              <a:lnSpc>
                <a:spcPts val="1943"/>
              </a:lnSpc>
              <a:spcBef>
                <a:spcPts val="319"/>
              </a:spcBef>
              <a:buClr>
                <a:srgbClr val="1CACE3"/>
              </a:buClr>
              <a:buFont typeface="Wingdings"/>
              <a:buChar char=""/>
              <a:tabLst>
                <a:tab pos="78104" algn="l"/>
                <a:tab pos="169069" algn="l"/>
              </a:tabLst>
            </a:pPr>
            <a:endParaRPr lang="en-US" sz="2400" spc="-8" dirty="0"/>
          </a:p>
          <a:p>
            <a:pPr marL="78104" marR="139065" indent="-68580">
              <a:lnSpc>
                <a:spcPts val="1943"/>
              </a:lnSpc>
              <a:spcBef>
                <a:spcPts val="319"/>
              </a:spcBef>
              <a:buClr>
                <a:srgbClr val="1CACE3"/>
              </a:buClr>
              <a:buFont typeface="Wingdings"/>
              <a:buChar char=""/>
              <a:tabLst>
                <a:tab pos="78104" algn="l"/>
                <a:tab pos="169069" algn="l"/>
              </a:tabLst>
            </a:pPr>
            <a:endParaRPr sz="2400" spc="-8" dirty="0"/>
          </a:p>
          <a:p>
            <a:pPr marL="112395" marR="3810" indent="-102870">
              <a:lnSpc>
                <a:spcPts val="1943"/>
              </a:lnSpc>
              <a:spcBef>
                <a:spcPts val="1046"/>
              </a:spcBef>
              <a:buClr>
                <a:srgbClr val="1CACE3"/>
              </a:buClr>
              <a:buFont typeface="Wingdings"/>
              <a:buChar char=""/>
              <a:tabLst>
                <a:tab pos="112395" algn="l"/>
                <a:tab pos="169069" algn="l"/>
              </a:tabLst>
            </a:pPr>
            <a:r>
              <a:rPr sz="2400" dirty="0"/>
              <a:t>	Cluster</a:t>
            </a:r>
            <a:r>
              <a:rPr sz="2400" spc="-30" dirty="0"/>
              <a:t> </a:t>
            </a:r>
            <a:r>
              <a:rPr sz="2400" dirty="0"/>
              <a:t>analysis</a:t>
            </a:r>
            <a:r>
              <a:rPr sz="2400" spc="-26" dirty="0"/>
              <a:t> </a:t>
            </a:r>
            <a:r>
              <a:rPr sz="2400" dirty="0"/>
              <a:t>has</a:t>
            </a:r>
            <a:r>
              <a:rPr sz="2400" spc="-11" dirty="0"/>
              <a:t> </a:t>
            </a:r>
            <a:r>
              <a:rPr sz="2400" dirty="0"/>
              <a:t>been</a:t>
            </a:r>
            <a:r>
              <a:rPr sz="2400" spc="-38" dirty="0"/>
              <a:t> </a:t>
            </a:r>
            <a:r>
              <a:rPr sz="2400" dirty="0"/>
              <a:t>extensively</a:t>
            </a:r>
            <a:r>
              <a:rPr sz="2400" spc="-30" dirty="0"/>
              <a:t> </a:t>
            </a:r>
            <a:r>
              <a:rPr sz="2400" dirty="0"/>
              <a:t>focused</a:t>
            </a:r>
            <a:r>
              <a:rPr sz="2400" spc="-38" dirty="0"/>
              <a:t> </a:t>
            </a:r>
            <a:r>
              <a:rPr sz="2400" dirty="0"/>
              <a:t>mainly</a:t>
            </a:r>
            <a:r>
              <a:rPr sz="2400" spc="-23" dirty="0"/>
              <a:t> </a:t>
            </a:r>
            <a:r>
              <a:rPr sz="2400" dirty="0"/>
              <a:t>on</a:t>
            </a:r>
            <a:r>
              <a:rPr sz="2400" spc="-79" dirty="0"/>
              <a:t> </a:t>
            </a:r>
            <a:r>
              <a:rPr sz="2400" b="1" i="1" spc="-8" dirty="0">
                <a:latin typeface="Georgia"/>
                <a:cs typeface="Georgia"/>
              </a:rPr>
              <a:t>distance-based </a:t>
            </a:r>
            <a:r>
              <a:rPr sz="2400" b="1" i="1" dirty="0">
                <a:latin typeface="Georgia"/>
                <a:cs typeface="Georgia"/>
              </a:rPr>
              <a:t>cluster</a:t>
            </a:r>
            <a:r>
              <a:rPr sz="2400" b="1" i="1" spc="-15" dirty="0">
                <a:latin typeface="Georgia"/>
                <a:cs typeface="Georgia"/>
              </a:rPr>
              <a:t> </a:t>
            </a:r>
            <a:r>
              <a:rPr sz="2400" b="1" i="1" spc="-8" dirty="0">
                <a:latin typeface="Georgia"/>
                <a:cs typeface="Georgia"/>
              </a:rPr>
              <a:t>analysis</a:t>
            </a:r>
            <a:r>
              <a:rPr sz="2400" spc="-8" dirty="0"/>
              <a:t>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50072" y="1971999"/>
            <a:ext cx="7976711" cy="992029"/>
            <a:chOff x="905234" y="1609026"/>
            <a:chExt cx="10635615" cy="13227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234" y="2575515"/>
              <a:ext cx="10635276" cy="3558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7447" y="1616963"/>
              <a:ext cx="10357485" cy="1005840"/>
            </a:xfrm>
            <a:custGeom>
              <a:avLst/>
              <a:gdLst/>
              <a:ahLst/>
              <a:cxnLst/>
              <a:rect l="l" t="t" r="r" b="b"/>
              <a:pathLst>
                <a:path w="10357485" h="1005839">
                  <a:moveTo>
                    <a:pt x="10189464" y="0"/>
                  </a:moveTo>
                  <a:lnTo>
                    <a:pt x="167640" y="0"/>
                  </a:lnTo>
                  <a:lnTo>
                    <a:pt x="123075" y="5988"/>
                  </a:lnTo>
                  <a:lnTo>
                    <a:pt x="83029" y="22888"/>
                  </a:lnTo>
                  <a:lnTo>
                    <a:pt x="49101" y="49101"/>
                  </a:lnTo>
                  <a:lnTo>
                    <a:pt x="22888" y="83029"/>
                  </a:lnTo>
                  <a:lnTo>
                    <a:pt x="5988" y="123075"/>
                  </a:lnTo>
                  <a:lnTo>
                    <a:pt x="0" y="167639"/>
                  </a:lnTo>
                  <a:lnTo>
                    <a:pt x="0" y="838200"/>
                  </a:lnTo>
                  <a:lnTo>
                    <a:pt x="5988" y="882764"/>
                  </a:lnTo>
                  <a:lnTo>
                    <a:pt x="22888" y="922810"/>
                  </a:lnTo>
                  <a:lnTo>
                    <a:pt x="49101" y="956738"/>
                  </a:lnTo>
                  <a:lnTo>
                    <a:pt x="83029" y="982951"/>
                  </a:lnTo>
                  <a:lnTo>
                    <a:pt x="123075" y="999851"/>
                  </a:lnTo>
                  <a:lnTo>
                    <a:pt x="167640" y="1005839"/>
                  </a:lnTo>
                  <a:lnTo>
                    <a:pt x="10189464" y="1005839"/>
                  </a:lnTo>
                  <a:lnTo>
                    <a:pt x="10234028" y="999851"/>
                  </a:lnTo>
                  <a:lnTo>
                    <a:pt x="10274074" y="982951"/>
                  </a:lnTo>
                  <a:lnTo>
                    <a:pt x="10308002" y="956738"/>
                  </a:lnTo>
                  <a:lnTo>
                    <a:pt x="10334215" y="922810"/>
                  </a:lnTo>
                  <a:lnTo>
                    <a:pt x="10351115" y="882764"/>
                  </a:lnTo>
                  <a:lnTo>
                    <a:pt x="10357104" y="838200"/>
                  </a:lnTo>
                  <a:lnTo>
                    <a:pt x="10357104" y="167639"/>
                  </a:lnTo>
                  <a:lnTo>
                    <a:pt x="10351115" y="123075"/>
                  </a:lnTo>
                  <a:lnTo>
                    <a:pt x="10334215" y="83029"/>
                  </a:lnTo>
                  <a:lnTo>
                    <a:pt x="10308002" y="49101"/>
                  </a:lnTo>
                  <a:lnTo>
                    <a:pt x="10274074" y="22888"/>
                  </a:lnTo>
                  <a:lnTo>
                    <a:pt x="10234028" y="5988"/>
                  </a:lnTo>
                  <a:lnTo>
                    <a:pt x="10189464" y="0"/>
                  </a:lnTo>
                  <a:close/>
                </a:path>
              </a:pathLst>
            </a:cu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917447" y="1616963"/>
              <a:ext cx="10357485" cy="1005840"/>
            </a:xfrm>
            <a:custGeom>
              <a:avLst/>
              <a:gdLst/>
              <a:ahLst/>
              <a:cxnLst/>
              <a:rect l="l" t="t" r="r" b="b"/>
              <a:pathLst>
                <a:path w="10357485" h="1005839">
                  <a:moveTo>
                    <a:pt x="0" y="167639"/>
                  </a:moveTo>
                  <a:lnTo>
                    <a:pt x="5988" y="123075"/>
                  </a:lnTo>
                  <a:lnTo>
                    <a:pt x="22888" y="83029"/>
                  </a:lnTo>
                  <a:lnTo>
                    <a:pt x="49101" y="49101"/>
                  </a:lnTo>
                  <a:lnTo>
                    <a:pt x="83029" y="22888"/>
                  </a:lnTo>
                  <a:lnTo>
                    <a:pt x="123075" y="5988"/>
                  </a:lnTo>
                  <a:lnTo>
                    <a:pt x="167640" y="0"/>
                  </a:lnTo>
                  <a:lnTo>
                    <a:pt x="10189464" y="0"/>
                  </a:lnTo>
                  <a:lnTo>
                    <a:pt x="10234028" y="5988"/>
                  </a:lnTo>
                  <a:lnTo>
                    <a:pt x="10274074" y="22888"/>
                  </a:lnTo>
                  <a:lnTo>
                    <a:pt x="10308002" y="49101"/>
                  </a:lnTo>
                  <a:lnTo>
                    <a:pt x="10334215" y="83029"/>
                  </a:lnTo>
                  <a:lnTo>
                    <a:pt x="10351115" y="123075"/>
                  </a:lnTo>
                  <a:lnTo>
                    <a:pt x="10357104" y="167639"/>
                  </a:lnTo>
                  <a:lnTo>
                    <a:pt x="10357104" y="838200"/>
                  </a:lnTo>
                  <a:lnTo>
                    <a:pt x="10351115" y="882764"/>
                  </a:lnTo>
                  <a:lnTo>
                    <a:pt x="10334215" y="922810"/>
                  </a:lnTo>
                  <a:lnTo>
                    <a:pt x="10308002" y="956738"/>
                  </a:lnTo>
                  <a:lnTo>
                    <a:pt x="10274074" y="982951"/>
                  </a:lnTo>
                  <a:lnTo>
                    <a:pt x="10234028" y="999851"/>
                  </a:lnTo>
                  <a:lnTo>
                    <a:pt x="10189464" y="1005839"/>
                  </a:lnTo>
                  <a:lnTo>
                    <a:pt x="167640" y="1005839"/>
                  </a:lnTo>
                  <a:lnTo>
                    <a:pt x="123075" y="999851"/>
                  </a:lnTo>
                  <a:lnTo>
                    <a:pt x="83029" y="982951"/>
                  </a:lnTo>
                  <a:lnTo>
                    <a:pt x="49101" y="956738"/>
                  </a:lnTo>
                  <a:lnTo>
                    <a:pt x="22888" y="922810"/>
                  </a:lnTo>
                  <a:lnTo>
                    <a:pt x="5988" y="882764"/>
                  </a:lnTo>
                  <a:lnTo>
                    <a:pt x="0" y="838200"/>
                  </a:lnTo>
                  <a:lnTo>
                    <a:pt x="0" y="167639"/>
                  </a:lnTo>
                  <a:close/>
                </a:path>
              </a:pathLst>
            </a:custGeom>
            <a:noFill/>
            <a:ln w="15874">
              <a:solidFill>
                <a:srgbClr val="2F525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0343" y="2147948"/>
            <a:ext cx="7463314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dirty="0">
                <a:latin typeface="Georgia"/>
                <a:cs typeface="Georgia"/>
              </a:rPr>
              <a:t>The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process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grouping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set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physical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or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abstract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objects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into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classes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spc="-19" dirty="0">
                <a:latin typeface="Georgia"/>
                <a:cs typeface="Georgia"/>
              </a:rPr>
              <a:t>of</a:t>
            </a:r>
            <a:endParaRPr dirty="0">
              <a:latin typeface="Georgia"/>
              <a:cs typeface="Georgia"/>
            </a:endParaRPr>
          </a:p>
          <a:p>
            <a:pPr marR="4286" algn="ctr"/>
            <a:r>
              <a:rPr i="1" dirty="0">
                <a:latin typeface="Georgia"/>
                <a:cs typeface="Georgia"/>
              </a:rPr>
              <a:t>similar</a:t>
            </a:r>
            <a:r>
              <a:rPr i="1"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objects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6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called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as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b="1" i="1" spc="-8" dirty="0">
                <a:latin typeface="Georgia"/>
                <a:cs typeface="Georgia"/>
              </a:rPr>
              <a:t>Clustering</a:t>
            </a:r>
            <a:r>
              <a:rPr spc="-8" dirty="0">
                <a:latin typeface="Georgia"/>
                <a:cs typeface="Georgia"/>
              </a:rPr>
              <a:t>.</a:t>
            </a:r>
            <a:endParaRPr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1399032"/>
            <a:ext cx="7685532" cy="46017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56632" y="318757"/>
            <a:ext cx="7158567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spc="45" dirty="0">
                <a:solidFill>
                  <a:schemeClr val="bg1"/>
                </a:solidFill>
              </a:rPr>
              <a:t>Cluster</a:t>
            </a:r>
            <a:r>
              <a:rPr spc="236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Analysis??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427" y="1952815"/>
            <a:ext cx="391096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59068" indent="-149543">
              <a:spcBef>
                <a:spcPts val="79"/>
              </a:spcBef>
              <a:buClr>
                <a:srgbClr val="1CACE3"/>
              </a:buClr>
              <a:buFont typeface="Wingdings"/>
              <a:buChar char=""/>
              <a:tabLst>
                <a:tab pos="159068" algn="l"/>
              </a:tabLst>
            </a:pPr>
            <a:r>
              <a:rPr sz="1500" dirty="0">
                <a:latin typeface="Georgia"/>
                <a:cs typeface="Georgia"/>
              </a:rPr>
              <a:t>How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clustering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differs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from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classification???</a:t>
            </a:r>
            <a:endParaRPr sz="15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07433" y="259490"/>
            <a:ext cx="7471833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spc="45" dirty="0">
                <a:solidFill>
                  <a:schemeClr val="bg1"/>
                </a:solidFill>
              </a:rPr>
              <a:t>Cluster</a:t>
            </a:r>
            <a:r>
              <a:rPr spc="236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Analysis??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689" y="2442512"/>
            <a:ext cx="6907319" cy="1972976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69069" indent="-159544">
              <a:spcBef>
                <a:spcPts val="225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z="2400" dirty="0">
                <a:latin typeface="Georgia"/>
                <a:cs typeface="Georgia"/>
              </a:rPr>
              <a:t>Clustering</a:t>
            </a:r>
            <a:r>
              <a:rPr sz="2400" spc="-3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26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also</a:t>
            </a:r>
            <a:r>
              <a:rPr sz="2400" spc="-1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called</a:t>
            </a:r>
            <a:r>
              <a:rPr sz="2400" spc="-1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</a:t>
            </a:r>
            <a:r>
              <a:rPr sz="2400" spc="-34" dirty="0">
                <a:latin typeface="Georgia"/>
                <a:cs typeface="Georgia"/>
              </a:rPr>
              <a:t> </a:t>
            </a:r>
            <a:r>
              <a:rPr sz="2400" spc="-8" dirty="0">
                <a:latin typeface="Georgia"/>
                <a:cs typeface="Georgia"/>
              </a:rPr>
              <a:t>segmentation</a:t>
            </a:r>
            <a:endParaRPr sz="2400" dirty="0">
              <a:latin typeface="Georgia"/>
              <a:cs typeface="Georgia"/>
            </a:endParaRPr>
          </a:p>
          <a:p>
            <a:pPr marL="289084" lvl="1" indent="-149543">
              <a:spcBef>
                <a:spcPts val="127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b="1" i="1" dirty="0">
                <a:latin typeface="Georgia"/>
                <a:cs typeface="Georgia"/>
              </a:rPr>
              <a:t>Clustering</a:t>
            </a:r>
            <a:r>
              <a:rPr b="1" i="1" spc="-4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finding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borders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between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groups,</a:t>
            </a:r>
            <a:endParaRPr dirty="0">
              <a:latin typeface="Georgia"/>
              <a:cs typeface="Georgia"/>
            </a:endParaRPr>
          </a:p>
          <a:p>
            <a:pPr marL="289084" lvl="1" indent="-149543">
              <a:spcBef>
                <a:spcPts val="270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b="1" i="1" dirty="0">
                <a:latin typeface="Georgia"/>
                <a:cs typeface="Georgia"/>
              </a:rPr>
              <a:t>Segmenting</a:t>
            </a:r>
            <a:r>
              <a:rPr b="1" i="1" spc="-5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using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borders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to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form</a:t>
            </a:r>
            <a:r>
              <a:rPr spc="-8" dirty="0">
                <a:latin typeface="Georgia"/>
                <a:cs typeface="Georgia"/>
              </a:rPr>
              <a:t> groups</a:t>
            </a:r>
            <a:endParaRPr dirty="0">
              <a:latin typeface="Georgia"/>
              <a:cs typeface="Georgia"/>
            </a:endParaRPr>
          </a:p>
          <a:p>
            <a:pPr marL="169069" indent="-159544">
              <a:spcBef>
                <a:spcPts val="971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z="2400" dirty="0">
                <a:latin typeface="Georgia"/>
                <a:cs typeface="Georgia"/>
              </a:rPr>
              <a:t>Clustering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method</a:t>
            </a:r>
            <a:r>
              <a:rPr sz="2400" spc="-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creating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spc="-8" dirty="0">
                <a:latin typeface="Georgia"/>
                <a:cs typeface="Georgia"/>
              </a:rPr>
              <a:t>segments.</a:t>
            </a:r>
            <a:endParaRPr sz="2400" dirty="0">
              <a:latin typeface="Georgia"/>
              <a:cs typeface="Georgia"/>
            </a:endParaRPr>
          </a:p>
          <a:p>
            <a:pPr marL="169069" indent="-159544">
              <a:spcBef>
                <a:spcPts val="836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z="2400" dirty="0">
                <a:latin typeface="Georgia"/>
                <a:cs typeface="Georgia"/>
              </a:rPr>
              <a:t>Clustering</a:t>
            </a:r>
            <a:r>
              <a:rPr sz="2400" spc="-3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can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also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used</a:t>
            </a:r>
            <a:r>
              <a:rPr sz="2400" spc="-3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1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outlier</a:t>
            </a:r>
            <a:r>
              <a:rPr sz="2400" spc="-34" dirty="0">
                <a:latin typeface="Georgia"/>
                <a:cs typeface="Georgia"/>
              </a:rPr>
              <a:t> </a:t>
            </a:r>
            <a:r>
              <a:rPr sz="2400" spc="-8" dirty="0">
                <a:latin typeface="Georgia"/>
                <a:cs typeface="Georgia"/>
              </a:rPr>
              <a:t>detection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98967" y="394956"/>
            <a:ext cx="72517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dirty="0">
                <a:solidFill>
                  <a:schemeClr val="bg1"/>
                </a:solidFill>
              </a:rPr>
              <a:t>What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21" dirty="0">
                <a:solidFill>
                  <a:schemeClr val="bg1"/>
                </a:solidFill>
              </a:rPr>
              <a:t> </a:t>
            </a:r>
            <a:r>
              <a:rPr spc="45" dirty="0">
                <a:solidFill>
                  <a:schemeClr val="bg1"/>
                </a:solidFill>
              </a:rPr>
              <a:t>Cluster</a:t>
            </a:r>
            <a:r>
              <a:rPr spc="236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Analysis??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5" y="1929080"/>
            <a:ext cx="7700486" cy="34297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69069" indent="-159544">
              <a:spcBef>
                <a:spcPts val="225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dirty="0">
                <a:solidFill>
                  <a:srgbClr val="C00000"/>
                </a:solidFill>
                <a:latin typeface="Georgia"/>
                <a:cs typeface="Georgia"/>
              </a:rPr>
              <a:t>Classification:</a:t>
            </a:r>
            <a:r>
              <a:rPr spc="-60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C00000"/>
                </a:solidFill>
                <a:latin typeface="Georgia"/>
                <a:cs typeface="Georgia"/>
              </a:rPr>
              <a:t>Supervised</a:t>
            </a:r>
            <a:r>
              <a:rPr spc="-49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pc="-8" dirty="0">
                <a:solidFill>
                  <a:srgbClr val="C00000"/>
                </a:solidFill>
                <a:latin typeface="Georgia"/>
                <a:cs typeface="Georgia"/>
              </a:rPr>
              <a:t>Learning</a:t>
            </a:r>
            <a:endParaRPr>
              <a:latin typeface="Georgia"/>
              <a:cs typeface="Georgia"/>
            </a:endParaRPr>
          </a:p>
          <a:p>
            <a:pPr marL="244793" lvl="1" indent="-139541">
              <a:spcBef>
                <a:spcPts val="127"/>
              </a:spcBef>
              <a:buClr>
                <a:srgbClr val="1CACE3"/>
              </a:buClr>
              <a:buSzPct val="80000"/>
              <a:buFont typeface="Wingdings"/>
              <a:buChar char=""/>
              <a:tabLst>
                <a:tab pos="244793" algn="l"/>
              </a:tabLst>
            </a:pP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Classes</a:t>
            </a:r>
            <a:r>
              <a:rPr sz="1500" spc="-23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are</a:t>
            </a:r>
            <a:r>
              <a:rPr sz="1500" spc="-19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spc="-8" dirty="0">
                <a:solidFill>
                  <a:srgbClr val="C00000"/>
                </a:solidFill>
                <a:latin typeface="Georgia"/>
                <a:cs typeface="Georgia"/>
              </a:rPr>
              <a:t>predetermined</a:t>
            </a:r>
            <a:endParaRPr sz="1500">
              <a:latin typeface="Georgia"/>
              <a:cs typeface="Georgia"/>
            </a:endParaRPr>
          </a:p>
          <a:p>
            <a:pPr marL="254794" lvl="1" indent="-149543">
              <a:spcBef>
                <a:spcPts val="27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Based</a:t>
            </a:r>
            <a:r>
              <a:rPr sz="1500" spc="-3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on</a:t>
            </a:r>
            <a:r>
              <a:rPr sz="1500" spc="-30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training</a:t>
            </a:r>
            <a:r>
              <a:rPr sz="1500" spc="-30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data</a:t>
            </a:r>
            <a:r>
              <a:rPr sz="1500" spc="-23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spc="-19" dirty="0">
                <a:solidFill>
                  <a:srgbClr val="C00000"/>
                </a:solidFill>
                <a:latin typeface="Georgia"/>
                <a:cs typeface="Georgia"/>
              </a:rPr>
              <a:t>set</a:t>
            </a:r>
            <a:endParaRPr sz="1500">
              <a:latin typeface="Georgia"/>
              <a:cs typeface="Georgia"/>
            </a:endParaRPr>
          </a:p>
          <a:p>
            <a:pPr marL="254794" lvl="1" indent="-149543">
              <a:spcBef>
                <a:spcPts val="27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Used</a:t>
            </a:r>
            <a:r>
              <a:rPr sz="1500" spc="-34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to</a:t>
            </a:r>
            <a:r>
              <a:rPr sz="1500" spc="-15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classify</a:t>
            </a:r>
            <a:r>
              <a:rPr sz="1500" spc="-19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C00000"/>
                </a:solidFill>
                <a:latin typeface="Georgia"/>
                <a:cs typeface="Georgia"/>
              </a:rPr>
              <a:t>future</a:t>
            </a:r>
            <a:r>
              <a:rPr sz="1500" spc="-11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spc="-8" dirty="0">
                <a:solidFill>
                  <a:srgbClr val="C00000"/>
                </a:solidFill>
                <a:latin typeface="Georgia"/>
                <a:cs typeface="Georgia"/>
              </a:rPr>
              <a:t>observations</a:t>
            </a:r>
            <a:endParaRPr sz="1500">
              <a:latin typeface="Georgia"/>
              <a:cs typeface="Georgia"/>
            </a:endParaRPr>
          </a:p>
          <a:p>
            <a:pPr lvl="1">
              <a:spcBef>
                <a:spcPts val="1013"/>
              </a:spcBef>
              <a:buFont typeface="Wingdings"/>
              <a:buChar char=""/>
            </a:pPr>
            <a:endParaRPr sz="1500">
              <a:latin typeface="Georgia"/>
              <a:cs typeface="Georgia"/>
            </a:endParaRPr>
          </a:p>
          <a:p>
            <a:pPr marL="169069" indent="-159544"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dirty="0">
                <a:solidFill>
                  <a:srgbClr val="001F5F"/>
                </a:solidFill>
                <a:latin typeface="Georgia"/>
                <a:cs typeface="Georgia"/>
              </a:rPr>
              <a:t>Clustering</a:t>
            </a:r>
            <a:r>
              <a:rPr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1F5F"/>
                </a:solidFill>
                <a:latin typeface="Georgia"/>
                <a:cs typeface="Georgia"/>
              </a:rPr>
              <a:t>:</a:t>
            </a:r>
            <a:r>
              <a:rPr spc="-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1F5F"/>
                </a:solidFill>
                <a:latin typeface="Georgia"/>
                <a:cs typeface="Georgia"/>
              </a:rPr>
              <a:t>Unsupervised</a:t>
            </a:r>
            <a:r>
              <a:rPr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pc="-8" dirty="0">
                <a:solidFill>
                  <a:srgbClr val="001F5F"/>
                </a:solidFill>
                <a:latin typeface="Georgia"/>
                <a:cs typeface="Georgia"/>
              </a:rPr>
              <a:t>Learning</a:t>
            </a:r>
            <a:endParaRPr>
              <a:latin typeface="Georgia"/>
              <a:cs typeface="Georgia"/>
            </a:endParaRPr>
          </a:p>
          <a:p>
            <a:pPr marL="254794" lvl="1" indent="-149543">
              <a:spcBef>
                <a:spcPts val="131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Classes</a:t>
            </a:r>
            <a:r>
              <a:rPr sz="1500" spc="-1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are</a:t>
            </a:r>
            <a:r>
              <a:rPr sz="1500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not</a:t>
            </a:r>
            <a:r>
              <a:rPr sz="150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known</a:t>
            </a:r>
            <a:r>
              <a:rPr sz="1500" spc="-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in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spc="-8" dirty="0">
                <a:solidFill>
                  <a:srgbClr val="001F5F"/>
                </a:solidFill>
                <a:latin typeface="Georgia"/>
                <a:cs typeface="Georgia"/>
              </a:rPr>
              <a:t>advance</a:t>
            </a:r>
            <a:endParaRPr sz="1500">
              <a:latin typeface="Georgia"/>
              <a:cs typeface="Georgia"/>
            </a:endParaRPr>
          </a:p>
          <a:p>
            <a:pPr marL="254794" lvl="1" indent="-149543">
              <a:spcBef>
                <a:spcPts val="269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No</a:t>
            </a:r>
            <a:r>
              <a:rPr sz="1500" spc="-1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prior</a:t>
            </a:r>
            <a:r>
              <a:rPr sz="150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spc="-8" dirty="0">
                <a:solidFill>
                  <a:srgbClr val="001F5F"/>
                </a:solidFill>
                <a:latin typeface="Georgia"/>
                <a:cs typeface="Georgia"/>
              </a:rPr>
              <a:t>knowledge</a:t>
            </a:r>
            <a:endParaRPr sz="1500">
              <a:latin typeface="Georgia"/>
              <a:cs typeface="Georgia"/>
            </a:endParaRPr>
          </a:p>
          <a:p>
            <a:pPr marL="254794" lvl="1" indent="-149543">
              <a:spcBef>
                <a:spcPts val="27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Used</a:t>
            </a:r>
            <a:r>
              <a:rPr sz="150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to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explore</a:t>
            </a:r>
            <a:r>
              <a:rPr sz="150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(understand)</a:t>
            </a:r>
            <a:r>
              <a:rPr sz="150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the</a:t>
            </a:r>
            <a:r>
              <a:rPr sz="150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data</a:t>
            </a:r>
            <a:endParaRPr sz="1500">
              <a:latin typeface="Georgia"/>
              <a:cs typeface="Georgia"/>
            </a:endParaRPr>
          </a:p>
          <a:p>
            <a:pPr lvl="1">
              <a:spcBef>
                <a:spcPts val="1590"/>
              </a:spcBef>
              <a:buFont typeface="Wingdings"/>
              <a:buChar char=""/>
            </a:pPr>
            <a:endParaRPr sz="1500">
              <a:latin typeface="Georgia"/>
              <a:cs typeface="Georgia"/>
            </a:endParaRPr>
          </a:p>
          <a:p>
            <a:pPr marL="78104" marR="3810" indent="-68580">
              <a:lnSpc>
                <a:spcPts val="1943"/>
              </a:lnSpc>
              <a:buClr>
                <a:srgbClr val="1CACE3"/>
              </a:buClr>
              <a:buFont typeface="Wingdings"/>
              <a:buChar char=""/>
              <a:tabLst>
                <a:tab pos="78104" algn="l"/>
                <a:tab pos="169069" algn="l"/>
              </a:tabLst>
            </a:pPr>
            <a:r>
              <a:rPr dirty="0">
                <a:latin typeface="Georgia"/>
                <a:cs typeface="Georgia"/>
              </a:rPr>
              <a:t>	Clustering</a:t>
            </a:r>
            <a:r>
              <a:rPr spc="-4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form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b="1" dirty="0">
                <a:solidFill>
                  <a:srgbClr val="C00000"/>
                </a:solidFill>
                <a:latin typeface="Georgia"/>
                <a:cs typeface="Georgia"/>
              </a:rPr>
              <a:t>learning</a:t>
            </a:r>
            <a:r>
              <a:rPr b="1" spc="-30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b="1" dirty="0">
                <a:solidFill>
                  <a:srgbClr val="C00000"/>
                </a:solidFill>
                <a:latin typeface="Georgia"/>
                <a:cs typeface="Georgia"/>
              </a:rPr>
              <a:t>by</a:t>
            </a:r>
            <a:r>
              <a:rPr b="1" spc="-26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b="1" dirty="0">
                <a:solidFill>
                  <a:srgbClr val="C00000"/>
                </a:solidFill>
                <a:latin typeface="Georgia"/>
                <a:cs typeface="Georgia"/>
              </a:rPr>
              <a:t>observation</a:t>
            </a:r>
            <a:r>
              <a:rPr dirty="0">
                <a:latin typeface="Georgia"/>
                <a:cs typeface="Georgia"/>
              </a:rPr>
              <a:t>,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rather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than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learning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spc="-19" dirty="0">
                <a:latin typeface="Georgia"/>
                <a:cs typeface="Georgia"/>
              </a:rPr>
              <a:t>by </a:t>
            </a:r>
            <a:r>
              <a:rPr spc="-8" dirty="0">
                <a:latin typeface="Georgia"/>
                <a:cs typeface="Georgia"/>
              </a:rPr>
              <a:t>examples.</a:t>
            </a:r>
            <a:endParaRPr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82032" y="276424"/>
            <a:ext cx="7361767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53" dirty="0">
                <a:solidFill>
                  <a:schemeClr val="bg1"/>
                </a:solidFill>
              </a:rPr>
              <a:t>Applications</a:t>
            </a:r>
            <a:r>
              <a:rPr spc="217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4" y="1922335"/>
            <a:ext cx="7138035" cy="3100529"/>
          </a:xfrm>
          <a:prstGeom prst="rect">
            <a:avLst/>
          </a:prstGeom>
        </p:spPr>
        <p:txBody>
          <a:bodyPr vert="horz" wrap="square" lIns="0" tIns="35243" rIns="0" bIns="0" rtlCol="0">
            <a:spAutoFit/>
          </a:bodyPr>
          <a:lstStyle/>
          <a:p>
            <a:pPr marL="169069" indent="-159544">
              <a:spcBef>
                <a:spcPts val="278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pc="-8" dirty="0">
                <a:latin typeface="Georgia"/>
                <a:cs typeface="Georgia"/>
              </a:rPr>
              <a:t>Marketing:</a:t>
            </a:r>
            <a:endParaRPr dirty="0">
              <a:latin typeface="Georgia"/>
              <a:cs typeface="Georgia"/>
            </a:endParaRPr>
          </a:p>
          <a:p>
            <a:pPr marL="244793" lvl="1" indent="-139541">
              <a:spcBef>
                <a:spcPts val="153"/>
              </a:spcBef>
              <a:buClr>
                <a:srgbClr val="1CACE3"/>
              </a:buClr>
              <a:buSzPct val="88888"/>
              <a:buFont typeface="Wingdings"/>
              <a:buChar char=""/>
              <a:tabLst>
                <a:tab pos="244793" algn="l"/>
              </a:tabLst>
            </a:pP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Segmentation</a:t>
            </a:r>
            <a:r>
              <a:rPr sz="135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of</a:t>
            </a:r>
            <a:r>
              <a:rPr sz="135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the</a:t>
            </a:r>
            <a:r>
              <a:rPr sz="135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customer</a:t>
            </a:r>
            <a:r>
              <a:rPr sz="135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based</a:t>
            </a:r>
            <a:r>
              <a:rPr sz="135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on</a:t>
            </a:r>
            <a:r>
              <a:rPr sz="135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behavior</a:t>
            </a:r>
            <a:endParaRPr sz="1350" dirty="0">
              <a:latin typeface="Georgia"/>
              <a:cs typeface="Georgia"/>
            </a:endParaRPr>
          </a:p>
          <a:p>
            <a:pPr marL="142875" indent="-133350">
              <a:spcBef>
                <a:spcPts val="964"/>
              </a:spcBef>
              <a:buClr>
                <a:srgbClr val="1CACE3"/>
              </a:buClr>
              <a:buSzPct val="83333"/>
              <a:buFont typeface="Wingdings"/>
              <a:buChar char=""/>
              <a:tabLst>
                <a:tab pos="142875" algn="l"/>
              </a:tabLst>
            </a:pPr>
            <a:r>
              <a:rPr spc="-8" dirty="0">
                <a:latin typeface="Georgia"/>
                <a:cs typeface="Georgia"/>
              </a:rPr>
              <a:t>Banking:</a:t>
            </a:r>
            <a:endParaRPr dirty="0">
              <a:latin typeface="Georgia"/>
              <a:cs typeface="Georgia"/>
            </a:endParaRPr>
          </a:p>
          <a:p>
            <a:pPr marL="244793" lvl="1" indent="-139541">
              <a:spcBef>
                <a:spcPts val="150"/>
              </a:spcBef>
              <a:buClr>
                <a:srgbClr val="1CACE3"/>
              </a:buClr>
              <a:buSzPct val="88888"/>
              <a:buFont typeface="Wingdings"/>
              <a:buChar char=""/>
              <a:tabLst>
                <a:tab pos="244793" algn="l"/>
              </a:tabLst>
            </a:pP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ATM</a:t>
            </a:r>
            <a:r>
              <a:rPr sz="1350" spc="-4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Fraud</a:t>
            </a:r>
            <a:r>
              <a:rPr sz="1350" spc="-3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detection</a:t>
            </a:r>
            <a:r>
              <a:rPr sz="1350" spc="-4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(outlier</a:t>
            </a:r>
            <a:r>
              <a:rPr sz="1350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detection)</a:t>
            </a:r>
            <a:endParaRPr sz="1350" dirty="0">
              <a:latin typeface="Georgia"/>
              <a:cs typeface="Georgia"/>
            </a:endParaRPr>
          </a:p>
          <a:p>
            <a:pPr marL="142875" indent="-133350">
              <a:spcBef>
                <a:spcPts val="975"/>
              </a:spcBef>
              <a:buClr>
                <a:srgbClr val="1CACE3"/>
              </a:buClr>
              <a:buSzPct val="83333"/>
              <a:buFont typeface="Wingdings"/>
              <a:buChar char=""/>
              <a:tabLst>
                <a:tab pos="142875" algn="l"/>
              </a:tabLst>
            </a:pPr>
            <a:r>
              <a:rPr dirty="0">
                <a:latin typeface="Georgia"/>
                <a:cs typeface="Georgia"/>
              </a:rPr>
              <a:t>Gene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analysis:</a:t>
            </a:r>
            <a:endParaRPr dirty="0">
              <a:latin typeface="Georgia"/>
              <a:cs typeface="Georgia"/>
            </a:endParaRPr>
          </a:p>
          <a:p>
            <a:pPr marL="244793" lvl="1" indent="-139541">
              <a:spcBef>
                <a:spcPts val="153"/>
              </a:spcBef>
              <a:buClr>
                <a:srgbClr val="1CACE3"/>
              </a:buClr>
              <a:buSzPct val="88888"/>
              <a:buFont typeface="Wingdings"/>
              <a:buChar char=""/>
              <a:tabLst>
                <a:tab pos="244793" algn="l"/>
              </a:tabLst>
            </a:pP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Identifying</a:t>
            </a:r>
            <a:r>
              <a:rPr sz="135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gene</a:t>
            </a:r>
            <a:r>
              <a:rPr sz="1350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responsible</a:t>
            </a:r>
            <a:r>
              <a:rPr sz="1350" spc="-1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for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a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 disease</a:t>
            </a:r>
            <a:endParaRPr sz="1350" dirty="0">
              <a:latin typeface="Georgia"/>
              <a:cs typeface="Georgia"/>
            </a:endParaRPr>
          </a:p>
          <a:p>
            <a:pPr marL="142875" indent="-133350">
              <a:spcBef>
                <a:spcPts val="971"/>
              </a:spcBef>
              <a:buClr>
                <a:srgbClr val="1CACE3"/>
              </a:buClr>
              <a:buSzPct val="83333"/>
              <a:buFont typeface="Wingdings"/>
              <a:buChar char=""/>
              <a:tabLst>
                <a:tab pos="142875" algn="l"/>
              </a:tabLst>
            </a:pPr>
            <a:r>
              <a:rPr dirty="0">
                <a:latin typeface="Georgia"/>
                <a:cs typeface="Georgia"/>
              </a:rPr>
              <a:t>Image</a:t>
            </a:r>
            <a:r>
              <a:rPr spc="-49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processing:</a:t>
            </a:r>
            <a:endParaRPr dirty="0">
              <a:latin typeface="Georgia"/>
              <a:cs typeface="Georgia"/>
            </a:endParaRPr>
          </a:p>
          <a:p>
            <a:pPr marL="244793" lvl="1" indent="-139541">
              <a:spcBef>
                <a:spcPts val="153"/>
              </a:spcBef>
              <a:buClr>
                <a:srgbClr val="1CACE3"/>
              </a:buClr>
              <a:buSzPct val="88888"/>
              <a:buFont typeface="Wingdings"/>
              <a:buChar char=""/>
              <a:tabLst>
                <a:tab pos="244793" algn="l"/>
              </a:tabLst>
            </a:pP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Identifying</a:t>
            </a:r>
            <a:r>
              <a:rPr sz="13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objects</a:t>
            </a:r>
            <a:r>
              <a:rPr sz="1350" spc="-3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on</a:t>
            </a:r>
            <a:r>
              <a:rPr sz="135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an</a:t>
            </a:r>
            <a:r>
              <a:rPr sz="135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image</a:t>
            </a:r>
            <a:r>
              <a:rPr sz="1350" spc="-3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(face</a:t>
            </a:r>
            <a:r>
              <a:rPr sz="1350" spc="-3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detection)</a:t>
            </a:r>
            <a:endParaRPr sz="1350" dirty="0">
              <a:latin typeface="Georgia"/>
              <a:cs typeface="Georgia"/>
            </a:endParaRPr>
          </a:p>
          <a:p>
            <a:pPr marL="142875" indent="-133350">
              <a:spcBef>
                <a:spcPts val="964"/>
              </a:spcBef>
              <a:buClr>
                <a:srgbClr val="1CACE3"/>
              </a:buClr>
              <a:buSzPct val="83333"/>
              <a:buFont typeface="Wingdings"/>
              <a:buChar char=""/>
              <a:tabLst>
                <a:tab pos="142875" algn="l"/>
              </a:tabLst>
            </a:pPr>
            <a:r>
              <a:rPr spc="-8" dirty="0">
                <a:latin typeface="Georgia"/>
                <a:cs typeface="Georgia"/>
              </a:rPr>
              <a:t>Houses:</a:t>
            </a:r>
            <a:endParaRPr dirty="0">
              <a:latin typeface="Georgia"/>
              <a:cs typeface="Georgia"/>
            </a:endParaRPr>
          </a:p>
          <a:p>
            <a:pPr marL="207645" lvl="1" indent="-102394">
              <a:spcBef>
                <a:spcPts val="153"/>
              </a:spcBef>
              <a:buClr>
                <a:srgbClr val="1CACE3"/>
              </a:buClr>
              <a:buFont typeface="Wingdings"/>
              <a:buChar char=""/>
              <a:tabLst>
                <a:tab pos="207645" algn="l"/>
              </a:tabLst>
            </a:pP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Identifying</a:t>
            </a:r>
            <a:r>
              <a:rPr sz="1350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groups</a:t>
            </a:r>
            <a:r>
              <a:rPr sz="13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of</a:t>
            </a:r>
            <a:r>
              <a:rPr sz="135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houses</a:t>
            </a:r>
            <a:r>
              <a:rPr sz="135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according</a:t>
            </a:r>
            <a:r>
              <a:rPr sz="1350" spc="-4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to</a:t>
            </a:r>
            <a:r>
              <a:rPr sz="1350" spc="-3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their</a:t>
            </a:r>
            <a:r>
              <a:rPr sz="13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house</a:t>
            </a:r>
            <a:r>
              <a:rPr sz="135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type,</a:t>
            </a:r>
            <a:r>
              <a:rPr sz="13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value,</a:t>
            </a:r>
            <a:r>
              <a:rPr sz="135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and</a:t>
            </a:r>
            <a:r>
              <a:rPr sz="13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01F5F"/>
                </a:solidFill>
                <a:latin typeface="Georgia"/>
                <a:cs typeface="Georgia"/>
              </a:rPr>
              <a:t>geographical</a:t>
            </a:r>
            <a:r>
              <a:rPr sz="13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Georgia"/>
                <a:cs typeface="Georgia"/>
              </a:rPr>
              <a:t>location</a:t>
            </a:r>
            <a:endParaRPr sz="135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92099" y="380312"/>
            <a:ext cx="8851901" cy="56361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z="3600" spc="49" dirty="0">
                <a:solidFill>
                  <a:schemeClr val="bg1"/>
                </a:solidFill>
              </a:rPr>
              <a:t>Requirements</a:t>
            </a:r>
            <a:r>
              <a:rPr sz="3600" spc="221" dirty="0">
                <a:solidFill>
                  <a:schemeClr val="bg1"/>
                </a:solidFill>
              </a:rPr>
              <a:t> </a:t>
            </a:r>
            <a:r>
              <a:rPr sz="3600" dirty="0">
                <a:solidFill>
                  <a:schemeClr val="bg1"/>
                </a:solidFill>
              </a:rPr>
              <a:t>of</a:t>
            </a:r>
            <a:r>
              <a:rPr sz="3600" spc="184" dirty="0">
                <a:solidFill>
                  <a:schemeClr val="bg1"/>
                </a:solidFill>
              </a:rPr>
              <a:t> </a:t>
            </a:r>
            <a:r>
              <a:rPr sz="3600" spc="45" dirty="0">
                <a:solidFill>
                  <a:schemeClr val="bg1"/>
                </a:solidFill>
              </a:rPr>
              <a:t>Clustering</a:t>
            </a:r>
            <a:r>
              <a:rPr sz="3600" spc="233" dirty="0">
                <a:solidFill>
                  <a:schemeClr val="bg1"/>
                </a:solidFill>
              </a:rPr>
              <a:t> </a:t>
            </a:r>
            <a:r>
              <a:rPr sz="3600" spc="38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4" y="1820088"/>
            <a:ext cx="6410325" cy="3562194"/>
          </a:xfrm>
          <a:prstGeom prst="rect">
            <a:avLst/>
          </a:prstGeom>
        </p:spPr>
        <p:txBody>
          <a:bodyPr vert="horz" wrap="square" lIns="0" tIns="115253" rIns="0" bIns="0" rtlCol="0">
            <a:spAutoFit/>
          </a:bodyPr>
          <a:lstStyle/>
          <a:p>
            <a:pPr marL="155258" indent="-145733">
              <a:spcBef>
                <a:spcPts val="907"/>
              </a:spcBef>
              <a:buClr>
                <a:srgbClr val="1CACE3"/>
              </a:buClr>
              <a:buFont typeface="Wingdings"/>
              <a:buChar char=""/>
              <a:tabLst>
                <a:tab pos="155258" algn="l"/>
              </a:tabLst>
            </a:pPr>
            <a:r>
              <a:rPr sz="1650" dirty="0">
                <a:latin typeface="Georgia"/>
                <a:cs typeface="Georgia"/>
              </a:rPr>
              <a:t>The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following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are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typical</a:t>
            </a:r>
            <a:r>
              <a:rPr sz="1650" spc="-30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requirements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of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clustering</a:t>
            </a:r>
            <a:r>
              <a:rPr sz="1650" spc="-34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in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data</a:t>
            </a:r>
            <a:r>
              <a:rPr sz="1650" spc="-30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mining:</a:t>
            </a:r>
            <a:endParaRPr sz="1650" dirty="0">
              <a:latin typeface="Georgia"/>
              <a:cs typeface="Georgia"/>
            </a:endParaRPr>
          </a:p>
          <a:p>
            <a:pPr marL="246698" lvl="1" indent="-141446">
              <a:spcBef>
                <a:spcPts val="720"/>
              </a:spcBef>
              <a:buClr>
                <a:srgbClr val="1CACE3"/>
              </a:buClr>
              <a:buSzPct val="89473"/>
              <a:buFont typeface="Wingdings"/>
              <a:buChar char=""/>
              <a:tabLst>
                <a:tab pos="246698" algn="l"/>
              </a:tabLst>
            </a:pP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Scalability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6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Dealing</a:t>
            </a:r>
            <a:r>
              <a:rPr sz="1425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with</a:t>
            </a:r>
            <a:r>
              <a:rPr sz="1425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different</a:t>
            </a:r>
            <a:r>
              <a:rPr sz="1425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types</a:t>
            </a:r>
            <a:r>
              <a:rPr sz="1425" spc="-1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of</a:t>
            </a:r>
            <a:r>
              <a:rPr sz="1425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attributes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6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Discovering</a:t>
            </a:r>
            <a:r>
              <a:rPr sz="1425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clusters</a:t>
            </a:r>
            <a:r>
              <a:rPr sz="1425" spc="-5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with</a:t>
            </a:r>
            <a:r>
              <a:rPr sz="1425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arbitrary</a:t>
            </a:r>
            <a:r>
              <a:rPr sz="1425" spc="-4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shapes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3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Ability</a:t>
            </a:r>
            <a:r>
              <a:rPr sz="1425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to</a:t>
            </a:r>
            <a:r>
              <a:rPr sz="1425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deal</a:t>
            </a:r>
            <a:r>
              <a:rPr sz="1425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with</a:t>
            </a:r>
            <a:r>
              <a:rPr sz="1425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noisy</a:t>
            </a:r>
            <a:r>
              <a:rPr sz="1425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15" dirty="0">
                <a:solidFill>
                  <a:srgbClr val="001F5F"/>
                </a:solidFill>
                <a:latin typeface="Georgia"/>
                <a:cs typeface="Georgia"/>
              </a:rPr>
              <a:t>data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3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Minimal</a:t>
            </a:r>
            <a:r>
              <a:rPr sz="1425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requirements</a:t>
            </a:r>
            <a:r>
              <a:rPr sz="1425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for</a:t>
            </a:r>
            <a:r>
              <a:rPr sz="1425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domain</a:t>
            </a:r>
            <a:r>
              <a:rPr sz="1425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knowledge</a:t>
            </a:r>
            <a:r>
              <a:rPr sz="1425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to</a:t>
            </a:r>
            <a:r>
              <a:rPr sz="1425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determine</a:t>
            </a:r>
            <a:r>
              <a:rPr sz="1425" spc="-4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input</a:t>
            </a:r>
            <a:r>
              <a:rPr sz="1425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parameters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6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Incremental</a:t>
            </a:r>
            <a:r>
              <a:rPr sz="1425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clustering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6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High</a:t>
            </a:r>
            <a:r>
              <a:rPr sz="1425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dimensionality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3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spc="-15" dirty="0">
                <a:solidFill>
                  <a:srgbClr val="001F5F"/>
                </a:solidFill>
                <a:latin typeface="Georgia"/>
                <a:cs typeface="Georgia"/>
              </a:rPr>
              <a:t>Constraint-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based</a:t>
            </a:r>
            <a:r>
              <a:rPr sz="1425" spc="4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clustering</a:t>
            </a:r>
            <a:endParaRPr sz="1425" dirty="0">
              <a:latin typeface="Georgia"/>
              <a:cs typeface="Georgia"/>
            </a:endParaRPr>
          </a:p>
          <a:p>
            <a:pPr marL="252413" lvl="1" indent="-147161">
              <a:spcBef>
                <a:spcPts val="1133"/>
              </a:spcBef>
              <a:buClr>
                <a:srgbClr val="1CACE3"/>
              </a:buClr>
              <a:buFont typeface="Wingdings"/>
              <a:buChar char=""/>
              <a:tabLst>
                <a:tab pos="252413" algn="l"/>
              </a:tabLst>
            </a:pP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Interpretability </a:t>
            </a:r>
            <a:r>
              <a:rPr sz="1425" dirty="0">
                <a:solidFill>
                  <a:srgbClr val="001F5F"/>
                </a:solidFill>
                <a:latin typeface="Georgia"/>
                <a:cs typeface="Georgia"/>
              </a:rPr>
              <a:t>and </a:t>
            </a:r>
            <a:r>
              <a:rPr sz="1425" spc="-8" dirty="0">
                <a:solidFill>
                  <a:srgbClr val="001F5F"/>
                </a:solidFill>
                <a:latin typeface="Georgia"/>
                <a:cs typeface="Georgia"/>
              </a:rPr>
              <a:t>usability</a:t>
            </a:r>
            <a:endParaRPr sz="1425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7500" y="394957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45" dirty="0">
                <a:solidFill>
                  <a:schemeClr val="bg1"/>
                </a:solidFill>
              </a:rPr>
              <a:t>Distance</a:t>
            </a:r>
            <a:r>
              <a:rPr spc="195" dirty="0">
                <a:solidFill>
                  <a:schemeClr val="bg1"/>
                </a:solidFill>
              </a:rPr>
              <a:t> </a:t>
            </a:r>
            <a:r>
              <a:rPr spc="41" dirty="0">
                <a:solidFill>
                  <a:schemeClr val="bg1"/>
                </a:solidFill>
              </a:rPr>
              <a:t>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5" y="1948243"/>
            <a:ext cx="7636669" cy="3013485"/>
          </a:xfrm>
          <a:prstGeom prst="rect">
            <a:avLst/>
          </a:prstGeom>
        </p:spPr>
        <p:txBody>
          <a:bodyPr vert="horz" wrap="square" lIns="0" tIns="40481" rIns="0" bIns="0" rtlCol="0">
            <a:spAutoFit/>
          </a:bodyPr>
          <a:lstStyle/>
          <a:p>
            <a:pPr marL="78104" marR="20955" indent="-68580">
              <a:lnSpc>
                <a:spcPts val="1943"/>
              </a:lnSpc>
              <a:spcBef>
                <a:spcPts val="319"/>
              </a:spcBef>
              <a:buClr>
                <a:srgbClr val="1CACE3"/>
              </a:buClr>
              <a:buFont typeface="Wingdings"/>
              <a:buChar char=""/>
              <a:tabLst>
                <a:tab pos="78104" algn="l"/>
                <a:tab pos="169069" algn="l"/>
              </a:tabLst>
            </a:pPr>
            <a:r>
              <a:rPr dirty="0">
                <a:latin typeface="Georgia"/>
                <a:cs typeface="Georgia"/>
              </a:rPr>
              <a:t>Cluster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analysis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has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been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extensively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focused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mainly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on</a:t>
            </a:r>
            <a:r>
              <a:rPr spc="-79" dirty="0">
                <a:latin typeface="Georgia"/>
                <a:cs typeface="Georgia"/>
              </a:rPr>
              <a:t> </a:t>
            </a:r>
            <a:r>
              <a:rPr b="1" i="1" spc="-8" dirty="0">
                <a:latin typeface="Georgia"/>
                <a:cs typeface="Georgia"/>
              </a:rPr>
              <a:t>distance-based </a:t>
            </a:r>
            <a:r>
              <a:rPr b="1" i="1" dirty="0">
                <a:latin typeface="Georgia"/>
                <a:cs typeface="Georgia"/>
              </a:rPr>
              <a:t>cluster</a:t>
            </a:r>
            <a:r>
              <a:rPr b="1" i="1" spc="-30" dirty="0">
                <a:latin typeface="Georgia"/>
                <a:cs typeface="Georgia"/>
              </a:rPr>
              <a:t> </a:t>
            </a:r>
            <a:r>
              <a:rPr b="1" i="1" spc="-8" dirty="0">
                <a:latin typeface="Georgia"/>
                <a:cs typeface="Georgia"/>
              </a:rPr>
              <a:t>analysis</a:t>
            </a:r>
            <a:endParaRPr>
              <a:latin typeface="Georgia"/>
              <a:cs typeface="Georgia"/>
            </a:endParaRPr>
          </a:p>
          <a:p>
            <a:pPr marL="252413" lvl="1" indent="-147161">
              <a:spcBef>
                <a:spcPts val="105"/>
              </a:spcBef>
              <a:buClr>
                <a:srgbClr val="1CACE3"/>
              </a:buClr>
              <a:buSzPct val="90000"/>
              <a:buFont typeface="Wingdings"/>
              <a:buChar char=""/>
              <a:tabLst>
                <a:tab pos="252413" algn="l"/>
              </a:tabLst>
            </a:pPr>
            <a:r>
              <a:rPr sz="1500" b="1" i="1" dirty="0">
                <a:solidFill>
                  <a:srgbClr val="001F5F"/>
                </a:solidFill>
                <a:latin typeface="Georgia"/>
                <a:cs typeface="Georgia"/>
              </a:rPr>
              <a:t>Distance</a:t>
            </a:r>
            <a:r>
              <a:rPr sz="1500" b="1" i="1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is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defined</a:t>
            </a:r>
            <a:r>
              <a:rPr sz="1500" spc="-2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as</a:t>
            </a:r>
            <a:r>
              <a:rPr sz="1500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the</a:t>
            </a:r>
            <a:r>
              <a:rPr sz="150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quantitative</a:t>
            </a:r>
            <a:r>
              <a:rPr sz="1500" spc="-30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measure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of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how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far</a:t>
            </a:r>
            <a:r>
              <a:rPr sz="1500" spc="-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apart</a:t>
            </a:r>
            <a:r>
              <a:rPr sz="1500" spc="-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two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Georgia"/>
                <a:cs typeface="Georgia"/>
              </a:rPr>
              <a:t>objects</a:t>
            </a:r>
            <a:r>
              <a:rPr sz="1500" spc="-3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spc="-15" dirty="0">
                <a:solidFill>
                  <a:srgbClr val="001F5F"/>
                </a:solidFill>
                <a:latin typeface="Georgia"/>
                <a:cs typeface="Georgia"/>
              </a:rPr>
              <a:t>are.</a:t>
            </a:r>
            <a:endParaRPr sz="1500">
              <a:latin typeface="Georgia"/>
              <a:cs typeface="Georgia"/>
            </a:endParaRPr>
          </a:p>
          <a:p>
            <a:pPr marL="210503" indent="-200978">
              <a:lnSpc>
                <a:spcPts val="2051"/>
              </a:lnSpc>
              <a:spcBef>
                <a:spcPts val="968"/>
              </a:spcBef>
              <a:buClr>
                <a:srgbClr val="1CACE3"/>
              </a:buClr>
              <a:buFont typeface="Wingdings"/>
              <a:buChar char=""/>
              <a:tabLst>
                <a:tab pos="210503" algn="l"/>
              </a:tabLst>
            </a:pPr>
            <a:r>
              <a:rPr dirty="0">
                <a:latin typeface="Georgia"/>
                <a:cs typeface="Georgia"/>
              </a:rPr>
              <a:t>The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similarity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measure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is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measure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how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much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alike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two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data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objects</a:t>
            </a:r>
            <a:endParaRPr>
              <a:latin typeface="Georgia"/>
              <a:cs typeface="Georgia"/>
            </a:endParaRPr>
          </a:p>
          <a:p>
            <a:pPr marL="210503">
              <a:lnSpc>
                <a:spcPts val="2051"/>
              </a:lnSpc>
            </a:pPr>
            <a:r>
              <a:rPr spc="-15" dirty="0">
                <a:latin typeface="Georgia"/>
                <a:cs typeface="Georgia"/>
              </a:rPr>
              <a:t>are.</a:t>
            </a:r>
            <a:endParaRPr>
              <a:latin typeface="Georgia"/>
              <a:cs typeface="Georgia"/>
            </a:endParaRPr>
          </a:p>
          <a:p>
            <a:pPr marL="210503" indent="-200978">
              <a:spcBef>
                <a:spcPts val="859"/>
              </a:spcBef>
              <a:buClr>
                <a:srgbClr val="1CACE3"/>
              </a:buClr>
              <a:buFont typeface="Wingdings"/>
              <a:buChar char=""/>
              <a:tabLst>
                <a:tab pos="210503" algn="l"/>
              </a:tabLst>
            </a:pPr>
            <a:r>
              <a:rPr sz="1650" dirty="0">
                <a:latin typeface="Georgia"/>
                <a:cs typeface="Georgia"/>
              </a:rPr>
              <a:t>If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the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distance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is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small,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the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features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are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having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high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degree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of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similarity.</a:t>
            </a:r>
            <a:endParaRPr sz="1650">
              <a:latin typeface="Georgia"/>
              <a:cs typeface="Georgia"/>
            </a:endParaRPr>
          </a:p>
          <a:p>
            <a:pPr marL="210503" indent="-200978">
              <a:spcBef>
                <a:spcPts val="855"/>
              </a:spcBef>
              <a:buClr>
                <a:srgbClr val="1CACE3"/>
              </a:buClr>
              <a:buFont typeface="Wingdings"/>
              <a:buChar char=""/>
              <a:tabLst>
                <a:tab pos="210503" algn="l"/>
              </a:tabLst>
            </a:pPr>
            <a:r>
              <a:rPr sz="1650" dirty="0">
                <a:latin typeface="Georgia"/>
                <a:cs typeface="Georgia"/>
              </a:rPr>
              <a:t>Whereas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large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distance</a:t>
            </a:r>
            <a:r>
              <a:rPr sz="1650" spc="-26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will</a:t>
            </a:r>
            <a:r>
              <a:rPr sz="1650" spc="-41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be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a</a:t>
            </a:r>
            <a:r>
              <a:rPr sz="1650" spc="-38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low</a:t>
            </a:r>
            <a:r>
              <a:rPr sz="1650" spc="-45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degree</a:t>
            </a:r>
            <a:r>
              <a:rPr sz="1650" spc="-34" dirty="0">
                <a:latin typeface="Georgia"/>
                <a:cs typeface="Georgia"/>
              </a:rPr>
              <a:t> </a:t>
            </a:r>
            <a:r>
              <a:rPr sz="1650" dirty="0">
                <a:latin typeface="Georgia"/>
                <a:cs typeface="Georgia"/>
              </a:rPr>
              <a:t>of</a:t>
            </a:r>
            <a:r>
              <a:rPr sz="1650" spc="-49" dirty="0">
                <a:latin typeface="Georgia"/>
                <a:cs typeface="Georgia"/>
              </a:rPr>
              <a:t> </a:t>
            </a:r>
            <a:r>
              <a:rPr sz="1650" spc="-8" dirty="0">
                <a:latin typeface="Georgia"/>
                <a:cs typeface="Georgia"/>
              </a:rPr>
              <a:t>similarity</a:t>
            </a:r>
            <a:r>
              <a:rPr sz="1650" spc="-8" dirty="0">
                <a:solidFill>
                  <a:srgbClr val="001F5F"/>
                </a:solidFill>
                <a:latin typeface="Georgia"/>
                <a:cs typeface="Georgia"/>
              </a:rPr>
              <a:t>.</a:t>
            </a:r>
            <a:endParaRPr sz="1650">
              <a:latin typeface="Georgia"/>
              <a:cs typeface="Georgia"/>
            </a:endParaRPr>
          </a:p>
          <a:p>
            <a:pPr marL="210503" indent="-200978">
              <a:spcBef>
                <a:spcPts val="848"/>
              </a:spcBef>
              <a:buClr>
                <a:srgbClr val="1CACE3"/>
              </a:buClr>
              <a:buFont typeface="Wingdings"/>
              <a:buChar char=""/>
              <a:tabLst>
                <a:tab pos="210503" algn="l"/>
              </a:tabLst>
            </a:pP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Generally,</a:t>
            </a:r>
            <a:r>
              <a:rPr sz="16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similarity</a:t>
            </a:r>
            <a:r>
              <a:rPr sz="1650" spc="-26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are</a:t>
            </a:r>
            <a:r>
              <a:rPr sz="1650" spc="-4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measured</a:t>
            </a:r>
            <a:r>
              <a:rPr sz="1650" spc="-38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in</a:t>
            </a:r>
            <a:r>
              <a:rPr sz="1650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the</a:t>
            </a:r>
            <a:r>
              <a:rPr sz="1650" spc="-5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range</a:t>
            </a:r>
            <a:r>
              <a:rPr sz="1650" spc="-4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0</a:t>
            </a:r>
            <a:r>
              <a:rPr sz="1650" spc="-49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to</a:t>
            </a:r>
            <a:r>
              <a:rPr sz="1650" spc="-53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dirty="0">
                <a:solidFill>
                  <a:srgbClr val="001F5F"/>
                </a:solidFill>
                <a:latin typeface="Georgia"/>
                <a:cs typeface="Georgia"/>
              </a:rPr>
              <a:t>1</a:t>
            </a:r>
            <a:r>
              <a:rPr sz="1650" spc="-45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650" spc="-8" dirty="0">
                <a:solidFill>
                  <a:srgbClr val="001F5F"/>
                </a:solidFill>
                <a:latin typeface="Georgia"/>
                <a:cs typeface="Georgia"/>
              </a:rPr>
              <a:t>[0,1].</a:t>
            </a:r>
            <a:endParaRPr sz="1650">
              <a:latin typeface="Georgia"/>
              <a:cs typeface="Georgia"/>
            </a:endParaRPr>
          </a:p>
          <a:p>
            <a:pPr marL="340994" lvl="1" indent="-201454">
              <a:spcBef>
                <a:spcPts val="150"/>
              </a:spcBef>
              <a:buClr>
                <a:srgbClr val="1CACE3"/>
              </a:buClr>
              <a:buFont typeface="Wingdings"/>
              <a:buChar char=""/>
              <a:tabLst>
                <a:tab pos="340994" algn="l"/>
                <a:tab pos="2340769" algn="l"/>
              </a:tabLst>
            </a:pPr>
            <a:r>
              <a:rPr sz="1350" spc="-8" dirty="0">
                <a:latin typeface="Georgia"/>
                <a:cs typeface="Georgia"/>
              </a:rPr>
              <a:t>Similarity</a:t>
            </a:r>
            <a:r>
              <a:rPr sz="1350" spc="-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=</a:t>
            </a:r>
            <a:r>
              <a:rPr sz="1350" spc="-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1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if</a:t>
            </a:r>
            <a:r>
              <a:rPr sz="1350" spc="-1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X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=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spc="-38" dirty="0">
                <a:latin typeface="Georgia"/>
                <a:cs typeface="Georgia"/>
              </a:rPr>
              <a:t>Y</a:t>
            </a:r>
            <a:r>
              <a:rPr sz="1350" dirty="0">
                <a:latin typeface="Georgia"/>
                <a:cs typeface="Georgia"/>
              </a:rPr>
              <a:t>	(Where</a:t>
            </a:r>
            <a:r>
              <a:rPr sz="1350" spc="-1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X,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Y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are</a:t>
            </a:r>
            <a:r>
              <a:rPr sz="1350" spc="-1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two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objects)</a:t>
            </a:r>
            <a:endParaRPr sz="1350">
              <a:latin typeface="Georgia"/>
              <a:cs typeface="Georgia"/>
            </a:endParaRPr>
          </a:p>
          <a:p>
            <a:pPr marL="340994" lvl="1" indent="-201454">
              <a:spcBef>
                <a:spcPts val="285"/>
              </a:spcBef>
              <a:buClr>
                <a:srgbClr val="1CACE3"/>
              </a:buClr>
              <a:buFont typeface="Wingdings"/>
              <a:buChar char=""/>
              <a:tabLst>
                <a:tab pos="340994" algn="l"/>
              </a:tabLst>
            </a:pPr>
            <a:r>
              <a:rPr sz="1350" spc="-8" dirty="0">
                <a:latin typeface="Georgia"/>
                <a:cs typeface="Georgia"/>
              </a:rPr>
              <a:t>Similarity</a:t>
            </a:r>
            <a:r>
              <a:rPr sz="1350" dirty="0">
                <a:latin typeface="Georgia"/>
                <a:cs typeface="Georgia"/>
              </a:rPr>
              <a:t> =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0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if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X</a:t>
            </a:r>
            <a:r>
              <a:rPr sz="1350" spc="-1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≠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spc="-38" dirty="0">
                <a:latin typeface="Georgia"/>
                <a:cs typeface="Georgia"/>
              </a:rPr>
              <a:t>Y</a:t>
            </a:r>
            <a:endParaRPr sz="1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2838" y="344294"/>
            <a:ext cx="6796829" cy="583269"/>
          </a:xfrm>
          <a:prstGeom prst="rect">
            <a:avLst/>
          </a:prstGeom>
        </p:spPr>
        <p:txBody>
          <a:bodyPr vert="horz" wrap="square" lIns="0" tIns="115729" rIns="0" bIns="0" rtlCol="0" anchor="ctr">
            <a:spAutoFit/>
          </a:bodyPr>
          <a:lstStyle/>
          <a:p>
            <a:pPr marL="9525" marR="3810" algn="l">
              <a:lnSpc>
                <a:spcPts val="3458"/>
              </a:lnSpc>
              <a:spcBef>
                <a:spcPts val="911"/>
              </a:spcBef>
            </a:pPr>
            <a:r>
              <a:rPr spc="38" dirty="0">
                <a:solidFill>
                  <a:schemeClr val="bg1"/>
                </a:solidFill>
              </a:rPr>
              <a:t>Distance Measures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3873" y="1589675"/>
            <a:ext cx="5082540" cy="731044"/>
            <a:chOff x="4231830" y="976566"/>
            <a:chExt cx="6776720" cy="974725"/>
          </a:xfrm>
        </p:grpSpPr>
        <p:sp>
          <p:nvSpPr>
            <p:cNvPr id="4" name="object 4"/>
            <p:cNvSpPr/>
            <p:nvPr/>
          </p:nvSpPr>
          <p:spPr>
            <a:xfrm>
              <a:off x="4239767" y="1339595"/>
              <a:ext cx="6760845" cy="603885"/>
            </a:xfrm>
            <a:custGeom>
              <a:avLst/>
              <a:gdLst/>
              <a:ahLst/>
              <a:cxnLst/>
              <a:rect l="l" t="t" r="r" b="b"/>
              <a:pathLst>
                <a:path w="6760845" h="603885">
                  <a:moveTo>
                    <a:pt x="6760464" y="0"/>
                  </a:moveTo>
                  <a:lnTo>
                    <a:pt x="0" y="0"/>
                  </a:lnTo>
                  <a:lnTo>
                    <a:pt x="0" y="603503"/>
                  </a:lnTo>
                  <a:lnTo>
                    <a:pt x="6760464" y="603503"/>
                  </a:lnTo>
                  <a:lnTo>
                    <a:pt x="6760464" y="0"/>
                  </a:lnTo>
                  <a:close/>
                </a:path>
              </a:pathLst>
            </a:custGeom>
            <a:solidFill>
              <a:srgbClr val="DFE2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4239767" y="1339595"/>
              <a:ext cx="6760845" cy="603885"/>
            </a:xfrm>
            <a:custGeom>
              <a:avLst/>
              <a:gdLst/>
              <a:ahLst/>
              <a:cxnLst/>
              <a:rect l="l" t="t" r="r" b="b"/>
              <a:pathLst>
                <a:path w="6760845" h="603885">
                  <a:moveTo>
                    <a:pt x="0" y="603503"/>
                  </a:moveTo>
                  <a:lnTo>
                    <a:pt x="6760464" y="603503"/>
                  </a:lnTo>
                  <a:lnTo>
                    <a:pt x="6760464" y="0"/>
                  </a:lnTo>
                  <a:lnTo>
                    <a:pt x="0" y="0"/>
                  </a:lnTo>
                  <a:lnTo>
                    <a:pt x="0" y="603503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4578095" y="984503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4613909" y="0"/>
                  </a:moveTo>
                  <a:lnTo>
                    <a:pt x="118109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09" y="708660"/>
                  </a:lnTo>
                  <a:lnTo>
                    <a:pt x="4613909" y="708660"/>
                  </a:lnTo>
                  <a:lnTo>
                    <a:pt x="4659903" y="699385"/>
                  </a:lnTo>
                  <a:lnTo>
                    <a:pt x="4697444" y="674084"/>
                  </a:lnTo>
                  <a:lnTo>
                    <a:pt x="4722745" y="636543"/>
                  </a:lnTo>
                  <a:lnTo>
                    <a:pt x="4732020" y="590550"/>
                  </a:lnTo>
                  <a:lnTo>
                    <a:pt x="4732020" y="118110"/>
                  </a:lnTo>
                  <a:lnTo>
                    <a:pt x="4722745" y="72116"/>
                  </a:lnTo>
                  <a:lnTo>
                    <a:pt x="4697444" y="34575"/>
                  </a:lnTo>
                  <a:lnTo>
                    <a:pt x="4659903" y="9274"/>
                  </a:lnTo>
                  <a:lnTo>
                    <a:pt x="4613909" y="0"/>
                  </a:lnTo>
                  <a:close/>
                </a:path>
              </a:pathLst>
            </a:custGeom>
            <a:solidFill>
              <a:srgbClr val="335B7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4578095" y="984503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09" y="0"/>
                  </a:lnTo>
                  <a:lnTo>
                    <a:pt x="4613909" y="0"/>
                  </a:lnTo>
                  <a:lnTo>
                    <a:pt x="4659903" y="9274"/>
                  </a:lnTo>
                  <a:lnTo>
                    <a:pt x="4697444" y="34575"/>
                  </a:lnTo>
                  <a:lnTo>
                    <a:pt x="4722745" y="72116"/>
                  </a:lnTo>
                  <a:lnTo>
                    <a:pt x="4732020" y="118110"/>
                  </a:lnTo>
                  <a:lnTo>
                    <a:pt x="4732020" y="590550"/>
                  </a:lnTo>
                  <a:lnTo>
                    <a:pt x="4722745" y="636543"/>
                  </a:lnTo>
                  <a:lnTo>
                    <a:pt x="4697444" y="674084"/>
                  </a:lnTo>
                  <a:lnTo>
                    <a:pt x="4659903" y="699385"/>
                  </a:lnTo>
                  <a:lnTo>
                    <a:pt x="4613909" y="708660"/>
                  </a:lnTo>
                  <a:lnTo>
                    <a:pt x="118109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5874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84257" y="1635728"/>
            <a:ext cx="2612231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Euclidean</a:t>
            </a:r>
            <a:r>
              <a:rPr sz="2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8" dirty="0">
                <a:solidFill>
                  <a:srgbClr val="FFFFFF"/>
                </a:solidFill>
                <a:latin typeface="Georgia"/>
                <a:cs typeface="Georgia"/>
              </a:rPr>
              <a:t>Distance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73873" y="2405776"/>
            <a:ext cx="5082540" cy="731996"/>
            <a:chOff x="4231830" y="2064702"/>
            <a:chExt cx="6776720" cy="975994"/>
          </a:xfrm>
        </p:grpSpPr>
        <p:sp>
          <p:nvSpPr>
            <p:cNvPr id="10" name="object 10"/>
            <p:cNvSpPr/>
            <p:nvPr/>
          </p:nvSpPr>
          <p:spPr>
            <a:xfrm>
              <a:off x="4239767" y="2427731"/>
              <a:ext cx="6760845" cy="605155"/>
            </a:xfrm>
            <a:custGeom>
              <a:avLst/>
              <a:gdLst/>
              <a:ahLst/>
              <a:cxnLst/>
              <a:rect l="l" t="t" r="r" b="b"/>
              <a:pathLst>
                <a:path w="6760845" h="605155">
                  <a:moveTo>
                    <a:pt x="6760464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760464" y="605027"/>
                  </a:lnTo>
                  <a:lnTo>
                    <a:pt x="6760464" y="0"/>
                  </a:lnTo>
                  <a:close/>
                </a:path>
              </a:pathLst>
            </a:custGeom>
            <a:solidFill>
              <a:srgbClr val="DFE2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9767" y="2427731"/>
              <a:ext cx="6760845" cy="605155"/>
            </a:xfrm>
            <a:custGeom>
              <a:avLst/>
              <a:gdLst/>
              <a:ahLst/>
              <a:cxnLst/>
              <a:rect l="l" t="t" r="r" b="b"/>
              <a:pathLst>
                <a:path w="6760845" h="605155">
                  <a:moveTo>
                    <a:pt x="0" y="605027"/>
                  </a:moveTo>
                  <a:lnTo>
                    <a:pt x="6760464" y="605027"/>
                  </a:lnTo>
                  <a:lnTo>
                    <a:pt x="6760464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8095" y="2072639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4613909" y="0"/>
                  </a:moveTo>
                  <a:lnTo>
                    <a:pt x="118109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09" y="708660"/>
                  </a:lnTo>
                  <a:lnTo>
                    <a:pt x="4613909" y="708660"/>
                  </a:lnTo>
                  <a:lnTo>
                    <a:pt x="4659903" y="699385"/>
                  </a:lnTo>
                  <a:lnTo>
                    <a:pt x="4697444" y="674084"/>
                  </a:lnTo>
                  <a:lnTo>
                    <a:pt x="4722745" y="636543"/>
                  </a:lnTo>
                  <a:lnTo>
                    <a:pt x="4732020" y="590550"/>
                  </a:lnTo>
                  <a:lnTo>
                    <a:pt x="4732020" y="118110"/>
                  </a:lnTo>
                  <a:lnTo>
                    <a:pt x="4722745" y="72116"/>
                  </a:lnTo>
                  <a:lnTo>
                    <a:pt x="4697444" y="34575"/>
                  </a:lnTo>
                  <a:lnTo>
                    <a:pt x="4659903" y="9274"/>
                  </a:lnTo>
                  <a:lnTo>
                    <a:pt x="4613909" y="0"/>
                  </a:lnTo>
                  <a:close/>
                </a:path>
              </a:pathLst>
            </a:custGeom>
            <a:solidFill>
              <a:srgbClr val="335B7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8095" y="2072639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09" y="0"/>
                  </a:lnTo>
                  <a:lnTo>
                    <a:pt x="4613909" y="0"/>
                  </a:lnTo>
                  <a:lnTo>
                    <a:pt x="4659903" y="9274"/>
                  </a:lnTo>
                  <a:lnTo>
                    <a:pt x="4697444" y="34575"/>
                  </a:lnTo>
                  <a:lnTo>
                    <a:pt x="4722745" y="72116"/>
                  </a:lnTo>
                  <a:lnTo>
                    <a:pt x="4732020" y="118110"/>
                  </a:lnTo>
                  <a:lnTo>
                    <a:pt x="4732020" y="590550"/>
                  </a:lnTo>
                  <a:lnTo>
                    <a:pt x="4722745" y="636543"/>
                  </a:lnTo>
                  <a:lnTo>
                    <a:pt x="4697444" y="674084"/>
                  </a:lnTo>
                  <a:lnTo>
                    <a:pt x="4659903" y="699385"/>
                  </a:lnTo>
                  <a:lnTo>
                    <a:pt x="4613909" y="708660"/>
                  </a:lnTo>
                  <a:lnTo>
                    <a:pt x="118109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5874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173873" y="3223022"/>
            <a:ext cx="5082540" cy="731044"/>
            <a:chOff x="4231830" y="3154362"/>
            <a:chExt cx="6776720" cy="974725"/>
          </a:xfrm>
        </p:grpSpPr>
        <p:sp>
          <p:nvSpPr>
            <p:cNvPr id="15" name="object 15"/>
            <p:cNvSpPr/>
            <p:nvPr/>
          </p:nvSpPr>
          <p:spPr>
            <a:xfrm>
              <a:off x="4239767" y="3515868"/>
              <a:ext cx="6760845" cy="605155"/>
            </a:xfrm>
            <a:custGeom>
              <a:avLst/>
              <a:gdLst/>
              <a:ahLst/>
              <a:cxnLst/>
              <a:rect l="l" t="t" r="r" b="b"/>
              <a:pathLst>
                <a:path w="6760845" h="605154">
                  <a:moveTo>
                    <a:pt x="6760464" y="0"/>
                  </a:moveTo>
                  <a:lnTo>
                    <a:pt x="0" y="0"/>
                  </a:lnTo>
                  <a:lnTo>
                    <a:pt x="0" y="605028"/>
                  </a:lnTo>
                  <a:lnTo>
                    <a:pt x="6760464" y="605028"/>
                  </a:lnTo>
                  <a:lnTo>
                    <a:pt x="6760464" y="0"/>
                  </a:lnTo>
                  <a:close/>
                </a:path>
              </a:pathLst>
            </a:custGeom>
            <a:solidFill>
              <a:srgbClr val="DFE2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239767" y="3515868"/>
              <a:ext cx="6760845" cy="605155"/>
            </a:xfrm>
            <a:custGeom>
              <a:avLst/>
              <a:gdLst/>
              <a:ahLst/>
              <a:cxnLst/>
              <a:rect l="l" t="t" r="r" b="b"/>
              <a:pathLst>
                <a:path w="6760845" h="605154">
                  <a:moveTo>
                    <a:pt x="0" y="605028"/>
                  </a:moveTo>
                  <a:lnTo>
                    <a:pt x="6760464" y="605028"/>
                  </a:lnTo>
                  <a:lnTo>
                    <a:pt x="6760464" y="0"/>
                  </a:lnTo>
                  <a:lnTo>
                    <a:pt x="0" y="0"/>
                  </a:lnTo>
                  <a:lnTo>
                    <a:pt x="0" y="605028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8095" y="3162300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4613909" y="0"/>
                  </a:moveTo>
                  <a:lnTo>
                    <a:pt x="118109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09" y="708660"/>
                  </a:lnTo>
                  <a:lnTo>
                    <a:pt x="4613909" y="708660"/>
                  </a:lnTo>
                  <a:lnTo>
                    <a:pt x="4659903" y="699385"/>
                  </a:lnTo>
                  <a:lnTo>
                    <a:pt x="4697444" y="674084"/>
                  </a:lnTo>
                  <a:lnTo>
                    <a:pt x="4722745" y="636543"/>
                  </a:lnTo>
                  <a:lnTo>
                    <a:pt x="4732020" y="590550"/>
                  </a:lnTo>
                  <a:lnTo>
                    <a:pt x="4732020" y="118110"/>
                  </a:lnTo>
                  <a:lnTo>
                    <a:pt x="4722745" y="72116"/>
                  </a:lnTo>
                  <a:lnTo>
                    <a:pt x="4697444" y="34575"/>
                  </a:lnTo>
                  <a:lnTo>
                    <a:pt x="4659903" y="9274"/>
                  </a:lnTo>
                  <a:lnTo>
                    <a:pt x="4613909" y="0"/>
                  </a:lnTo>
                  <a:close/>
                </a:path>
              </a:pathLst>
            </a:custGeom>
            <a:solidFill>
              <a:srgbClr val="335B7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8095" y="3162300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09" y="0"/>
                  </a:lnTo>
                  <a:lnTo>
                    <a:pt x="4613909" y="0"/>
                  </a:lnTo>
                  <a:lnTo>
                    <a:pt x="4659903" y="9274"/>
                  </a:lnTo>
                  <a:lnTo>
                    <a:pt x="4697444" y="34575"/>
                  </a:lnTo>
                  <a:lnTo>
                    <a:pt x="4722745" y="72116"/>
                  </a:lnTo>
                  <a:lnTo>
                    <a:pt x="4732020" y="118110"/>
                  </a:lnTo>
                  <a:lnTo>
                    <a:pt x="4732020" y="590550"/>
                  </a:lnTo>
                  <a:lnTo>
                    <a:pt x="4722745" y="636543"/>
                  </a:lnTo>
                  <a:lnTo>
                    <a:pt x="4697444" y="674084"/>
                  </a:lnTo>
                  <a:lnTo>
                    <a:pt x="4659903" y="699385"/>
                  </a:lnTo>
                  <a:lnTo>
                    <a:pt x="4613909" y="708660"/>
                  </a:lnTo>
                  <a:lnTo>
                    <a:pt x="118109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5874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173873" y="4039124"/>
            <a:ext cx="5082540" cy="731044"/>
            <a:chOff x="4231830" y="4242498"/>
            <a:chExt cx="6776720" cy="974725"/>
          </a:xfrm>
        </p:grpSpPr>
        <p:sp>
          <p:nvSpPr>
            <p:cNvPr id="20" name="object 20"/>
            <p:cNvSpPr/>
            <p:nvPr/>
          </p:nvSpPr>
          <p:spPr>
            <a:xfrm>
              <a:off x="4239767" y="4605527"/>
              <a:ext cx="6760845" cy="603885"/>
            </a:xfrm>
            <a:custGeom>
              <a:avLst/>
              <a:gdLst/>
              <a:ahLst/>
              <a:cxnLst/>
              <a:rect l="l" t="t" r="r" b="b"/>
              <a:pathLst>
                <a:path w="6760845" h="603885">
                  <a:moveTo>
                    <a:pt x="6760464" y="0"/>
                  </a:moveTo>
                  <a:lnTo>
                    <a:pt x="0" y="0"/>
                  </a:lnTo>
                  <a:lnTo>
                    <a:pt x="0" y="603504"/>
                  </a:lnTo>
                  <a:lnTo>
                    <a:pt x="6760464" y="603504"/>
                  </a:lnTo>
                  <a:lnTo>
                    <a:pt x="6760464" y="0"/>
                  </a:lnTo>
                  <a:close/>
                </a:path>
              </a:pathLst>
            </a:custGeom>
            <a:solidFill>
              <a:srgbClr val="DFE2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239767" y="4605527"/>
              <a:ext cx="6760845" cy="603885"/>
            </a:xfrm>
            <a:custGeom>
              <a:avLst/>
              <a:gdLst/>
              <a:ahLst/>
              <a:cxnLst/>
              <a:rect l="l" t="t" r="r" b="b"/>
              <a:pathLst>
                <a:path w="6760845" h="603885">
                  <a:moveTo>
                    <a:pt x="0" y="603504"/>
                  </a:moveTo>
                  <a:lnTo>
                    <a:pt x="6760464" y="603504"/>
                  </a:lnTo>
                  <a:lnTo>
                    <a:pt x="6760464" y="0"/>
                  </a:lnTo>
                  <a:lnTo>
                    <a:pt x="0" y="0"/>
                  </a:lnTo>
                  <a:lnTo>
                    <a:pt x="0" y="603504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8095" y="4250435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4613909" y="0"/>
                  </a:moveTo>
                  <a:lnTo>
                    <a:pt x="118109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09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09" y="708659"/>
                  </a:lnTo>
                  <a:lnTo>
                    <a:pt x="4613909" y="708659"/>
                  </a:lnTo>
                  <a:lnTo>
                    <a:pt x="4659903" y="699385"/>
                  </a:lnTo>
                  <a:lnTo>
                    <a:pt x="4697444" y="674084"/>
                  </a:lnTo>
                  <a:lnTo>
                    <a:pt x="4722745" y="636543"/>
                  </a:lnTo>
                  <a:lnTo>
                    <a:pt x="4732020" y="590550"/>
                  </a:lnTo>
                  <a:lnTo>
                    <a:pt x="4732020" y="118109"/>
                  </a:lnTo>
                  <a:lnTo>
                    <a:pt x="4722745" y="72116"/>
                  </a:lnTo>
                  <a:lnTo>
                    <a:pt x="4697444" y="34575"/>
                  </a:lnTo>
                  <a:lnTo>
                    <a:pt x="4659903" y="9274"/>
                  </a:lnTo>
                  <a:lnTo>
                    <a:pt x="4613909" y="0"/>
                  </a:lnTo>
                  <a:close/>
                </a:path>
              </a:pathLst>
            </a:custGeom>
            <a:solidFill>
              <a:srgbClr val="335B7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8095" y="4250435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0" y="118109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09" y="0"/>
                  </a:lnTo>
                  <a:lnTo>
                    <a:pt x="4613909" y="0"/>
                  </a:lnTo>
                  <a:lnTo>
                    <a:pt x="4659903" y="9274"/>
                  </a:lnTo>
                  <a:lnTo>
                    <a:pt x="4697444" y="34575"/>
                  </a:lnTo>
                  <a:lnTo>
                    <a:pt x="4722745" y="72116"/>
                  </a:lnTo>
                  <a:lnTo>
                    <a:pt x="4732020" y="118109"/>
                  </a:lnTo>
                  <a:lnTo>
                    <a:pt x="4732020" y="590550"/>
                  </a:lnTo>
                  <a:lnTo>
                    <a:pt x="4722745" y="636543"/>
                  </a:lnTo>
                  <a:lnTo>
                    <a:pt x="4697444" y="674084"/>
                  </a:lnTo>
                  <a:lnTo>
                    <a:pt x="4659903" y="699385"/>
                  </a:lnTo>
                  <a:lnTo>
                    <a:pt x="4613909" y="708659"/>
                  </a:lnTo>
                  <a:lnTo>
                    <a:pt x="118109" y="708659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09"/>
                  </a:lnTo>
                  <a:close/>
                </a:path>
              </a:pathLst>
            </a:custGeom>
            <a:ln w="15875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173873" y="4855225"/>
            <a:ext cx="5082540" cy="731996"/>
            <a:chOff x="4231830" y="5330634"/>
            <a:chExt cx="6776720" cy="975994"/>
          </a:xfrm>
        </p:grpSpPr>
        <p:sp>
          <p:nvSpPr>
            <p:cNvPr id="25" name="object 25"/>
            <p:cNvSpPr/>
            <p:nvPr/>
          </p:nvSpPr>
          <p:spPr>
            <a:xfrm>
              <a:off x="4239767" y="5693663"/>
              <a:ext cx="6760845" cy="605155"/>
            </a:xfrm>
            <a:custGeom>
              <a:avLst/>
              <a:gdLst/>
              <a:ahLst/>
              <a:cxnLst/>
              <a:rect l="l" t="t" r="r" b="b"/>
              <a:pathLst>
                <a:path w="6760845" h="605154">
                  <a:moveTo>
                    <a:pt x="6760464" y="0"/>
                  </a:moveTo>
                  <a:lnTo>
                    <a:pt x="0" y="0"/>
                  </a:lnTo>
                  <a:lnTo>
                    <a:pt x="0" y="605028"/>
                  </a:lnTo>
                  <a:lnTo>
                    <a:pt x="6760464" y="605028"/>
                  </a:lnTo>
                  <a:lnTo>
                    <a:pt x="6760464" y="0"/>
                  </a:lnTo>
                  <a:close/>
                </a:path>
              </a:pathLst>
            </a:custGeom>
            <a:solidFill>
              <a:srgbClr val="DFE2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4239767" y="5693663"/>
              <a:ext cx="6760845" cy="605155"/>
            </a:xfrm>
            <a:custGeom>
              <a:avLst/>
              <a:gdLst/>
              <a:ahLst/>
              <a:cxnLst/>
              <a:rect l="l" t="t" r="r" b="b"/>
              <a:pathLst>
                <a:path w="6760845" h="605154">
                  <a:moveTo>
                    <a:pt x="0" y="605028"/>
                  </a:moveTo>
                  <a:lnTo>
                    <a:pt x="6760464" y="605028"/>
                  </a:lnTo>
                  <a:lnTo>
                    <a:pt x="6760464" y="0"/>
                  </a:lnTo>
                  <a:lnTo>
                    <a:pt x="0" y="0"/>
                  </a:lnTo>
                  <a:lnTo>
                    <a:pt x="0" y="605028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8095" y="5338571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4613909" y="0"/>
                  </a:moveTo>
                  <a:lnTo>
                    <a:pt x="118109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09"/>
                  </a:lnTo>
                  <a:lnTo>
                    <a:pt x="0" y="590549"/>
                  </a:lnTo>
                  <a:lnTo>
                    <a:pt x="9274" y="636522"/>
                  </a:lnTo>
                  <a:lnTo>
                    <a:pt x="34575" y="674065"/>
                  </a:lnTo>
                  <a:lnTo>
                    <a:pt x="72116" y="699377"/>
                  </a:lnTo>
                  <a:lnTo>
                    <a:pt x="118109" y="708659"/>
                  </a:lnTo>
                  <a:lnTo>
                    <a:pt x="4613909" y="708659"/>
                  </a:lnTo>
                  <a:lnTo>
                    <a:pt x="4659903" y="699377"/>
                  </a:lnTo>
                  <a:lnTo>
                    <a:pt x="4697444" y="674065"/>
                  </a:lnTo>
                  <a:lnTo>
                    <a:pt x="4722745" y="636522"/>
                  </a:lnTo>
                  <a:lnTo>
                    <a:pt x="4732020" y="590549"/>
                  </a:lnTo>
                  <a:lnTo>
                    <a:pt x="4732020" y="118109"/>
                  </a:lnTo>
                  <a:lnTo>
                    <a:pt x="4722745" y="72116"/>
                  </a:lnTo>
                  <a:lnTo>
                    <a:pt x="4697444" y="34575"/>
                  </a:lnTo>
                  <a:lnTo>
                    <a:pt x="4659903" y="9274"/>
                  </a:lnTo>
                  <a:lnTo>
                    <a:pt x="4613909" y="0"/>
                  </a:lnTo>
                  <a:close/>
                </a:path>
              </a:pathLst>
            </a:custGeom>
            <a:solidFill>
              <a:srgbClr val="335B7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8095" y="5338571"/>
              <a:ext cx="4732020" cy="708660"/>
            </a:xfrm>
            <a:custGeom>
              <a:avLst/>
              <a:gdLst/>
              <a:ahLst/>
              <a:cxnLst/>
              <a:rect l="l" t="t" r="r" b="b"/>
              <a:pathLst>
                <a:path w="4732020" h="708660">
                  <a:moveTo>
                    <a:pt x="0" y="118109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09" y="0"/>
                  </a:lnTo>
                  <a:lnTo>
                    <a:pt x="4613909" y="0"/>
                  </a:lnTo>
                  <a:lnTo>
                    <a:pt x="4659903" y="9274"/>
                  </a:lnTo>
                  <a:lnTo>
                    <a:pt x="4697444" y="34575"/>
                  </a:lnTo>
                  <a:lnTo>
                    <a:pt x="4722745" y="72116"/>
                  </a:lnTo>
                  <a:lnTo>
                    <a:pt x="4732020" y="118109"/>
                  </a:lnTo>
                  <a:lnTo>
                    <a:pt x="4732020" y="590549"/>
                  </a:lnTo>
                  <a:lnTo>
                    <a:pt x="4722745" y="636522"/>
                  </a:lnTo>
                  <a:lnTo>
                    <a:pt x="4697444" y="674065"/>
                  </a:lnTo>
                  <a:lnTo>
                    <a:pt x="4659903" y="699377"/>
                  </a:lnTo>
                  <a:lnTo>
                    <a:pt x="4613909" y="708659"/>
                  </a:lnTo>
                  <a:lnTo>
                    <a:pt x="118109" y="708659"/>
                  </a:lnTo>
                  <a:lnTo>
                    <a:pt x="72116" y="699377"/>
                  </a:lnTo>
                  <a:lnTo>
                    <a:pt x="34575" y="674065"/>
                  </a:lnTo>
                  <a:lnTo>
                    <a:pt x="9274" y="636522"/>
                  </a:lnTo>
                  <a:lnTo>
                    <a:pt x="0" y="590549"/>
                  </a:lnTo>
                  <a:lnTo>
                    <a:pt x="0" y="118109"/>
                  </a:lnTo>
                  <a:close/>
                </a:path>
              </a:pathLst>
            </a:custGeom>
            <a:ln w="15874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77612" y="2532800"/>
            <a:ext cx="2758440" cy="271564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Manhattan</a:t>
            </a:r>
            <a:r>
              <a:rPr sz="2400" spc="-23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8" dirty="0">
                <a:solidFill>
                  <a:srgbClr val="FFFFFF"/>
                </a:solidFill>
                <a:latin typeface="Georgia"/>
                <a:cs typeface="Georgia"/>
              </a:rPr>
              <a:t>Distance</a:t>
            </a:r>
            <a:endParaRPr sz="2400" dirty="0">
              <a:latin typeface="Georgia"/>
              <a:cs typeface="Georgia"/>
            </a:endParaRPr>
          </a:p>
          <a:p>
            <a:pPr marL="9525" marR="3810">
              <a:lnSpc>
                <a:spcPct val="223200"/>
              </a:lnSpc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Minkowski</a:t>
            </a:r>
            <a:r>
              <a:rPr sz="2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8" dirty="0">
                <a:solidFill>
                  <a:srgbClr val="FFFFFF"/>
                </a:solidFill>
                <a:latin typeface="Georgia"/>
                <a:cs typeface="Georgia"/>
              </a:rPr>
              <a:t>Distance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Cosine</a:t>
            </a:r>
            <a:r>
              <a:rPr sz="2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8" dirty="0">
                <a:solidFill>
                  <a:srgbClr val="FFFFFF"/>
                </a:solidFill>
                <a:latin typeface="Georgia"/>
                <a:cs typeface="Georgia"/>
              </a:rPr>
              <a:t>Similarity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Jaccard</a:t>
            </a:r>
            <a:r>
              <a:rPr sz="2400" spc="-3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8" dirty="0">
                <a:solidFill>
                  <a:srgbClr val="FFFFFF"/>
                </a:solidFill>
                <a:latin typeface="Georgia"/>
                <a:cs typeface="Georgia"/>
              </a:rPr>
              <a:t>Similarity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7457" y="418353"/>
            <a:ext cx="5628333" cy="583269"/>
          </a:xfrm>
          <a:prstGeom prst="rect">
            <a:avLst/>
          </a:prstGeom>
        </p:spPr>
        <p:txBody>
          <a:bodyPr vert="horz" wrap="square" lIns="0" tIns="115729" rIns="0" bIns="0" rtlCol="0" anchor="ctr">
            <a:spAutoFit/>
          </a:bodyPr>
          <a:lstStyle/>
          <a:p>
            <a:pPr marL="9525" marR="3810" algn="l">
              <a:lnSpc>
                <a:spcPts val="3458"/>
              </a:lnSpc>
              <a:spcBef>
                <a:spcPts val="911"/>
              </a:spcBef>
            </a:pPr>
            <a:r>
              <a:rPr spc="38" dirty="0">
                <a:solidFill>
                  <a:schemeClr val="bg1"/>
                </a:solidFill>
              </a:rPr>
              <a:t>Distance Measures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4617" y="2483691"/>
            <a:ext cx="6002179" cy="3036094"/>
            <a:chOff x="486155" y="2168587"/>
            <a:chExt cx="8002905" cy="4048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155" y="2168587"/>
              <a:ext cx="6474947" cy="40478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22191" y="3112008"/>
              <a:ext cx="4658995" cy="859790"/>
            </a:xfrm>
            <a:custGeom>
              <a:avLst/>
              <a:gdLst/>
              <a:ahLst/>
              <a:cxnLst/>
              <a:rect l="l" t="t" r="r" b="b"/>
              <a:pathLst>
                <a:path w="4658995" h="859789">
                  <a:moveTo>
                    <a:pt x="4658868" y="0"/>
                  </a:moveTo>
                  <a:lnTo>
                    <a:pt x="0" y="0"/>
                  </a:lnTo>
                  <a:lnTo>
                    <a:pt x="0" y="859536"/>
                  </a:lnTo>
                  <a:lnTo>
                    <a:pt x="4658868" y="859536"/>
                  </a:lnTo>
                  <a:lnTo>
                    <a:pt x="4658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3822191" y="3112008"/>
              <a:ext cx="4658995" cy="859790"/>
            </a:xfrm>
            <a:custGeom>
              <a:avLst/>
              <a:gdLst/>
              <a:ahLst/>
              <a:cxnLst/>
              <a:rect l="l" t="t" r="r" b="b"/>
              <a:pathLst>
                <a:path w="4658995" h="859789">
                  <a:moveTo>
                    <a:pt x="0" y="859536"/>
                  </a:moveTo>
                  <a:lnTo>
                    <a:pt x="4658868" y="859536"/>
                  </a:lnTo>
                  <a:lnTo>
                    <a:pt x="4658868" y="0"/>
                  </a:lnTo>
                  <a:lnTo>
                    <a:pt x="0" y="0"/>
                  </a:lnTo>
                  <a:lnTo>
                    <a:pt x="0" y="859536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4326382" y="3478403"/>
              <a:ext cx="599440" cy="236220"/>
            </a:xfrm>
            <a:custGeom>
              <a:avLst/>
              <a:gdLst/>
              <a:ahLst/>
              <a:cxnLst/>
              <a:rect l="l" t="t" r="r" b="b"/>
              <a:pathLst>
                <a:path w="599439" h="236220">
                  <a:moveTo>
                    <a:pt x="523747" y="0"/>
                  </a:moveTo>
                  <a:lnTo>
                    <a:pt x="520318" y="9651"/>
                  </a:lnTo>
                  <a:lnTo>
                    <a:pt x="534013" y="15557"/>
                  </a:lnTo>
                  <a:lnTo>
                    <a:pt x="545766" y="23749"/>
                  </a:lnTo>
                  <a:lnTo>
                    <a:pt x="569573" y="61777"/>
                  </a:lnTo>
                  <a:lnTo>
                    <a:pt x="576450" y="96408"/>
                  </a:lnTo>
                  <a:lnTo>
                    <a:pt x="576482" y="96639"/>
                  </a:lnTo>
                  <a:lnTo>
                    <a:pt x="576480" y="137550"/>
                  </a:lnTo>
                  <a:lnTo>
                    <a:pt x="563371" y="188468"/>
                  </a:lnTo>
                  <a:lnTo>
                    <a:pt x="534154" y="220257"/>
                  </a:lnTo>
                  <a:lnTo>
                    <a:pt x="520700" y="226187"/>
                  </a:lnTo>
                  <a:lnTo>
                    <a:pt x="523747" y="235839"/>
                  </a:lnTo>
                  <a:lnTo>
                    <a:pt x="568735" y="209014"/>
                  </a:lnTo>
                  <a:lnTo>
                    <a:pt x="594074" y="159607"/>
                  </a:lnTo>
                  <a:lnTo>
                    <a:pt x="598931" y="117983"/>
                  </a:lnTo>
                  <a:lnTo>
                    <a:pt x="597730" y="96639"/>
                  </a:lnTo>
                  <a:lnTo>
                    <a:pt x="597717" y="96408"/>
                  </a:lnTo>
                  <a:lnTo>
                    <a:pt x="588002" y="58118"/>
                  </a:lnTo>
                  <a:lnTo>
                    <a:pt x="555767" y="15176"/>
                  </a:lnTo>
                  <a:lnTo>
                    <a:pt x="540799" y="6219"/>
                  </a:lnTo>
                  <a:lnTo>
                    <a:pt x="523747" y="0"/>
                  </a:lnTo>
                  <a:close/>
                </a:path>
                <a:path w="599439" h="236220">
                  <a:moveTo>
                    <a:pt x="75183" y="0"/>
                  </a:moveTo>
                  <a:lnTo>
                    <a:pt x="30214" y="26896"/>
                  </a:lnTo>
                  <a:lnTo>
                    <a:pt x="4857" y="76453"/>
                  </a:lnTo>
                  <a:lnTo>
                    <a:pt x="71" y="116712"/>
                  </a:lnTo>
                  <a:lnTo>
                    <a:pt x="0" y="117983"/>
                  </a:lnTo>
                  <a:lnTo>
                    <a:pt x="1097" y="137550"/>
                  </a:lnTo>
                  <a:lnTo>
                    <a:pt x="10929" y="177919"/>
                  </a:lnTo>
                  <a:lnTo>
                    <a:pt x="43068" y="220726"/>
                  </a:lnTo>
                  <a:lnTo>
                    <a:pt x="75183" y="235839"/>
                  </a:lnTo>
                  <a:lnTo>
                    <a:pt x="78231" y="226187"/>
                  </a:lnTo>
                  <a:lnTo>
                    <a:pt x="64777" y="220257"/>
                  </a:lnTo>
                  <a:lnTo>
                    <a:pt x="53181" y="211994"/>
                  </a:lnTo>
                  <a:lnTo>
                    <a:pt x="29392" y="173416"/>
                  </a:lnTo>
                  <a:lnTo>
                    <a:pt x="21516" y="117983"/>
                  </a:lnTo>
                  <a:lnTo>
                    <a:pt x="21462" y="116712"/>
                  </a:lnTo>
                  <a:lnTo>
                    <a:pt x="24987" y="78327"/>
                  </a:lnTo>
                  <a:lnTo>
                    <a:pt x="43465" y="34226"/>
                  </a:lnTo>
                  <a:lnTo>
                    <a:pt x="78612" y="9651"/>
                  </a:lnTo>
                  <a:lnTo>
                    <a:pt x="751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76099" y="3408997"/>
            <a:ext cx="56578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𝑫</a:t>
            </a:r>
            <a:r>
              <a:rPr sz="1500" spc="289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spc="-8" dirty="0">
                <a:solidFill>
                  <a:srgbClr val="C00000"/>
                </a:solidFill>
                <a:latin typeface="Cambria Math"/>
                <a:cs typeface="Cambria Math"/>
              </a:rPr>
              <a:t>𝑿,</a:t>
            </a:r>
            <a:r>
              <a:rPr sz="1500" spc="-79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spc="-38" dirty="0">
                <a:solidFill>
                  <a:srgbClr val="C00000"/>
                </a:solidFill>
                <a:latin typeface="Cambria Math"/>
                <a:cs typeface="Cambria Math"/>
              </a:rPr>
              <a:t>𝒀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2781" y="3413283"/>
            <a:ext cx="2133124" cy="237173"/>
          </a:xfrm>
          <a:custGeom>
            <a:avLst/>
            <a:gdLst/>
            <a:ahLst/>
            <a:cxnLst/>
            <a:rect l="l" t="t" r="r" b="b"/>
            <a:pathLst>
              <a:path w="2844165" h="316229">
                <a:moveTo>
                  <a:pt x="285623" y="80010"/>
                </a:moveTo>
                <a:lnTo>
                  <a:pt x="282194" y="70358"/>
                </a:lnTo>
                <a:lnTo>
                  <a:pt x="265112" y="76581"/>
                </a:lnTo>
                <a:lnTo>
                  <a:pt x="250126" y="85534"/>
                </a:lnTo>
                <a:lnTo>
                  <a:pt x="217932" y="128485"/>
                </a:lnTo>
                <a:lnTo>
                  <a:pt x="208216" y="166776"/>
                </a:lnTo>
                <a:lnTo>
                  <a:pt x="207010" y="188341"/>
                </a:lnTo>
                <a:lnTo>
                  <a:pt x="208102" y="207911"/>
                </a:lnTo>
                <a:lnTo>
                  <a:pt x="208216" y="209994"/>
                </a:lnTo>
                <a:lnTo>
                  <a:pt x="217932" y="248285"/>
                </a:lnTo>
                <a:lnTo>
                  <a:pt x="250075" y="291084"/>
                </a:lnTo>
                <a:lnTo>
                  <a:pt x="282194" y="306197"/>
                </a:lnTo>
                <a:lnTo>
                  <a:pt x="285242" y="296545"/>
                </a:lnTo>
                <a:lnTo>
                  <a:pt x="271780" y="290626"/>
                </a:lnTo>
                <a:lnTo>
                  <a:pt x="260184" y="282359"/>
                </a:lnTo>
                <a:lnTo>
                  <a:pt x="236397" y="243776"/>
                </a:lnTo>
                <a:lnTo>
                  <a:pt x="228523" y="188341"/>
                </a:lnTo>
                <a:lnTo>
                  <a:pt x="228473" y="187071"/>
                </a:lnTo>
                <a:lnTo>
                  <a:pt x="229349" y="167005"/>
                </a:lnTo>
                <a:lnTo>
                  <a:pt x="242570" y="117348"/>
                </a:lnTo>
                <a:lnTo>
                  <a:pt x="271995" y="85915"/>
                </a:lnTo>
                <a:lnTo>
                  <a:pt x="285623" y="80010"/>
                </a:lnTo>
                <a:close/>
              </a:path>
              <a:path w="2844165" h="316229">
                <a:moveTo>
                  <a:pt x="1211326" y="188341"/>
                </a:moveTo>
                <a:lnTo>
                  <a:pt x="1210119" y="167005"/>
                </a:lnTo>
                <a:lnTo>
                  <a:pt x="1210106" y="166776"/>
                </a:lnTo>
                <a:lnTo>
                  <a:pt x="1206461" y="146824"/>
                </a:lnTo>
                <a:lnTo>
                  <a:pt x="1181049" y="97256"/>
                </a:lnTo>
                <a:lnTo>
                  <a:pt x="1136142" y="70358"/>
                </a:lnTo>
                <a:lnTo>
                  <a:pt x="1132713" y="80010"/>
                </a:lnTo>
                <a:lnTo>
                  <a:pt x="1146403" y="85915"/>
                </a:lnTo>
                <a:lnTo>
                  <a:pt x="1158151" y="94107"/>
                </a:lnTo>
                <a:lnTo>
                  <a:pt x="1181963" y="132143"/>
                </a:lnTo>
                <a:lnTo>
                  <a:pt x="1188834" y="166776"/>
                </a:lnTo>
                <a:lnTo>
                  <a:pt x="1188872" y="167005"/>
                </a:lnTo>
                <a:lnTo>
                  <a:pt x="1189736" y="187071"/>
                </a:lnTo>
                <a:lnTo>
                  <a:pt x="1188872" y="207911"/>
                </a:lnTo>
                <a:lnTo>
                  <a:pt x="1186268" y="226809"/>
                </a:lnTo>
                <a:lnTo>
                  <a:pt x="1167879" y="271767"/>
                </a:lnTo>
                <a:lnTo>
                  <a:pt x="1133094" y="296545"/>
                </a:lnTo>
                <a:lnTo>
                  <a:pt x="1136142" y="306197"/>
                </a:lnTo>
                <a:lnTo>
                  <a:pt x="1181125" y="279374"/>
                </a:lnTo>
                <a:lnTo>
                  <a:pt x="1206461" y="229971"/>
                </a:lnTo>
                <a:lnTo>
                  <a:pt x="1210106" y="209994"/>
                </a:lnTo>
                <a:lnTo>
                  <a:pt x="1211326" y="188341"/>
                </a:lnTo>
                <a:close/>
              </a:path>
              <a:path w="2844165" h="316229">
                <a:moveTo>
                  <a:pt x="2844038" y="0"/>
                </a:moveTo>
                <a:lnTo>
                  <a:pt x="184658" y="0"/>
                </a:lnTo>
                <a:lnTo>
                  <a:pt x="184658" y="254"/>
                </a:lnTo>
                <a:lnTo>
                  <a:pt x="159258" y="254"/>
                </a:lnTo>
                <a:lnTo>
                  <a:pt x="83820" y="282956"/>
                </a:lnTo>
                <a:lnTo>
                  <a:pt x="40767" y="187071"/>
                </a:lnTo>
                <a:lnTo>
                  <a:pt x="0" y="205613"/>
                </a:lnTo>
                <a:lnTo>
                  <a:pt x="3937" y="215011"/>
                </a:lnTo>
                <a:lnTo>
                  <a:pt x="24892" y="205613"/>
                </a:lnTo>
                <a:lnTo>
                  <a:pt x="76327" y="316230"/>
                </a:lnTo>
                <a:lnTo>
                  <a:pt x="88392" y="316230"/>
                </a:lnTo>
                <a:lnTo>
                  <a:pt x="169164" y="16764"/>
                </a:lnTo>
                <a:lnTo>
                  <a:pt x="2844038" y="16764"/>
                </a:lnTo>
                <a:lnTo>
                  <a:pt x="284403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3734847" y="3408997"/>
            <a:ext cx="1104900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8575">
              <a:spcBef>
                <a:spcPts val="79"/>
              </a:spcBef>
              <a:tabLst>
                <a:tab pos="445294" algn="l"/>
              </a:tabLst>
            </a:pPr>
            <a:r>
              <a:rPr sz="1500" spc="-38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	𝒙</a:t>
            </a:r>
            <a:r>
              <a:rPr sz="1631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1631" spc="213" baseline="-153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− </a:t>
            </a:r>
            <a:r>
              <a:rPr sz="1500" spc="-19" dirty="0">
                <a:solidFill>
                  <a:srgbClr val="C00000"/>
                </a:solidFill>
                <a:latin typeface="Cambria Math"/>
                <a:cs typeface="Cambria Math"/>
              </a:rPr>
              <a:t>𝒙</a:t>
            </a:r>
            <a:r>
              <a:rPr sz="1631" spc="-28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sz="1631" baseline="-1532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9845" y="3351847"/>
            <a:ext cx="333851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8575">
              <a:spcBef>
                <a:spcPts val="79"/>
              </a:spcBef>
            </a:pPr>
            <a:r>
              <a:rPr sz="1088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1088" spc="161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250" spc="-56" baseline="-16666" dirty="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endParaRPr sz="2250" baseline="-16666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23320" y="3466052"/>
            <a:ext cx="763905" cy="177165"/>
          </a:xfrm>
          <a:custGeom>
            <a:avLst/>
            <a:gdLst/>
            <a:ahLst/>
            <a:cxnLst/>
            <a:rect l="l" t="t" r="r" b="b"/>
            <a:pathLst>
              <a:path w="1018540" h="236220">
                <a:moveTo>
                  <a:pt x="942848" y="0"/>
                </a:moveTo>
                <a:lnTo>
                  <a:pt x="939419" y="9651"/>
                </a:lnTo>
                <a:lnTo>
                  <a:pt x="953113" y="15557"/>
                </a:lnTo>
                <a:lnTo>
                  <a:pt x="964866" y="23749"/>
                </a:lnTo>
                <a:lnTo>
                  <a:pt x="988673" y="61777"/>
                </a:lnTo>
                <a:lnTo>
                  <a:pt x="995550" y="96408"/>
                </a:lnTo>
                <a:lnTo>
                  <a:pt x="995582" y="96639"/>
                </a:lnTo>
                <a:lnTo>
                  <a:pt x="995580" y="137550"/>
                </a:lnTo>
                <a:lnTo>
                  <a:pt x="982472" y="188468"/>
                </a:lnTo>
                <a:lnTo>
                  <a:pt x="953254" y="220257"/>
                </a:lnTo>
                <a:lnTo>
                  <a:pt x="939800" y="226187"/>
                </a:lnTo>
                <a:lnTo>
                  <a:pt x="942848" y="235839"/>
                </a:lnTo>
                <a:lnTo>
                  <a:pt x="987835" y="209014"/>
                </a:lnTo>
                <a:lnTo>
                  <a:pt x="1013174" y="159607"/>
                </a:lnTo>
                <a:lnTo>
                  <a:pt x="1018031" y="117983"/>
                </a:lnTo>
                <a:lnTo>
                  <a:pt x="1016830" y="96639"/>
                </a:lnTo>
                <a:lnTo>
                  <a:pt x="1016817" y="96408"/>
                </a:lnTo>
                <a:lnTo>
                  <a:pt x="1007102" y="58118"/>
                </a:lnTo>
                <a:lnTo>
                  <a:pt x="974867" y="15176"/>
                </a:lnTo>
                <a:lnTo>
                  <a:pt x="959899" y="6219"/>
                </a:lnTo>
                <a:lnTo>
                  <a:pt x="942848" y="0"/>
                </a:lnTo>
                <a:close/>
              </a:path>
              <a:path w="1018540" h="236220">
                <a:moveTo>
                  <a:pt x="75183" y="0"/>
                </a:moveTo>
                <a:lnTo>
                  <a:pt x="30214" y="26896"/>
                </a:lnTo>
                <a:lnTo>
                  <a:pt x="4857" y="76453"/>
                </a:lnTo>
                <a:lnTo>
                  <a:pt x="71" y="116712"/>
                </a:lnTo>
                <a:lnTo>
                  <a:pt x="0" y="117983"/>
                </a:lnTo>
                <a:lnTo>
                  <a:pt x="4857" y="159607"/>
                </a:lnTo>
                <a:lnTo>
                  <a:pt x="30196" y="209014"/>
                </a:lnTo>
                <a:lnTo>
                  <a:pt x="75183" y="235839"/>
                </a:lnTo>
                <a:lnTo>
                  <a:pt x="78231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392" y="173416"/>
                </a:lnTo>
                <a:lnTo>
                  <a:pt x="21516" y="117983"/>
                </a:lnTo>
                <a:lnTo>
                  <a:pt x="21463" y="116712"/>
                </a:lnTo>
                <a:lnTo>
                  <a:pt x="24987" y="78327"/>
                </a:lnTo>
                <a:lnTo>
                  <a:pt x="43465" y="34226"/>
                </a:lnTo>
                <a:lnTo>
                  <a:pt x="78613" y="9651"/>
                </a:lnTo>
                <a:lnTo>
                  <a:pt x="7518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5257609" y="3408997"/>
            <a:ext cx="688181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8575">
              <a:spcBef>
                <a:spcPts val="79"/>
              </a:spcBef>
            </a:pP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𝒚</a:t>
            </a:r>
            <a:r>
              <a:rPr sz="1631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1631" spc="219" baseline="-153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− </a:t>
            </a:r>
            <a:r>
              <a:rPr sz="1500" spc="-19" dirty="0">
                <a:solidFill>
                  <a:srgbClr val="C00000"/>
                </a:solidFill>
                <a:latin typeface="Cambria Math"/>
                <a:cs typeface="Cambria Math"/>
              </a:rPr>
              <a:t>𝒚</a:t>
            </a:r>
            <a:r>
              <a:rPr sz="1631" spc="-28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sz="1631" baseline="-1532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94464" y="3403282"/>
            <a:ext cx="102870" cy="177998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088" spc="-38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endParaRPr sz="1088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25613" y="2986372"/>
            <a:ext cx="2610326" cy="2092643"/>
            <a:chOff x="8567483" y="2838830"/>
            <a:chExt cx="3480435" cy="279019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7071" y="2848355"/>
              <a:ext cx="3461004" cy="27706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572245" y="2843593"/>
              <a:ext cx="3470910" cy="2780665"/>
            </a:xfrm>
            <a:custGeom>
              <a:avLst/>
              <a:gdLst/>
              <a:ahLst/>
              <a:cxnLst/>
              <a:rect l="l" t="t" r="r" b="b"/>
              <a:pathLst>
                <a:path w="3470909" h="2780665">
                  <a:moveTo>
                    <a:pt x="0" y="2780157"/>
                  </a:moveTo>
                  <a:lnTo>
                    <a:pt x="3470529" y="2780157"/>
                  </a:lnTo>
                  <a:lnTo>
                    <a:pt x="3470529" y="0"/>
                  </a:lnTo>
                  <a:lnTo>
                    <a:pt x="0" y="0"/>
                  </a:lnTo>
                  <a:lnTo>
                    <a:pt x="0" y="278015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7067" y="1506774"/>
            <a:ext cx="8488416" cy="47176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6700" marR="227648" indent="-257175">
              <a:spcBef>
                <a:spcPts val="79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Euclidean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distance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between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two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points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1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b="1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length</a:t>
            </a:r>
            <a:r>
              <a:rPr sz="1500" b="1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b="1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spc="-19" dirty="0">
                <a:solidFill>
                  <a:srgbClr val="40424E"/>
                </a:solidFill>
                <a:latin typeface="Calibri"/>
                <a:cs typeface="Calibri"/>
              </a:rPr>
              <a:t>the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path</a:t>
            </a:r>
            <a:r>
              <a:rPr sz="1500" b="1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connecting</a:t>
            </a:r>
            <a:r>
              <a:rPr sz="1500" b="1" spc="-4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40424E"/>
                </a:solidFill>
                <a:latin typeface="Calibri"/>
                <a:cs typeface="Calibri"/>
              </a:rPr>
              <a:t>them.</a:t>
            </a:r>
            <a:endParaRPr sz="1500" dirty="0">
              <a:latin typeface="Calibri"/>
              <a:cs typeface="Calibri"/>
            </a:endParaRPr>
          </a:p>
          <a:p>
            <a:pPr marL="266224" indent="-256699">
              <a:buFont typeface="Arial MT"/>
              <a:buChar char="•"/>
              <a:tabLst>
                <a:tab pos="266224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Pythagorean</a:t>
            </a:r>
            <a:r>
              <a:rPr sz="1500" spc="-5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theorem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gives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this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distance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between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two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points.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5199" y="2697611"/>
            <a:ext cx="4874419" cy="3063716"/>
            <a:chOff x="473598" y="2453815"/>
            <a:chExt cx="6499225" cy="4084954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598" y="2453815"/>
              <a:ext cx="6499158" cy="40845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51147" y="3429000"/>
              <a:ext cx="1348740" cy="551815"/>
            </a:xfrm>
            <a:custGeom>
              <a:avLst/>
              <a:gdLst/>
              <a:ahLst/>
              <a:cxnLst/>
              <a:rect l="l" t="t" r="r" b="b"/>
              <a:pathLst>
                <a:path w="1348739" h="551814">
                  <a:moveTo>
                    <a:pt x="1348739" y="0"/>
                  </a:moveTo>
                  <a:lnTo>
                    <a:pt x="0" y="0"/>
                  </a:lnTo>
                  <a:lnTo>
                    <a:pt x="0" y="551688"/>
                  </a:lnTo>
                  <a:lnTo>
                    <a:pt x="1348739" y="551688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3851147" y="3429000"/>
              <a:ext cx="1348740" cy="551815"/>
            </a:xfrm>
            <a:custGeom>
              <a:avLst/>
              <a:gdLst/>
              <a:ahLst/>
              <a:cxnLst/>
              <a:rect l="l" t="t" r="r" b="b"/>
              <a:pathLst>
                <a:path w="1348739" h="551814">
                  <a:moveTo>
                    <a:pt x="0" y="551688"/>
                  </a:moveTo>
                  <a:lnTo>
                    <a:pt x="1348739" y="551688"/>
                  </a:lnTo>
                  <a:lnTo>
                    <a:pt x="1348739" y="0"/>
                  </a:lnTo>
                  <a:lnTo>
                    <a:pt x="0" y="0"/>
                  </a:lnTo>
                  <a:lnTo>
                    <a:pt x="0" y="551688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146959" y="425704"/>
            <a:ext cx="6619029" cy="583269"/>
          </a:xfrm>
          <a:prstGeom prst="rect">
            <a:avLst/>
          </a:prstGeom>
        </p:spPr>
        <p:txBody>
          <a:bodyPr vert="horz" wrap="square" lIns="0" tIns="115729" rIns="0" bIns="0" rtlCol="0" anchor="ctr">
            <a:spAutoFit/>
          </a:bodyPr>
          <a:lstStyle/>
          <a:p>
            <a:pPr marL="9525" marR="3810" algn="l">
              <a:lnSpc>
                <a:spcPts val="3458"/>
              </a:lnSpc>
              <a:spcBef>
                <a:spcPts val="911"/>
              </a:spcBef>
            </a:pPr>
            <a:r>
              <a:rPr spc="38" dirty="0">
                <a:solidFill>
                  <a:schemeClr val="bg1"/>
                </a:solidFill>
              </a:rPr>
              <a:t>Distance Measures</a:t>
            </a:r>
          </a:p>
        </p:txBody>
      </p:sp>
      <p:sp>
        <p:nvSpPr>
          <p:cNvPr id="7" name="object 7"/>
          <p:cNvSpPr/>
          <p:nvPr/>
        </p:nvSpPr>
        <p:spPr>
          <a:xfrm>
            <a:off x="6016752" y="3894677"/>
            <a:ext cx="460534" cy="177165"/>
          </a:xfrm>
          <a:custGeom>
            <a:avLst/>
            <a:gdLst/>
            <a:ahLst/>
            <a:cxnLst/>
            <a:rect l="l" t="t" r="r" b="b"/>
            <a:pathLst>
              <a:path w="614045" h="236220">
                <a:moveTo>
                  <a:pt x="538861" y="0"/>
                </a:moveTo>
                <a:lnTo>
                  <a:pt x="535559" y="9525"/>
                </a:lnTo>
                <a:lnTo>
                  <a:pt x="549199" y="15501"/>
                </a:lnTo>
                <a:lnTo>
                  <a:pt x="560958" y="23717"/>
                </a:lnTo>
                <a:lnTo>
                  <a:pt x="584813" y="61652"/>
                </a:lnTo>
                <a:lnTo>
                  <a:pt x="591690" y="96335"/>
                </a:lnTo>
                <a:lnTo>
                  <a:pt x="591722" y="96565"/>
                </a:lnTo>
                <a:lnTo>
                  <a:pt x="591720" y="137477"/>
                </a:lnTo>
                <a:lnTo>
                  <a:pt x="578612" y="188341"/>
                </a:lnTo>
                <a:lnTo>
                  <a:pt x="549394" y="220237"/>
                </a:lnTo>
                <a:lnTo>
                  <a:pt x="535940" y="226187"/>
                </a:lnTo>
                <a:lnTo>
                  <a:pt x="538861" y="235712"/>
                </a:lnTo>
                <a:lnTo>
                  <a:pt x="583973" y="208994"/>
                </a:lnTo>
                <a:lnTo>
                  <a:pt x="609250" y="159607"/>
                </a:lnTo>
                <a:lnTo>
                  <a:pt x="614045" y="117983"/>
                </a:lnTo>
                <a:lnTo>
                  <a:pt x="612843" y="96565"/>
                </a:lnTo>
                <a:lnTo>
                  <a:pt x="603115" y="57993"/>
                </a:lnTo>
                <a:lnTo>
                  <a:pt x="570976" y="15112"/>
                </a:lnTo>
                <a:lnTo>
                  <a:pt x="555984" y="6163"/>
                </a:lnTo>
                <a:lnTo>
                  <a:pt x="538861" y="0"/>
                </a:lnTo>
                <a:close/>
              </a:path>
              <a:path w="614045" h="236220">
                <a:moveTo>
                  <a:pt x="75184" y="0"/>
                </a:moveTo>
                <a:lnTo>
                  <a:pt x="30214" y="26824"/>
                </a:lnTo>
                <a:lnTo>
                  <a:pt x="4857" y="76342"/>
                </a:lnTo>
                <a:lnTo>
                  <a:pt x="71" y="116713"/>
                </a:lnTo>
                <a:lnTo>
                  <a:pt x="0" y="117983"/>
                </a:lnTo>
                <a:lnTo>
                  <a:pt x="1093" y="137477"/>
                </a:lnTo>
                <a:lnTo>
                  <a:pt x="10929" y="177919"/>
                </a:lnTo>
                <a:lnTo>
                  <a:pt x="43021" y="220662"/>
                </a:lnTo>
                <a:lnTo>
                  <a:pt x="75184" y="235712"/>
                </a:lnTo>
                <a:lnTo>
                  <a:pt x="78232" y="226187"/>
                </a:lnTo>
                <a:lnTo>
                  <a:pt x="64775" y="220237"/>
                </a:lnTo>
                <a:lnTo>
                  <a:pt x="53165" y="211931"/>
                </a:lnTo>
                <a:lnTo>
                  <a:pt x="29338" y="173291"/>
                </a:lnTo>
                <a:lnTo>
                  <a:pt x="21516" y="117983"/>
                </a:lnTo>
                <a:lnTo>
                  <a:pt x="21463" y="116713"/>
                </a:lnTo>
                <a:lnTo>
                  <a:pt x="24971" y="78216"/>
                </a:lnTo>
                <a:lnTo>
                  <a:pt x="43410" y="34170"/>
                </a:lnTo>
                <a:lnTo>
                  <a:pt x="78486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5848350" y="3837622"/>
            <a:ext cx="57673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𝑫</a:t>
            </a:r>
            <a:r>
              <a:rPr sz="1500" spc="281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𝑨,</a:t>
            </a:r>
            <a:r>
              <a:rPr sz="1500" spc="-8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spc="-38" dirty="0">
                <a:solidFill>
                  <a:srgbClr val="C00000"/>
                </a:solidFill>
                <a:latin typeface="Cambria Math"/>
                <a:cs typeface="Cambria Math"/>
              </a:rPr>
              <a:t>𝑩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55217" y="3896011"/>
            <a:ext cx="14288" cy="173831"/>
          </a:xfrm>
          <a:custGeom>
            <a:avLst/>
            <a:gdLst/>
            <a:ahLst/>
            <a:cxnLst/>
            <a:rect l="l" t="t" r="r" b="b"/>
            <a:pathLst>
              <a:path w="19050" h="231775">
                <a:moveTo>
                  <a:pt x="19050" y="0"/>
                </a:moveTo>
                <a:lnTo>
                  <a:pt x="0" y="0"/>
                </a:lnTo>
                <a:lnTo>
                  <a:pt x="0" y="231267"/>
                </a:lnTo>
                <a:lnTo>
                  <a:pt x="19050" y="231267"/>
                </a:lnTo>
                <a:lnTo>
                  <a:pt x="190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6765988" y="3896011"/>
            <a:ext cx="14288" cy="173831"/>
          </a:xfrm>
          <a:custGeom>
            <a:avLst/>
            <a:gdLst/>
            <a:ahLst/>
            <a:cxnLst/>
            <a:rect l="l" t="t" r="r" b="b"/>
            <a:pathLst>
              <a:path w="19050" h="231775">
                <a:moveTo>
                  <a:pt x="19050" y="0"/>
                </a:moveTo>
                <a:lnTo>
                  <a:pt x="0" y="0"/>
                </a:lnTo>
                <a:lnTo>
                  <a:pt x="0" y="231267"/>
                </a:lnTo>
                <a:lnTo>
                  <a:pt x="19050" y="231267"/>
                </a:lnTo>
                <a:lnTo>
                  <a:pt x="190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8441626" y="3896011"/>
            <a:ext cx="14288" cy="173831"/>
          </a:xfrm>
          <a:custGeom>
            <a:avLst/>
            <a:gdLst/>
            <a:ahLst/>
            <a:cxnLst/>
            <a:rect l="l" t="t" r="r" b="b"/>
            <a:pathLst>
              <a:path w="19050" h="231775">
                <a:moveTo>
                  <a:pt x="19050" y="0"/>
                </a:moveTo>
                <a:lnTo>
                  <a:pt x="0" y="0"/>
                </a:lnTo>
                <a:lnTo>
                  <a:pt x="0" y="231267"/>
                </a:lnTo>
                <a:lnTo>
                  <a:pt x="19050" y="231267"/>
                </a:lnTo>
                <a:lnTo>
                  <a:pt x="190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7743253" y="3896011"/>
            <a:ext cx="14288" cy="173831"/>
          </a:xfrm>
          <a:custGeom>
            <a:avLst/>
            <a:gdLst/>
            <a:ahLst/>
            <a:cxnLst/>
            <a:rect l="l" t="t" r="r" b="b"/>
            <a:pathLst>
              <a:path w="19050" h="231775">
                <a:moveTo>
                  <a:pt x="19050" y="0"/>
                </a:moveTo>
                <a:lnTo>
                  <a:pt x="0" y="0"/>
                </a:lnTo>
                <a:lnTo>
                  <a:pt x="0" y="231267"/>
                </a:lnTo>
                <a:lnTo>
                  <a:pt x="19050" y="231267"/>
                </a:lnTo>
                <a:lnTo>
                  <a:pt x="190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6518529" y="3837622"/>
            <a:ext cx="194071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285274" algn="l"/>
                <a:tab pos="1017270" algn="l"/>
                <a:tab pos="1263015" algn="l"/>
              </a:tabLst>
            </a:pPr>
            <a:r>
              <a:rPr sz="1500" spc="-38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	𝒙</a:t>
            </a:r>
            <a:r>
              <a:rPr sz="1631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1631" spc="213" baseline="-153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− </a:t>
            </a:r>
            <a:r>
              <a:rPr sz="1500" spc="-19" dirty="0">
                <a:solidFill>
                  <a:srgbClr val="C00000"/>
                </a:solidFill>
                <a:latin typeface="Cambria Math"/>
                <a:cs typeface="Cambria Math"/>
              </a:rPr>
              <a:t>𝒙</a:t>
            </a:r>
            <a:r>
              <a:rPr sz="1631" spc="-28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r>
              <a:rPr sz="1631" baseline="-15325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1500" spc="-38" dirty="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	𝒚</a:t>
            </a:r>
            <a:r>
              <a:rPr sz="1631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1631" spc="213" baseline="-153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C00000"/>
                </a:solidFill>
                <a:latin typeface="Cambria Math"/>
                <a:cs typeface="Cambria Math"/>
              </a:rPr>
              <a:t>−</a:t>
            </a:r>
            <a:r>
              <a:rPr sz="1500" spc="-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500" spc="-19" dirty="0">
                <a:solidFill>
                  <a:srgbClr val="C00000"/>
                </a:solidFill>
                <a:latin typeface="Cambria Math"/>
                <a:cs typeface="Cambria Math"/>
              </a:rPr>
              <a:t>𝒚</a:t>
            </a:r>
            <a:r>
              <a:rPr sz="1631" spc="-28" baseline="-15325" dirty="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sz="1631" baseline="-1532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199" y="1663378"/>
            <a:ext cx="8271255" cy="7025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4319" marR="74771" indent="-254794" algn="just">
              <a:spcBef>
                <a:spcPts val="79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Manhattan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distance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metric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in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which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distance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between</a:t>
            </a:r>
            <a:r>
              <a:rPr lang="en-US" sz="1500" spc="-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two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points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calculated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as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sum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absolute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differences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their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Cartesian</a:t>
            </a:r>
            <a:r>
              <a:rPr sz="1500" spc="-1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coordinates.</a:t>
            </a:r>
            <a:endParaRPr sz="1500" dirty="0">
              <a:latin typeface="Calibri"/>
              <a:cs typeface="Calibri"/>
            </a:endParaRPr>
          </a:p>
          <a:p>
            <a:pPr marL="264319" marR="3810" indent="-254794" algn="just"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It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total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sum</a:t>
            </a:r>
            <a:r>
              <a:rPr sz="1500" b="1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b="1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b="1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40424E"/>
                </a:solidFill>
                <a:latin typeface="Calibri"/>
                <a:cs typeface="Calibri"/>
              </a:rPr>
              <a:t>difference</a:t>
            </a:r>
            <a:r>
              <a:rPr sz="1500" b="1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between</a:t>
            </a:r>
            <a:r>
              <a:rPr sz="1500" b="1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b="1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x-</a:t>
            </a:r>
            <a:r>
              <a:rPr sz="1500" b="1" spc="-8" dirty="0">
                <a:solidFill>
                  <a:srgbClr val="40424E"/>
                </a:solidFill>
                <a:latin typeface="Calibri"/>
                <a:cs typeface="Calibri"/>
              </a:rPr>
              <a:t>coordinates </a:t>
            </a:r>
            <a:r>
              <a:rPr lang="en-US" sz="1500" b="1" spc="-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40424E"/>
                </a:solidFill>
                <a:latin typeface="Calibri"/>
                <a:cs typeface="Calibri"/>
              </a:rPr>
              <a:t>and</a:t>
            </a:r>
            <a:r>
              <a:rPr sz="1500" b="1" spc="-8" dirty="0">
                <a:solidFill>
                  <a:srgbClr val="40424E"/>
                </a:solidFill>
                <a:latin typeface="Calibri"/>
                <a:cs typeface="Calibri"/>
              </a:rPr>
              <a:t> y-coordinates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52399" y="392127"/>
            <a:ext cx="5301997" cy="583269"/>
          </a:xfrm>
          <a:prstGeom prst="rect">
            <a:avLst/>
          </a:prstGeom>
        </p:spPr>
        <p:txBody>
          <a:bodyPr vert="horz" wrap="square" lIns="0" tIns="115729" rIns="0" bIns="0" rtlCol="0" anchor="ctr">
            <a:spAutoFit/>
          </a:bodyPr>
          <a:lstStyle/>
          <a:p>
            <a:pPr marL="9525" marR="3810" algn="l">
              <a:lnSpc>
                <a:spcPts val="3458"/>
              </a:lnSpc>
              <a:spcBef>
                <a:spcPts val="911"/>
              </a:spcBef>
            </a:pPr>
            <a:r>
              <a:rPr spc="38" dirty="0">
                <a:solidFill>
                  <a:schemeClr val="bg1"/>
                </a:solidFill>
              </a:rPr>
              <a:t>Distance Measures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8624" y="2984373"/>
            <a:ext cx="6757988" cy="2835116"/>
            <a:chOff x="558165" y="2836164"/>
            <a:chExt cx="9010650" cy="378015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165" y="2836164"/>
              <a:ext cx="9010650" cy="3657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19087" y="6321552"/>
              <a:ext cx="2522220" cy="287020"/>
            </a:xfrm>
            <a:custGeom>
              <a:avLst/>
              <a:gdLst/>
              <a:ahLst/>
              <a:cxnLst/>
              <a:rect l="l" t="t" r="r" b="b"/>
              <a:pathLst>
                <a:path w="2522220" h="287020">
                  <a:moveTo>
                    <a:pt x="2522219" y="0"/>
                  </a:moveTo>
                  <a:lnTo>
                    <a:pt x="0" y="0"/>
                  </a:lnTo>
                  <a:lnTo>
                    <a:pt x="0" y="286512"/>
                  </a:lnTo>
                  <a:lnTo>
                    <a:pt x="2522219" y="286512"/>
                  </a:lnTo>
                  <a:lnTo>
                    <a:pt x="2522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6419087" y="6321552"/>
              <a:ext cx="2522220" cy="287020"/>
            </a:xfrm>
            <a:custGeom>
              <a:avLst/>
              <a:gdLst/>
              <a:ahLst/>
              <a:cxnLst/>
              <a:rect l="l" t="t" r="r" b="b"/>
              <a:pathLst>
                <a:path w="2522220" h="287020">
                  <a:moveTo>
                    <a:pt x="0" y="286512"/>
                  </a:moveTo>
                  <a:lnTo>
                    <a:pt x="2522219" y="286512"/>
                  </a:lnTo>
                  <a:lnTo>
                    <a:pt x="2522219" y="0"/>
                  </a:lnTo>
                  <a:lnTo>
                    <a:pt x="0" y="0"/>
                  </a:lnTo>
                  <a:lnTo>
                    <a:pt x="0" y="286512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" name="object 7"/>
          <p:cNvSpPr/>
          <p:nvPr/>
        </p:nvSpPr>
        <p:spPr>
          <a:xfrm>
            <a:off x="4572285" y="2395728"/>
            <a:ext cx="449580" cy="177165"/>
          </a:xfrm>
          <a:custGeom>
            <a:avLst/>
            <a:gdLst/>
            <a:ahLst/>
            <a:cxnLst/>
            <a:rect l="l" t="t" r="r" b="b"/>
            <a:pathLst>
              <a:path w="599440" h="236219">
                <a:moveTo>
                  <a:pt x="523748" y="0"/>
                </a:moveTo>
                <a:lnTo>
                  <a:pt x="520319" y="9651"/>
                </a:lnTo>
                <a:lnTo>
                  <a:pt x="534013" y="15557"/>
                </a:lnTo>
                <a:lnTo>
                  <a:pt x="545766" y="23749"/>
                </a:lnTo>
                <a:lnTo>
                  <a:pt x="569573" y="61777"/>
                </a:lnTo>
                <a:lnTo>
                  <a:pt x="576450" y="96408"/>
                </a:lnTo>
                <a:lnTo>
                  <a:pt x="576482" y="96639"/>
                </a:lnTo>
                <a:lnTo>
                  <a:pt x="576480" y="137550"/>
                </a:lnTo>
                <a:lnTo>
                  <a:pt x="563372" y="188468"/>
                </a:lnTo>
                <a:lnTo>
                  <a:pt x="534154" y="220257"/>
                </a:lnTo>
                <a:lnTo>
                  <a:pt x="520700" y="226187"/>
                </a:lnTo>
                <a:lnTo>
                  <a:pt x="523748" y="235838"/>
                </a:lnTo>
                <a:lnTo>
                  <a:pt x="568735" y="208996"/>
                </a:lnTo>
                <a:lnTo>
                  <a:pt x="594074" y="159607"/>
                </a:lnTo>
                <a:lnTo>
                  <a:pt x="598932" y="117983"/>
                </a:lnTo>
                <a:lnTo>
                  <a:pt x="597730" y="96639"/>
                </a:lnTo>
                <a:lnTo>
                  <a:pt x="597717" y="96408"/>
                </a:lnTo>
                <a:lnTo>
                  <a:pt x="588002" y="58118"/>
                </a:lnTo>
                <a:lnTo>
                  <a:pt x="555767" y="15176"/>
                </a:lnTo>
                <a:lnTo>
                  <a:pt x="540799" y="6219"/>
                </a:lnTo>
                <a:lnTo>
                  <a:pt x="523748" y="0"/>
                </a:lnTo>
                <a:close/>
              </a:path>
              <a:path w="599440" h="236219">
                <a:moveTo>
                  <a:pt x="75184" y="0"/>
                </a:moveTo>
                <a:lnTo>
                  <a:pt x="30214" y="26896"/>
                </a:lnTo>
                <a:lnTo>
                  <a:pt x="4857" y="76453"/>
                </a:lnTo>
                <a:lnTo>
                  <a:pt x="71" y="116712"/>
                </a:lnTo>
                <a:lnTo>
                  <a:pt x="0" y="117983"/>
                </a:lnTo>
                <a:lnTo>
                  <a:pt x="1097" y="137550"/>
                </a:lnTo>
                <a:lnTo>
                  <a:pt x="10929" y="177919"/>
                </a:lnTo>
                <a:lnTo>
                  <a:pt x="43068" y="220678"/>
                </a:lnTo>
                <a:lnTo>
                  <a:pt x="75184" y="235838"/>
                </a:lnTo>
                <a:lnTo>
                  <a:pt x="78232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412" y="173416"/>
                </a:lnTo>
                <a:lnTo>
                  <a:pt x="21642" y="117983"/>
                </a:lnTo>
                <a:lnTo>
                  <a:pt x="21590" y="116712"/>
                </a:lnTo>
                <a:lnTo>
                  <a:pt x="22451" y="96639"/>
                </a:lnTo>
                <a:lnTo>
                  <a:pt x="35560" y="46990"/>
                </a:lnTo>
                <a:lnTo>
                  <a:pt x="64992" y="15557"/>
                </a:lnTo>
                <a:lnTo>
                  <a:pt x="78613" y="9651"/>
                </a:lnTo>
                <a:lnTo>
                  <a:pt x="751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4403598" y="2338387"/>
            <a:ext cx="56578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𝑫</a:t>
            </a:r>
            <a:r>
              <a:rPr sz="1500" spc="29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-8" dirty="0">
                <a:solidFill>
                  <a:srgbClr val="FF0000"/>
                </a:solidFill>
                <a:latin typeface="Cambria Math"/>
                <a:cs typeface="Cambria Math"/>
              </a:rPr>
              <a:t>𝑿,</a:t>
            </a:r>
            <a:r>
              <a:rPr sz="1500" spc="-7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-38" dirty="0">
                <a:solidFill>
                  <a:srgbClr val="FF0000"/>
                </a:solidFill>
                <a:latin typeface="Cambria Math"/>
                <a:cs typeface="Cambria Math"/>
              </a:rPr>
              <a:t>𝒀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01997" y="2201894"/>
            <a:ext cx="1273016" cy="564356"/>
          </a:xfrm>
          <a:custGeom>
            <a:avLst/>
            <a:gdLst/>
            <a:ahLst/>
            <a:cxnLst/>
            <a:rect l="l" t="t" r="r" b="b"/>
            <a:pathLst>
              <a:path w="1697354" h="752475">
                <a:moveTo>
                  <a:pt x="1577975" y="0"/>
                </a:moveTo>
                <a:lnTo>
                  <a:pt x="1570101" y="8762"/>
                </a:lnTo>
                <a:lnTo>
                  <a:pt x="1593721" y="39364"/>
                </a:lnTo>
                <a:lnTo>
                  <a:pt x="1614281" y="74787"/>
                </a:lnTo>
                <a:lnTo>
                  <a:pt x="1631769" y="115044"/>
                </a:lnTo>
                <a:lnTo>
                  <a:pt x="1646174" y="160146"/>
                </a:lnTo>
                <a:lnTo>
                  <a:pt x="1657415" y="209272"/>
                </a:lnTo>
                <a:lnTo>
                  <a:pt x="1665430" y="261588"/>
                </a:lnTo>
                <a:lnTo>
                  <a:pt x="1670230" y="317095"/>
                </a:lnTo>
                <a:lnTo>
                  <a:pt x="1671821" y="375538"/>
                </a:lnTo>
                <a:lnTo>
                  <a:pt x="1671827" y="375792"/>
                </a:lnTo>
                <a:lnTo>
                  <a:pt x="1670230" y="434804"/>
                </a:lnTo>
                <a:lnTo>
                  <a:pt x="1665430" y="490505"/>
                </a:lnTo>
                <a:lnTo>
                  <a:pt x="1657415" y="542921"/>
                </a:lnTo>
                <a:lnTo>
                  <a:pt x="1646174" y="592074"/>
                </a:lnTo>
                <a:lnTo>
                  <a:pt x="1631769" y="637103"/>
                </a:lnTo>
                <a:lnTo>
                  <a:pt x="1614281" y="677322"/>
                </a:lnTo>
                <a:lnTo>
                  <a:pt x="1593721" y="712731"/>
                </a:lnTo>
                <a:lnTo>
                  <a:pt x="1570101" y="743330"/>
                </a:lnTo>
                <a:lnTo>
                  <a:pt x="1577975" y="752093"/>
                </a:lnTo>
                <a:lnTo>
                  <a:pt x="1604527" y="722016"/>
                </a:lnTo>
                <a:lnTo>
                  <a:pt x="1627997" y="686831"/>
                </a:lnTo>
                <a:lnTo>
                  <a:pt x="1648394" y="646527"/>
                </a:lnTo>
                <a:lnTo>
                  <a:pt x="1665731" y="601090"/>
                </a:lnTo>
                <a:lnTo>
                  <a:pt x="1677054" y="561345"/>
                </a:lnTo>
                <a:lnTo>
                  <a:pt x="1685871" y="518916"/>
                </a:lnTo>
                <a:lnTo>
                  <a:pt x="1692176" y="473806"/>
                </a:lnTo>
                <a:lnTo>
                  <a:pt x="1695964" y="426013"/>
                </a:lnTo>
                <a:lnTo>
                  <a:pt x="1697221" y="375792"/>
                </a:lnTo>
                <a:lnTo>
                  <a:pt x="1695964" y="325413"/>
                </a:lnTo>
                <a:lnTo>
                  <a:pt x="1692176" y="277903"/>
                </a:lnTo>
                <a:lnTo>
                  <a:pt x="1685871" y="233002"/>
                </a:lnTo>
                <a:lnTo>
                  <a:pt x="1677054" y="190704"/>
                </a:lnTo>
                <a:lnTo>
                  <a:pt x="1665731" y="151002"/>
                </a:lnTo>
                <a:lnTo>
                  <a:pt x="1648394" y="105566"/>
                </a:lnTo>
                <a:lnTo>
                  <a:pt x="1627997" y="65262"/>
                </a:lnTo>
                <a:lnTo>
                  <a:pt x="1604527" y="30077"/>
                </a:lnTo>
                <a:lnTo>
                  <a:pt x="1577975" y="0"/>
                </a:lnTo>
                <a:close/>
              </a:path>
              <a:path w="1697354" h="752475">
                <a:moveTo>
                  <a:pt x="119125" y="0"/>
                </a:moveTo>
                <a:lnTo>
                  <a:pt x="92575" y="30077"/>
                </a:lnTo>
                <a:lnTo>
                  <a:pt x="69119" y="65262"/>
                </a:lnTo>
                <a:lnTo>
                  <a:pt x="48760" y="105566"/>
                </a:lnTo>
                <a:lnTo>
                  <a:pt x="31496" y="151002"/>
                </a:lnTo>
                <a:lnTo>
                  <a:pt x="20124" y="190704"/>
                </a:lnTo>
                <a:lnTo>
                  <a:pt x="11301" y="233002"/>
                </a:lnTo>
                <a:lnTo>
                  <a:pt x="5014" y="277903"/>
                </a:lnTo>
                <a:lnTo>
                  <a:pt x="1251" y="325413"/>
                </a:lnTo>
                <a:lnTo>
                  <a:pt x="0" y="375538"/>
                </a:lnTo>
                <a:lnTo>
                  <a:pt x="1251" y="426013"/>
                </a:lnTo>
                <a:lnTo>
                  <a:pt x="5014" y="473806"/>
                </a:lnTo>
                <a:lnTo>
                  <a:pt x="11301" y="518916"/>
                </a:lnTo>
                <a:lnTo>
                  <a:pt x="20124" y="561345"/>
                </a:lnTo>
                <a:lnTo>
                  <a:pt x="31496" y="601090"/>
                </a:lnTo>
                <a:lnTo>
                  <a:pt x="48760" y="646527"/>
                </a:lnTo>
                <a:lnTo>
                  <a:pt x="69119" y="686831"/>
                </a:lnTo>
                <a:lnTo>
                  <a:pt x="92575" y="722016"/>
                </a:lnTo>
                <a:lnTo>
                  <a:pt x="119125" y="752093"/>
                </a:lnTo>
                <a:lnTo>
                  <a:pt x="127126" y="743330"/>
                </a:lnTo>
                <a:lnTo>
                  <a:pt x="103453" y="712731"/>
                </a:lnTo>
                <a:lnTo>
                  <a:pt x="82899" y="677322"/>
                </a:lnTo>
                <a:lnTo>
                  <a:pt x="65440" y="637103"/>
                </a:lnTo>
                <a:lnTo>
                  <a:pt x="51053" y="592074"/>
                </a:lnTo>
                <a:lnTo>
                  <a:pt x="39792" y="542921"/>
                </a:lnTo>
                <a:lnTo>
                  <a:pt x="31734" y="490505"/>
                </a:lnTo>
                <a:lnTo>
                  <a:pt x="26890" y="434804"/>
                </a:lnTo>
                <a:lnTo>
                  <a:pt x="25273" y="375792"/>
                </a:lnTo>
                <a:lnTo>
                  <a:pt x="26890" y="317095"/>
                </a:lnTo>
                <a:lnTo>
                  <a:pt x="31734" y="261588"/>
                </a:lnTo>
                <a:lnTo>
                  <a:pt x="39792" y="209272"/>
                </a:lnTo>
                <a:lnTo>
                  <a:pt x="51053" y="160146"/>
                </a:lnTo>
                <a:lnTo>
                  <a:pt x="65440" y="115044"/>
                </a:lnTo>
                <a:lnTo>
                  <a:pt x="82899" y="74787"/>
                </a:lnTo>
                <a:lnTo>
                  <a:pt x="103453" y="39364"/>
                </a:lnTo>
                <a:lnTo>
                  <a:pt x="127126" y="8762"/>
                </a:lnTo>
                <a:lnTo>
                  <a:pt x="1191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5062538" y="2059096"/>
            <a:ext cx="1432560" cy="752578"/>
          </a:xfrm>
          <a:prstGeom prst="rect">
            <a:avLst/>
          </a:prstGeom>
        </p:spPr>
        <p:txBody>
          <a:bodyPr vert="horz" wrap="square" lIns="0" tIns="58103" rIns="0" bIns="0" rtlCol="0">
            <a:spAutoFit/>
          </a:bodyPr>
          <a:lstStyle/>
          <a:p>
            <a:pPr marR="490061" algn="ctr">
              <a:spcBef>
                <a:spcPts val="458"/>
              </a:spcBef>
            </a:pPr>
            <a:r>
              <a:rPr sz="1088" spc="-38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1088">
              <a:latin typeface="Cambria Math"/>
              <a:cs typeface="Cambria Math"/>
            </a:endParaRPr>
          </a:p>
          <a:p>
            <a:pPr marL="28575">
              <a:spcBef>
                <a:spcPts val="514"/>
              </a:spcBef>
              <a:tabLst>
                <a:tab pos="341471" algn="l"/>
              </a:tabLst>
            </a:pPr>
            <a:r>
              <a:rPr sz="1500" spc="-38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500" spc="480" dirty="0">
                <a:solidFill>
                  <a:srgbClr val="FF0000"/>
                </a:solidFill>
                <a:latin typeface="Cambria Math"/>
                <a:cs typeface="Cambria Math"/>
              </a:rPr>
              <a:t>෍</a:t>
            </a:r>
            <a:r>
              <a:rPr sz="1500" spc="-9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|𝒙</a:t>
            </a:r>
            <a:r>
              <a:rPr sz="1631" baseline="-15325" dirty="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1631" spc="219" baseline="-153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1500" spc="-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-15" dirty="0">
                <a:solidFill>
                  <a:srgbClr val="FF0000"/>
                </a:solidFill>
                <a:latin typeface="Cambria Math"/>
                <a:cs typeface="Cambria Math"/>
              </a:rPr>
              <a:t>𝒚</a:t>
            </a:r>
            <a:r>
              <a:rPr sz="1631" spc="-23" baseline="-15325" dirty="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1500" spc="-15" dirty="0">
                <a:solidFill>
                  <a:srgbClr val="FF0000"/>
                </a:solidFill>
                <a:latin typeface="Cambria Math"/>
                <a:cs typeface="Cambria Math"/>
              </a:rPr>
              <a:t>|</a:t>
            </a:r>
            <a:r>
              <a:rPr sz="1631" spc="-23" baseline="28735" dirty="0">
                <a:solidFill>
                  <a:srgbClr val="FF0000"/>
                </a:solidFill>
                <a:latin typeface="Cambria Math"/>
                <a:cs typeface="Cambria Math"/>
              </a:rPr>
              <a:t>𝒑</a:t>
            </a:r>
            <a:endParaRPr sz="1631" baseline="28735">
              <a:latin typeface="Cambria Math"/>
              <a:cs typeface="Cambria Math"/>
            </a:endParaRPr>
          </a:p>
          <a:p>
            <a:pPr marR="490061" algn="ctr">
              <a:spcBef>
                <a:spcPts val="529"/>
              </a:spcBef>
            </a:pPr>
            <a:r>
              <a:rPr sz="1088" spc="-19" dirty="0">
                <a:solidFill>
                  <a:srgbClr val="FF0000"/>
                </a:solidFill>
                <a:latin typeface="Cambria Math"/>
                <a:cs typeface="Cambria Math"/>
              </a:rPr>
              <a:t>𝒊=𝟏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61296" y="2037778"/>
            <a:ext cx="282416" cy="34535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28575">
              <a:spcBef>
                <a:spcPts val="83"/>
              </a:spcBef>
            </a:pPr>
            <a:r>
              <a:rPr sz="1088" spc="-24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631" spc="-360" baseline="-19157" dirty="0">
                <a:solidFill>
                  <a:srgbClr val="FF0000"/>
                </a:solidFill>
                <a:latin typeface="Cambria Math"/>
                <a:cs typeface="Cambria Math"/>
              </a:rPr>
              <a:t>ൗ</a:t>
            </a:r>
            <a:r>
              <a:rPr sz="1631" spc="-360" baseline="-30651" dirty="0">
                <a:solidFill>
                  <a:srgbClr val="FF0000"/>
                </a:solidFill>
                <a:latin typeface="Cambria Math"/>
                <a:cs typeface="Cambria Math"/>
              </a:rPr>
              <a:t>𝒑</a:t>
            </a:r>
            <a:endParaRPr sz="1631" baseline="-30651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96221" y="2046923"/>
            <a:ext cx="1212056" cy="851535"/>
          </a:xfrm>
          <a:custGeom>
            <a:avLst/>
            <a:gdLst/>
            <a:ahLst/>
            <a:cxnLst/>
            <a:rect l="l" t="t" r="r" b="b"/>
            <a:pathLst>
              <a:path w="1616075" h="1135380">
                <a:moveTo>
                  <a:pt x="1615694" y="0"/>
                </a:moveTo>
                <a:lnTo>
                  <a:pt x="190753" y="0"/>
                </a:lnTo>
                <a:lnTo>
                  <a:pt x="190753" y="508"/>
                </a:lnTo>
                <a:lnTo>
                  <a:pt x="162559" y="508"/>
                </a:lnTo>
                <a:lnTo>
                  <a:pt x="108203" y="1086358"/>
                </a:lnTo>
                <a:lnTo>
                  <a:pt x="45339" y="969899"/>
                </a:lnTo>
                <a:lnTo>
                  <a:pt x="0" y="993521"/>
                </a:lnTo>
                <a:lnTo>
                  <a:pt x="4572" y="1002665"/>
                </a:lnTo>
                <a:lnTo>
                  <a:pt x="28955" y="989838"/>
                </a:lnTo>
                <a:lnTo>
                  <a:pt x="107569" y="1134872"/>
                </a:lnTo>
                <a:lnTo>
                  <a:pt x="119125" y="1134872"/>
                </a:lnTo>
                <a:lnTo>
                  <a:pt x="175514" y="17018"/>
                </a:lnTo>
                <a:lnTo>
                  <a:pt x="200405" y="17018"/>
                </a:lnTo>
                <a:lnTo>
                  <a:pt x="200405" y="16764"/>
                </a:lnTo>
                <a:lnTo>
                  <a:pt x="1615694" y="16764"/>
                </a:lnTo>
                <a:lnTo>
                  <a:pt x="16156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7071836" y="2197798"/>
            <a:ext cx="90011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FF0000"/>
                </a:solidFill>
                <a:latin typeface="Cambria Math"/>
                <a:cs typeface="Cambria Math"/>
              </a:rPr>
              <a:t>𝒑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4760" y="2059096"/>
            <a:ext cx="1495425" cy="752578"/>
          </a:xfrm>
          <a:prstGeom prst="rect">
            <a:avLst/>
          </a:prstGeom>
        </p:spPr>
        <p:txBody>
          <a:bodyPr vert="horz" wrap="square" lIns="0" tIns="58103" rIns="0" bIns="0" rtlCol="0">
            <a:spAutoFit/>
          </a:bodyPr>
          <a:lstStyle/>
          <a:p>
            <a:pPr marR="445770" algn="ctr">
              <a:spcBef>
                <a:spcPts val="458"/>
              </a:spcBef>
            </a:pPr>
            <a:r>
              <a:rPr sz="1088" spc="-38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1088">
              <a:latin typeface="Cambria Math"/>
              <a:cs typeface="Cambria Math"/>
            </a:endParaRPr>
          </a:p>
          <a:p>
            <a:pPr marL="28575">
              <a:spcBef>
                <a:spcPts val="514"/>
              </a:spcBef>
              <a:tabLst>
                <a:tab pos="395288" algn="l"/>
              </a:tabLst>
            </a:pPr>
            <a:r>
              <a:rPr sz="1500" spc="-38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500" spc="480" dirty="0">
                <a:solidFill>
                  <a:srgbClr val="FF0000"/>
                </a:solidFill>
                <a:latin typeface="Cambria Math"/>
                <a:cs typeface="Cambria Math"/>
              </a:rPr>
              <a:t>෍</a:t>
            </a:r>
            <a:r>
              <a:rPr sz="1500" spc="-9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|𝒙</a:t>
            </a:r>
            <a:r>
              <a:rPr sz="1631" baseline="-15325" dirty="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1631" spc="219" baseline="-153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1500" spc="-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spc="-15" dirty="0">
                <a:solidFill>
                  <a:srgbClr val="FF0000"/>
                </a:solidFill>
                <a:latin typeface="Cambria Math"/>
                <a:cs typeface="Cambria Math"/>
              </a:rPr>
              <a:t>𝒚</a:t>
            </a:r>
            <a:r>
              <a:rPr sz="1631" spc="-23" baseline="-15325" dirty="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1500" spc="-15" dirty="0">
                <a:solidFill>
                  <a:srgbClr val="FF0000"/>
                </a:solidFill>
                <a:latin typeface="Cambria Math"/>
                <a:cs typeface="Cambria Math"/>
              </a:rPr>
              <a:t>|</a:t>
            </a:r>
            <a:r>
              <a:rPr sz="1631" spc="-23" baseline="22988" dirty="0">
                <a:solidFill>
                  <a:srgbClr val="FF0000"/>
                </a:solidFill>
                <a:latin typeface="Cambria Math"/>
                <a:cs typeface="Cambria Math"/>
              </a:rPr>
              <a:t>𝒑</a:t>
            </a:r>
            <a:endParaRPr sz="1631" baseline="22988">
              <a:latin typeface="Cambria Math"/>
              <a:cs typeface="Cambria Math"/>
            </a:endParaRPr>
          </a:p>
          <a:p>
            <a:pPr marR="445770" algn="ctr">
              <a:spcBef>
                <a:spcPts val="529"/>
              </a:spcBef>
            </a:pPr>
            <a:r>
              <a:rPr sz="1088" spc="-19" dirty="0">
                <a:solidFill>
                  <a:srgbClr val="FF0000"/>
                </a:solidFill>
                <a:latin typeface="Cambria Math"/>
                <a:cs typeface="Cambria Math"/>
              </a:rPr>
              <a:t>𝒊=𝟏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600" y="1488281"/>
            <a:ext cx="8441055" cy="239489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266700" marR="3810" indent="-257175">
              <a:lnSpc>
                <a:spcPct val="100499"/>
              </a:lnSpc>
              <a:spcBef>
                <a:spcPts val="68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It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b="1" spc="-8" dirty="0">
                <a:solidFill>
                  <a:srgbClr val="40424E"/>
                </a:solidFill>
                <a:latin typeface="Calibri"/>
                <a:cs typeface="Calibri"/>
              </a:rPr>
              <a:t>generalized</a:t>
            </a:r>
            <a:r>
              <a:rPr sz="1500" b="1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form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Euclidean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Manhattan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Distance Measure.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338" y="2820428"/>
            <a:ext cx="3905595" cy="30823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289771" y="469253"/>
            <a:ext cx="5078095" cy="583269"/>
          </a:xfrm>
          <a:prstGeom prst="rect">
            <a:avLst/>
          </a:prstGeom>
        </p:spPr>
        <p:txBody>
          <a:bodyPr vert="horz" wrap="square" lIns="0" tIns="115729" rIns="0" bIns="0" rtlCol="0" anchor="ctr">
            <a:spAutoFit/>
          </a:bodyPr>
          <a:lstStyle/>
          <a:p>
            <a:pPr marL="9525" marR="3810">
              <a:lnSpc>
                <a:spcPts val="3458"/>
              </a:lnSpc>
              <a:spcBef>
                <a:spcPts val="911"/>
              </a:spcBef>
            </a:pPr>
            <a:r>
              <a:rPr spc="38" dirty="0">
                <a:solidFill>
                  <a:schemeClr val="bg1"/>
                </a:solidFill>
              </a:rPr>
              <a:t>Distance Measures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2217" y="3386218"/>
            <a:ext cx="3330012" cy="20084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872" y="1463349"/>
            <a:ext cx="8629565" cy="94625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6700" marR="86201" indent="-257651">
              <a:spcBef>
                <a:spcPts val="79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4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cosine</a:t>
            </a:r>
            <a:r>
              <a:rPr sz="1500" spc="-4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similarity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metric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finds</a:t>
            </a:r>
            <a:r>
              <a:rPr sz="1500" spc="-4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normalized</a:t>
            </a:r>
            <a:r>
              <a:rPr sz="1500" spc="-4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dot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product</a:t>
            </a:r>
            <a:r>
              <a:rPr sz="1500" spc="-4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two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attributes.</a:t>
            </a:r>
            <a:endParaRPr sz="1500" dirty="0">
              <a:latin typeface="Calibri"/>
              <a:cs typeface="Calibri"/>
            </a:endParaRPr>
          </a:p>
          <a:p>
            <a:pPr marL="266700" marR="9049" indent="-257651"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By</a:t>
            </a:r>
            <a:r>
              <a:rPr sz="1500" spc="-5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determining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4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cosine</a:t>
            </a:r>
            <a:r>
              <a:rPr sz="1500" spc="-4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similarity,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we</a:t>
            </a:r>
            <a:r>
              <a:rPr sz="1500" spc="-4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would effectively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try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find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cosine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angle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between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two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objects.</a:t>
            </a:r>
            <a:endParaRPr sz="1500" dirty="0">
              <a:latin typeface="Calibri"/>
              <a:cs typeface="Calibri"/>
            </a:endParaRPr>
          </a:p>
          <a:p>
            <a:pPr marL="266700" marR="3810" indent="-257651">
              <a:lnSpc>
                <a:spcPts val="1808"/>
              </a:lnSpc>
              <a:spcBef>
                <a:spcPts val="53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cosine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of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0°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1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1,</a:t>
            </a:r>
            <a:r>
              <a:rPr sz="1500" spc="-26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and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it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is</a:t>
            </a:r>
            <a:r>
              <a:rPr sz="1500" spc="-11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less</a:t>
            </a:r>
            <a:r>
              <a:rPr sz="1500" spc="-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than</a:t>
            </a:r>
            <a:r>
              <a:rPr sz="1500" spc="-1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1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for</a:t>
            </a:r>
            <a:r>
              <a:rPr sz="1500" spc="-3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any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other angle.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81926" y="440425"/>
            <a:ext cx="5179695" cy="583269"/>
          </a:xfrm>
          <a:prstGeom prst="rect">
            <a:avLst/>
          </a:prstGeom>
        </p:spPr>
        <p:txBody>
          <a:bodyPr vert="horz" wrap="square" lIns="0" tIns="115729" rIns="0" bIns="0" rtlCol="0" anchor="ctr">
            <a:spAutoFit/>
          </a:bodyPr>
          <a:lstStyle/>
          <a:p>
            <a:pPr marL="9525" marR="3810" algn="l">
              <a:lnSpc>
                <a:spcPts val="3458"/>
              </a:lnSpc>
              <a:spcBef>
                <a:spcPts val="911"/>
              </a:spcBef>
            </a:pPr>
            <a:r>
              <a:rPr spc="38" dirty="0">
                <a:solidFill>
                  <a:schemeClr val="bg1"/>
                </a:solidFill>
              </a:rPr>
              <a:t>Distance 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073" y="1654917"/>
            <a:ext cx="7329370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6700" marR="3810" indent="-257651">
              <a:spcBef>
                <a:spcPts val="79"/>
              </a:spcBef>
              <a:buFont typeface="Arial MT"/>
              <a:buChar char="•"/>
              <a:tabLst>
                <a:tab pos="266700" algn="l"/>
              </a:tabLst>
            </a:pP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When</a:t>
            </a:r>
            <a:r>
              <a:rPr sz="1500" spc="-49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we</a:t>
            </a:r>
            <a:r>
              <a:rPr sz="1500" spc="-38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consider</a:t>
            </a:r>
            <a:r>
              <a:rPr sz="1500" spc="-4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Jaccard</a:t>
            </a:r>
            <a:r>
              <a:rPr sz="1500" spc="-30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similarity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these</a:t>
            </a:r>
            <a:r>
              <a:rPr sz="1500" spc="-23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objects</a:t>
            </a:r>
            <a:r>
              <a:rPr sz="1500" spc="-45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40424E"/>
                </a:solidFill>
                <a:latin typeface="Calibri"/>
                <a:cs typeface="Calibri"/>
              </a:rPr>
              <a:t>will </a:t>
            </a:r>
            <a:r>
              <a:rPr sz="1500" dirty="0">
                <a:solidFill>
                  <a:srgbClr val="40424E"/>
                </a:solidFill>
                <a:latin typeface="Calibri"/>
                <a:cs typeface="Calibri"/>
              </a:rPr>
              <a:t>be</a:t>
            </a:r>
            <a:r>
              <a:rPr sz="1500" spc="-4" dirty="0">
                <a:solidFill>
                  <a:srgbClr val="40424E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40424E"/>
                </a:solidFill>
                <a:latin typeface="Calibri"/>
                <a:cs typeface="Calibri"/>
              </a:rPr>
              <a:t>sets.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3745" y="2144268"/>
            <a:ext cx="4940618" cy="2013109"/>
            <a:chOff x="338327" y="1716023"/>
            <a:chExt cx="6587490" cy="26841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327" y="1716023"/>
              <a:ext cx="6579108" cy="2676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77839" y="4165091"/>
              <a:ext cx="1339850" cy="227329"/>
            </a:xfrm>
            <a:custGeom>
              <a:avLst/>
              <a:gdLst/>
              <a:ahLst/>
              <a:cxnLst/>
              <a:rect l="l" t="t" r="r" b="b"/>
              <a:pathLst>
                <a:path w="1339850" h="227329">
                  <a:moveTo>
                    <a:pt x="1339595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1339595" y="227075"/>
                  </a:lnTo>
                  <a:lnTo>
                    <a:pt x="1339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5577839" y="4165091"/>
              <a:ext cx="1339850" cy="227329"/>
            </a:xfrm>
            <a:custGeom>
              <a:avLst/>
              <a:gdLst/>
              <a:ahLst/>
              <a:cxnLst/>
              <a:rect l="l" t="t" r="r" b="b"/>
              <a:pathLst>
                <a:path w="1339850" h="227329">
                  <a:moveTo>
                    <a:pt x="0" y="227075"/>
                  </a:moveTo>
                  <a:lnTo>
                    <a:pt x="1339595" y="227075"/>
                  </a:lnTo>
                  <a:lnTo>
                    <a:pt x="1339595" y="0"/>
                  </a:lnTo>
                  <a:lnTo>
                    <a:pt x="0" y="0"/>
                  </a:lnTo>
                  <a:lnTo>
                    <a:pt x="0" y="227075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745" y="4315968"/>
            <a:ext cx="5036058" cy="6732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4337" y="5154930"/>
            <a:ext cx="3688515" cy="6207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79902" y="2538698"/>
            <a:ext cx="1073944" cy="62565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b="1" dirty="0">
                <a:solidFill>
                  <a:srgbClr val="001F5F"/>
                </a:solidFill>
                <a:latin typeface="Georgia"/>
                <a:cs typeface="Georgia"/>
              </a:rPr>
              <a:t>|</a:t>
            </a:r>
            <a:r>
              <a:rPr sz="1500" b="1" spc="-11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001F5F"/>
                </a:solidFill>
                <a:latin typeface="Cambria Math"/>
                <a:cs typeface="Cambria Math"/>
              </a:rPr>
              <a:t>𝑨</a:t>
            </a:r>
            <a:r>
              <a:rPr sz="1500" spc="4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001F5F"/>
                </a:solidFill>
                <a:latin typeface="Cambria Math"/>
                <a:cs typeface="Cambria Math"/>
              </a:rPr>
              <a:t>∪</a:t>
            </a:r>
            <a:r>
              <a:rPr sz="1500" spc="-11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001F5F"/>
                </a:solidFill>
                <a:latin typeface="Cambria Math"/>
                <a:cs typeface="Cambria Math"/>
              </a:rPr>
              <a:t>𝑩</a:t>
            </a:r>
            <a:r>
              <a:rPr sz="1500" spc="-11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500" b="1" dirty="0">
                <a:solidFill>
                  <a:srgbClr val="001F5F"/>
                </a:solidFill>
                <a:latin typeface="Georgia"/>
                <a:cs typeface="Georgia"/>
              </a:rPr>
              <a:t>| =</a:t>
            </a:r>
            <a:r>
              <a:rPr sz="1500" b="1" spc="-4" dirty="0">
                <a:solidFill>
                  <a:srgbClr val="001F5F"/>
                </a:solidFill>
                <a:latin typeface="Georgia"/>
                <a:cs typeface="Georgia"/>
              </a:rPr>
              <a:t> </a:t>
            </a:r>
            <a:r>
              <a:rPr sz="1500" b="1" spc="-38" dirty="0">
                <a:solidFill>
                  <a:srgbClr val="001F5F"/>
                </a:solidFill>
                <a:latin typeface="Georgia"/>
                <a:cs typeface="Georgia"/>
              </a:rPr>
              <a:t>7</a:t>
            </a:r>
            <a:endParaRPr sz="1500">
              <a:latin typeface="Georgia"/>
              <a:cs typeface="Georgia"/>
            </a:endParaRPr>
          </a:p>
          <a:p>
            <a:pPr marL="9525">
              <a:spcBef>
                <a:spcPts val="1248"/>
              </a:spcBef>
            </a:pPr>
            <a:r>
              <a:rPr sz="1500" b="1" dirty="0">
                <a:solidFill>
                  <a:srgbClr val="FF0000"/>
                </a:solidFill>
                <a:latin typeface="Georgia"/>
                <a:cs typeface="Georgia"/>
              </a:rPr>
              <a:t>|</a:t>
            </a:r>
            <a:r>
              <a:rPr sz="1500" b="1" spc="-8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𝑨 ∩</a:t>
            </a:r>
            <a:r>
              <a:rPr sz="1500" spc="-8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𝑩</a:t>
            </a:r>
            <a:r>
              <a:rPr sz="1500" spc="-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FF0000"/>
                </a:solidFill>
                <a:latin typeface="Cambria Math"/>
                <a:cs typeface="Cambria Math"/>
              </a:rPr>
              <a:t>|</a:t>
            </a:r>
            <a:r>
              <a:rPr sz="1500" spc="41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500" b="1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1500" b="1" spc="-8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500" b="1" spc="-38" dirty="0">
                <a:solidFill>
                  <a:srgbClr val="FF0000"/>
                </a:solidFill>
                <a:latin typeface="Georgia"/>
                <a:cs typeface="Georgia"/>
              </a:rPr>
              <a:t>2</a:t>
            </a:r>
            <a:endParaRPr sz="15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1869" y="4088891"/>
            <a:ext cx="412909" cy="159068"/>
          </a:xfrm>
          <a:custGeom>
            <a:avLst/>
            <a:gdLst/>
            <a:ahLst/>
            <a:cxnLst/>
            <a:rect l="l" t="t" r="r" b="b"/>
            <a:pathLst>
              <a:path w="550545" h="212089">
                <a:moveTo>
                  <a:pt x="482473" y="0"/>
                </a:moveTo>
                <a:lnTo>
                  <a:pt x="479425" y="8636"/>
                </a:lnTo>
                <a:lnTo>
                  <a:pt x="491692" y="13946"/>
                </a:lnTo>
                <a:lnTo>
                  <a:pt x="502221" y="21304"/>
                </a:lnTo>
                <a:lnTo>
                  <a:pt x="523660" y="55449"/>
                </a:lnTo>
                <a:lnTo>
                  <a:pt x="529905" y="86538"/>
                </a:lnTo>
                <a:lnTo>
                  <a:pt x="529947" y="86830"/>
                </a:lnTo>
                <a:lnTo>
                  <a:pt x="530732" y="104902"/>
                </a:lnTo>
                <a:lnTo>
                  <a:pt x="529947" y="123571"/>
                </a:lnTo>
                <a:lnTo>
                  <a:pt x="527589" y="140525"/>
                </a:lnTo>
                <a:lnTo>
                  <a:pt x="511042" y="180911"/>
                </a:lnTo>
                <a:lnTo>
                  <a:pt x="479805" y="203200"/>
                </a:lnTo>
                <a:lnTo>
                  <a:pt x="482473" y="211836"/>
                </a:lnTo>
                <a:lnTo>
                  <a:pt x="522888" y="187707"/>
                </a:lnTo>
                <a:lnTo>
                  <a:pt x="545655" y="143335"/>
                </a:lnTo>
                <a:lnTo>
                  <a:pt x="550036" y="105918"/>
                </a:lnTo>
                <a:lnTo>
                  <a:pt x="548958" y="86830"/>
                </a:lnTo>
                <a:lnTo>
                  <a:pt x="532510" y="37211"/>
                </a:lnTo>
                <a:lnTo>
                  <a:pt x="497810" y="5546"/>
                </a:lnTo>
                <a:lnTo>
                  <a:pt x="482473" y="0"/>
                </a:lnTo>
                <a:close/>
              </a:path>
              <a:path w="550545" h="212089">
                <a:moveTo>
                  <a:pt x="67564" y="0"/>
                </a:moveTo>
                <a:lnTo>
                  <a:pt x="27112" y="24163"/>
                </a:lnTo>
                <a:lnTo>
                  <a:pt x="4365" y="68611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35" y="206238"/>
                </a:lnTo>
                <a:lnTo>
                  <a:pt x="67564" y="211836"/>
                </a:lnTo>
                <a:lnTo>
                  <a:pt x="70230" y="203200"/>
                </a:lnTo>
                <a:lnTo>
                  <a:pt x="58130" y="197866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3" y="104902"/>
                </a:lnTo>
                <a:lnTo>
                  <a:pt x="26376" y="55449"/>
                </a:lnTo>
                <a:lnTo>
                  <a:pt x="47799" y="21304"/>
                </a:lnTo>
                <a:lnTo>
                  <a:pt x="70484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 txBox="1"/>
          <p:nvPr/>
        </p:nvSpPr>
        <p:spPr>
          <a:xfrm>
            <a:off x="5764911" y="4036504"/>
            <a:ext cx="218074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042636" algn="l"/>
              </a:tabLst>
            </a:pPr>
            <a:r>
              <a:rPr sz="1350" dirty="0">
                <a:latin typeface="Cambria Math"/>
                <a:cs typeface="Cambria Math"/>
              </a:rPr>
              <a:t>𝐽𝑎𝑐𝑐𝑎𝑟𝑑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𝑆𝑖𝑚𝑖𝑙𝑎𝑟𝑖𝑡𝑦</a:t>
            </a:r>
            <a:r>
              <a:rPr sz="1350" spc="19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𝑱</a:t>
            </a:r>
            <a:r>
              <a:rPr sz="1350" spc="255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𝑨,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𝑩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38" dirty="0">
                <a:latin typeface="Cambria Math"/>
                <a:cs typeface="Cambria Math"/>
              </a:rPr>
              <a:t>=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84331" y="4161854"/>
            <a:ext cx="529590" cy="198596"/>
          </a:xfrm>
          <a:custGeom>
            <a:avLst/>
            <a:gdLst/>
            <a:ahLst/>
            <a:cxnLst/>
            <a:rect l="l" t="t" r="r" b="b"/>
            <a:pathLst>
              <a:path w="706120" h="264795">
                <a:moveTo>
                  <a:pt x="44704" y="56769"/>
                </a:moveTo>
                <a:lnTo>
                  <a:pt x="27559" y="56769"/>
                </a:lnTo>
                <a:lnTo>
                  <a:pt x="27559" y="264414"/>
                </a:lnTo>
                <a:lnTo>
                  <a:pt x="44704" y="264414"/>
                </a:lnTo>
                <a:lnTo>
                  <a:pt x="44704" y="56769"/>
                </a:lnTo>
                <a:close/>
              </a:path>
              <a:path w="706120" h="264795">
                <a:moveTo>
                  <a:pt x="675640" y="56769"/>
                </a:moveTo>
                <a:lnTo>
                  <a:pt x="658495" y="56769"/>
                </a:lnTo>
                <a:lnTo>
                  <a:pt x="658495" y="264414"/>
                </a:lnTo>
                <a:lnTo>
                  <a:pt x="675640" y="264414"/>
                </a:lnTo>
                <a:lnTo>
                  <a:pt x="675640" y="56769"/>
                </a:lnTo>
                <a:close/>
              </a:path>
              <a:path w="706120" h="264795">
                <a:moveTo>
                  <a:pt x="705612" y="0"/>
                </a:moveTo>
                <a:lnTo>
                  <a:pt x="0" y="0"/>
                </a:lnTo>
                <a:lnTo>
                  <a:pt x="0" y="15240"/>
                </a:lnTo>
                <a:lnTo>
                  <a:pt x="705612" y="15240"/>
                </a:lnTo>
                <a:lnTo>
                  <a:pt x="705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8478202" y="3959829"/>
            <a:ext cx="12859" cy="155734"/>
          </a:xfrm>
          <a:custGeom>
            <a:avLst/>
            <a:gdLst/>
            <a:ahLst/>
            <a:cxnLst/>
            <a:rect l="l" t="t" r="r" b="b"/>
            <a:pathLst>
              <a:path w="17145" h="207645">
                <a:moveTo>
                  <a:pt x="17145" y="0"/>
                </a:moveTo>
                <a:lnTo>
                  <a:pt x="0" y="0"/>
                </a:lnTo>
                <a:lnTo>
                  <a:pt x="0" y="207644"/>
                </a:lnTo>
                <a:lnTo>
                  <a:pt x="17145" y="207644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8005000" y="3959829"/>
            <a:ext cx="12859" cy="155734"/>
          </a:xfrm>
          <a:custGeom>
            <a:avLst/>
            <a:gdLst/>
            <a:ahLst/>
            <a:cxnLst/>
            <a:rect l="l" t="t" r="r" b="b"/>
            <a:pathLst>
              <a:path w="17145" h="207645">
                <a:moveTo>
                  <a:pt x="17145" y="0"/>
                </a:moveTo>
                <a:lnTo>
                  <a:pt x="0" y="0"/>
                </a:lnTo>
                <a:lnTo>
                  <a:pt x="0" y="207644"/>
                </a:lnTo>
                <a:lnTo>
                  <a:pt x="17145" y="207644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/>
        </p:nvSpPr>
        <p:spPr>
          <a:xfrm>
            <a:off x="8029671" y="3906203"/>
            <a:ext cx="43481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𝐴</a:t>
            </a:r>
            <a:r>
              <a:rPr sz="1350" spc="15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∩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45" dirty="0">
                <a:latin typeface="Cambria Math"/>
                <a:cs typeface="Cambria Math"/>
              </a:rPr>
              <a:t>𝐵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9671" y="4150804"/>
            <a:ext cx="43481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𝐴</a:t>
            </a:r>
            <a:r>
              <a:rPr sz="1350" spc="15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∪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45" dirty="0">
                <a:latin typeface="Cambria Math"/>
                <a:cs typeface="Cambria Math"/>
              </a:rPr>
              <a:t>𝐵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86521" y="4744211"/>
            <a:ext cx="95250" cy="11430"/>
          </a:xfrm>
          <a:custGeom>
            <a:avLst/>
            <a:gdLst/>
            <a:ahLst/>
            <a:cxnLst/>
            <a:rect l="l" t="t" r="r" b="b"/>
            <a:pathLst>
              <a:path w="127000" h="15239">
                <a:moveTo>
                  <a:pt x="126492" y="0"/>
                </a:moveTo>
                <a:lnTo>
                  <a:pt x="0" y="0"/>
                </a:lnTo>
                <a:lnTo>
                  <a:pt x="0" y="15239"/>
                </a:lnTo>
                <a:lnTo>
                  <a:pt x="126492" y="15239"/>
                </a:lnTo>
                <a:lnTo>
                  <a:pt x="126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7782877" y="4488656"/>
            <a:ext cx="679133" cy="74315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4311">
              <a:lnSpc>
                <a:spcPts val="1323"/>
              </a:lnSpc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28575">
              <a:lnSpc>
                <a:spcPts val="1323"/>
              </a:lnSpc>
            </a:pP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68" dirty="0">
                <a:latin typeface="Cambria Math"/>
                <a:cs typeface="Cambria Math"/>
              </a:rPr>
              <a:t> </a:t>
            </a:r>
            <a:r>
              <a:rPr sz="2025" spc="-56" baseline="-37037" dirty="0">
                <a:latin typeface="Cambria Math"/>
                <a:cs typeface="Cambria Math"/>
              </a:rPr>
              <a:t>7</a:t>
            </a:r>
            <a:endParaRPr sz="2025" baseline="-37037">
              <a:latin typeface="Cambria Math"/>
              <a:cs typeface="Cambria Math"/>
            </a:endParaRPr>
          </a:p>
          <a:p>
            <a:pPr marL="58103">
              <a:spcBef>
                <a:spcPts val="1492"/>
              </a:spcBef>
            </a:pP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68" dirty="0">
                <a:latin typeface="Cambria Math"/>
                <a:cs typeface="Cambria Math"/>
              </a:rPr>
              <a:t> </a:t>
            </a:r>
            <a:r>
              <a:rPr sz="1350" spc="-15" dirty="0">
                <a:latin typeface="Cambria Math"/>
                <a:cs typeface="Cambria Math"/>
              </a:rPr>
              <a:t>0.286</a:t>
            </a:r>
            <a:endParaRPr sz="13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7500" y="355436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49" dirty="0">
                <a:solidFill>
                  <a:schemeClr val="bg1"/>
                </a:solidFill>
              </a:rPr>
              <a:t>Clustering</a:t>
            </a:r>
            <a:r>
              <a:rPr spc="188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Techniques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87389" y="2337197"/>
            <a:ext cx="4514850" cy="3444716"/>
            <a:chOff x="2116518" y="1973262"/>
            <a:chExt cx="6019800" cy="4592955"/>
          </a:xfrm>
        </p:grpSpPr>
        <p:sp>
          <p:nvSpPr>
            <p:cNvPr id="4" name="object 4"/>
            <p:cNvSpPr/>
            <p:nvPr/>
          </p:nvSpPr>
          <p:spPr>
            <a:xfrm>
              <a:off x="2124455" y="1981200"/>
              <a:ext cx="963294" cy="4577080"/>
            </a:xfrm>
            <a:custGeom>
              <a:avLst/>
              <a:gdLst/>
              <a:ahLst/>
              <a:cxnLst/>
              <a:rect l="l" t="t" r="r" b="b"/>
              <a:pathLst>
                <a:path w="963294" h="4577080">
                  <a:moveTo>
                    <a:pt x="15239" y="0"/>
                  </a:moveTo>
                  <a:lnTo>
                    <a:pt x="49091" y="34346"/>
                  </a:lnTo>
                  <a:lnTo>
                    <a:pt x="82328" y="69067"/>
                  </a:lnTo>
                  <a:lnTo>
                    <a:pt x="114949" y="104158"/>
                  </a:lnTo>
                  <a:lnTo>
                    <a:pt x="146954" y="139610"/>
                  </a:lnTo>
                  <a:lnTo>
                    <a:pt x="178344" y="175417"/>
                  </a:lnTo>
                  <a:lnTo>
                    <a:pt x="209118" y="211571"/>
                  </a:lnTo>
                  <a:lnTo>
                    <a:pt x="239277" y="248067"/>
                  </a:lnTo>
                  <a:lnTo>
                    <a:pt x="268820" y="284897"/>
                  </a:lnTo>
                  <a:lnTo>
                    <a:pt x="297748" y="322054"/>
                  </a:lnTo>
                  <a:lnTo>
                    <a:pt x="326061" y="359532"/>
                  </a:lnTo>
                  <a:lnTo>
                    <a:pt x="353758" y="397323"/>
                  </a:lnTo>
                  <a:lnTo>
                    <a:pt x="380839" y="435421"/>
                  </a:lnTo>
                  <a:lnTo>
                    <a:pt x="407305" y="473819"/>
                  </a:lnTo>
                  <a:lnTo>
                    <a:pt x="433156" y="512509"/>
                  </a:lnTo>
                  <a:lnTo>
                    <a:pt x="458391" y="551485"/>
                  </a:lnTo>
                  <a:lnTo>
                    <a:pt x="483010" y="590740"/>
                  </a:lnTo>
                  <a:lnTo>
                    <a:pt x="507014" y="630268"/>
                  </a:lnTo>
                  <a:lnTo>
                    <a:pt x="530403" y="670061"/>
                  </a:lnTo>
                  <a:lnTo>
                    <a:pt x="553176" y="710112"/>
                  </a:lnTo>
                  <a:lnTo>
                    <a:pt x="575333" y="750414"/>
                  </a:lnTo>
                  <a:lnTo>
                    <a:pt x="596875" y="790961"/>
                  </a:lnTo>
                  <a:lnTo>
                    <a:pt x="617802" y="831746"/>
                  </a:lnTo>
                  <a:lnTo>
                    <a:pt x="638113" y="872762"/>
                  </a:lnTo>
                  <a:lnTo>
                    <a:pt x="657809" y="914002"/>
                  </a:lnTo>
                  <a:lnTo>
                    <a:pt x="676889" y="955458"/>
                  </a:lnTo>
                  <a:lnTo>
                    <a:pt x="695353" y="997125"/>
                  </a:lnTo>
                  <a:lnTo>
                    <a:pt x="713203" y="1038995"/>
                  </a:lnTo>
                  <a:lnTo>
                    <a:pt x="730436" y="1081062"/>
                  </a:lnTo>
                  <a:lnTo>
                    <a:pt x="747054" y="1123318"/>
                  </a:lnTo>
                  <a:lnTo>
                    <a:pt x="763057" y="1165756"/>
                  </a:lnTo>
                  <a:lnTo>
                    <a:pt x="778444" y="1208371"/>
                  </a:lnTo>
                  <a:lnTo>
                    <a:pt x="793216" y="1251154"/>
                  </a:lnTo>
                  <a:lnTo>
                    <a:pt x="807372" y="1294099"/>
                  </a:lnTo>
                  <a:lnTo>
                    <a:pt x="820913" y="1337199"/>
                  </a:lnTo>
                  <a:lnTo>
                    <a:pt x="833838" y="1380447"/>
                  </a:lnTo>
                  <a:lnTo>
                    <a:pt x="846148" y="1423836"/>
                  </a:lnTo>
                  <a:lnTo>
                    <a:pt x="857842" y="1467360"/>
                  </a:lnTo>
                  <a:lnTo>
                    <a:pt x="868921" y="1511011"/>
                  </a:lnTo>
                  <a:lnTo>
                    <a:pt x="879384" y="1554783"/>
                  </a:lnTo>
                  <a:lnTo>
                    <a:pt x="889232" y="1598668"/>
                  </a:lnTo>
                  <a:lnTo>
                    <a:pt x="898464" y="1642661"/>
                  </a:lnTo>
                  <a:lnTo>
                    <a:pt x="907081" y="1686753"/>
                  </a:lnTo>
                  <a:lnTo>
                    <a:pt x="915083" y="1730938"/>
                  </a:lnTo>
                  <a:lnTo>
                    <a:pt x="922468" y="1775210"/>
                  </a:lnTo>
                  <a:lnTo>
                    <a:pt x="929239" y="1819560"/>
                  </a:lnTo>
                  <a:lnTo>
                    <a:pt x="935394" y="1863983"/>
                  </a:lnTo>
                  <a:lnTo>
                    <a:pt x="940933" y="1908472"/>
                  </a:lnTo>
                  <a:lnTo>
                    <a:pt x="945857" y="1953019"/>
                  </a:lnTo>
                  <a:lnTo>
                    <a:pt x="950165" y="1997618"/>
                  </a:lnTo>
                  <a:lnTo>
                    <a:pt x="953858" y="2042261"/>
                  </a:lnTo>
                  <a:lnTo>
                    <a:pt x="956936" y="2086943"/>
                  </a:lnTo>
                  <a:lnTo>
                    <a:pt x="959398" y="2131655"/>
                  </a:lnTo>
                  <a:lnTo>
                    <a:pt x="961244" y="2176392"/>
                  </a:lnTo>
                  <a:lnTo>
                    <a:pt x="962475" y="2221145"/>
                  </a:lnTo>
                  <a:lnTo>
                    <a:pt x="963091" y="2265910"/>
                  </a:lnTo>
                  <a:lnTo>
                    <a:pt x="963091" y="2310677"/>
                  </a:lnTo>
                  <a:lnTo>
                    <a:pt x="962475" y="2355441"/>
                  </a:lnTo>
                  <a:lnTo>
                    <a:pt x="961244" y="2400195"/>
                  </a:lnTo>
                  <a:lnTo>
                    <a:pt x="959398" y="2444932"/>
                  </a:lnTo>
                  <a:lnTo>
                    <a:pt x="956936" y="2489645"/>
                  </a:lnTo>
                  <a:lnTo>
                    <a:pt x="953858" y="2534326"/>
                  </a:lnTo>
                  <a:lnTo>
                    <a:pt x="950165" y="2578970"/>
                  </a:lnTo>
                  <a:lnTo>
                    <a:pt x="945857" y="2623569"/>
                  </a:lnTo>
                  <a:lnTo>
                    <a:pt x="940933" y="2668116"/>
                  </a:lnTo>
                  <a:lnTo>
                    <a:pt x="935394" y="2712605"/>
                  </a:lnTo>
                  <a:lnTo>
                    <a:pt x="929239" y="2757028"/>
                  </a:lnTo>
                  <a:lnTo>
                    <a:pt x="922468" y="2801379"/>
                  </a:lnTo>
                  <a:lnTo>
                    <a:pt x="915083" y="2845651"/>
                  </a:lnTo>
                  <a:lnTo>
                    <a:pt x="907081" y="2889837"/>
                  </a:lnTo>
                  <a:lnTo>
                    <a:pt x="898464" y="2933929"/>
                  </a:lnTo>
                  <a:lnTo>
                    <a:pt x="889232" y="2977922"/>
                  </a:lnTo>
                  <a:lnTo>
                    <a:pt x="879384" y="3021808"/>
                  </a:lnTo>
                  <a:lnTo>
                    <a:pt x="868921" y="3065581"/>
                  </a:lnTo>
                  <a:lnTo>
                    <a:pt x="857842" y="3109232"/>
                  </a:lnTo>
                  <a:lnTo>
                    <a:pt x="846148" y="3152757"/>
                  </a:lnTo>
                  <a:lnTo>
                    <a:pt x="833838" y="3196147"/>
                  </a:lnTo>
                  <a:lnTo>
                    <a:pt x="820913" y="3239395"/>
                  </a:lnTo>
                  <a:lnTo>
                    <a:pt x="807372" y="3282496"/>
                  </a:lnTo>
                  <a:lnTo>
                    <a:pt x="793216" y="3325442"/>
                  </a:lnTo>
                  <a:lnTo>
                    <a:pt x="778444" y="3368226"/>
                  </a:lnTo>
                  <a:lnTo>
                    <a:pt x="763057" y="3410841"/>
                  </a:lnTo>
                  <a:lnTo>
                    <a:pt x="747054" y="3453280"/>
                  </a:lnTo>
                  <a:lnTo>
                    <a:pt x="730436" y="3495537"/>
                  </a:lnTo>
                  <a:lnTo>
                    <a:pt x="713203" y="3537604"/>
                  </a:lnTo>
                  <a:lnTo>
                    <a:pt x="695353" y="3579475"/>
                  </a:lnTo>
                  <a:lnTo>
                    <a:pt x="676889" y="3621143"/>
                  </a:lnTo>
                  <a:lnTo>
                    <a:pt x="657809" y="3662600"/>
                  </a:lnTo>
                  <a:lnTo>
                    <a:pt x="638113" y="3703841"/>
                  </a:lnTo>
                  <a:lnTo>
                    <a:pt x="617802" y="3744858"/>
                  </a:lnTo>
                  <a:lnTo>
                    <a:pt x="596875" y="3785644"/>
                  </a:lnTo>
                  <a:lnTo>
                    <a:pt x="575333" y="3826192"/>
                  </a:lnTo>
                  <a:lnTo>
                    <a:pt x="553176" y="3866496"/>
                  </a:lnTo>
                  <a:lnTo>
                    <a:pt x="530403" y="3906548"/>
                  </a:lnTo>
                  <a:lnTo>
                    <a:pt x="507014" y="3946342"/>
                  </a:lnTo>
                  <a:lnTo>
                    <a:pt x="483010" y="3985871"/>
                  </a:lnTo>
                  <a:lnTo>
                    <a:pt x="458391" y="4025127"/>
                  </a:lnTo>
                  <a:lnTo>
                    <a:pt x="433156" y="4064105"/>
                  </a:lnTo>
                  <a:lnTo>
                    <a:pt x="407305" y="4102796"/>
                  </a:lnTo>
                  <a:lnTo>
                    <a:pt x="380839" y="4141195"/>
                  </a:lnTo>
                  <a:lnTo>
                    <a:pt x="353758" y="4179294"/>
                  </a:lnTo>
                  <a:lnTo>
                    <a:pt x="326061" y="4217087"/>
                  </a:lnTo>
                  <a:lnTo>
                    <a:pt x="297748" y="4254566"/>
                  </a:lnTo>
                  <a:lnTo>
                    <a:pt x="268820" y="4291725"/>
                  </a:lnTo>
                  <a:lnTo>
                    <a:pt x="239277" y="4328556"/>
                  </a:lnTo>
                  <a:lnTo>
                    <a:pt x="209118" y="4365053"/>
                  </a:lnTo>
                  <a:lnTo>
                    <a:pt x="178344" y="4401210"/>
                  </a:lnTo>
                  <a:lnTo>
                    <a:pt x="146954" y="4437018"/>
                  </a:lnTo>
                  <a:lnTo>
                    <a:pt x="114949" y="4472472"/>
                  </a:lnTo>
                  <a:lnTo>
                    <a:pt x="82328" y="4507564"/>
                  </a:lnTo>
                  <a:lnTo>
                    <a:pt x="49091" y="4542287"/>
                  </a:lnTo>
                  <a:lnTo>
                    <a:pt x="15239" y="4576635"/>
                  </a:lnTo>
                  <a:lnTo>
                    <a:pt x="0" y="4561344"/>
                  </a:lnTo>
                  <a:lnTo>
                    <a:pt x="33926" y="4526914"/>
                  </a:lnTo>
                  <a:lnTo>
                    <a:pt x="67231" y="4492103"/>
                  </a:lnTo>
                  <a:lnTo>
                    <a:pt x="99912" y="4456920"/>
                  </a:lnTo>
                  <a:lnTo>
                    <a:pt x="131972" y="4421372"/>
                  </a:lnTo>
                  <a:lnTo>
                    <a:pt x="163408" y="4385465"/>
                  </a:lnTo>
                  <a:lnTo>
                    <a:pt x="194223" y="4349206"/>
                  </a:lnTo>
                  <a:lnTo>
                    <a:pt x="224414" y="4312603"/>
                  </a:lnTo>
                  <a:lnTo>
                    <a:pt x="253984" y="4275662"/>
                  </a:lnTo>
                  <a:lnTo>
                    <a:pt x="282930" y="4238391"/>
                  </a:lnTo>
                  <a:lnTo>
                    <a:pt x="311254" y="4200796"/>
                  </a:lnTo>
                  <a:lnTo>
                    <a:pt x="338956" y="4162885"/>
                  </a:lnTo>
                  <a:lnTo>
                    <a:pt x="366035" y="4124664"/>
                  </a:lnTo>
                  <a:lnTo>
                    <a:pt x="392492" y="4086142"/>
                  </a:lnTo>
                  <a:lnTo>
                    <a:pt x="418326" y="4047323"/>
                  </a:lnTo>
                  <a:lnTo>
                    <a:pt x="443538" y="4008217"/>
                  </a:lnTo>
                  <a:lnTo>
                    <a:pt x="468127" y="3968829"/>
                  </a:lnTo>
                  <a:lnTo>
                    <a:pt x="492094" y="3929167"/>
                  </a:lnTo>
                  <a:lnTo>
                    <a:pt x="515438" y="3889238"/>
                  </a:lnTo>
                  <a:lnTo>
                    <a:pt x="538159" y="3849049"/>
                  </a:lnTo>
                  <a:lnTo>
                    <a:pt x="560258" y="3808607"/>
                  </a:lnTo>
                  <a:lnTo>
                    <a:pt x="581735" y="3767918"/>
                  </a:lnTo>
                  <a:lnTo>
                    <a:pt x="602589" y="3726991"/>
                  </a:lnTo>
                  <a:lnTo>
                    <a:pt x="622821" y="3685831"/>
                  </a:lnTo>
                  <a:lnTo>
                    <a:pt x="642430" y="3644447"/>
                  </a:lnTo>
                  <a:lnTo>
                    <a:pt x="661416" y="3602844"/>
                  </a:lnTo>
                  <a:lnTo>
                    <a:pt x="679780" y="3561030"/>
                  </a:lnTo>
                  <a:lnTo>
                    <a:pt x="697522" y="3519013"/>
                  </a:lnTo>
                  <a:lnTo>
                    <a:pt x="714641" y="3476799"/>
                  </a:lnTo>
                  <a:lnTo>
                    <a:pt x="731137" y="3434395"/>
                  </a:lnTo>
                  <a:lnTo>
                    <a:pt x="747011" y="3391808"/>
                  </a:lnTo>
                  <a:lnTo>
                    <a:pt x="762263" y="3349045"/>
                  </a:lnTo>
                  <a:lnTo>
                    <a:pt x="776892" y="3306114"/>
                  </a:lnTo>
                  <a:lnTo>
                    <a:pt x="790898" y="3263020"/>
                  </a:lnTo>
                  <a:lnTo>
                    <a:pt x="804282" y="3219773"/>
                  </a:lnTo>
                  <a:lnTo>
                    <a:pt x="817044" y="3176377"/>
                  </a:lnTo>
                  <a:lnTo>
                    <a:pt x="829183" y="3132841"/>
                  </a:lnTo>
                  <a:lnTo>
                    <a:pt x="840699" y="3089171"/>
                  </a:lnTo>
                  <a:lnTo>
                    <a:pt x="851593" y="3045375"/>
                  </a:lnTo>
                  <a:lnTo>
                    <a:pt x="861864" y="3001459"/>
                  </a:lnTo>
                  <a:lnTo>
                    <a:pt x="871513" y="2957431"/>
                  </a:lnTo>
                  <a:lnTo>
                    <a:pt x="880540" y="2913297"/>
                  </a:lnTo>
                  <a:lnTo>
                    <a:pt x="888944" y="2869065"/>
                  </a:lnTo>
                  <a:lnTo>
                    <a:pt x="896725" y="2824741"/>
                  </a:lnTo>
                  <a:lnTo>
                    <a:pt x="903884" y="2780333"/>
                  </a:lnTo>
                  <a:lnTo>
                    <a:pt x="910420" y="2735848"/>
                  </a:lnTo>
                  <a:lnTo>
                    <a:pt x="916334" y="2691292"/>
                  </a:lnTo>
                  <a:lnTo>
                    <a:pt x="921625" y="2646673"/>
                  </a:lnTo>
                  <a:lnTo>
                    <a:pt x="926294" y="2601998"/>
                  </a:lnTo>
                  <a:lnTo>
                    <a:pt x="930341" y="2557273"/>
                  </a:lnTo>
                  <a:lnTo>
                    <a:pt x="933764" y="2512507"/>
                  </a:lnTo>
                  <a:lnTo>
                    <a:pt x="936566" y="2467705"/>
                  </a:lnTo>
                  <a:lnTo>
                    <a:pt x="938744" y="2422875"/>
                  </a:lnTo>
                  <a:lnTo>
                    <a:pt x="940301" y="2378024"/>
                  </a:lnTo>
                  <a:lnTo>
                    <a:pt x="941234" y="2333159"/>
                  </a:lnTo>
                  <a:lnTo>
                    <a:pt x="941546" y="2288287"/>
                  </a:lnTo>
                  <a:lnTo>
                    <a:pt x="941234" y="2243415"/>
                  </a:lnTo>
                  <a:lnTo>
                    <a:pt x="940301" y="2198550"/>
                  </a:lnTo>
                  <a:lnTo>
                    <a:pt x="938744" y="2153699"/>
                  </a:lnTo>
                  <a:lnTo>
                    <a:pt x="936566" y="2108869"/>
                  </a:lnTo>
                  <a:lnTo>
                    <a:pt x="933764" y="2064067"/>
                  </a:lnTo>
                  <a:lnTo>
                    <a:pt x="930341" y="2019301"/>
                  </a:lnTo>
                  <a:lnTo>
                    <a:pt x="926294" y="1974577"/>
                  </a:lnTo>
                  <a:lnTo>
                    <a:pt x="921625" y="1929901"/>
                  </a:lnTo>
                  <a:lnTo>
                    <a:pt x="916334" y="1885282"/>
                  </a:lnTo>
                  <a:lnTo>
                    <a:pt x="910420" y="1840727"/>
                  </a:lnTo>
                  <a:lnTo>
                    <a:pt x="903884" y="1796242"/>
                  </a:lnTo>
                  <a:lnTo>
                    <a:pt x="896725" y="1751834"/>
                  </a:lnTo>
                  <a:lnTo>
                    <a:pt x="888944" y="1707510"/>
                  </a:lnTo>
                  <a:lnTo>
                    <a:pt x="880540" y="1663278"/>
                  </a:lnTo>
                  <a:lnTo>
                    <a:pt x="871513" y="1619144"/>
                  </a:lnTo>
                  <a:lnTo>
                    <a:pt x="861864" y="1575116"/>
                  </a:lnTo>
                  <a:lnTo>
                    <a:pt x="851593" y="1531200"/>
                  </a:lnTo>
                  <a:lnTo>
                    <a:pt x="840699" y="1487404"/>
                  </a:lnTo>
                  <a:lnTo>
                    <a:pt x="829183" y="1443734"/>
                  </a:lnTo>
                  <a:lnTo>
                    <a:pt x="817044" y="1400198"/>
                  </a:lnTo>
                  <a:lnTo>
                    <a:pt x="804282" y="1356803"/>
                  </a:lnTo>
                  <a:lnTo>
                    <a:pt x="790898" y="1313555"/>
                  </a:lnTo>
                  <a:lnTo>
                    <a:pt x="776892" y="1270462"/>
                  </a:lnTo>
                  <a:lnTo>
                    <a:pt x="762263" y="1227531"/>
                  </a:lnTo>
                  <a:lnTo>
                    <a:pt x="747011" y="1184768"/>
                  </a:lnTo>
                  <a:lnTo>
                    <a:pt x="731137" y="1142182"/>
                  </a:lnTo>
                  <a:lnTo>
                    <a:pt x="714641" y="1099778"/>
                  </a:lnTo>
                  <a:lnTo>
                    <a:pt x="697522" y="1057564"/>
                  </a:lnTo>
                  <a:lnTo>
                    <a:pt x="679780" y="1015546"/>
                  </a:lnTo>
                  <a:lnTo>
                    <a:pt x="661416" y="973733"/>
                  </a:lnTo>
                  <a:lnTo>
                    <a:pt x="642430" y="932131"/>
                  </a:lnTo>
                  <a:lnTo>
                    <a:pt x="622821" y="890746"/>
                  </a:lnTo>
                  <a:lnTo>
                    <a:pt x="602589" y="849587"/>
                  </a:lnTo>
                  <a:lnTo>
                    <a:pt x="581735" y="808660"/>
                  </a:lnTo>
                  <a:lnTo>
                    <a:pt x="560258" y="767971"/>
                  </a:lnTo>
                  <a:lnTo>
                    <a:pt x="538159" y="727529"/>
                  </a:lnTo>
                  <a:lnTo>
                    <a:pt x="515438" y="687340"/>
                  </a:lnTo>
                  <a:lnTo>
                    <a:pt x="492094" y="647411"/>
                  </a:lnTo>
                  <a:lnTo>
                    <a:pt x="468127" y="607750"/>
                  </a:lnTo>
                  <a:lnTo>
                    <a:pt x="443538" y="568362"/>
                  </a:lnTo>
                  <a:lnTo>
                    <a:pt x="418326" y="529256"/>
                  </a:lnTo>
                  <a:lnTo>
                    <a:pt x="392492" y="490438"/>
                  </a:lnTo>
                  <a:lnTo>
                    <a:pt x="366035" y="451916"/>
                  </a:lnTo>
                  <a:lnTo>
                    <a:pt x="338956" y="413695"/>
                  </a:lnTo>
                  <a:lnTo>
                    <a:pt x="311254" y="375785"/>
                  </a:lnTo>
                  <a:lnTo>
                    <a:pt x="282930" y="338190"/>
                  </a:lnTo>
                  <a:lnTo>
                    <a:pt x="253984" y="300919"/>
                  </a:lnTo>
                  <a:lnTo>
                    <a:pt x="224414" y="263979"/>
                  </a:lnTo>
                  <a:lnTo>
                    <a:pt x="194223" y="227376"/>
                  </a:lnTo>
                  <a:lnTo>
                    <a:pt x="163408" y="191117"/>
                  </a:lnTo>
                  <a:lnTo>
                    <a:pt x="131972" y="155211"/>
                  </a:lnTo>
                  <a:lnTo>
                    <a:pt x="99912" y="119662"/>
                  </a:lnTo>
                  <a:lnTo>
                    <a:pt x="67231" y="84480"/>
                  </a:lnTo>
                  <a:lnTo>
                    <a:pt x="33926" y="49670"/>
                  </a:lnTo>
                  <a:lnTo>
                    <a:pt x="0" y="15239"/>
                  </a:lnTo>
                  <a:lnTo>
                    <a:pt x="15239" y="0"/>
                  </a:lnTo>
                  <a:close/>
                </a:path>
              </a:pathLst>
            </a:custGeom>
            <a:ln w="15874">
              <a:solidFill>
                <a:srgbClr val="27465B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2504693" y="2166365"/>
              <a:ext cx="5622290" cy="601980"/>
            </a:xfrm>
            <a:custGeom>
              <a:avLst/>
              <a:gdLst/>
              <a:ahLst/>
              <a:cxnLst/>
              <a:rect l="l" t="t" r="r" b="b"/>
              <a:pathLst>
                <a:path w="5622290" h="601980">
                  <a:moveTo>
                    <a:pt x="5622035" y="0"/>
                  </a:moveTo>
                  <a:lnTo>
                    <a:pt x="0" y="0"/>
                  </a:lnTo>
                  <a:lnTo>
                    <a:pt x="0" y="601979"/>
                  </a:lnTo>
                  <a:lnTo>
                    <a:pt x="5622035" y="601979"/>
                  </a:lnTo>
                  <a:lnTo>
                    <a:pt x="5622035" y="0"/>
                  </a:lnTo>
                  <a:close/>
                </a:path>
              </a:pathLst>
            </a:custGeom>
            <a:solidFill>
              <a:srgbClr val="1F442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2504693" y="2166365"/>
              <a:ext cx="5622290" cy="601980"/>
            </a:xfrm>
            <a:custGeom>
              <a:avLst/>
              <a:gdLst/>
              <a:ahLst/>
              <a:cxnLst/>
              <a:rect l="l" t="t" r="r" b="b"/>
              <a:pathLst>
                <a:path w="5622290" h="601980">
                  <a:moveTo>
                    <a:pt x="0" y="601979"/>
                  </a:moveTo>
                  <a:lnTo>
                    <a:pt x="5622035" y="601979"/>
                  </a:lnTo>
                  <a:lnTo>
                    <a:pt x="5622035" y="0"/>
                  </a:lnTo>
                  <a:lnTo>
                    <a:pt x="0" y="0"/>
                  </a:lnTo>
                  <a:lnTo>
                    <a:pt x="0" y="601979"/>
                  </a:lnTo>
                  <a:close/>
                </a:path>
              </a:pathLst>
            </a:custGeom>
            <a:ln w="19049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2127503" y="2090928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5665" y="0"/>
                  </a:move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6"/>
                  </a:lnTo>
                  <a:lnTo>
                    <a:pt x="2926" y="422797"/>
                  </a:lnTo>
                  <a:lnTo>
                    <a:pt x="11470" y="468179"/>
                  </a:lnTo>
                  <a:lnTo>
                    <a:pt x="25281" y="511459"/>
                  </a:lnTo>
                  <a:lnTo>
                    <a:pt x="44006" y="552287"/>
                  </a:lnTo>
                  <a:lnTo>
                    <a:pt x="67294" y="590311"/>
                  </a:lnTo>
                  <a:lnTo>
                    <a:pt x="94794" y="625178"/>
                  </a:lnTo>
                  <a:lnTo>
                    <a:pt x="126153" y="656537"/>
                  </a:lnTo>
                  <a:lnTo>
                    <a:pt x="161020" y="684037"/>
                  </a:lnTo>
                  <a:lnTo>
                    <a:pt x="199044" y="707325"/>
                  </a:lnTo>
                  <a:lnTo>
                    <a:pt x="239872" y="726050"/>
                  </a:lnTo>
                  <a:lnTo>
                    <a:pt x="283152" y="739861"/>
                  </a:lnTo>
                  <a:lnTo>
                    <a:pt x="328534" y="748405"/>
                  </a:lnTo>
                  <a:lnTo>
                    <a:pt x="375665" y="751332"/>
                  </a:lnTo>
                  <a:lnTo>
                    <a:pt x="422797" y="748405"/>
                  </a:lnTo>
                  <a:lnTo>
                    <a:pt x="468179" y="739861"/>
                  </a:lnTo>
                  <a:lnTo>
                    <a:pt x="511459" y="726050"/>
                  </a:lnTo>
                  <a:lnTo>
                    <a:pt x="552287" y="707325"/>
                  </a:lnTo>
                  <a:lnTo>
                    <a:pt x="590311" y="684037"/>
                  </a:lnTo>
                  <a:lnTo>
                    <a:pt x="625178" y="656537"/>
                  </a:lnTo>
                  <a:lnTo>
                    <a:pt x="656537" y="625178"/>
                  </a:lnTo>
                  <a:lnTo>
                    <a:pt x="684037" y="590311"/>
                  </a:lnTo>
                  <a:lnTo>
                    <a:pt x="707325" y="552287"/>
                  </a:lnTo>
                  <a:lnTo>
                    <a:pt x="726050" y="511459"/>
                  </a:lnTo>
                  <a:lnTo>
                    <a:pt x="739861" y="468179"/>
                  </a:lnTo>
                  <a:lnTo>
                    <a:pt x="748405" y="422797"/>
                  </a:lnTo>
                  <a:lnTo>
                    <a:pt x="751332" y="375666"/>
                  </a:lnTo>
                  <a:lnTo>
                    <a:pt x="748405" y="328534"/>
                  </a:lnTo>
                  <a:lnTo>
                    <a:pt x="739861" y="283152"/>
                  </a:lnTo>
                  <a:lnTo>
                    <a:pt x="726050" y="239872"/>
                  </a:lnTo>
                  <a:lnTo>
                    <a:pt x="707325" y="199044"/>
                  </a:lnTo>
                  <a:lnTo>
                    <a:pt x="684037" y="161020"/>
                  </a:lnTo>
                  <a:lnTo>
                    <a:pt x="656537" y="126153"/>
                  </a:lnTo>
                  <a:lnTo>
                    <a:pt x="625178" y="94794"/>
                  </a:lnTo>
                  <a:lnTo>
                    <a:pt x="590311" y="67294"/>
                  </a:lnTo>
                  <a:lnTo>
                    <a:pt x="552287" y="44006"/>
                  </a:lnTo>
                  <a:lnTo>
                    <a:pt x="511459" y="25281"/>
                  </a:lnTo>
                  <a:lnTo>
                    <a:pt x="468179" y="11470"/>
                  </a:lnTo>
                  <a:lnTo>
                    <a:pt x="422797" y="2926"/>
                  </a:lnTo>
                  <a:lnTo>
                    <a:pt x="375665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2127503" y="2090928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0" y="375666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5" y="0"/>
                  </a:lnTo>
                  <a:lnTo>
                    <a:pt x="422797" y="2926"/>
                  </a:lnTo>
                  <a:lnTo>
                    <a:pt x="468179" y="11470"/>
                  </a:lnTo>
                  <a:lnTo>
                    <a:pt x="511459" y="25281"/>
                  </a:lnTo>
                  <a:lnTo>
                    <a:pt x="552287" y="44006"/>
                  </a:lnTo>
                  <a:lnTo>
                    <a:pt x="590311" y="67294"/>
                  </a:lnTo>
                  <a:lnTo>
                    <a:pt x="625178" y="94794"/>
                  </a:lnTo>
                  <a:lnTo>
                    <a:pt x="656537" y="126153"/>
                  </a:lnTo>
                  <a:lnTo>
                    <a:pt x="684037" y="161020"/>
                  </a:lnTo>
                  <a:lnTo>
                    <a:pt x="707325" y="199044"/>
                  </a:lnTo>
                  <a:lnTo>
                    <a:pt x="726050" y="239872"/>
                  </a:lnTo>
                  <a:lnTo>
                    <a:pt x="739861" y="283152"/>
                  </a:lnTo>
                  <a:lnTo>
                    <a:pt x="748405" y="328534"/>
                  </a:lnTo>
                  <a:lnTo>
                    <a:pt x="751332" y="375666"/>
                  </a:lnTo>
                  <a:lnTo>
                    <a:pt x="748405" y="422797"/>
                  </a:lnTo>
                  <a:lnTo>
                    <a:pt x="739861" y="468179"/>
                  </a:lnTo>
                  <a:lnTo>
                    <a:pt x="726050" y="511459"/>
                  </a:lnTo>
                  <a:lnTo>
                    <a:pt x="707325" y="552287"/>
                  </a:lnTo>
                  <a:lnTo>
                    <a:pt x="684037" y="590311"/>
                  </a:lnTo>
                  <a:lnTo>
                    <a:pt x="656537" y="625178"/>
                  </a:lnTo>
                  <a:lnTo>
                    <a:pt x="625178" y="656537"/>
                  </a:lnTo>
                  <a:lnTo>
                    <a:pt x="590311" y="684037"/>
                  </a:lnTo>
                  <a:lnTo>
                    <a:pt x="552287" y="707325"/>
                  </a:lnTo>
                  <a:lnTo>
                    <a:pt x="511459" y="726050"/>
                  </a:lnTo>
                  <a:lnTo>
                    <a:pt x="468179" y="739861"/>
                  </a:lnTo>
                  <a:lnTo>
                    <a:pt x="422797" y="748405"/>
                  </a:lnTo>
                  <a:lnTo>
                    <a:pt x="375665" y="751332"/>
                  </a:lnTo>
                  <a:lnTo>
                    <a:pt x="328534" y="748405"/>
                  </a:lnTo>
                  <a:lnTo>
                    <a:pt x="283152" y="739861"/>
                  </a:lnTo>
                  <a:lnTo>
                    <a:pt x="239872" y="726050"/>
                  </a:lnTo>
                  <a:lnTo>
                    <a:pt x="199044" y="707325"/>
                  </a:lnTo>
                  <a:lnTo>
                    <a:pt x="161020" y="684037"/>
                  </a:lnTo>
                  <a:lnTo>
                    <a:pt x="126153" y="656537"/>
                  </a:lnTo>
                  <a:lnTo>
                    <a:pt x="94794" y="625178"/>
                  </a:lnTo>
                  <a:lnTo>
                    <a:pt x="67294" y="590311"/>
                  </a:lnTo>
                  <a:lnTo>
                    <a:pt x="44006" y="552287"/>
                  </a:lnTo>
                  <a:lnTo>
                    <a:pt x="25281" y="511459"/>
                  </a:lnTo>
                  <a:lnTo>
                    <a:pt x="11470" y="468179"/>
                  </a:lnTo>
                  <a:lnTo>
                    <a:pt x="2926" y="422797"/>
                  </a:lnTo>
                  <a:lnTo>
                    <a:pt x="0" y="375666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2934461" y="3068574"/>
              <a:ext cx="5192395" cy="600710"/>
            </a:xfrm>
            <a:custGeom>
              <a:avLst/>
              <a:gdLst/>
              <a:ahLst/>
              <a:cxnLst/>
              <a:rect l="l" t="t" r="r" b="b"/>
              <a:pathLst>
                <a:path w="5192395" h="600710">
                  <a:moveTo>
                    <a:pt x="5192268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5192268" y="600456"/>
                  </a:lnTo>
                  <a:lnTo>
                    <a:pt x="5192268" y="0"/>
                  </a:lnTo>
                  <a:close/>
                </a:path>
              </a:pathLst>
            </a:custGeom>
            <a:solidFill>
              <a:srgbClr val="1F442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4461" y="3068574"/>
              <a:ext cx="5192395" cy="600710"/>
            </a:xfrm>
            <a:custGeom>
              <a:avLst/>
              <a:gdLst/>
              <a:ahLst/>
              <a:cxnLst/>
              <a:rect l="l" t="t" r="r" b="b"/>
              <a:pathLst>
                <a:path w="5192395" h="600710">
                  <a:moveTo>
                    <a:pt x="0" y="600456"/>
                  </a:moveTo>
                  <a:lnTo>
                    <a:pt x="5192268" y="600456"/>
                  </a:lnTo>
                  <a:lnTo>
                    <a:pt x="5192268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9050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8795" y="2991611"/>
              <a:ext cx="751840" cy="753110"/>
            </a:xfrm>
            <a:custGeom>
              <a:avLst/>
              <a:gdLst/>
              <a:ahLst/>
              <a:cxnLst/>
              <a:rect l="l" t="t" r="r" b="b"/>
              <a:pathLst>
                <a:path w="751839" h="753110">
                  <a:moveTo>
                    <a:pt x="375666" y="0"/>
                  </a:moveTo>
                  <a:lnTo>
                    <a:pt x="328534" y="2932"/>
                  </a:lnTo>
                  <a:lnTo>
                    <a:pt x="283152" y="11496"/>
                  </a:lnTo>
                  <a:lnTo>
                    <a:pt x="239872" y="25337"/>
                  </a:lnTo>
                  <a:lnTo>
                    <a:pt x="199044" y="44103"/>
                  </a:lnTo>
                  <a:lnTo>
                    <a:pt x="161020" y="67442"/>
                  </a:lnTo>
                  <a:lnTo>
                    <a:pt x="126153" y="95000"/>
                  </a:lnTo>
                  <a:lnTo>
                    <a:pt x="94794" y="126425"/>
                  </a:lnTo>
                  <a:lnTo>
                    <a:pt x="67294" y="161365"/>
                  </a:lnTo>
                  <a:lnTo>
                    <a:pt x="44006" y="199465"/>
                  </a:lnTo>
                  <a:lnTo>
                    <a:pt x="25281" y="240375"/>
                  </a:lnTo>
                  <a:lnTo>
                    <a:pt x="11470" y="283740"/>
                  </a:lnTo>
                  <a:lnTo>
                    <a:pt x="2926" y="329208"/>
                  </a:lnTo>
                  <a:lnTo>
                    <a:pt x="0" y="376427"/>
                  </a:lnTo>
                  <a:lnTo>
                    <a:pt x="2926" y="423647"/>
                  </a:lnTo>
                  <a:lnTo>
                    <a:pt x="11470" y="469115"/>
                  </a:lnTo>
                  <a:lnTo>
                    <a:pt x="25281" y="512480"/>
                  </a:lnTo>
                  <a:lnTo>
                    <a:pt x="44006" y="553390"/>
                  </a:lnTo>
                  <a:lnTo>
                    <a:pt x="67294" y="591490"/>
                  </a:lnTo>
                  <a:lnTo>
                    <a:pt x="94794" y="626430"/>
                  </a:lnTo>
                  <a:lnTo>
                    <a:pt x="126153" y="657855"/>
                  </a:lnTo>
                  <a:lnTo>
                    <a:pt x="161020" y="685413"/>
                  </a:lnTo>
                  <a:lnTo>
                    <a:pt x="199044" y="708752"/>
                  </a:lnTo>
                  <a:lnTo>
                    <a:pt x="239872" y="727518"/>
                  </a:lnTo>
                  <a:lnTo>
                    <a:pt x="283152" y="741359"/>
                  </a:lnTo>
                  <a:lnTo>
                    <a:pt x="328534" y="749923"/>
                  </a:lnTo>
                  <a:lnTo>
                    <a:pt x="375666" y="752856"/>
                  </a:lnTo>
                  <a:lnTo>
                    <a:pt x="422797" y="749923"/>
                  </a:lnTo>
                  <a:lnTo>
                    <a:pt x="468179" y="741359"/>
                  </a:lnTo>
                  <a:lnTo>
                    <a:pt x="511459" y="727518"/>
                  </a:lnTo>
                  <a:lnTo>
                    <a:pt x="552287" y="708752"/>
                  </a:lnTo>
                  <a:lnTo>
                    <a:pt x="590311" y="685413"/>
                  </a:lnTo>
                  <a:lnTo>
                    <a:pt x="625178" y="657855"/>
                  </a:lnTo>
                  <a:lnTo>
                    <a:pt x="656537" y="626430"/>
                  </a:lnTo>
                  <a:lnTo>
                    <a:pt x="684037" y="591490"/>
                  </a:lnTo>
                  <a:lnTo>
                    <a:pt x="707325" y="553390"/>
                  </a:lnTo>
                  <a:lnTo>
                    <a:pt x="726050" y="512480"/>
                  </a:lnTo>
                  <a:lnTo>
                    <a:pt x="739861" y="469115"/>
                  </a:lnTo>
                  <a:lnTo>
                    <a:pt x="748405" y="423647"/>
                  </a:lnTo>
                  <a:lnTo>
                    <a:pt x="751332" y="376427"/>
                  </a:lnTo>
                  <a:lnTo>
                    <a:pt x="748405" y="329208"/>
                  </a:lnTo>
                  <a:lnTo>
                    <a:pt x="739861" y="283740"/>
                  </a:lnTo>
                  <a:lnTo>
                    <a:pt x="726050" y="240375"/>
                  </a:lnTo>
                  <a:lnTo>
                    <a:pt x="707325" y="199465"/>
                  </a:lnTo>
                  <a:lnTo>
                    <a:pt x="684037" y="161365"/>
                  </a:lnTo>
                  <a:lnTo>
                    <a:pt x="656537" y="126425"/>
                  </a:lnTo>
                  <a:lnTo>
                    <a:pt x="625178" y="95000"/>
                  </a:lnTo>
                  <a:lnTo>
                    <a:pt x="590311" y="67442"/>
                  </a:lnTo>
                  <a:lnTo>
                    <a:pt x="552287" y="44103"/>
                  </a:lnTo>
                  <a:lnTo>
                    <a:pt x="511459" y="25337"/>
                  </a:lnTo>
                  <a:lnTo>
                    <a:pt x="468179" y="11496"/>
                  </a:lnTo>
                  <a:lnTo>
                    <a:pt x="422797" y="2932"/>
                  </a:lnTo>
                  <a:lnTo>
                    <a:pt x="37566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558795" y="2991611"/>
              <a:ext cx="751840" cy="753110"/>
            </a:xfrm>
            <a:custGeom>
              <a:avLst/>
              <a:gdLst/>
              <a:ahLst/>
              <a:cxnLst/>
              <a:rect l="l" t="t" r="r" b="b"/>
              <a:pathLst>
                <a:path w="751839" h="753110">
                  <a:moveTo>
                    <a:pt x="0" y="376427"/>
                  </a:moveTo>
                  <a:lnTo>
                    <a:pt x="2926" y="329208"/>
                  </a:lnTo>
                  <a:lnTo>
                    <a:pt x="11470" y="283740"/>
                  </a:lnTo>
                  <a:lnTo>
                    <a:pt x="25281" y="240375"/>
                  </a:lnTo>
                  <a:lnTo>
                    <a:pt x="44006" y="199465"/>
                  </a:lnTo>
                  <a:lnTo>
                    <a:pt x="67294" y="161365"/>
                  </a:lnTo>
                  <a:lnTo>
                    <a:pt x="94794" y="126425"/>
                  </a:lnTo>
                  <a:lnTo>
                    <a:pt x="126153" y="95000"/>
                  </a:lnTo>
                  <a:lnTo>
                    <a:pt x="161020" y="67442"/>
                  </a:lnTo>
                  <a:lnTo>
                    <a:pt x="199044" y="44103"/>
                  </a:lnTo>
                  <a:lnTo>
                    <a:pt x="239872" y="25337"/>
                  </a:lnTo>
                  <a:lnTo>
                    <a:pt x="283152" y="11496"/>
                  </a:lnTo>
                  <a:lnTo>
                    <a:pt x="328534" y="2932"/>
                  </a:lnTo>
                  <a:lnTo>
                    <a:pt x="375666" y="0"/>
                  </a:lnTo>
                  <a:lnTo>
                    <a:pt x="422797" y="2932"/>
                  </a:lnTo>
                  <a:lnTo>
                    <a:pt x="468179" y="11496"/>
                  </a:lnTo>
                  <a:lnTo>
                    <a:pt x="511459" y="25337"/>
                  </a:lnTo>
                  <a:lnTo>
                    <a:pt x="552287" y="44103"/>
                  </a:lnTo>
                  <a:lnTo>
                    <a:pt x="590311" y="67442"/>
                  </a:lnTo>
                  <a:lnTo>
                    <a:pt x="625178" y="95000"/>
                  </a:lnTo>
                  <a:lnTo>
                    <a:pt x="656537" y="126425"/>
                  </a:lnTo>
                  <a:lnTo>
                    <a:pt x="684037" y="161365"/>
                  </a:lnTo>
                  <a:lnTo>
                    <a:pt x="707325" y="199465"/>
                  </a:lnTo>
                  <a:lnTo>
                    <a:pt x="726050" y="240375"/>
                  </a:lnTo>
                  <a:lnTo>
                    <a:pt x="739861" y="283740"/>
                  </a:lnTo>
                  <a:lnTo>
                    <a:pt x="748405" y="329208"/>
                  </a:lnTo>
                  <a:lnTo>
                    <a:pt x="751332" y="376427"/>
                  </a:lnTo>
                  <a:lnTo>
                    <a:pt x="748405" y="423647"/>
                  </a:lnTo>
                  <a:lnTo>
                    <a:pt x="739861" y="469115"/>
                  </a:lnTo>
                  <a:lnTo>
                    <a:pt x="726050" y="512480"/>
                  </a:lnTo>
                  <a:lnTo>
                    <a:pt x="707325" y="553390"/>
                  </a:lnTo>
                  <a:lnTo>
                    <a:pt x="684037" y="591490"/>
                  </a:lnTo>
                  <a:lnTo>
                    <a:pt x="656537" y="626430"/>
                  </a:lnTo>
                  <a:lnTo>
                    <a:pt x="625178" y="657855"/>
                  </a:lnTo>
                  <a:lnTo>
                    <a:pt x="590311" y="685413"/>
                  </a:lnTo>
                  <a:lnTo>
                    <a:pt x="552287" y="708752"/>
                  </a:lnTo>
                  <a:lnTo>
                    <a:pt x="511459" y="727518"/>
                  </a:lnTo>
                  <a:lnTo>
                    <a:pt x="468179" y="741359"/>
                  </a:lnTo>
                  <a:lnTo>
                    <a:pt x="422797" y="749923"/>
                  </a:lnTo>
                  <a:lnTo>
                    <a:pt x="375666" y="752856"/>
                  </a:lnTo>
                  <a:lnTo>
                    <a:pt x="328534" y="749923"/>
                  </a:lnTo>
                  <a:lnTo>
                    <a:pt x="283152" y="741359"/>
                  </a:lnTo>
                  <a:lnTo>
                    <a:pt x="239872" y="727518"/>
                  </a:lnTo>
                  <a:lnTo>
                    <a:pt x="199044" y="708752"/>
                  </a:lnTo>
                  <a:lnTo>
                    <a:pt x="161020" y="685413"/>
                  </a:lnTo>
                  <a:lnTo>
                    <a:pt x="126153" y="657855"/>
                  </a:lnTo>
                  <a:lnTo>
                    <a:pt x="94794" y="626430"/>
                  </a:lnTo>
                  <a:lnTo>
                    <a:pt x="67294" y="591490"/>
                  </a:lnTo>
                  <a:lnTo>
                    <a:pt x="44006" y="553390"/>
                  </a:lnTo>
                  <a:lnTo>
                    <a:pt x="25281" y="512480"/>
                  </a:lnTo>
                  <a:lnTo>
                    <a:pt x="11470" y="469115"/>
                  </a:lnTo>
                  <a:lnTo>
                    <a:pt x="2926" y="423647"/>
                  </a:lnTo>
                  <a:lnTo>
                    <a:pt x="0" y="376427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7050" y="3969257"/>
              <a:ext cx="5059680" cy="601980"/>
            </a:xfrm>
            <a:custGeom>
              <a:avLst/>
              <a:gdLst/>
              <a:ahLst/>
              <a:cxnLst/>
              <a:rect l="l" t="t" r="r" b="b"/>
              <a:pathLst>
                <a:path w="5059680" h="601979">
                  <a:moveTo>
                    <a:pt x="5059680" y="0"/>
                  </a:moveTo>
                  <a:lnTo>
                    <a:pt x="0" y="0"/>
                  </a:lnTo>
                  <a:lnTo>
                    <a:pt x="0" y="601980"/>
                  </a:lnTo>
                  <a:lnTo>
                    <a:pt x="5059680" y="601980"/>
                  </a:lnTo>
                  <a:lnTo>
                    <a:pt x="5059680" y="0"/>
                  </a:lnTo>
                  <a:close/>
                </a:path>
              </a:pathLst>
            </a:custGeom>
            <a:solidFill>
              <a:srgbClr val="1F442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7050" y="3969257"/>
              <a:ext cx="5059680" cy="601980"/>
            </a:xfrm>
            <a:custGeom>
              <a:avLst/>
              <a:gdLst/>
              <a:ahLst/>
              <a:cxnLst/>
              <a:rect l="l" t="t" r="r" b="b"/>
              <a:pathLst>
                <a:path w="5059680" h="601979">
                  <a:moveTo>
                    <a:pt x="0" y="601980"/>
                  </a:moveTo>
                  <a:lnTo>
                    <a:pt x="5059680" y="601980"/>
                  </a:lnTo>
                  <a:lnTo>
                    <a:pt x="5059680" y="0"/>
                  </a:lnTo>
                  <a:lnTo>
                    <a:pt x="0" y="0"/>
                  </a:lnTo>
                  <a:lnTo>
                    <a:pt x="0" y="601980"/>
                  </a:lnTo>
                  <a:close/>
                </a:path>
              </a:pathLst>
            </a:custGeom>
            <a:ln w="19049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1383" y="3893820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5666" y="0"/>
                  </a:move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5"/>
                  </a:lnTo>
                  <a:lnTo>
                    <a:pt x="2926" y="422797"/>
                  </a:lnTo>
                  <a:lnTo>
                    <a:pt x="11470" y="468179"/>
                  </a:lnTo>
                  <a:lnTo>
                    <a:pt x="25281" y="511459"/>
                  </a:lnTo>
                  <a:lnTo>
                    <a:pt x="44006" y="552287"/>
                  </a:lnTo>
                  <a:lnTo>
                    <a:pt x="67294" y="590311"/>
                  </a:lnTo>
                  <a:lnTo>
                    <a:pt x="94794" y="625178"/>
                  </a:lnTo>
                  <a:lnTo>
                    <a:pt x="126153" y="656537"/>
                  </a:lnTo>
                  <a:lnTo>
                    <a:pt x="161020" y="684037"/>
                  </a:lnTo>
                  <a:lnTo>
                    <a:pt x="199044" y="707325"/>
                  </a:lnTo>
                  <a:lnTo>
                    <a:pt x="239872" y="726050"/>
                  </a:lnTo>
                  <a:lnTo>
                    <a:pt x="283152" y="739861"/>
                  </a:lnTo>
                  <a:lnTo>
                    <a:pt x="328534" y="748405"/>
                  </a:lnTo>
                  <a:lnTo>
                    <a:pt x="375666" y="751331"/>
                  </a:lnTo>
                  <a:lnTo>
                    <a:pt x="422797" y="748405"/>
                  </a:lnTo>
                  <a:lnTo>
                    <a:pt x="468179" y="739861"/>
                  </a:lnTo>
                  <a:lnTo>
                    <a:pt x="511459" y="726050"/>
                  </a:lnTo>
                  <a:lnTo>
                    <a:pt x="552287" y="707325"/>
                  </a:lnTo>
                  <a:lnTo>
                    <a:pt x="590311" y="684037"/>
                  </a:lnTo>
                  <a:lnTo>
                    <a:pt x="625178" y="656537"/>
                  </a:lnTo>
                  <a:lnTo>
                    <a:pt x="656537" y="625178"/>
                  </a:lnTo>
                  <a:lnTo>
                    <a:pt x="684037" y="590311"/>
                  </a:lnTo>
                  <a:lnTo>
                    <a:pt x="707325" y="552287"/>
                  </a:lnTo>
                  <a:lnTo>
                    <a:pt x="726050" y="511459"/>
                  </a:lnTo>
                  <a:lnTo>
                    <a:pt x="739861" y="468179"/>
                  </a:lnTo>
                  <a:lnTo>
                    <a:pt x="748405" y="422797"/>
                  </a:lnTo>
                  <a:lnTo>
                    <a:pt x="751332" y="375665"/>
                  </a:lnTo>
                  <a:lnTo>
                    <a:pt x="748405" y="328534"/>
                  </a:lnTo>
                  <a:lnTo>
                    <a:pt x="739861" y="283152"/>
                  </a:lnTo>
                  <a:lnTo>
                    <a:pt x="726050" y="239872"/>
                  </a:lnTo>
                  <a:lnTo>
                    <a:pt x="707325" y="199044"/>
                  </a:lnTo>
                  <a:lnTo>
                    <a:pt x="684037" y="161020"/>
                  </a:lnTo>
                  <a:lnTo>
                    <a:pt x="656537" y="126153"/>
                  </a:lnTo>
                  <a:lnTo>
                    <a:pt x="625178" y="94794"/>
                  </a:lnTo>
                  <a:lnTo>
                    <a:pt x="590311" y="67294"/>
                  </a:lnTo>
                  <a:lnTo>
                    <a:pt x="552287" y="44006"/>
                  </a:lnTo>
                  <a:lnTo>
                    <a:pt x="511459" y="25281"/>
                  </a:lnTo>
                  <a:lnTo>
                    <a:pt x="468179" y="11470"/>
                  </a:lnTo>
                  <a:lnTo>
                    <a:pt x="422797" y="2926"/>
                  </a:lnTo>
                  <a:lnTo>
                    <a:pt x="37566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1383" y="3893820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0" y="375665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6" y="0"/>
                  </a:lnTo>
                  <a:lnTo>
                    <a:pt x="422797" y="2926"/>
                  </a:lnTo>
                  <a:lnTo>
                    <a:pt x="468179" y="11470"/>
                  </a:lnTo>
                  <a:lnTo>
                    <a:pt x="511459" y="25281"/>
                  </a:lnTo>
                  <a:lnTo>
                    <a:pt x="552287" y="44006"/>
                  </a:lnTo>
                  <a:lnTo>
                    <a:pt x="590311" y="67294"/>
                  </a:lnTo>
                  <a:lnTo>
                    <a:pt x="625178" y="94794"/>
                  </a:lnTo>
                  <a:lnTo>
                    <a:pt x="656537" y="126153"/>
                  </a:lnTo>
                  <a:lnTo>
                    <a:pt x="684037" y="161020"/>
                  </a:lnTo>
                  <a:lnTo>
                    <a:pt x="707325" y="199044"/>
                  </a:lnTo>
                  <a:lnTo>
                    <a:pt x="726050" y="239872"/>
                  </a:lnTo>
                  <a:lnTo>
                    <a:pt x="739861" y="283152"/>
                  </a:lnTo>
                  <a:lnTo>
                    <a:pt x="748405" y="328534"/>
                  </a:lnTo>
                  <a:lnTo>
                    <a:pt x="751332" y="375665"/>
                  </a:lnTo>
                  <a:lnTo>
                    <a:pt x="748405" y="422797"/>
                  </a:lnTo>
                  <a:lnTo>
                    <a:pt x="739861" y="468179"/>
                  </a:lnTo>
                  <a:lnTo>
                    <a:pt x="726050" y="511459"/>
                  </a:lnTo>
                  <a:lnTo>
                    <a:pt x="707325" y="552287"/>
                  </a:lnTo>
                  <a:lnTo>
                    <a:pt x="684037" y="590311"/>
                  </a:lnTo>
                  <a:lnTo>
                    <a:pt x="656537" y="625178"/>
                  </a:lnTo>
                  <a:lnTo>
                    <a:pt x="625178" y="656537"/>
                  </a:lnTo>
                  <a:lnTo>
                    <a:pt x="590311" y="684037"/>
                  </a:lnTo>
                  <a:lnTo>
                    <a:pt x="552287" y="707325"/>
                  </a:lnTo>
                  <a:lnTo>
                    <a:pt x="511459" y="726050"/>
                  </a:lnTo>
                  <a:lnTo>
                    <a:pt x="468179" y="739861"/>
                  </a:lnTo>
                  <a:lnTo>
                    <a:pt x="422797" y="748405"/>
                  </a:lnTo>
                  <a:lnTo>
                    <a:pt x="375666" y="751331"/>
                  </a:lnTo>
                  <a:lnTo>
                    <a:pt x="328534" y="748405"/>
                  </a:lnTo>
                  <a:lnTo>
                    <a:pt x="283152" y="739861"/>
                  </a:lnTo>
                  <a:lnTo>
                    <a:pt x="239872" y="726050"/>
                  </a:lnTo>
                  <a:lnTo>
                    <a:pt x="199044" y="707325"/>
                  </a:lnTo>
                  <a:lnTo>
                    <a:pt x="161020" y="684037"/>
                  </a:lnTo>
                  <a:lnTo>
                    <a:pt x="126153" y="656537"/>
                  </a:lnTo>
                  <a:lnTo>
                    <a:pt x="94794" y="625178"/>
                  </a:lnTo>
                  <a:lnTo>
                    <a:pt x="67294" y="590311"/>
                  </a:lnTo>
                  <a:lnTo>
                    <a:pt x="44006" y="552287"/>
                  </a:lnTo>
                  <a:lnTo>
                    <a:pt x="25281" y="511459"/>
                  </a:lnTo>
                  <a:lnTo>
                    <a:pt x="11470" y="468179"/>
                  </a:lnTo>
                  <a:lnTo>
                    <a:pt x="2926" y="422797"/>
                  </a:lnTo>
                  <a:lnTo>
                    <a:pt x="0" y="375665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4461" y="4871466"/>
              <a:ext cx="5192395" cy="600710"/>
            </a:xfrm>
            <a:custGeom>
              <a:avLst/>
              <a:gdLst/>
              <a:ahLst/>
              <a:cxnLst/>
              <a:rect l="l" t="t" r="r" b="b"/>
              <a:pathLst>
                <a:path w="5192395" h="600710">
                  <a:moveTo>
                    <a:pt x="5192268" y="0"/>
                  </a:moveTo>
                  <a:lnTo>
                    <a:pt x="0" y="0"/>
                  </a:lnTo>
                  <a:lnTo>
                    <a:pt x="0" y="600456"/>
                  </a:lnTo>
                  <a:lnTo>
                    <a:pt x="5192268" y="600456"/>
                  </a:lnTo>
                  <a:lnTo>
                    <a:pt x="5192268" y="0"/>
                  </a:lnTo>
                  <a:close/>
                </a:path>
              </a:pathLst>
            </a:custGeom>
            <a:solidFill>
              <a:srgbClr val="1F442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934461" y="4871466"/>
              <a:ext cx="5192395" cy="600710"/>
            </a:xfrm>
            <a:custGeom>
              <a:avLst/>
              <a:gdLst/>
              <a:ahLst/>
              <a:cxnLst/>
              <a:rect l="l" t="t" r="r" b="b"/>
              <a:pathLst>
                <a:path w="5192395" h="600710">
                  <a:moveTo>
                    <a:pt x="0" y="600456"/>
                  </a:moveTo>
                  <a:lnTo>
                    <a:pt x="5192268" y="600456"/>
                  </a:lnTo>
                  <a:lnTo>
                    <a:pt x="5192268" y="0"/>
                  </a:lnTo>
                  <a:lnTo>
                    <a:pt x="0" y="0"/>
                  </a:lnTo>
                  <a:lnTo>
                    <a:pt x="0" y="600456"/>
                  </a:lnTo>
                  <a:close/>
                </a:path>
              </a:pathLst>
            </a:custGeom>
            <a:ln w="19050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558795" y="4794504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5666" y="0"/>
                  </a:move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6"/>
                  </a:lnTo>
                  <a:lnTo>
                    <a:pt x="2926" y="422797"/>
                  </a:lnTo>
                  <a:lnTo>
                    <a:pt x="11470" y="468179"/>
                  </a:lnTo>
                  <a:lnTo>
                    <a:pt x="25281" y="511459"/>
                  </a:lnTo>
                  <a:lnTo>
                    <a:pt x="44006" y="552287"/>
                  </a:lnTo>
                  <a:lnTo>
                    <a:pt x="67294" y="590311"/>
                  </a:lnTo>
                  <a:lnTo>
                    <a:pt x="94794" y="625178"/>
                  </a:lnTo>
                  <a:lnTo>
                    <a:pt x="126153" y="656537"/>
                  </a:lnTo>
                  <a:lnTo>
                    <a:pt x="161020" y="684037"/>
                  </a:lnTo>
                  <a:lnTo>
                    <a:pt x="199044" y="707325"/>
                  </a:lnTo>
                  <a:lnTo>
                    <a:pt x="239872" y="726050"/>
                  </a:lnTo>
                  <a:lnTo>
                    <a:pt x="283152" y="739861"/>
                  </a:lnTo>
                  <a:lnTo>
                    <a:pt x="328534" y="748405"/>
                  </a:lnTo>
                  <a:lnTo>
                    <a:pt x="375666" y="751332"/>
                  </a:lnTo>
                  <a:lnTo>
                    <a:pt x="422797" y="748405"/>
                  </a:lnTo>
                  <a:lnTo>
                    <a:pt x="468179" y="739861"/>
                  </a:lnTo>
                  <a:lnTo>
                    <a:pt x="511459" y="726050"/>
                  </a:lnTo>
                  <a:lnTo>
                    <a:pt x="552287" y="707325"/>
                  </a:lnTo>
                  <a:lnTo>
                    <a:pt x="590311" y="684037"/>
                  </a:lnTo>
                  <a:lnTo>
                    <a:pt x="625178" y="656537"/>
                  </a:lnTo>
                  <a:lnTo>
                    <a:pt x="656537" y="625178"/>
                  </a:lnTo>
                  <a:lnTo>
                    <a:pt x="684037" y="590311"/>
                  </a:lnTo>
                  <a:lnTo>
                    <a:pt x="707325" y="552287"/>
                  </a:lnTo>
                  <a:lnTo>
                    <a:pt x="726050" y="511459"/>
                  </a:lnTo>
                  <a:lnTo>
                    <a:pt x="739861" y="468179"/>
                  </a:lnTo>
                  <a:lnTo>
                    <a:pt x="748405" y="422797"/>
                  </a:lnTo>
                  <a:lnTo>
                    <a:pt x="751332" y="375666"/>
                  </a:lnTo>
                  <a:lnTo>
                    <a:pt x="748405" y="328534"/>
                  </a:lnTo>
                  <a:lnTo>
                    <a:pt x="739861" y="283152"/>
                  </a:lnTo>
                  <a:lnTo>
                    <a:pt x="726050" y="239872"/>
                  </a:lnTo>
                  <a:lnTo>
                    <a:pt x="707325" y="199044"/>
                  </a:lnTo>
                  <a:lnTo>
                    <a:pt x="684037" y="161020"/>
                  </a:lnTo>
                  <a:lnTo>
                    <a:pt x="656537" y="126153"/>
                  </a:lnTo>
                  <a:lnTo>
                    <a:pt x="625178" y="94794"/>
                  </a:lnTo>
                  <a:lnTo>
                    <a:pt x="590311" y="67294"/>
                  </a:lnTo>
                  <a:lnTo>
                    <a:pt x="552287" y="44006"/>
                  </a:lnTo>
                  <a:lnTo>
                    <a:pt x="511459" y="25281"/>
                  </a:lnTo>
                  <a:lnTo>
                    <a:pt x="468179" y="11470"/>
                  </a:lnTo>
                  <a:lnTo>
                    <a:pt x="422797" y="2926"/>
                  </a:lnTo>
                  <a:lnTo>
                    <a:pt x="375666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8795" y="4794504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0" y="375666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6" y="0"/>
                  </a:lnTo>
                  <a:lnTo>
                    <a:pt x="422797" y="2926"/>
                  </a:lnTo>
                  <a:lnTo>
                    <a:pt x="468179" y="11470"/>
                  </a:lnTo>
                  <a:lnTo>
                    <a:pt x="511459" y="25281"/>
                  </a:lnTo>
                  <a:lnTo>
                    <a:pt x="552287" y="44006"/>
                  </a:lnTo>
                  <a:lnTo>
                    <a:pt x="590311" y="67294"/>
                  </a:lnTo>
                  <a:lnTo>
                    <a:pt x="625178" y="94794"/>
                  </a:lnTo>
                  <a:lnTo>
                    <a:pt x="656537" y="126153"/>
                  </a:lnTo>
                  <a:lnTo>
                    <a:pt x="684037" y="161020"/>
                  </a:lnTo>
                  <a:lnTo>
                    <a:pt x="707325" y="199044"/>
                  </a:lnTo>
                  <a:lnTo>
                    <a:pt x="726050" y="239872"/>
                  </a:lnTo>
                  <a:lnTo>
                    <a:pt x="739861" y="283152"/>
                  </a:lnTo>
                  <a:lnTo>
                    <a:pt x="748405" y="328534"/>
                  </a:lnTo>
                  <a:lnTo>
                    <a:pt x="751332" y="375666"/>
                  </a:lnTo>
                  <a:lnTo>
                    <a:pt x="748405" y="422797"/>
                  </a:lnTo>
                  <a:lnTo>
                    <a:pt x="739861" y="468179"/>
                  </a:lnTo>
                  <a:lnTo>
                    <a:pt x="726050" y="511459"/>
                  </a:lnTo>
                  <a:lnTo>
                    <a:pt x="707325" y="552287"/>
                  </a:lnTo>
                  <a:lnTo>
                    <a:pt x="684037" y="590311"/>
                  </a:lnTo>
                  <a:lnTo>
                    <a:pt x="656537" y="625178"/>
                  </a:lnTo>
                  <a:lnTo>
                    <a:pt x="625178" y="656537"/>
                  </a:lnTo>
                  <a:lnTo>
                    <a:pt x="590311" y="684037"/>
                  </a:lnTo>
                  <a:lnTo>
                    <a:pt x="552287" y="707325"/>
                  </a:lnTo>
                  <a:lnTo>
                    <a:pt x="511459" y="726050"/>
                  </a:lnTo>
                  <a:lnTo>
                    <a:pt x="468179" y="739861"/>
                  </a:lnTo>
                  <a:lnTo>
                    <a:pt x="422797" y="748405"/>
                  </a:lnTo>
                  <a:lnTo>
                    <a:pt x="375666" y="751332"/>
                  </a:lnTo>
                  <a:lnTo>
                    <a:pt x="328534" y="748405"/>
                  </a:lnTo>
                  <a:lnTo>
                    <a:pt x="283152" y="739861"/>
                  </a:lnTo>
                  <a:lnTo>
                    <a:pt x="239872" y="726050"/>
                  </a:lnTo>
                  <a:lnTo>
                    <a:pt x="199044" y="707325"/>
                  </a:lnTo>
                  <a:lnTo>
                    <a:pt x="161020" y="684037"/>
                  </a:lnTo>
                  <a:lnTo>
                    <a:pt x="126153" y="656537"/>
                  </a:lnTo>
                  <a:lnTo>
                    <a:pt x="94794" y="625178"/>
                  </a:lnTo>
                  <a:lnTo>
                    <a:pt x="67294" y="590311"/>
                  </a:lnTo>
                  <a:lnTo>
                    <a:pt x="44006" y="552287"/>
                  </a:lnTo>
                  <a:lnTo>
                    <a:pt x="25281" y="511459"/>
                  </a:lnTo>
                  <a:lnTo>
                    <a:pt x="11470" y="468179"/>
                  </a:lnTo>
                  <a:lnTo>
                    <a:pt x="2926" y="422797"/>
                  </a:lnTo>
                  <a:lnTo>
                    <a:pt x="0" y="375666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4693" y="5772150"/>
              <a:ext cx="5622290" cy="601980"/>
            </a:xfrm>
            <a:custGeom>
              <a:avLst/>
              <a:gdLst/>
              <a:ahLst/>
              <a:cxnLst/>
              <a:rect l="l" t="t" r="r" b="b"/>
              <a:pathLst>
                <a:path w="5622290" h="601979">
                  <a:moveTo>
                    <a:pt x="5622035" y="0"/>
                  </a:moveTo>
                  <a:lnTo>
                    <a:pt x="0" y="0"/>
                  </a:lnTo>
                  <a:lnTo>
                    <a:pt x="0" y="601980"/>
                  </a:lnTo>
                  <a:lnTo>
                    <a:pt x="5622035" y="601980"/>
                  </a:lnTo>
                  <a:lnTo>
                    <a:pt x="5622035" y="0"/>
                  </a:lnTo>
                  <a:close/>
                </a:path>
              </a:pathLst>
            </a:custGeom>
            <a:solidFill>
              <a:srgbClr val="1F442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04693" y="5772150"/>
              <a:ext cx="5622290" cy="601980"/>
            </a:xfrm>
            <a:custGeom>
              <a:avLst/>
              <a:gdLst/>
              <a:ahLst/>
              <a:cxnLst/>
              <a:rect l="l" t="t" r="r" b="b"/>
              <a:pathLst>
                <a:path w="5622290" h="601979">
                  <a:moveTo>
                    <a:pt x="0" y="601980"/>
                  </a:moveTo>
                  <a:lnTo>
                    <a:pt x="5622035" y="601980"/>
                  </a:lnTo>
                  <a:lnTo>
                    <a:pt x="5622035" y="0"/>
                  </a:lnTo>
                  <a:lnTo>
                    <a:pt x="0" y="0"/>
                  </a:lnTo>
                  <a:lnTo>
                    <a:pt x="0" y="601980"/>
                  </a:lnTo>
                  <a:close/>
                </a:path>
              </a:pathLst>
            </a:custGeom>
            <a:ln w="19049">
              <a:solidFill>
                <a:srgbClr val="DFE2E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3414" y="1948244"/>
            <a:ext cx="6286976" cy="364266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69069" indent="-159544">
              <a:spcBef>
                <a:spcPts val="75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dirty="0">
                <a:latin typeface="Georgia"/>
                <a:cs typeface="Georgia"/>
              </a:rPr>
              <a:t>Clustering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techniques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are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categorized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in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following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categories</a:t>
            </a:r>
            <a:endParaRPr>
              <a:latin typeface="Georgia"/>
              <a:cs typeface="Georgia"/>
            </a:endParaRPr>
          </a:p>
          <a:p>
            <a:pPr marL="1905476" marR="994886" indent="-323374">
              <a:lnSpc>
                <a:spcPts val="5325"/>
              </a:lnSpc>
              <a:spcBef>
                <a:spcPts val="206"/>
              </a:spcBef>
            </a:pPr>
            <a:r>
              <a:rPr sz="2475" dirty="0">
                <a:solidFill>
                  <a:srgbClr val="FFFFFF"/>
                </a:solidFill>
                <a:latin typeface="Georgia"/>
                <a:cs typeface="Georgia"/>
              </a:rPr>
              <a:t>Partitioning</a:t>
            </a:r>
            <a:r>
              <a:rPr sz="2475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75" spc="-8" dirty="0">
                <a:solidFill>
                  <a:srgbClr val="FFFFFF"/>
                </a:solidFill>
                <a:latin typeface="Georgia"/>
                <a:cs typeface="Georgia"/>
              </a:rPr>
              <a:t>Methods </a:t>
            </a:r>
            <a:r>
              <a:rPr sz="2475" dirty="0">
                <a:solidFill>
                  <a:srgbClr val="FFFFFF"/>
                </a:solidFill>
                <a:latin typeface="Georgia"/>
                <a:cs typeface="Georgia"/>
              </a:rPr>
              <a:t>Hierarchical</a:t>
            </a:r>
            <a:r>
              <a:rPr sz="2475" spc="-101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75" spc="-8" dirty="0">
                <a:solidFill>
                  <a:srgbClr val="FFFFFF"/>
                </a:solidFill>
                <a:latin typeface="Georgia"/>
                <a:cs typeface="Georgia"/>
              </a:rPr>
              <a:t>Methods </a:t>
            </a:r>
            <a:r>
              <a:rPr sz="2475" spc="-19" dirty="0">
                <a:solidFill>
                  <a:srgbClr val="FFFFFF"/>
                </a:solidFill>
                <a:latin typeface="Georgia"/>
                <a:cs typeface="Georgia"/>
              </a:rPr>
              <a:t>Density-</a:t>
            </a:r>
            <a:r>
              <a:rPr sz="2475" dirty="0">
                <a:solidFill>
                  <a:srgbClr val="FFFFFF"/>
                </a:solidFill>
                <a:latin typeface="Georgia"/>
                <a:cs typeface="Georgia"/>
              </a:rPr>
              <a:t>based</a:t>
            </a:r>
            <a:r>
              <a:rPr sz="2475" spc="-38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75" spc="-8" dirty="0">
                <a:solidFill>
                  <a:srgbClr val="FFFFFF"/>
                </a:solidFill>
                <a:latin typeface="Georgia"/>
                <a:cs typeface="Georgia"/>
              </a:rPr>
              <a:t>Methods Grid-</a:t>
            </a:r>
            <a:r>
              <a:rPr sz="2475" dirty="0">
                <a:solidFill>
                  <a:srgbClr val="FFFFFF"/>
                </a:solidFill>
                <a:latin typeface="Georgia"/>
                <a:cs typeface="Georgia"/>
              </a:rPr>
              <a:t>based</a:t>
            </a:r>
            <a:r>
              <a:rPr sz="2475" spc="-71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75" spc="-8" dirty="0">
                <a:solidFill>
                  <a:srgbClr val="FFFFFF"/>
                </a:solidFill>
                <a:latin typeface="Georgia"/>
                <a:cs typeface="Georgia"/>
              </a:rPr>
              <a:t>Methods</a:t>
            </a:r>
            <a:endParaRPr sz="2475">
              <a:latin typeface="Georgia"/>
              <a:cs typeface="Georgia"/>
            </a:endParaRPr>
          </a:p>
          <a:p>
            <a:pPr marL="1582103">
              <a:spcBef>
                <a:spcPts val="1781"/>
              </a:spcBef>
            </a:pPr>
            <a:r>
              <a:rPr sz="2475" spc="-23" dirty="0">
                <a:solidFill>
                  <a:srgbClr val="FFFFFF"/>
                </a:solidFill>
                <a:latin typeface="Georgia"/>
                <a:cs typeface="Georgia"/>
              </a:rPr>
              <a:t>Model-</a:t>
            </a:r>
            <a:r>
              <a:rPr sz="2475" dirty="0">
                <a:solidFill>
                  <a:srgbClr val="FFFFFF"/>
                </a:solidFill>
                <a:latin typeface="Georgia"/>
                <a:cs typeface="Georgia"/>
              </a:rPr>
              <a:t>based</a:t>
            </a:r>
            <a:r>
              <a:rPr sz="2475" spc="-3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75" spc="-8" dirty="0">
                <a:solidFill>
                  <a:srgbClr val="FFFFFF"/>
                </a:solidFill>
                <a:latin typeface="Georgia"/>
                <a:cs typeface="Georgia"/>
              </a:rPr>
              <a:t>Methods</a:t>
            </a:r>
            <a:endParaRPr sz="2475">
              <a:latin typeface="Georgia"/>
              <a:cs typeface="Georg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589675" y="5123831"/>
            <a:ext cx="575786" cy="575786"/>
            <a:chOff x="2119566" y="5688774"/>
            <a:chExt cx="767715" cy="767715"/>
          </a:xfrm>
        </p:grpSpPr>
        <p:sp>
          <p:nvSpPr>
            <p:cNvPr id="25" name="object 25"/>
            <p:cNvSpPr/>
            <p:nvPr/>
          </p:nvSpPr>
          <p:spPr>
            <a:xfrm>
              <a:off x="2127504" y="5696711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5665" y="0"/>
                  </a:moveTo>
                  <a:lnTo>
                    <a:pt x="328534" y="2926"/>
                  </a:lnTo>
                  <a:lnTo>
                    <a:pt x="283152" y="11472"/>
                  </a:lnTo>
                  <a:lnTo>
                    <a:pt x="239872" y="25285"/>
                  </a:lnTo>
                  <a:lnTo>
                    <a:pt x="199044" y="44014"/>
                  </a:lnTo>
                  <a:lnTo>
                    <a:pt x="161020" y="67305"/>
                  </a:lnTo>
                  <a:lnTo>
                    <a:pt x="126153" y="94807"/>
                  </a:lnTo>
                  <a:lnTo>
                    <a:pt x="94794" y="126169"/>
                  </a:lnTo>
                  <a:lnTo>
                    <a:pt x="67294" y="161037"/>
                  </a:lnTo>
                  <a:lnTo>
                    <a:pt x="44006" y="199061"/>
                  </a:lnTo>
                  <a:lnTo>
                    <a:pt x="25281" y="239887"/>
                  </a:lnTo>
                  <a:lnTo>
                    <a:pt x="11470" y="283165"/>
                  </a:lnTo>
                  <a:lnTo>
                    <a:pt x="2926" y="328542"/>
                  </a:lnTo>
                  <a:lnTo>
                    <a:pt x="0" y="375666"/>
                  </a:lnTo>
                  <a:lnTo>
                    <a:pt x="2926" y="422789"/>
                  </a:lnTo>
                  <a:lnTo>
                    <a:pt x="11470" y="468166"/>
                  </a:lnTo>
                  <a:lnTo>
                    <a:pt x="25281" y="511444"/>
                  </a:lnTo>
                  <a:lnTo>
                    <a:pt x="44006" y="552270"/>
                  </a:lnTo>
                  <a:lnTo>
                    <a:pt x="67294" y="590294"/>
                  </a:lnTo>
                  <a:lnTo>
                    <a:pt x="94794" y="625162"/>
                  </a:lnTo>
                  <a:lnTo>
                    <a:pt x="126153" y="656524"/>
                  </a:lnTo>
                  <a:lnTo>
                    <a:pt x="161020" y="684026"/>
                  </a:lnTo>
                  <a:lnTo>
                    <a:pt x="199044" y="707317"/>
                  </a:lnTo>
                  <a:lnTo>
                    <a:pt x="239872" y="726046"/>
                  </a:lnTo>
                  <a:lnTo>
                    <a:pt x="283152" y="739859"/>
                  </a:lnTo>
                  <a:lnTo>
                    <a:pt x="328534" y="748405"/>
                  </a:lnTo>
                  <a:lnTo>
                    <a:pt x="375665" y="751332"/>
                  </a:lnTo>
                  <a:lnTo>
                    <a:pt x="422797" y="748405"/>
                  </a:lnTo>
                  <a:lnTo>
                    <a:pt x="468179" y="739859"/>
                  </a:lnTo>
                  <a:lnTo>
                    <a:pt x="511459" y="726046"/>
                  </a:lnTo>
                  <a:lnTo>
                    <a:pt x="552287" y="707317"/>
                  </a:lnTo>
                  <a:lnTo>
                    <a:pt x="590311" y="684026"/>
                  </a:lnTo>
                  <a:lnTo>
                    <a:pt x="625178" y="656524"/>
                  </a:lnTo>
                  <a:lnTo>
                    <a:pt x="656537" y="625162"/>
                  </a:lnTo>
                  <a:lnTo>
                    <a:pt x="684037" y="590294"/>
                  </a:lnTo>
                  <a:lnTo>
                    <a:pt x="707325" y="552270"/>
                  </a:lnTo>
                  <a:lnTo>
                    <a:pt x="726050" y="511444"/>
                  </a:lnTo>
                  <a:lnTo>
                    <a:pt x="739861" y="468166"/>
                  </a:lnTo>
                  <a:lnTo>
                    <a:pt x="748405" y="422789"/>
                  </a:lnTo>
                  <a:lnTo>
                    <a:pt x="751332" y="375666"/>
                  </a:lnTo>
                  <a:lnTo>
                    <a:pt x="748405" y="328542"/>
                  </a:lnTo>
                  <a:lnTo>
                    <a:pt x="739861" y="283165"/>
                  </a:lnTo>
                  <a:lnTo>
                    <a:pt x="726050" y="239887"/>
                  </a:lnTo>
                  <a:lnTo>
                    <a:pt x="707325" y="199061"/>
                  </a:lnTo>
                  <a:lnTo>
                    <a:pt x="684037" y="161037"/>
                  </a:lnTo>
                  <a:lnTo>
                    <a:pt x="656537" y="126169"/>
                  </a:lnTo>
                  <a:lnTo>
                    <a:pt x="625178" y="94807"/>
                  </a:lnTo>
                  <a:lnTo>
                    <a:pt x="590311" y="67305"/>
                  </a:lnTo>
                  <a:lnTo>
                    <a:pt x="552287" y="44014"/>
                  </a:lnTo>
                  <a:lnTo>
                    <a:pt x="511459" y="25285"/>
                  </a:lnTo>
                  <a:lnTo>
                    <a:pt x="468179" y="11472"/>
                  </a:lnTo>
                  <a:lnTo>
                    <a:pt x="422797" y="2926"/>
                  </a:lnTo>
                  <a:lnTo>
                    <a:pt x="375665" y="0"/>
                  </a:lnTo>
                  <a:close/>
                </a:path>
              </a:pathLst>
            </a:custGeom>
            <a:solidFill>
              <a:srgbClr val="DFE2E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2127504" y="5696711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0" y="375666"/>
                  </a:moveTo>
                  <a:lnTo>
                    <a:pt x="2926" y="328542"/>
                  </a:lnTo>
                  <a:lnTo>
                    <a:pt x="11470" y="283165"/>
                  </a:lnTo>
                  <a:lnTo>
                    <a:pt x="25281" y="239887"/>
                  </a:lnTo>
                  <a:lnTo>
                    <a:pt x="44006" y="199061"/>
                  </a:lnTo>
                  <a:lnTo>
                    <a:pt x="67294" y="161037"/>
                  </a:lnTo>
                  <a:lnTo>
                    <a:pt x="94794" y="126169"/>
                  </a:lnTo>
                  <a:lnTo>
                    <a:pt x="126153" y="94807"/>
                  </a:lnTo>
                  <a:lnTo>
                    <a:pt x="161020" y="67305"/>
                  </a:lnTo>
                  <a:lnTo>
                    <a:pt x="199044" y="44014"/>
                  </a:lnTo>
                  <a:lnTo>
                    <a:pt x="239872" y="25285"/>
                  </a:lnTo>
                  <a:lnTo>
                    <a:pt x="283152" y="11472"/>
                  </a:lnTo>
                  <a:lnTo>
                    <a:pt x="328534" y="2926"/>
                  </a:lnTo>
                  <a:lnTo>
                    <a:pt x="375665" y="0"/>
                  </a:lnTo>
                  <a:lnTo>
                    <a:pt x="422797" y="2926"/>
                  </a:lnTo>
                  <a:lnTo>
                    <a:pt x="468179" y="11472"/>
                  </a:lnTo>
                  <a:lnTo>
                    <a:pt x="511459" y="25285"/>
                  </a:lnTo>
                  <a:lnTo>
                    <a:pt x="552287" y="44014"/>
                  </a:lnTo>
                  <a:lnTo>
                    <a:pt x="590311" y="67305"/>
                  </a:lnTo>
                  <a:lnTo>
                    <a:pt x="625178" y="94807"/>
                  </a:lnTo>
                  <a:lnTo>
                    <a:pt x="656537" y="126169"/>
                  </a:lnTo>
                  <a:lnTo>
                    <a:pt x="684037" y="161037"/>
                  </a:lnTo>
                  <a:lnTo>
                    <a:pt x="707325" y="199061"/>
                  </a:lnTo>
                  <a:lnTo>
                    <a:pt x="726050" y="239887"/>
                  </a:lnTo>
                  <a:lnTo>
                    <a:pt x="739861" y="283165"/>
                  </a:lnTo>
                  <a:lnTo>
                    <a:pt x="748405" y="328542"/>
                  </a:lnTo>
                  <a:lnTo>
                    <a:pt x="751332" y="375666"/>
                  </a:lnTo>
                  <a:lnTo>
                    <a:pt x="748405" y="422789"/>
                  </a:lnTo>
                  <a:lnTo>
                    <a:pt x="739861" y="468166"/>
                  </a:lnTo>
                  <a:lnTo>
                    <a:pt x="726050" y="511444"/>
                  </a:lnTo>
                  <a:lnTo>
                    <a:pt x="707325" y="552270"/>
                  </a:lnTo>
                  <a:lnTo>
                    <a:pt x="684037" y="590294"/>
                  </a:lnTo>
                  <a:lnTo>
                    <a:pt x="656537" y="625162"/>
                  </a:lnTo>
                  <a:lnTo>
                    <a:pt x="625178" y="656524"/>
                  </a:lnTo>
                  <a:lnTo>
                    <a:pt x="590311" y="684026"/>
                  </a:lnTo>
                  <a:lnTo>
                    <a:pt x="552287" y="707317"/>
                  </a:lnTo>
                  <a:lnTo>
                    <a:pt x="511459" y="726046"/>
                  </a:lnTo>
                  <a:lnTo>
                    <a:pt x="468179" y="739859"/>
                  </a:lnTo>
                  <a:lnTo>
                    <a:pt x="422797" y="748405"/>
                  </a:lnTo>
                  <a:lnTo>
                    <a:pt x="375665" y="751332"/>
                  </a:lnTo>
                  <a:lnTo>
                    <a:pt x="328534" y="748405"/>
                  </a:lnTo>
                  <a:lnTo>
                    <a:pt x="283152" y="739859"/>
                  </a:lnTo>
                  <a:lnTo>
                    <a:pt x="239872" y="726046"/>
                  </a:lnTo>
                  <a:lnTo>
                    <a:pt x="199044" y="707317"/>
                  </a:lnTo>
                  <a:lnTo>
                    <a:pt x="161020" y="684026"/>
                  </a:lnTo>
                  <a:lnTo>
                    <a:pt x="126153" y="656524"/>
                  </a:lnTo>
                  <a:lnTo>
                    <a:pt x="94794" y="625162"/>
                  </a:lnTo>
                  <a:lnTo>
                    <a:pt x="67294" y="590294"/>
                  </a:lnTo>
                  <a:lnTo>
                    <a:pt x="44006" y="552270"/>
                  </a:lnTo>
                  <a:lnTo>
                    <a:pt x="25281" y="511444"/>
                  </a:lnTo>
                  <a:lnTo>
                    <a:pt x="11470" y="468166"/>
                  </a:lnTo>
                  <a:lnTo>
                    <a:pt x="2926" y="422789"/>
                  </a:lnTo>
                  <a:lnTo>
                    <a:pt x="0" y="375666"/>
                  </a:lnTo>
                  <a:close/>
                </a:path>
              </a:pathLst>
            </a:custGeom>
            <a:ln w="15875">
              <a:solidFill>
                <a:srgbClr val="335B7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83633" y="361091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49" dirty="0">
                <a:solidFill>
                  <a:schemeClr val="bg1"/>
                </a:solidFill>
              </a:rPr>
              <a:t>Partitioning</a:t>
            </a:r>
            <a:r>
              <a:rPr spc="225" dirty="0">
                <a:solidFill>
                  <a:schemeClr val="bg1"/>
                </a:solidFill>
              </a:rPr>
              <a:t> </a:t>
            </a:r>
            <a:r>
              <a:rPr spc="34" dirty="0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4" y="1883907"/>
            <a:ext cx="7662863" cy="3390832"/>
          </a:xfrm>
          <a:prstGeom prst="rect">
            <a:avLst/>
          </a:prstGeom>
        </p:spPr>
        <p:txBody>
          <a:bodyPr vert="horz" wrap="square" lIns="0" tIns="73819" rIns="0" bIns="0" rtlCol="0">
            <a:spAutoFit/>
          </a:bodyPr>
          <a:lstStyle/>
          <a:p>
            <a:pPr marL="224314" indent="-214789">
              <a:spcBef>
                <a:spcPts val="581"/>
              </a:spcBef>
              <a:buClr>
                <a:srgbClr val="1CACE3"/>
              </a:buClr>
              <a:buFont typeface="Wingdings"/>
              <a:buChar char=""/>
              <a:tabLst>
                <a:tab pos="224314" algn="l"/>
              </a:tabLst>
            </a:pPr>
            <a:r>
              <a:rPr dirty="0">
                <a:latin typeface="Georgia"/>
                <a:cs typeface="Georgia"/>
              </a:rPr>
              <a:t>Construct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partition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26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database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𝑫</a:t>
            </a:r>
            <a:r>
              <a:rPr spc="11" dirty="0">
                <a:latin typeface="Cambria Math"/>
                <a:cs typeface="Cambria Math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𝒏</a:t>
            </a:r>
            <a:r>
              <a:rPr spc="11" dirty="0">
                <a:latin typeface="Cambria Math"/>
                <a:cs typeface="Cambria Math"/>
              </a:rPr>
              <a:t> </a:t>
            </a:r>
            <a:r>
              <a:rPr dirty="0">
                <a:latin typeface="Georgia"/>
                <a:cs typeface="Georgia"/>
              </a:rPr>
              <a:t>objects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into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𝒌</a:t>
            </a:r>
            <a:r>
              <a:rPr spc="8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pc="-8" dirty="0">
                <a:latin typeface="Georgia"/>
                <a:cs typeface="Georgia"/>
              </a:rPr>
              <a:t>clusters</a:t>
            </a:r>
            <a:endParaRPr dirty="0">
              <a:latin typeface="Georgia"/>
              <a:cs typeface="Georgia"/>
            </a:endParaRPr>
          </a:p>
          <a:p>
            <a:pPr marL="289084" lvl="1" indent="-149543">
              <a:spcBef>
                <a:spcPts val="424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sz="1500" dirty="0">
                <a:latin typeface="Georgia"/>
                <a:cs typeface="Georgia"/>
              </a:rPr>
              <a:t>each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contains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at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least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one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object</a:t>
            </a:r>
            <a:endParaRPr sz="1500" dirty="0">
              <a:latin typeface="Georgia"/>
              <a:cs typeface="Georgia"/>
            </a:endParaRPr>
          </a:p>
          <a:p>
            <a:pPr marL="289084" lvl="1" indent="-149543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sz="1500" dirty="0">
                <a:latin typeface="Georgia"/>
                <a:cs typeface="Georgia"/>
              </a:rPr>
              <a:t>each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belongs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exactly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one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cluster</a:t>
            </a:r>
            <a:endParaRPr sz="1500" dirty="0">
              <a:latin typeface="Georgia"/>
              <a:cs typeface="Georgia"/>
            </a:endParaRPr>
          </a:p>
          <a:p>
            <a:pPr marL="112395" marR="982028" indent="-102870">
              <a:lnSpc>
                <a:spcPts val="1943"/>
              </a:lnSpc>
              <a:spcBef>
                <a:spcPts val="1373"/>
              </a:spcBef>
              <a:buClr>
                <a:srgbClr val="1CACE3"/>
              </a:buClr>
              <a:buFont typeface="Wingdings"/>
              <a:buChar char=""/>
              <a:tabLst>
                <a:tab pos="112395" algn="l"/>
                <a:tab pos="169069" algn="l"/>
              </a:tabLst>
            </a:pPr>
            <a:r>
              <a:rPr dirty="0">
                <a:latin typeface="Georgia"/>
                <a:cs typeface="Georgia"/>
              </a:rPr>
              <a:t>	Given</a:t>
            </a:r>
            <a:r>
              <a:rPr spc="-34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𝒌</a:t>
            </a:r>
            <a:r>
              <a:rPr dirty="0">
                <a:latin typeface="Georgia"/>
                <a:cs typeface="Georgia"/>
              </a:rPr>
              <a:t>,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find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partition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of</a:t>
            </a:r>
            <a:r>
              <a:rPr spc="-11" dirty="0">
                <a:latin typeface="Georgia"/>
                <a:cs typeface="Georgia"/>
              </a:rPr>
              <a:t> </a:t>
            </a:r>
            <a:r>
              <a:rPr dirty="0">
                <a:latin typeface="Cambria Math"/>
                <a:cs typeface="Cambria Math"/>
              </a:rPr>
              <a:t>𝒌</a:t>
            </a:r>
            <a:r>
              <a:rPr spc="11" dirty="0">
                <a:latin typeface="Cambria Math"/>
                <a:cs typeface="Cambria Math"/>
              </a:rPr>
              <a:t> </a:t>
            </a:r>
            <a:r>
              <a:rPr dirty="0">
                <a:latin typeface="Georgia"/>
                <a:cs typeface="Georgia"/>
              </a:rPr>
              <a:t>clusters</a:t>
            </a:r>
            <a:r>
              <a:rPr spc="-19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that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optimizes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the</a:t>
            </a:r>
            <a:r>
              <a:rPr spc="-15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chosen </a:t>
            </a:r>
            <a:r>
              <a:rPr dirty="0">
                <a:latin typeface="Georgia"/>
                <a:cs typeface="Georgia"/>
              </a:rPr>
              <a:t>partitioning</a:t>
            </a:r>
            <a:r>
              <a:rPr spc="-41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criterion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(min</a:t>
            </a:r>
            <a:r>
              <a:rPr spc="-3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distance</a:t>
            </a:r>
            <a:r>
              <a:rPr spc="-38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from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cluster</a:t>
            </a:r>
            <a:r>
              <a:rPr spc="-23" dirty="0">
                <a:latin typeface="Georgia"/>
                <a:cs typeface="Georgia"/>
              </a:rPr>
              <a:t> </a:t>
            </a:r>
            <a:r>
              <a:rPr spc="-8" dirty="0">
                <a:latin typeface="Georgia"/>
                <a:cs typeface="Georgia"/>
              </a:rPr>
              <a:t>centers)</a:t>
            </a:r>
            <a:endParaRPr dirty="0">
              <a:latin typeface="Georgia"/>
              <a:cs typeface="Georgia"/>
            </a:endParaRPr>
          </a:p>
          <a:p>
            <a:pPr marL="289084" lvl="1" indent="-149543">
              <a:spcBef>
                <a:spcPts val="405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sz="1500" b="1" dirty="0">
                <a:latin typeface="Georgia"/>
                <a:cs typeface="Georgia"/>
              </a:rPr>
              <a:t>Global</a:t>
            </a:r>
            <a:r>
              <a:rPr sz="1500" b="1" spc="-34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optimal</a:t>
            </a:r>
            <a:r>
              <a:rPr sz="1500" dirty="0">
                <a:latin typeface="Georgia"/>
                <a:cs typeface="Georgia"/>
              </a:rPr>
              <a:t>: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exhaustively</a:t>
            </a:r>
            <a:r>
              <a:rPr sz="1500" spc="-4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enumerate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all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partitions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Stirling(n,k)</a:t>
            </a:r>
            <a:endParaRPr sz="1500" dirty="0">
              <a:latin typeface="Georgia"/>
              <a:cs typeface="Georgia"/>
            </a:endParaRPr>
          </a:p>
          <a:p>
            <a:pPr marL="324803">
              <a:spcBef>
                <a:spcPts val="720"/>
              </a:spcBef>
            </a:pPr>
            <a:r>
              <a:rPr sz="1500" dirty="0">
                <a:latin typeface="Georgia"/>
                <a:cs typeface="Georgia"/>
              </a:rPr>
              <a:t>(S(10,3)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=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9.330,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S(20,3)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=</a:t>
            </a:r>
            <a:r>
              <a:rPr sz="1500" spc="-8" dirty="0">
                <a:latin typeface="Georgia"/>
                <a:cs typeface="Georgia"/>
              </a:rPr>
              <a:t> 580.606.446,…)</a:t>
            </a:r>
            <a:endParaRPr sz="1500" dirty="0">
              <a:latin typeface="Georgia"/>
              <a:cs typeface="Georgia"/>
            </a:endParaRPr>
          </a:p>
          <a:p>
            <a:pPr marL="289084" lvl="1" indent="-149543">
              <a:spcBef>
                <a:spcPts val="724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sz="1500" b="1" dirty="0">
                <a:latin typeface="Georgia"/>
                <a:cs typeface="Georgia"/>
              </a:rPr>
              <a:t>Heuristic</a:t>
            </a:r>
            <a:r>
              <a:rPr sz="1500" b="1" spc="-23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methods</a:t>
            </a:r>
            <a:r>
              <a:rPr sz="1500" dirty="0">
                <a:latin typeface="Georgia"/>
                <a:cs typeface="Georgia"/>
              </a:rPr>
              <a:t>: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spc="-19" dirty="0">
                <a:latin typeface="Georgia"/>
                <a:cs typeface="Georgia"/>
              </a:rPr>
              <a:t>k-</a:t>
            </a:r>
            <a:r>
              <a:rPr sz="1500" dirty="0">
                <a:latin typeface="Georgia"/>
                <a:cs typeface="Georgia"/>
              </a:rPr>
              <a:t>means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and</a:t>
            </a:r>
            <a:r>
              <a:rPr sz="1500" spc="-15" dirty="0">
                <a:latin typeface="Georgia"/>
                <a:cs typeface="Georgia"/>
              </a:rPr>
              <a:t> k-</a:t>
            </a:r>
            <a:r>
              <a:rPr sz="1500" dirty="0">
                <a:latin typeface="Georgia"/>
                <a:cs typeface="Georgia"/>
              </a:rPr>
              <a:t>medoids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algorithms</a:t>
            </a:r>
            <a:endParaRPr sz="1500" dirty="0">
              <a:latin typeface="Georgia"/>
              <a:cs typeface="Georgia"/>
            </a:endParaRPr>
          </a:p>
          <a:p>
            <a:pPr marL="289084" lvl="1" indent="-149543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289084" algn="l"/>
              </a:tabLst>
            </a:pPr>
            <a:r>
              <a:rPr sz="1500" b="1" i="1" spc="-19" dirty="0">
                <a:solidFill>
                  <a:srgbClr val="C00000"/>
                </a:solidFill>
                <a:latin typeface="Georgia"/>
                <a:cs typeface="Georgia"/>
              </a:rPr>
              <a:t>k-</a:t>
            </a:r>
            <a:r>
              <a:rPr sz="1500" b="1" i="1" dirty="0">
                <a:solidFill>
                  <a:srgbClr val="C00000"/>
                </a:solidFill>
                <a:latin typeface="Georgia"/>
                <a:cs typeface="Georgia"/>
              </a:rPr>
              <a:t>means</a:t>
            </a:r>
            <a:r>
              <a:rPr sz="1500" dirty="0">
                <a:latin typeface="Georgia"/>
                <a:cs typeface="Georgia"/>
              </a:rPr>
              <a:t>: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Each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represented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by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center</a:t>
            </a:r>
            <a:r>
              <a:rPr sz="1500" b="1" spc="-26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of</a:t>
            </a:r>
            <a:r>
              <a:rPr sz="1500" b="1" spc="-15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the</a:t>
            </a:r>
            <a:r>
              <a:rPr sz="1500" b="1" spc="-19" dirty="0">
                <a:latin typeface="Georgia"/>
                <a:cs typeface="Georgia"/>
              </a:rPr>
              <a:t> </a:t>
            </a:r>
            <a:r>
              <a:rPr sz="1500" b="1" spc="-8" dirty="0">
                <a:latin typeface="Georgia"/>
                <a:cs typeface="Georgia"/>
              </a:rPr>
              <a:t>cluster.</a:t>
            </a:r>
            <a:endParaRPr sz="1500" dirty="0">
              <a:latin typeface="Georgia"/>
              <a:cs typeface="Georgia"/>
            </a:endParaRPr>
          </a:p>
          <a:p>
            <a:pPr marL="242888" marR="3810" lvl="1" indent="-103346">
              <a:lnSpc>
                <a:spcPts val="1620"/>
              </a:lnSpc>
              <a:spcBef>
                <a:spcPts val="923"/>
              </a:spcBef>
              <a:buFont typeface="Wingdings"/>
              <a:buChar char=""/>
              <a:tabLst>
                <a:tab pos="242888" algn="l"/>
                <a:tab pos="289084" algn="l"/>
              </a:tabLst>
            </a:pPr>
            <a:r>
              <a:rPr sz="150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500" b="1" i="1" spc="-19" dirty="0">
                <a:solidFill>
                  <a:srgbClr val="C00000"/>
                </a:solidFill>
                <a:latin typeface="Georgia"/>
                <a:cs typeface="Georgia"/>
              </a:rPr>
              <a:t>k-</a:t>
            </a:r>
            <a:r>
              <a:rPr sz="1500" b="1" i="1" dirty="0">
                <a:solidFill>
                  <a:srgbClr val="C00000"/>
                </a:solidFill>
                <a:latin typeface="Georgia"/>
                <a:cs typeface="Georgia"/>
              </a:rPr>
              <a:t>medoids</a:t>
            </a:r>
            <a:r>
              <a:rPr sz="1500" b="1" i="1" spc="-38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or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PAM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(Partition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around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medoids):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Each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represented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by</a:t>
            </a:r>
            <a:r>
              <a:rPr sz="1500" spc="15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one</a:t>
            </a:r>
            <a:r>
              <a:rPr sz="1500" b="1" spc="-26" dirty="0">
                <a:latin typeface="Georgia"/>
                <a:cs typeface="Georgia"/>
              </a:rPr>
              <a:t> </a:t>
            </a:r>
            <a:r>
              <a:rPr sz="1500" b="1" spc="-19" dirty="0">
                <a:latin typeface="Georgia"/>
                <a:cs typeface="Georgia"/>
              </a:rPr>
              <a:t>of </a:t>
            </a:r>
            <a:r>
              <a:rPr sz="1500" b="1" dirty="0">
                <a:latin typeface="Georgia"/>
                <a:cs typeface="Georgia"/>
              </a:rPr>
              <a:t>the objects</a:t>
            </a:r>
            <a:r>
              <a:rPr sz="1500" b="1" spc="-11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in</a:t>
            </a:r>
            <a:r>
              <a:rPr sz="1500" b="1" spc="-8" dirty="0">
                <a:latin typeface="Georgia"/>
                <a:cs typeface="Georgia"/>
              </a:rPr>
              <a:t> </a:t>
            </a:r>
            <a:r>
              <a:rPr sz="1500" b="1" dirty="0">
                <a:latin typeface="Georgia"/>
                <a:cs typeface="Georgia"/>
              </a:rPr>
              <a:t>the </a:t>
            </a:r>
            <a:r>
              <a:rPr sz="1500" b="1" spc="-8" dirty="0">
                <a:latin typeface="Georgia"/>
                <a:cs typeface="Georgia"/>
              </a:rPr>
              <a:t>cluster.</a:t>
            </a:r>
            <a:endParaRPr sz="15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3700" y="29335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5" y="1918983"/>
            <a:ext cx="7706201" cy="3134832"/>
          </a:xfrm>
          <a:prstGeom prst="rect">
            <a:avLst/>
          </a:prstGeom>
        </p:spPr>
        <p:txBody>
          <a:bodyPr vert="horz" wrap="square" lIns="0" tIns="43814" rIns="0" bIns="0" rtlCol="0">
            <a:spAutoFit/>
          </a:bodyPr>
          <a:lstStyle/>
          <a:p>
            <a:pPr marL="9525">
              <a:spcBef>
                <a:spcPts val="344"/>
              </a:spcBef>
            </a:pPr>
            <a:r>
              <a:rPr sz="1500" spc="-8" dirty="0">
                <a:solidFill>
                  <a:srgbClr val="C00000"/>
                </a:solidFill>
                <a:latin typeface="Georgia"/>
                <a:cs typeface="Georgia"/>
              </a:rPr>
              <a:t>Input:</a:t>
            </a:r>
            <a:endParaRPr sz="1500">
              <a:latin typeface="Georgia"/>
              <a:cs typeface="Georgia"/>
            </a:endParaRPr>
          </a:p>
          <a:p>
            <a:pPr marL="695325">
              <a:spcBef>
                <a:spcPts val="269"/>
              </a:spcBef>
            </a:pPr>
            <a:r>
              <a:rPr sz="1500" dirty="0">
                <a:latin typeface="Cambria Math"/>
                <a:cs typeface="Cambria Math"/>
              </a:rPr>
              <a:t>𝒌</a:t>
            </a:r>
            <a:r>
              <a:rPr sz="1500" spc="19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clusters,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𝒏</a:t>
            </a:r>
            <a:r>
              <a:rPr sz="1500" spc="11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objects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database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-19" dirty="0">
                <a:latin typeface="Cambria Math"/>
                <a:cs typeface="Cambria Math"/>
              </a:rPr>
              <a:t>𝑫</a:t>
            </a:r>
            <a:r>
              <a:rPr sz="1500" spc="-19" dirty="0">
                <a:latin typeface="Georgia"/>
                <a:cs typeface="Georgia"/>
              </a:rPr>
              <a:t>.</a:t>
            </a:r>
            <a:endParaRPr sz="1500">
              <a:latin typeface="Georgia"/>
              <a:cs typeface="Georgia"/>
            </a:endParaRPr>
          </a:p>
          <a:p>
            <a:pPr marL="9525">
              <a:spcBef>
                <a:spcPts val="1204"/>
              </a:spcBef>
            </a:pPr>
            <a:r>
              <a:rPr sz="1500" spc="-8" dirty="0">
                <a:solidFill>
                  <a:srgbClr val="C00000"/>
                </a:solidFill>
                <a:latin typeface="Georgia"/>
                <a:cs typeface="Georgia"/>
              </a:rPr>
              <a:t>Output:</a:t>
            </a:r>
            <a:endParaRPr sz="1500">
              <a:latin typeface="Georgia"/>
              <a:cs typeface="Georgia"/>
            </a:endParaRPr>
          </a:p>
          <a:p>
            <a:pPr marL="695325">
              <a:spcBef>
                <a:spcPts val="270"/>
              </a:spcBef>
            </a:pPr>
            <a:r>
              <a:rPr sz="1500" dirty="0">
                <a:latin typeface="Georgia"/>
                <a:cs typeface="Georgia"/>
              </a:rPr>
              <a:t>Set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𝒌</a:t>
            </a:r>
            <a:r>
              <a:rPr sz="1500" spc="19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clusters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minimizing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squared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error</a:t>
            </a:r>
            <a:r>
              <a:rPr sz="1500" spc="-8" dirty="0">
                <a:latin typeface="Georgia"/>
                <a:cs typeface="Georgia"/>
              </a:rPr>
              <a:t> function</a:t>
            </a:r>
            <a:endParaRPr sz="1500">
              <a:latin typeface="Georgia"/>
              <a:cs typeface="Georgia"/>
            </a:endParaRPr>
          </a:p>
          <a:p>
            <a:pPr marL="9525">
              <a:spcBef>
                <a:spcPts val="1208"/>
              </a:spcBef>
            </a:pPr>
            <a:r>
              <a:rPr sz="1500" spc="-8" dirty="0">
                <a:solidFill>
                  <a:srgbClr val="C00000"/>
                </a:solidFill>
                <a:latin typeface="Georgia"/>
                <a:cs typeface="Georgia"/>
              </a:rPr>
              <a:t>Algorithm:</a:t>
            </a:r>
            <a:endParaRPr sz="1500">
              <a:latin typeface="Georgia"/>
              <a:cs typeface="Georgia"/>
            </a:endParaRPr>
          </a:p>
          <a:p>
            <a:pPr marL="352425" indent="-342900">
              <a:spcBef>
                <a:spcPts val="270"/>
              </a:spcBef>
              <a:buClr>
                <a:srgbClr val="1CACE3"/>
              </a:buClr>
              <a:buAutoNum type="arabicPeriod"/>
              <a:tabLst>
                <a:tab pos="352425" algn="l"/>
              </a:tabLst>
            </a:pPr>
            <a:r>
              <a:rPr sz="1500" dirty="0">
                <a:latin typeface="Georgia"/>
                <a:cs typeface="Georgia"/>
              </a:rPr>
              <a:t>Arbitrarily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choose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𝒌</a:t>
            </a:r>
            <a:r>
              <a:rPr sz="1500" spc="15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objects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from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𝑫</a:t>
            </a:r>
            <a:r>
              <a:rPr sz="1500" spc="11" dirty="0">
                <a:latin typeface="Cambria Math"/>
                <a:cs typeface="Cambria Math"/>
              </a:rPr>
              <a:t> </a:t>
            </a:r>
            <a:r>
              <a:rPr sz="1500" dirty="0">
                <a:latin typeface="Georgia"/>
                <a:cs typeface="Georgia"/>
              </a:rPr>
              <a:t>as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initial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centers;</a:t>
            </a:r>
            <a:endParaRPr sz="1500">
              <a:latin typeface="Georgia"/>
              <a:cs typeface="Georgia"/>
            </a:endParaRPr>
          </a:p>
          <a:p>
            <a:pPr marL="352425" indent="-342900">
              <a:spcBef>
                <a:spcPts val="270"/>
              </a:spcBef>
              <a:buClr>
                <a:srgbClr val="1CACE3"/>
              </a:buClr>
              <a:buAutoNum type="arabicPeriod"/>
              <a:tabLst>
                <a:tab pos="352425" algn="l"/>
              </a:tabLst>
            </a:pPr>
            <a:r>
              <a:rPr sz="1500" b="1" spc="-8" dirty="0">
                <a:latin typeface="Georgia"/>
                <a:cs typeface="Georgia"/>
              </a:rPr>
              <a:t>Repeat</a:t>
            </a:r>
            <a:endParaRPr sz="1500">
              <a:latin typeface="Georgia"/>
              <a:cs typeface="Georgia"/>
            </a:endParaRPr>
          </a:p>
          <a:p>
            <a:pPr marL="482441" lvl="1" indent="-342900">
              <a:lnSpc>
                <a:spcPts val="1710"/>
              </a:lnSpc>
              <a:spcBef>
                <a:spcPts val="270"/>
              </a:spcBef>
              <a:buClr>
                <a:srgbClr val="1CACE3"/>
              </a:buClr>
              <a:buAutoNum type="arabicPeriod"/>
              <a:tabLst>
                <a:tab pos="482441" algn="l"/>
              </a:tabLst>
            </a:pPr>
            <a:r>
              <a:rPr sz="1500" dirty="0">
                <a:latin typeface="Georgia"/>
                <a:cs typeface="Georgia"/>
              </a:rPr>
              <a:t>(Re)assign</a:t>
            </a:r>
            <a:r>
              <a:rPr sz="1500" spc="-4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each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which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most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similar,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based</a:t>
            </a:r>
            <a:r>
              <a:rPr sz="1500" spc="-19" dirty="0">
                <a:latin typeface="Georgia"/>
                <a:cs typeface="Georgia"/>
              </a:rPr>
              <a:t> on</a:t>
            </a:r>
            <a:endParaRPr sz="1500">
              <a:latin typeface="Georgia"/>
              <a:cs typeface="Georgia"/>
            </a:endParaRPr>
          </a:p>
          <a:p>
            <a:pPr marL="482918">
              <a:lnSpc>
                <a:spcPts val="1710"/>
              </a:lnSpc>
            </a:pPr>
            <a:r>
              <a:rPr sz="1500" dirty="0">
                <a:latin typeface="Georgia"/>
                <a:cs typeface="Georgia"/>
              </a:rPr>
              <a:t>the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mean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value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objects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in</a:t>
            </a:r>
            <a:r>
              <a:rPr sz="1500" spc="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cluster;</a:t>
            </a:r>
            <a:endParaRPr sz="1500">
              <a:latin typeface="Georgia"/>
              <a:cs typeface="Georgia"/>
            </a:endParaRPr>
          </a:p>
          <a:p>
            <a:pPr marL="482441" lvl="1" indent="-342900">
              <a:spcBef>
                <a:spcPts val="270"/>
              </a:spcBef>
              <a:buClr>
                <a:srgbClr val="1CACE3"/>
              </a:buClr>
              <a:buAutoNum type="arabicPeriod" startAt="2"/>
              <a:tabLst>
                <a:tab pos="482441" algn="l"/>
              </a:tabLst>
            </a:pPr>
            <a:r>
              <a:rPr sz="1500" dirty="0">
                <a:latin typeface="Georgia"/>
                <a:cs typeface="Georgia"/>
              </a:rPr>
              <a:t>Update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means,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i.e.,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calculate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mean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value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objects</a:t>
            </a:r>
            <a:r>
              <a:rPr sz="1500" spc="-30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for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each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cluster;</a:t>
            </a:r>
            <a:endParaRPr sz="1500">
              <a:latin typeface="Georgia"/>
              <a:cs typeface="Georgia"/>
            </a:endParaRPr>
          </a:p>
          <a:p>
            <a:pPr marL="352425" lvl="1" indent="-342900">
              <a:spcBef>
                <a:spcPts val="270"/>
              </a:spcBef>
              <a:buClr>
                <a:srgbClr val="1CACE3"/>
              </a:buClr>
              <a:buAutoNum type="arabicPeriod" startAt="2"/>
              <a:tabLst>
                <a:tab pos="352425" algn="l"/>
              </a:tabLst>
            </a:pPr>
            <a:r>
              <a:rPr sz="1500" b="1" dirty="0">
                <a:latin typeface="Georgia"/>
                <a:cs typeface="Georgia"/>
              </a:rPr>
              <a:t>Until</a:t>
            </a:r>
            <a:r>
              <a:rPr sz="1500" b="1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no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change;</a:t>
            </a:r>
            <a:endParaRPr sz="15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00567" y="39495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581900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9525" marR="3810">
              <a:lnSpc>
                <a:spcPts val="1454"/>
              </a:lnSpc>
              <a:spcBef>
                <a:spcPts val="259"/>
              </a:spcBef>
            </a:pPr>
            <a:r>
              <a:rPr sz="1350" dirty="0">
                <a:latin typeface="Georgia"/>
                <a:cs typeface="Georgia"/>
              </a:rPr>
              <a:t>Example: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1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following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data</a:t>
            </a:r>
            <a:r>
              <a:rPr sz="1350" spc="-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example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into</a:t>
            </a:r>
            <a:r>
              <a:rPr sz="1350" spc="-1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3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clusters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using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38" dirty="0">
                <a:latin typeface="Georgia"/>
                <a:cs typeface="Georgia"/>
              </a:rPr>
              <a:t>k-</a:t>
            </a:r>
            <a:r>
              <a:rPr sz="1350" dirty="0">
                <a:latin typeface="Georgia"/>
                <a:cs typeface="Georgia"/>
              </a:rPr>
              <a:t>means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clustering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Euclidean distance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5753" y="2313432"/>
            <a:ext cx="4329683" cy="335127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15900" y="462691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354330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1.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arbitrary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3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points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centers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5753" y="2369438"/>
            <a:ext cx="4329683" cy="33569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83850" y="2557463"/>
            <a:ext cx="784860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Arial MT"/>
                <a:cs typeface="Arial MT"/>
              </a:rPr>
              <a:t>C1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=</a:t>
            </a:r>
            <a:r>
              <a:rPr sz="1350" spc="-4" dirty="0">
                <a:latin typeface="Arial MT"/>
                <a:cs typeface="Arial MT"/>
              </a:rPr>
              <a:t> </a:t>
            </a:r>
            <a:r>
              <a:rPr sz="1350" spc="-15" dirty="0">
                <a:latin typeface="Arial MT"/>
                <a:cs typeface="Arial MT"/>
              </a:rPr>
              <a:t>(2,1)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latin typeface="Arial MT"/>
                <a:cs typeface="Arial MT"/>
              </a:rPr>
              <a:t>C2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=</a:t>
            </a:r>
            <a:r>
              <a:rPr sz="1350" spc="-4" dirty="0">
                <a:latin typeface="Arial MT"/>
                <a:cs typeface="Arial MT"/>
              </a:rPr>
              <a:t> </a:t>
            </a:r>
            <a:r>
              <a:rPr sz="1350" spc="-15" dirty="0">
                <a:latin typeface="Arial MT"/>
                <a:cs typeface="Arial MT"/>
              </a:rPr>
              <a:t>(4,4)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latin typeface="Arial MT"/>
                <a:cs typeface="Arial MT"/>
              </a:rPr>
              <a:t>C3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=</a:t>
            </a:r>
            <a:r>
              <a:rPr sz="1350" spc="-4" dirty="0">
                <a:latin typeface="Arial MT"/>
                <a:cs typeface="Arial MT"/>
              </a:rPr>
              <a:t> </a:t>
            </a:r>
            <a:r>
              <a:rPr sz="1350" spc="-15" dirty="0">
                <a:latin typeface="Arial MT"/>
                <a:cs typeface="Arial MT"/>
              </a:rPr>
              <a:t>(2,3)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37994" y="402249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485698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178552" y="2896933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1" y="0"/>
                </a:moveTo>
                <a:lnTo>
                  <a:pt x="695833" y="8636"/>
                </a:lnTo>
                <a:lnTo>
                  <a:pt x="708118" y="13946"/>
                </a:lnTo>
                <a:lnTo>
                  <a:pt x="718677" y="21304"/>
                </a:lnTo>
                <a:lnTo>
                  <a:pt x="740068" y="55429"/>
                </a:lnTo>
                <a:lnTo>
                  <a:pt x="746328" y="86536"/>
                </a:lnTo>
                <a:lnTo>
                  <a:pt x="746355" y="86723"/>
                </a:lnTo>
                <a:lnTo>
                  <a:pt x="747141" y="104775"/>
                </a:lnTo>
                <a:lnTo>
                  <a:pt x="746355" y="123517"/>
                </a:lnTo>
                <a:lnTo>
                  <a:pt x="743997" y="140509"/>
                </a:lnTo>
                <a:lnTo>
                  <a:pt x="727450" y="180911"/>
                </a:lnTo>
                <a:lnTo>
                  <a:pt x="696214" y="203200"/>
                </a:lnTo>
                <a:lnTo>
                  <a:pt x="698881" y="211709"/>
                </a:lnTo>
                <a:lnTo>
                  <a:pt x="739350" y="187705"/>
                </a:lnTo>
                <a:lnTo>
                  <a:pt x="762079" y="143335"/>
                </a:lnTo>
                <a:lnTo>
                  <a:pt x="766445" y="105918"/>
                </a:lnTo>
                <a:lnTo>
                  <a:pt x="765360" y="86723"/>
                </a:lnTo>
                <a:lnTo>
                  <a:pt x="765349" y="86536"/>
                </a:lnTo>
                <a:lnTo>
                  <a:pt x="748919" y="37084"/>
                </a:lnTo>
                <a:lnTo>
                  <a:pt x="714236" y="5544"/>
                </a:lnTo>
                <a:lnTo>
                  <a:pt x="698881" y="0"/>
                </a:lnTo>
                <a:close/>
              </a:path>
              <a:path w="766445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5995130" y="2854452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5905" y="65278"/>
                </a:moveTo>
                <a:lnTo>
                  <a:pt x="252857" y="56642"/>
                </a:lnTo>
                <a:lnTo>
                  <a:pt x="237515" y="62191"/>
                </a:lnTo>
                <a:lnTo>
                  <a:pt x="224066" y="70231"/>
                </a:lnTo>
                <a:lnTo>
                  <a:pt x="195148" y="108750"/>
                </a:lnTo>
                <a:lnTo>
                  <a:pt x="185356" y="161417"/>
                </a:lnTo>
                <a:lnTo>
                  <a:pt x="185293" y="162560"/>
                </a:lnTo>
                <a:lnTo>
                  <a:pt x="186270" y="180162"/>
                </a:lnTo>
                <a:lnTo>
                  <a:pt x="202692" y="231394"/>
                </a:lnTo>
                <a:lnTo>
                  <a:pt x="237439" y="262826"/>
                </a:lnTo>
                <a:lnTo>
                  <a:pt x="252857" y="268351"/>
                </a:lnTo>
                <a:lnTo>
                  <a:pt x="255524" y="259842"/>
                </a:lnTo>
                <a:lnTo>
                  <a:pt x="243471" y="254508"/>
                </a:lnTo>
                <a:lnTo>
                  <a:pt x="233057" y="247078"/>
                </a:lnTo>
                <a:lnTo>
                  <a:pt x="211658" y="212407"/>
                </a:lnTo>
                <a:lnTo>
                  <a:pt x="204635" y="162560"/>
                </a:lnTo>
                <a:lnTo>
                  <a:pt x="204597" y="161417"/>
                </a:lnTo>
                <a:lnTo>
                  <a:pt x="205371" y="143370"/>
                </a:lnTo>
                <a:lnTo>
                  <a:pt x="217170" y="98806"/>
                </a:lnTo>
                <a:lnTo>
                  <a:pt x="243687" y="70599"/>
                </a:lnTo>
                <a:lnTo>
                  <a:pt x="255905" y="65278"/>
                </a:lnTo>
                <a:close/>
              </a:path>
              <a:path w="2084070" h="285114">
                <a:moveTo>
                  <a:pt x="861822" y="162560"/>
                </a:moveTo>
                <a:lnTo>
                  <a:pt x="851954" y="108750"/>
                </a:lnTo>
                <a:lnTo>
                  <a:pt x="823087" y="70231"/>
                </a:lnTo>
                <a:lnTo>
                  <a:pt x="794258" y="56642"/>
                </a:lnTo>
                <a:lnTo>
                  <a:pt x="791210" y="65278"/>
                </a:lnTo>
                <a:lnTo>
                  <a:pt x="803490" y="70599"/>
                </a:lnTo>
                <a:lnTo>
                  <a:pt x="814044" y="77952"/>
                </a:lnTo>
                <a:lnTo>
                  <a:pt x="835444" y="112077"/>
                </a:lnTo>
                <a:lnTo>
                  <a:pt x="842518" y="161417"/>
                </a:lnTo>
                <a:lnTo>
                  <a:pt x="841730" y="180162"/>
                </a:lnTo>
                <a:lnTo>
                  <a:pt x="829945" y="225933"/>
                </a:lnTo>
                <a:lnTo>
                  <a:pt x="803630" y="254508"/>
                </a:lnTo>
                <a:lnTo>
                  <a:pt x="791591" y="259842"/>
                </a:lnTo>
                <a:lnTo>
                  <a:pt x="794258" y="268351"/>
                </a:lnTo>
                <a:lnTo>
                  <a:pt x="834720" y="244348"/>
                </a:lnTo>
                <a:lnTo>
                  <a:pt x="857453" y="199986"/>
                </a:lnTo>
                <a:lnTo>
                  <a:pt x="860717" y="182016"/>
                </a:lnTo>
                <a:lnTo>
                  <a:pt x="861822" y="162560"/>
                </a:lnTo>
                <a:close/>
              </a:path>
              <a:path w="2084070" h="285114">
                <a:moveTo>
                  <a:pt x="1353185" y="65278"/>
                </a:moveTo>
                <a:lnTo>
                  <a:pt x="1350137" y="56642"/>
                </a:lnTo>
                <a:lnTo>
                  <a:pt x="1334795" y="62191"/>
                </a:lnTo>
                <a:lnTo>
                  <a:pt x="1321346" y="70231"/>
                </a:lnTo>
                <a:lnTo>
                  <a:pt x="1292428" y="108750"/>
                </a:lnTo>
                <a:lnTo>
                  <a:pt x="1282636" y="161417"/>
                </a:lnTo>
                <a:lnTo>
                  <a:pt x="1282573" y="162560"/>
                </a:lnTo>
                <a:lnTo>
                  <a:pt x="1283550" y="180162"/>
                </a:lnTo>
                <a:lnTo>
                  <a:pt x="1299972" y="231394"/>
                </a:lnTo>
                <a:lnTo>
                  <a:pt x="1334719" y="262826"/>
                </a:lnTo>
                <a:lnTo>
                  <a:pt x="1350137" y="268351"/>
                </a:lnTo>
                <a:lnTo>
                  <a:pt x="1352804" y="259842"/>
                </a:lnTo>
                <a:lnTo>
                  <a:pt x="1340751" y="254508"/>
                </a:lnTo>
                <a:lnTo>
                  <a:pt x="1330337" y="247078"/>
                </a:lnTo>
                <a:lnTo>
                  <a:pt x="1308938" y="212407"/>
                </a:lnTo>
                <a:lnTo>
                  <a:pt x="1301915" y="162560"/>
                </a:lnTo>
                <a:lnTo>
                  <a:pt x="1301877" y="161417"/>
                </a:lnTo>
                <a:lnTo>
                  <a:pt x="1302651" y="143370"/>
                </a:lnTo>
                <a:lnTo>
                  <a:pt x="1314450" y="98806"/>
                </a:lnTo>
                <a:lnTo>
                  <a:pt x="1340967" y="70599"/>
                </a:lnTo>
                <a:lnTo>
                  <a:pt x="1353185" y="65278"/>
                </a:lnTo>
                <a:close/>
              </a:path>
              <a:path w="2084070" h="285114">
                <a:moveTo>
                  <a:pt x="1957578" y="162560"/>
                </a:moveTo>
                <a:lnTo>
                  <a:pt x="1947710" y="108750"/>
                </a:lnTo>
                <a:lnTo>
                  <a:pt x="1918843" y="70231"/>
                </a:lnTo>
                <a:lnTo>
                  <a:pt x="1890014" y="56642"/>
                </a:lnTo>
                <a:lnTo>
                  <a:pt x="1886966" y="65278"/>
                </a:lnTo>
                <a:lnTo>
                  <a:pt x="1899246" y="70599"/>
                </a:lnTo>
                <a:lnTo>
                  <a:pt x="1909800" y="77952"/>
                </a:lnTo>
                <a:lnTo>
                  <a:pt x="1931200" y="112077"/>
                </a:lnTo>
                <a:lnTo>
                  <a:pt x="1938274" y="161417"/>
                </a:lnTo>
                <a:lnTo>
                  <a:pt x="1937486" y="180162"/>
                </a:lnTo>
                <a:lnTo>
                  <a:pt x="1925701" y="225933"/>
                </a:lnTo>
                <a:lnTo>
                  <a:pt x="1899386" y="254508"/>
                </a:lnTo>
                <a:lnTo>
                  <a:pt x="1887347" y="259842"/>
                </a:lnTo>
                <a:lnTo>
                  <a:pt x="1890014" y="268351"/>
                </a:lnTo>
                <a:lnTo>
                  <a:pt x="1930476" y="244348"/>
                </a:lnTo>
                <a:lnTo>
                  <a:pt x="1953209" y="199986"/>
                </a:lnTo>
                <a:lnTo>
                  <a:pt x="1956473" y="182016"/>
                </a:lnTo>
                <a:lnTo>
                  <a:pt x="1957578" y="162560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762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453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6620065" y="2792921"/>
            <a:ext cx="115347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860108" algn="l"/>
              </a:tabLst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r>
              <a:rPr sz="2025" baseline="-16975" dirty="0">
                <a:latin typeface="Cambria Math"/>
                <a:cs typeface="Cambria Math"/>
              </a:rPr>
              <a:t>	</a:t>
            </a: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236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=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86212" y="2869215"/>
            <a:ext cx="301466" cy="165259"/>
          </a:xfrm>
          <a:custGeom>
            <a:avLst/>
            <a:gdLst/>
            <a:ahLst/>
            <a:cxnLst/>
            <a:rect l="l" t="t" r="r" b="b"/>
            <a:pathLst>
              <a:path w="401954" h="220344">
                <a:moveTo>
                  <a:pt x="401446" y="126"/>
                </a:moveTo>
                <a:lnTo>
                  <a:pt x="131190" y="0"/>
                </a:lnTo>
                <a:lnTo>
                  <a:pt x="75945" y="190500"/>
                </a:lnTo>
                <a:lnTo>
                  <a:pt x="36575" y="103886"/>
                </a:lnTo>
                <a:lnTo>
                  <a:pt x="0" y="120650"/>
                </a:lnTo>
                <a:lnTo>
                  <a:pt x="3428" y="129031"/>
                </a:lnTo>
                <a:lnTo>
                  <a:pt x="22351" y="120650"/>
                </a:lnTo>
                <a:lnTo>
                  <a:pt x="68452" y="219963"/>
                </a:lnTo>
                <a:lnTo>
                  <a:pt x="79375" y="219963"/>
                </a:lnTo>
                <a:lnTo>
                  <a:pt x="139445" y="14731"/>
                </a:lnTo>
                <a:lnTo>
                  <a:pt x="146938" y="14731"/>
                </a:lnTo>
                <a:lnTo>
                  <a:pt x="146938" y="15366"/>
                </a:lnTo>
                <a:lnTo>
                  <a:pt x="401446" y="15366"/>
                </a:lnTo>
                <a:lnTo>
                  <a:pt x="401446" y="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7004399" y="2844355"/>
            <a:ext cx="14116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892969" algn="l"/>
              </a:tabLst>
            </a:pP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5</a:t>
            </a:r>
            <a:r>
              <a:rPr sz="1350" dirty="0">
                <a:latin typeface="Cambria Math"/>
                <a:cs typeface="Cambria Math"/>
              </a:rPr>
              <a:t>	16</a:t>
            </a:r>
            <a:r>
              <a:rPr sz="1350" spc="53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5761" y="2483834"/>
            <a:ext cx="785336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C1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(2,1)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C2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(4,4)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(2,3)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3825" y="2379439"/>
            <a:ext cx="2133124" cy="237173"/>
          </a:xfrm>
          <a:custGeom>
            <a:avLst/>
            <a:gdLst/>
            <a:ahLst/>
            <a:cxnLst/>
            <a:rect l="l" t="t" r="r" b="b"/>
            <a:pathLst>
              <a:path w="2844165" h="316230">
                <a:moveTo>
                  <a:pt x="285496" y="79883"/>
                </a:moveTo>
                <a:lnTo>
                  <a:pt x="282194" y="70358"/>
                </a:lnTo>
                <a:lnTo>
                  <a:pt x="265061" y="76530"/>
                </a:lnTo>
                <a:lnTo>
                  <a:pt x="250075" y="85471"/>
                </a:lnTo>
                <a:lnTo>
                  <a:pt x="217932" y="128358"/>
                </a:lnTo>
                <a:lnTo>
                  <a:pt x="208216" y="166700"/>
                </a:lnTo>
                <a:lnTo>
                  <a:pt x="207010" y="188341"/>
                </a:lnTo>
                <a:lnTo>
                  <a:pt x="208089" y="207848"/>
                </a:lnTo>
                <a:lnTo>
                  <a:pt x="217881" y="248285"/>
                </a:lnTo>
                <a:lnTo>
                  <a:pt x="250012" y="291020"/>
                </a:lnTo>
                <a:lnTo>
                  <a:pt x="282194" y="306070"/>
                </a:lnTo>
                <a:lnTo>
                  <a:pt x="285115" y="296545"/>
                </a:lnTo>
                <a:lnTo>
                  <a:pt x="271653" y="290626"/>
                </a:lnTo>
                <a:lnTo>
                  <a:pt x="260057" y="282359"/>
                </a:lnTo>
                <a:lnTo>
                  <a:pt x="236347" y="243713"/>
                </a:lnTo>
                <a:lnTo>
                  <a:pt x="228523" y="188341"/>
                </a:lnTo>
                <a:lnTo>
                  <a:pt x="228473" y="187071"/>
                </a:lnTo>
                <a:lnTo>
                  <a:pt x="229349" y="166928"/>
                </a:lnTo>
                <a:lnTo>
                  <a:pt x="242443" y="117348"/>
                </a:lnTo>
                <a:lnTo>
                  <a:pt x="271868" y="85864"/>
                </a:lnTo>
                <a:lnTo>
                  <a:pt x="285496" y="79883"/>
                </a:lnTo>
                <a:close/>
              </a:path>
              <a:path w="2844165" h="316230">
                <a:moveTo>
                  <a:pt x="1212723" y="188341"/>
                </a:moveTo>
                <a:lnTo>
                  <a:pt x="1211516" y="166928"/>
                </a:lnTo>
                <a:lnTo>
                  <a:pt x="1211503" y="166700"/>
                </a:lnTo>
                <a:lnTo>
                  <a:pt x="1207858" y="146710"/>
                </a:lnTo>
                <a:lnTo>
                  <a:pt x="1182522" y="97193"/>
                </a:lnTo>
                <a:lnTo>
                  <a:pt x="1137539" y="70358"/>
                </a:lnTo>
                <a:lnTo>
                  <a:pt x="1134237" y="79883"/>
                </a:lnTo>
                <a:lnTo>
                  <a:pt x="1147851" y="85864"/>
                </a:lnTo>
                <a:lnTo>
                  <a:pt x="1159560" y="94094"/>
                </a:lnTo>
                <a:lnTo>
                  <a:pt x="1183373" y="132067"/>
                </a:lnTo>
                <a:lnTo>
                  <a:pt x="1191260" y="187071"/>
                </a:lnTo>
                <a:lnTo>
                  <a:pt x="1190371" y="207848"/>
                </a:lnTo>
                <a:lnTo>
                  <a:pt x="1177290" y="258826"/>
                </a:lnTo>
                <a:lnTo>
                  <a:pt x="1147991" y="290626"/>
                </a:lnTo>
                <a:lnTo>
                  <a:pt x="1134618" y="296545"/>
                </a:lnTo>
                <a:lnTo>
                  <a:pt x="1137539" y="306070"/>
                </a:lnTo>
                <a:lnTo>
                  <a:pt x="1182624" y="279361"/>
                </a:lnTo>
                <a:lnTo>
                  <a:pt x="1207871" y="229971"/>
                </a:lnTo>
                <a:lnTo>
                  <a:pt x="1211503" y="209994"/>
                </a:lnTo>
                <a:lnTo>
                  <a:pt x="1212723" y="188341"/>
                </a:lnTo>
                <a:close/>
              </a:path>
              <a:path w="2844165" h="316230">
                <a:moveTo>
                  <a:pt x="2844038" y="0"/>
                </a:moveTo>
                <a:lnTo>
                  <a:pt x="184658" y="127"/>
                </a:lnTo>
                <a:lnTo>
                  <a:pt x="159131" y="127"/>
                </a:lnTo>
                <a:lnTo>
                  <a:pt x="83693" y="282956"/>
                </a:lnTo>
                <a:lnTo>
                  <a:pt x="40767" y="186944"/>
                </a:lnTo>
                <a:lnTo>
                  <a:pt x="0" y="205613"/>
                </a:lnTo>
                <a:lnTo>
                  <a:pt x="3810" y="214884"/>
                </a:lnTo>
                <a:lnTo>
                  <a:pt x="24765" y="205613"/>
                </a:lnTo>
                <a:lnTo>
                  <a:pt x="76327" y="316230"/>
                </a:lnTo>
                <a:lnTo>
                  <a:pt x="88392" y="316230"/>
                </a:lnTo>
                <a:lnTo>
                  <a:pt x="169164" y="16764"/>
                </a:lnTo>
                <a:lnTo>
                  <a:pt x="2844038" y="16764"/>
                </a:lnTo>
                <a:lnTo>
                  <a:pt x="28440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 txBox="1"/>
          <p:nvPr/>
        </p:nvSpPr>
        <p:spPr>
          <a:xfrm>
            <a:off x="5592032" y="2317622"/>
            <a:ext cx="333851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8575">
              <a:spcBef>
                <a:spcPts val="79"/>
              </a:spcBef>
            </a:pPr>
            <a:r>
              <a:rPr sz="1088" dirty="0">
                <a:latin typeface="Cambria Math"/>
                <a:cs typeface="Cambria Math"/>
              </a:rPr>
              <a:t>𝟐</a:t>
            </a:r>
            <a:r>
              <a:rPr sz="1088" spc="161" dirty="0">
                <a:latin typeface="Cambria Math"/>
                <a:cs typeface="Cambria Math"/>
              </a:rPr>
              <a:t> </a:t>
            </a:r>
            <a:r>
              <a:rPr sz="2250" spc="-56" baseline="-16666" dirty="0">
                <a:latin typeface="Cambria Math"/>
                <a:cs typeface="Cambria Math"/>
              </a:rPr>
              <a:t>+</a:t>
            </a:r>
            <a:endParaRPr sz="2250" baseline="-16666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5507" y="2432209"/>
            <a:ext cx="763429" cy="177165"/>
          </a:xfrm>
          <a:custGeom>
            <a:avLst/>
            <a:gdLst/>
            <a:ahLst/>
            <a:cxnLst/>
            <a:rect l="l" t="t" r="r" b="b"/>
            <a:pathLst>
              <a:path w="1017904" h="236219">
                <a:moveTo>
                  <a:pt x="942721" y="0"/>
                </a:moveTo>
                <a:lnTo>
                  <a:pt x="939419" y="9525"/>
                </a:lnTo>
                <a:lnTo>
                  <a:pt x="953039" y="15503"/>
                </a:lnTo>
                <a:lnTo>
                  <a:pt x="964755" y="23733"/>
                </a:lnTo>
                <a:lnTo>
                  <a:pt x="988566" y="61706"/>
                </a:lnTo>
                <a:lnTo>
                  <a:pt x="995529" y="96335"/>
                </a:lnTo>
                <a:lnTo>
                  <a:pt x="995562" y="96567"/>
                </a:lnTo>
                <a:lnTo>
                  <a:pt x="996442" y="116712"/>
                </a:lnTo>
                <a:lnTo>
                  <a:pt x="995562" y="137479"/>
                </a:lnTo>
                <a:lnTo>
                  <a:pt x="992933" y="156352"/>
                </a:lnTo>
                <a:lnTo>
                  <a:pt x="974518" y="201398"/>
                </a:lnTo>
                <a:lnTo>
                  <a:pt x="939800" y="226187"/>
                </a:lnTo>
                <a:lnTo>
                  <a:pt x="942721" y="235712"/>
                </a:lnTo>
                <a:lnTo>
                  <a:pt x="987815" y="208994"/>
                </a:lnTo>
                <a:lnTo>
                  <a:pt x="1013063" y="159607"/>
                </a:lnTo>
                <a:lnTo>
                  <a:pt x="1017904" y="117982"/>
                </a:lnTo>
                <a:lnTo>
                  <a:pt x="1016703" y="96567"/>
                </a:lnTo>
                <a:lnTo>
                  <a:pt x="1016690" y="96335"/>
                </a:lnTo>
                <a:lnTo>
                  <a:pt x="1006975" y="57993"/>
                </a:lnTo>
                <a:lnTo>
                  <a:pt x="974836" y="15112"/>
                </a:lnTo>
                <a:lnTo>
                  <a:pt x="959844" y="6163"/>
                </a:lnTo>
                <a:lnTo>
                  <a:pt x="942721" y="0"/>
                </a:lnTo>
                <a:close/>
              </a:path>
              <a:path w="1017904" h="236219">
                <a:moveTo>
                  <a:pt x="75183" y="0"/>
                </a:moveTo>
                <a:lnTo>
                  <a:pt x="30196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1092" y="137479"/>
                </a:lnTo>
                <a:lnTo>
                  <a:pt x="1212" y="139628"/>
                </a:lnTo>
                <a:lnTo>
                  <a:pt x="10876" y="177919"/>
                </a:lnTo>
                <a:lnTo>
                  <a:pt x="43005" y="220662"/>
                </a:lnTo>
                <a:lnTo>
                  <a:pt x="75183" y="235712"/>
                </a:lnTo>
                <a:lnTo>
                  <a:pt x="78104" y="226187"/>
                </a:lnTo>
                <a:lnTo>
                  <a:pt x="64650" y="220257"/>
                </a:lnTo>
                <a:lnTo>
                  <a:pt x="53054" y="211994"/>
                </a:lnTo>
                <a:lnTo>
                  <a:pt x="29338" y="173345"/>
                </a:lnTo>
                <a:lnTo>
                  <a:pt x="21516" y="117982"/>
                </a:lnTo>
                <a:lnTo>
                  <a:pt x="21463" y="116712"/>
                </a:lnTo>
                <a:lnTo>
                  <a:pt x="24971" y="78231"/>
                </a:lnTo>
                <a:lnTo>
                  <a:pt x="43338" y="34224"/>
                </a:lnTo>
                <a:lnTo>
                  <a:pt x="78485" y="9525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4262056" y="2374772"/>
            <a:ext cx="470868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38100">
              <a:spcBef>
                <a:spcPts val="79"/>
              </a:spcBef>
              <a:tabLst>
                <a:tab pos="649129" algn="l"/>
                <a:tab pos="1755934" algn="l"/>
              </a:tabLst>
            </a:pPr>
            <a:r>
              <a:rPr sz="1500" dirty="0">
                <a:latin typeface="Cambria Math"/>
                <a:cs typeface="Cambria Math"/>
              </a:rPr>
              <a:t>𝑫</a:t>
            </a:r>
            <a:r>
              <a:rPr sz="1500" spc="79" dirty="0">
                <a:latin typeface="Cambria Math"/>
                <a:cs typeface="Cambria Math"/>
              </a:rPr>
              <a:t> </a:t>
            </a:r>
            <a:r>
              <a:rPr sz="1500" spc="-45" dirty="0">
                <a:latin typeface="Cambria Math"/>
                <a:cs typeface="Cambria Math"/>
              </a:rPr>
              <a:t>=</a:t>
            </a:r>
            <a:r>
              <a:rPr sz="1500" dirty="0">
                <a:latin typeface="Cambria Math"/>
                <a:cs typeface="Cambria Math"/>
              </a:rPr>
              <a:t>	𝒙</a:t>
            </a:r>
            <a:r>
              <a:rPr sz="1631" baseline="-15325" dirty="0">
                <a:latin typeface="Cambria Math"/>
                <a:cs typeface="Cambria Math"/>
              </a:rPr>
              <a:t>𝟐</a:t>
            </a:r>
            <a:r>
              <a:rPr sz="1631" spc="225" baseline="-1532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− </a:t>
            </a:r>
            <a:r>
              <a:rPr sz="1500" spc="-19" dirty="0">
                <a:latin typeface="Cambria Math"/>
                <a:cs typeface="Cambria Math"/>
              </a:rPr>
              <a:t>𝒙</a:t>
            </a:r>
            <a:r>
              <a:rPr sz="1631" spc="-28" baseline="-15325" dirty="0">
                <a:latin typeface="Cambria Math"/>
                <a:cs typeface="Cambria Math"/>
              </a:rPr>
              <a:t>𝟏</a:t>
            </a:r>
            <a:r>
              <a:rPr sz="1631" baseline="-15325" dirty="0">
                <a:latin typeface="Cambria Math"/>
                <a:cs typeface="Cambria Math"/>
              </a:rPr>
              <a:t>	</a:t>
            </a:r>
            <a:r>
              <a:rPr sz="1500" dirty="0">
                <a:latin typeface="Cambria Math"/>
                <a:cs typeface="Cambria Math"/>
              </a:rPr>
              <a:t>𝒚</a:t>
            </a:r>
            <a:r>
              <a:rPr sz="1631" baseline="-15325" dirty="0">
                <a:latin typeface="Cambria Math"/>
                <a:cs typeface="Cambria Math"/>
              </a:rPr>
              <a:t>𝟐</a:t>
            </a:r>
            <a:r>
              <a:rPr sz="1631" spc="219" baseline="-1532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−</a:t>
            </a:r>
            <a:r>
              <a:rPr sz="1500" spc="-4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𝒚</a:t>
            </a:r>
            <a:r>
              <a:rPr sz="1631" baseline="-15325" dirty="0">
                <a:latin typeface="Cambria Math"/>
                <a:cs typeface="Cambria Math"/>
              </a:rPr>
              <a:t>𝟏</a:t>
            </a:r>
            <a:r>
              <a:rPr sz="1631" spc="146" baseline="-15325" dirty="0">
                <a:latin typeface="Cambria Math"/>
                <a:cs typeface="Cambria Math"/>
              </a:rPr>
              <a:t>  </a:t>
            </a:r>
            <a:r>
              <a:rPr sz="1631" baseline="22988" dirty="0">
                <a:latin typeface="Cambria Math"/>
                <a:cs typeface="Cambria Math"/>
              </a:rPr>
              <a:t>𝟐</a:t>
            </a:r>
            <a:r>
              <a:rPr sz="1631" spc="107" baseline="22988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…</a:t>
            </a:r>
            <a:r>
              <a:rPr sz="1500" spc="-94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.</a:t>
            </a:r>
            <a:r>
              <a:rPr sz="1500" spc="-79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𝑬𝒖𝒄𝒍𝒊𝒅𝒆𝒂𝒏</a:t>
            </a:r>
            <a:r>
              <a:rPr sz="1500" spc="-11" dirty="0">
                <a:latin typeface="Cambria Math"/>
                <a:cs typeface="Cambria Math"/>
              </a:rPr>
              <a:t> </a:t>
            </a:r>
            <a:r>
              <a:rPr sz="1500" spc="-8" dirty="0">
                <a:latin typeface="Cambria Math"/>
                <a:cs typeface="Cambria Math"/>
              </a:rPr>
              <a:t>𝑫𝒊𝒔𝒕𝒂𝒏𝒄𝒆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08270" y="3344322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1" y="0"/>
                </a:moveTo>
                <a:lnTo>
                  <a:pt x="695833" y="8636"/>
                </a:lnTo>
                <a:lnTo>
                  <a:pt x="708118" y="13946"/>
                </a:lnTo>
                <a:lnTo>
                  <a:pt x="718677" y="21304"/>
                </a:lnTo>
                <a:lnTo>
                  <a:pt x="740068" y="55429"/>
                </a:lnTo>
                <a:lnTo>
                  <a:pt x="746328" y="86536"/>
                </a:lnTo>
                <a:lnTo>
                  <a:pt x="746355" y="86723"/>
                </a:lnTo>
                <a:lnTo>
                  <a:pt x="747141" y="104775"/>
                </a:lnTo>
                <a:lnTo>
                  <a:pt x="746355" y="123517"/>
                </a:lnTo>
                <a:lnTo>
                  <a:pt x="743997" y="140509"/>
                </a:lnTo>
                <a:lnTo>
                  <a:pt x="727450" y="180911"/>
                </a:lnTo>
                <a:lnTo>
                  <a:pt x="696214" y="203200"/>
                </a:lnTo>
                <a:lnTo>
                  <a:pt x="698881" y="211708"/>
                </a:lnTo>
                <a:lnTo>
                  <a:pt x="739350" y="187705"/>
                </a:lnTo>
                <a:lnTo>
                  <a:pt x="762079" y="143335"/>
                </a:lnTo>
                <a:lnTo>
                  <a:pt x="766445" y="105917"/>
                </a:lnTo>
                <a:lnTo>
                  <a:pt x="765360" y="86723"/>
                </a:lnTo>
                <a:lnTo>
                  <a:pt x="765349" y="86536"/>
                </a:lnTo>
                <a:lnTo>
                  <a:pt x="748919" y="37083"/>
                </a:lnTo>
                <a:lnTo>
                  <a:pt x="714236" y="5544"/>
                </a:lnTo>
                <a:lnTo>
                  <a:pt x="698881" y="0"/>
                </a:lnTo>
                <a:close/>
              </a:path>
              <a:path w="766445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7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6024848" y="3301841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5905" y="65278"/>
                </a:moveTo>
                <a:lnTo>
                  <a:pt x="252857" y="56642"/>
                </a:lnTo>
                <a:lnTo>
                  <a:pt x="237515" y="62191"/>
                </a:lnTo>
                <a:lnTo>
                  <a:pt x="224066" y="70231"/>
                </a:lnTo>
                <a:lnTo>
                  <a:pt x="195148" y="108750"/>
                </a:lnTo>
                <a:lnTo>
                  <a:pt x="185356" y="161417"/>
                </a:lnTo>
                <a:lnTo>
                  <a:pt x="185293" y="162560"/>
                </a:lnTo>
                <a:lnTo>
                  <a:pt x="186270" y="180162"/>
                </a:lnTo>
                <a:lnTo>
                  <a:pt x="202692" y="231394"/>
                </a:lnTo>
                <a:lnTo>
                  <a:pt x="237439" y="262826"/>
                </a:lnTo>
                <a:lnTo>
                  <a:pt x="252857" y="268351"/>
                </a:lnTo>
                <a:lnTo>
                  <a:pt x="255524" y="259842"/>
                </a:lnTo>
                <a:lnTo>
                  <a:pt x="243471" y="254520"/>
                </a:lnTo>
                <a:lnTo>
                  <a:pt x="233057" y="247078"/>
                </a:lnTo>
                <a:lnTo>
                  <a:pt x="211658" y="212407"/>
                </a:lnTo>
                <a:lnTo>
                  <a:pt x="204635" y="162560"/>
                </a:lnTo>
                <a:lnTo>
                  <a:pt x="204597" y="161417"/>
                </a:lnTo>
                <a:lnTo>
                  <a:pt x="205371" y="143370"/>
                </a:lnTo>
                <a:lnTo>
                  <a:pt x="217170" y="98806"/>
                </a:lnTo>
                <a:lnTo>
                  <a:pt x="243687" y="70599"/>
                </a:lnTo>
                <a:lnTo>
                  <a:pt x="255905" y="65278"/>
                </a:lnTo>
                <a:close/>
              </a:path>
              <a:path w="2084070" h="285114">
                <a:moveTo>
                  <a:pt x="861822" y="162560"/>
                </a:moveTo>
                <a:lnTo>
                  <a:pt x="851954" y="108750"/>
                </a:lnTo>
                <a:lnTo>
                  <a:pt x="823087" y="70231"/>
                </a:lnTo>
                <a:lnTo>
                  <a:pt x="794258" y="56642"/>
                </a:lnTo>
                <a:lnTo>
                  <a:pt x="791210" y="65278"/>
                </a:lnTo>
                <a:lnTo>
                  <a:pt x="803490" y="70599"/>
                </a:lnTo>
                <a:lnTo>
                  <a:pt x="814044" y="77952"/>
                </a:lnTo>
                <a:lnTo>
                  <a:pt x="835444" y="112077"/>
                </a:lnTo>
                <a:lnTo>
                  <a:pt x="842518" y="161417"/>
                </a:lnTo>
                <a:lnTo>
                  <a:pt x="841730" y="180162"/>
                </a:lnTo>
                <a:lnTo>
                  <a:pt x="829945" y="225933"/>
                </a:lnTo>
                <a:lnTo>
                  <a:pt x="803630" y="254508"/>
                </a:lnTo>
                <a:lnTo>
                  <a:pt x="791591" y="259842"/>
                </a:lnTo>
                <a:lnTo>
                  <a:pt x="794258" y="268351"/>
                </a:lnTo>
                <a:lnTo>
                  <a:pt x="834720" y="244348"/>
                </a:lnTo>
                <a:lnTo>
                  <a:pt x="857453" y="199986"/>
                </a:lnTo>
                <a:lnTo>
                  <a:pt x="860717" y="182016"/>
                </a:lnTo>
                <a:lnTo>
                  <a:pt x="861822" y="162560"/>
                </a:lnTo>
                <a:close/>
              </a:path>
              <a:path w="2084070" h="285114">
                <a:moveTo>
                  <a:pt x="1353185" y="65278"/>
                </a:moveTo>
                <a:lnTo>
                  <a:pt x="1350137" y="56642"/>
                </a:lnTo>
                <a:lnTo>
                  <a:pt x="1334795" y="62191"/>
                </a:lnTo>
                <a:lnTo>
                  <a:pt x="1321346" y="70231"/>
                </a:lnTo>
                <a:lnTo>
                  <a:pt x="1292428" y="108750"/>
                </a:lnTo>
                <a:lnTo>
                  <a:pt x="1282636" y="161417"/>
                </a:lnTo>
                <a:lnTo>
                  <a:pt x="1282573" y="162560"/>
                </a:lnTo>
                <a:lnTo>
                  <a:pt x="1283550" y="180162"/>
                </a:lnTo>
                <a:lnTo>
                  <a:pt x="1299972" y="231394"/>
                </a:lnTo>
                <a:lnTo>
                  <a:pt x="1334719" y="262826"/>
                </a:lnTo>
                <a:lnTo>
                  <a:pt x="1350137" y="268351"/>
                </a:lnTo>
                <a:lnTo>
                  <a:pt x="1352804" y="259842"/>
                </a:lnTo>
                <a:lnTo>
                  <a:pt x="1340751" y="254520"/>
                </a:lnTo>
                <a:lnTo>
                  <a:pt x="1330337" y="247078"/>
                </a:lnTo>
                <a:lnTo>
                  <a:pt x="1308938" y="212407"/>
                </a:lnTo>
                <a:lnTo>
                  <a:pt x="1301915" y="162560"/>
                </a:lnTo>
                <a:lnTo>
                  <a:pt x="1301877" y="161417"/>
                </a:lnTo>
                <a:lnTo>
                  <a:pt x="1302651" y="143370"/>
                </a:lnTo>
                <a:lnTo>
                  <a:pt x="1314450" y="98806"/>
                </a:lnTo>
                <a:lnTo>
                  <a:pt x="1340967" y="70599"/>
                </a:lnTo>
                <a:lnTo>
                  <a:pt x="1353185" y="65278"/>
                </a:lnTo>
                <a:close/>
              </a:path>
              <a:path w="2084070" h="285114">
                <a:moveTo>
                  <a:pt x="1957578" y="162560"/>
                </a:moveTo>
                <a:lnTo>
                  <a:pt x="1947710" y="108750"/>
                </a:lnTo>
                <a:lnTo>
                  <a:pt x="1918843" y="70231"/>
                </a:lnTo>
                <a:lnTo>
                  <a:pt x="1890014" y="56642"/>
                </a:lnTo>
                <a:lnTo>
                  <a:pt x="1886966" y="65278"/>
                </a:lnTo>
                <a:lnTo>
                  <a:pt x="1899246" y="70599"/>
                </a:lnTo>
                <a:lnTo>
                  <a:pt x="1909800" y="77952"/>
                </a:lnTo>
                <a:lnTo>
                  <a:pt x="1931200" y="112077"/>
                </a:lnTo>
                <a:lnTo>
                  <a:pt x="1938274" y="161417"/>
                </a:lnTo>
                <a:lnTo>
                  <a:pt x="1937486" y="180162"/>
                </a:lnTo>
                <a:lnTo>
                  <a:pt x="1925701" y="225933"/>
                </a:lnTo>
                <a:lnTo>
                  <a:pt x="1899386" y="254508"/>
                </a:lnTo>
                <a:lnTo>
                  <a:pt x="1887347" y="259842"/>
                </a:lnTo>
                <a:lnTo>
                  <a:pt x="1890014" y="268351"/>
                </a:lnTo>
                <a:lnTo>
                  <a:pt x="1930476" y="244348"/>
                </a:lnTo>
                <a:lnTo>
                  <a:pt x="1953209" y="199986"/>
                </a:lnTo>
                <a:lnTo>
                  <a:pt x="1956473" y="182016"/>
                </a:lnTo>
                <a:lnTo>
                  <a:pt x="1957578" y="162560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762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453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6649783" y="3240214"/>
            <a:ext cx="115347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860108" algn="l"/>
              </a:tabLst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r>
              <a:rPr sz="2025" baseline="-16975" dirty="0">
                <a:latin typeface="Cambria Math"/>
                <a:cs typeface="Cambria Math"/>
              </a:rPr>
              <a:t>	</a:t>
            </a: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236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=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15930" y="3312033"/>
            <a:ext cx="205264" cy="165259"/>
          </a:xfrm>
          <a:custGeom>
            <a:avLst/>
            <a:gdLst/>
            <a:ahLst/>
            <a:cxnLst/>
            <a:rect l="l" t="t" r="r" b="b"/>
            <a:pathLst>
              <a:path w="273684" h="220345">
                <a:moveTo>
                  <a:pt x="273430" y="126"/>
                </a:moveTo>
                <a:lnTo>
                  <a:pt x="131190" y="0"/>
                </a:lnTo>
                <a:lnTo>
                  <a:pt x="75945" y="190500"/>
                </a:lnTo>
                <a:lnTo>
                  <a:pt x="36575" y="103885"/>
                </a:lnTo>
                <a:lnTo>
                  <a:pt x="0" y="120650"/>
                </a:lnTo>
                <a:lnTo>
                  <a:pt x="3428" y="129031"/>
                </a:lnTo>
                <a:lnTo>
                  <a:pt x="22351" y="120650"/>
                </a:lnTo>
                <a:lnTo>
                  <a:pt x="68452" y="219963"/>
                </a:lnTo>
                <a:lnTo>
                  <a:pt x="79375" y="219963"/>
                </a:lnTo>
                <a:lnTo>
                  <a:pt x="139445" y="14731"/>
                </a:lnTo>
                <a:lnTo>
                  <a:pt x="146938" y="14731"/>
                </a:lnTo>
                <a:lnTo>
                  <a:pt x="146938" y="15366"/>
                </a:lnTo>
                <a:lnTo>
                  <a:pt x="273430" y="15366"/>
                </a:lnTo>
                <a:lnTo>
                  <a:pt x="273430" y="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7034117" y="3291649"/>
            <a:ext cx="163639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892969" algn="l"/>
              </a:tabLst>
            </a:pPr>
            <a:r>
              <a:rPr sz="1350" dirty="0">
                <a:latin typeface="Cambria Math"/>
                <a:cs typeface="Cambria Math"/>
              </a:rPr>
              <a:t>4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5</a:t>
            </a:r>
            <a:r>
              <a:rPr sz="1350" dirty="0">
                <a:latin typeface="Cambria Math"/>
                <a:cs typeface="Cambria Math"/>
              </a:rPr>
              <a:t>	5</a:t>
            </a:r>
            <a:r>
              <a:rPr sz="1350" spc="56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1" dirty="0">
                <a:latin typeface="Cambria Math"/>
                <a:cs typeface="Cambria Math"/>
              </a:rPr>
              <a:t> </a:t>
            </a:r>
            <a:r>
              <a:rPr sz="1350" spc="-15" dirty="0">
                <a:latin typeface="Cambria Math"/>
                <a:cs typeface="Cambria Math"/>
              </a:rPr>
              <a:t>2.236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07127" y="3791711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1" y="0"/>
                </a:moveTo>
                <a:lnTo>
                  <a:pt x="695833" y="8635"/>
                </a:lnTo>
                <a:lnTo>
                  <a:pt x="708118" y="13946"/>
                </a:lnTo>
                <a:lnTo>
                  <a:pt x="718677" y="21304"/>
                </a:lnTo>
                <a:lnTo>
                  <a:pt x="740068" y="55429"/>
                </a:lnTo>
                <a:lnTo>
                  <a:pt x="746328" y="86536"/>
                </a:lnTo>
                <a:lnTo>
                  <a:pt x="746355" y="86723"/>
                </a:lnTo>
                <a:lnTo>
                  <a:pt x="747141" y="104774"/>
                </a:lnTo>
                <a:lnTo>
                  <a:pt x="746355" y="123517"/>
                </a:lnTo>
                <a:lnTo>
                  <a:pt x="743997" y="140509"/>
                </a:lnTo>
                <a:lnTo>
                  <a:pt x="727450" y="180911"/>
                </a:lnTo>
                <a:lnTo>
                  <a:pt x="696214" y="203199"/>
                </a:lnTo>
                <a:lnTo>
                  <a:pt x="698881" y="211708"/>
                </a:lnTo>
                <a:lnTo>
                  <a:pt x="739350" y="187705"/>
                </a:lnTo>
                <a:lnTo>
                  <a:pt x="762079" y="143335"/>
                </a:lnTo>
                <a:lnTo>
                  <a:pt x="766445" y="105917"/>
                </a:lnTo>
                <a:lnTo>
                  <a:pt x="765360" y="86723"/>
                </a:lnTo>
                <a:lnTo>
                  <a:pt x="765349" y="86536"/>
                </a:lnTo>
                <a:lnTo>
                  <a:pt x="748919" y="37083"/>
                </a:lnTo>
                <a:lnTo>
                  <a:pt x="714236" y="5544"/>
                </a:lnTo>
                <a:lnTo>
                  <a:pt x="698881" y="0"/>
                </a:lnTo>
                <a:close/>
              </a:path>
              <a:path w="766445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7"/>
                </a:lnTo>
                <a:lnTo>
                  <a:pt x="19304" y="104774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 txBox="1"/>
          <p:nvPr/>
        </p:nvSpPr>
        <p:spPr>
          <a:xfrm>
            <a:off x="4931282" y="2844355"/>
            <a:ext cx="844868" cy="112530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76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1</a:t>
            </a:r>
            <a:r>
              <a:rPr sz="1463" spc="48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𝑃1,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𝐶1</a:t>
            </a:r>
            <a:endParaRPr sz="1350">
              <a:latin typeface="Cambria Math"/>
              <a:cs typeface="Cambria Math"/>
            </a:endParaRPr>
          </a:p>
          <a:p>
            <a:pPr>
              <a:spcBef>
                <a:spcPts val="319"/>
              </a:spcBef>
            </a:pPr>
            <a:endParaRPr sz="1350">
              <a:latin typeface="Cambria Math"/>
              <a:cs typeface="Cambria Math"/>
            </a:endParaRPr>
          </a:p>
          <a:p>
            <a:pPr marL="77153"/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1</a:t>
            </a:r>
            <a:r>
              <a:rPr sz="1463" spc="48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𝑃1,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𝐶2</a:t>
            </a:r>
            <a:endParaRPr sz="1350">
              <a:latin typeface="Cambria Math"/>
              <a:cs typeface="Cambria Math"/>
            </a:endParaRPr>
          </a:p>
          <a:p>
            <a:pPr>
              <a:spcBef>
                <a:spcPts val="323"/>
              </a:spcBef>
            </a:pPr>
            <a:endParaRPr sz="1350">
              <a:latin typeface="Cambria Math"/>
              <a:cs typeface="Cambria Math"/>
            </a:endParaRPr>
          </a:p>
          <a:p>
            <a:pPr marL="76200"/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1</a:t>
            </a:r>
            <a:r>
              <a:rPr sz="1463" spc="48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𝑃1,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23705" y="3749230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5905" y="65278"/>
                </a:moveTo>
                <a:lnTo>
                  <a:pt x="252857" y="56642"/>
                </a:lnTo>
                <a:lnTo>
                  <a:pt x="237515" y="62191"/>
                </a:lnTo>
                <a:lnTo>
                  <a:pt x="224066" y="70231"/>
                </a:lnTo>
                <a:lnTo>
                  <a:pt x="195148" y="108750"/>
                </a:lnTo>
                <a:lnTo>
                  <a:pt x="185356" y="161417"/>
                </a:lnTo>
                <a:lnTo>
                  <a:pt x="185293" y="162560"/>
                </a:lnTo>
                <a:lnTo>
                  <a:pt x="186270" y="180162"/>
                </a:lnTo>
                <a:lnTo>
                  <a:pt x="202692" y="231394"/>
                </a:lnTo>
                <a:lnTo>
                  <a:pt x="237439" y="262826"/>
                </a:lnTo>
                <a:lnTo>
                  <a:pt x="252857" y="268351"/>
                </a:lnTo>
                <a:lnTo>
                  <a:pt x="255524" y="259842"/>
                </a:lnTo>
                <a:lnTo>
                  <a:pt x="243471" y="254508"/>
                </a:lnTo>
                <a:lnTo>
                  <a:pt x="233057" y="247078"/>
                </a:lnTo>
                <a:lnTo>
                  <a:pt x="211658" y="212407"/>
                </a:lnTo>
                <a:lnTo>
                  <a:pt x="204635" y="162560"/>
                </a:lnTo>
                <a:lnTo>
                  <a:pt x="204597" y="161417"/>
                </a:lnTo>
                <a:lnTo>
                  <a:pt x="205371" y="143370"/>
                </a:lnTo>
                <a:lnTo>
                  <a:pt x="217170" y="98806"/>
                </a:lnTo>
                <a:lnTo>
                  <a:pt x="243687" y="70599"/>
                </a:lnTo>
                <a:lnTo>
                  <a:pt x="255905" y="65278"/>
                </a:lnTo>
                <a:close/>
              </a:path>
              <a:path w="2084070" h="285114">
                <a:moveTo>
                  <a:pt x="861822" y="162560"/>
                </a:moveTo>
                <a:lnTo>
                  <a:pt x="851954" y="108750"/>
                </a:lnTo>
                <a:lnTo>
                  <a:pt x="823087" y="70231"/>
                </a:lnTo>
                <a:lnTo>
                  <a:pt x="794258" y="56642"/>
                </a:lnTo>
                <a:lnTo>
                  <a:pt x="791210" y="65278"/>
                </a:lnTo>
                <a:lnTo>
                  <a:pt x="803490" y="70599"/>
                </a:lnTo>
                <a:lnTo>
                  <a:pt x="814044" y="77952"/>
                </a:lnTo>
                <a:lnTo>
                  <a:pt x="835444" y="112077"/>
                </a:lnTo>
                <a:lnTo>
                  <a:pt x="842518" y="161417"/>
                </a:lnTo>
                <a:lnTo>
                  <a:pt x="841730" y="180162"/>
                </a:lnTo>
                <a:lnTo>
                  <a:pt x="829945" y="225933"/>
                </a:lnTo>
                <a:lnTo>
                  <a:pt x="803630" y="254508"/>
                </a:lnTo>
                <a:lnTo>
                  <a:pt x="791591" y="259842"/>
                </a:lnTo>
                <a:lnTo>
                  <a:pt x="794258" y="268351"/>
                </a:lnTo>
                <a:lnTo>
                  <a:pt x="834720" y="244348"/>
                </a:lnTo>
                <a:lnTo>
                  <a:pt x="857453" y="199986"/>
                </a:lnTo>
                <a:lnTo>
                  <a:pt x="860717" y="182016"/>
                </a:lnTo>
                <a:lnTo>
                  <a:pt x="861822" y="162560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762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453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 txBox="1"/>
          <p:nvPr/>
        </p:nvSpPr>
        <p:spPr>
          <a:xfrm>
            <a:off x="5807392" y="2844355"/>
            <a:ext cx="818198" cy="112530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82905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2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>
              <a:spcBef>
                <a:spcPts val="319"/>
              </a:spcBef>
            </a:pPr>
            <a:endParaRPr sz="1350">
              <a:latin typeface="Cambria Math"/>
              <a:cs typeface="Cambria Math"/>
            </a:endParaRPr>
          </a:p>
          <a:p>
            <a:pPr marL="39052">
              <a:tabLst>
                <a:tab pos="412909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4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>
              <a:spcBef>
                <a:spcPts val="323"/>
              </a:spcBef>
            </a:pPr>
            <a:endParaRPr sz="1350">
              <a:latin typeface="Cambria Math"/>
              <a:cs typeface="Cambria Math"/>
            </a:endParaRPr>
          </a:p>
          <a:p>
            <a:pPr marL="38100">
              <a:tabLst>
                <a:tab pos="411480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2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85635" y="3791711"/>
            <a:ext cx="506254" cy="159068"/>
          </a:xfrm>
          <a:custGeom>
            <a:avLst/>
            <a:gdLst/>
            <a:ahLst/>
            <a:cxnLst/>
            <a:rect l="l" t="t" r="r" b="b"/>
            <a:pathLst>
              <a:path w="675004" h="212089">
                <a:moveTo>
                  <a:pt x="607441" y="0"/>
                </a:moveTo>
                <a:lnTo>
                  <a:pt x="604393" y="8635"/>
                </a:lnTo>
                <a:lnTo>
                  <a:pt x="616678" y="13946"/>
                </a:lnTo>
                <a:lnTo>
                  <a:pt x="627237" y="21304"/>
                </a:lnTo>
                <a:lnTo>
                  <a:pt x="648628" y="55429"/>
                </a:lnTo>
                <a:lnTo>
                  <a:pt x="654888" y="86536"/>
                </a:lnTo>
                <a:lnTo>
                  <a:pt x="654915" y="86723"/>
                </a:lnTo>
                <a:lnTo>
                  <a:pt x="655701" y="104774"/>
                </a:lnTo>
                <a:lnTo>
                  <a:pt x="654915" y="123517"/>
                </a:lnTo>
                <a:lnTo>
                  <a:pt x="652557" y="140509"/>
                </a:lnTo>
                <a:lnTo>
                  <a:pt x="636010" y="180911"/>
                </a:lnTo>
                <a:lnTo>
                  <a:pt x="604774" y="203199"/>
                </a:lnTo>
                <a:lnTo>
                  <a:pt x="607441" y="211708"/>
                </a:lnTo>
                <a:lnTo>
                  <a:pt x="647910" y="187705"/>
                </a:lnTo>
                <a:lnTo>
                  <a:pt x="670639" y="143335"/>
                </a:lnTo>
                <a:lnTo>
                  <a:pt x="675004" y="105917"/>
                </a:lnTo>
                <a:lnTo>
                  <a:pt x="673920" y="86723"/>
                </a:lnTo>
                <a:lnTo>
                  <a:pt x="673909" y="86536"/>
                </a:lnTo>
                <a:lnTo>
                  <a:pt x="657478" y="37083"/>
                </a:lnTo>
                <a:lnTo>
                  <a:pt x="622796" y="5544"/>
                </a:lnTo>
                <a:lnTo>
                  <a:pt x="607441" y="0"/>
                </a:lnTo>
                <a:close/>
              </a:path>
              <a:path w="675004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0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7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/>
          <p:cNvSpPr txBox="1"/>
          <p:nvPr/>
        </p:nvSpPr>
        <p:spPr>
          <a:xfrm>
            <a:off x="6648640" y="3687889"/>
            <a:ext cx="115347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860108" algn="l"/>
              </a:tabLst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r>
              <a:rPr sz="2025" baseline="-16975" dirty="0">
                <a:latin typeface="Cambria Math"/>
                <a:cs typeface="Cambria Math"/>
              </a:rPr>
              <a:t>	</a:t>
            </a: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236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=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814787" y="3763995"/>
            <a:ext cx="205264" cy="165259"/>
          </a:xfrm>
          <a:custGeom>
            <a:avLst/>
            <a:gdLst/>
            <a:ahLst/>
            <a:cxnLst/>
            <a:rect l="l" t="t" r="r" b="b"/>
            <a:pathLst>
              <a:path w="273684" h="220345">
                <a:moveTo>
                  <a:pt x="131190" y="0"/>
                </a:moveTo>
                <a:lnTo>
                  <a:pt x="75945" y="190500"/>
                </a:lnTo>
                <a:lnTo>
                  <a:pt x="36575" y="103886"/>
                </a:lnTo>
                <a:lnTo>
                  <a:pt x="0" y="120650"/>
                </a:lnTo>
                <a:lnTo>
                  <a:pt x="3428" y="129032"/>
                </a:lnTo>
                <a:lnTo>
                  <a:pt x="22351" y="120650"/>
                </a:lnTo>
                <a:lnTo>
                  <a:pt x="68452" y="219964"/>
                </a:lnTo>
                <a:lnTo>
                  <a:pt x="79375" y="219964"/>
                </a:lnTo>
                <a:lnTo>
                  <a:pt x="139445" y="14732"/>
                </a:lnTo>
                <a:lnTo>
                  <a:pt x="146938" y="14732"/>
                </a:lnTo>
                <a:lnTo>
                  <a:pt x="146938" y="15367"/>
                </a:lnTo>
                <a:lnTo>
                  <a:pt x="273430" y="15367"/>
                </a:lnTo>
                <a:lnTo>
                  <a:pt x="273430" y="127"/>
                </a:lnTo>
                <a:lnTo>
                  <a:pt x="1311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/>
          <p:cNvSpPr txBox="1"/>
          <p:nvPr/>
        </p:nvSpPr>
        <p:spPr>
          <a:xfrm>
            <a:off x="7032973" y="3739325"/>
            <a:ext cx="131540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892969" algn="l"/>
              </a:tabLst>
            </a:pPr>
            <a:r>
              <a:rPr sz="1350" dirty="0">
                <a:latin typeface="Cambria Math"/>
                <a:cs typeface="Cambria Math"/>
              </a:rPr>
              <a:t>3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5</a:t>
            </a:r>
            <a:r>
              <a:rPr sz="1350" dirty="0">
                <a:latin typeface="Cambria Math"/>
                <a:cs typeface="Cambria Math"/>
              </a:rPr>
              <a:t>	4</a:t>
            </a:r>
            <a:r>
              <a:rPr sz="1350" spc="56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35245" y="2814970"/>
            <a:ext cx="199549" cy="145733"/>
            <a:chOff x="580326" y="2610294"/>
            <a:chExt cx="266065" cy="19431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3" y="2618232"/>
              <a:ext cx="249936" cy="17830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8263" y="2618232"/>
              <a:ext cx="250190" cy="178435"/>
            </a:xfrm>
            <a:custGeom>
              <a:avLst/>
              <a:gdLst/>
              <a:ahLst/>
              <a:cxnLst/>
              <a:rect l="l" t="t" r="r" b="b"/>
              <a:pathLst>
                <a:path w="250190" h="178435">
                  <a:moveTo>
                    <a:pt x="0" y="44576"/>
                  </a:moveTo>
                  <a:lnTo>
                    <a:pt x="160781" y="44576"/>
                  </a:lnTo>
                  <a:lnTo>
                    <a:pt x="160781" y="0"/>
                  </a:lnTo>
                  <a:lnTo>
                    <a:pt x="249936" y="89153"/>
                  </a:lnTo>
                  <a:lnTo>
                    <a:pt x="160781" y="178307"/>
                  </a:lnTo>
                  <a:lnTo>
                    <a:pt x="160781" y="133730"/>
                  </a:lnTo>
                  <a:lnTo>
                    <a:pt x="0" y="133730"/>
                  </a:lnTo>
                  <a:lnTo>
                    <a:pt x="0" y="44576"/>
                  </a:lnTo>
                  <a:close/>
                </a:path>
              </a:pathLst>
            </a:custGeom>
            <a:ln w="15875">
              <a:solidFill>
                <a:srgbClr val="117DA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739866" y="3289363"/>
            <a:ext cx="1337310" cy="207172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26231" algn="just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 marL="20003" marR="10953">
              <a:spcBef>
                <a:spcPts val="930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Cluster3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  <a:p>
            <a:pPr marL="28099" marR="3810">
              <a:spcBef>
                <a:spcPts val="619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Cluster1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{(2,1)}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8674" y="3122438"/>
            <a:ext cx="200501" cy="144780"/>
            <a:chOff x="584898" y="3020250"/>
            <a:chExt cx="267335" cy="19304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836" y="3028188"/>
              <a:ext cx="251460" cy="17678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2836" y="3028188"/>
              <a:ext cx="251460" cy="177165"/>
            </a:xfrm>
            <a:custGeom>
              <a:avLst/>
              <a:gdLst/>
              <a:ahLst/>
              <a:cxnLst/>
              <a:rect l="l" t="t" r="r" b="b"/>
              <a:pathLst>
                <a:path w="251459" h="177164">
                  <a:moveTo>
                    <a:pt x="0" y="44196"/>
                  </a:moveTo>
                  <a:lnTo>
                    <a:pt x="163068" y="44196"/>
                  </a:lnTo>
                  <a:lnTo>
                    <a:pt x="163068" y="0"/>
                  </a:lnTo>
                  <a:lnTo>
                    <a:pt x="251460" y="88391"/>
                  </a:lnTo>
                  <a:lnTo>
                    <a:pt x="163068" y="176784"/>
                  </a:lnTo>
                  <a:lnTo>
                    <a:pt x="163068" y="132587"/>
                  </a:lnTo>
                  <a:lnTo>
                    <a:pt x="0" y="132587"/>
                  </a:lnTo>
                  <a:lnTo>
                    <a:pt x="0" y="44196"/>
                  </a:lnTo>
                  <a:close/>
                </a:path>
              </a:pathLst>
            </a:custGeom>
            <a:ln w="15875">
              <a:solidFill>
                <a:srgbClr val="117DA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5" name="object 35"/>
          <p:cNvSpPr/>
          <p:nvPr/>
        </p:nvSpPr>
        <p:spPr>
          <a:xfrm>
            <a:off x="5203412" y="4415027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753" y="0"/>
                </a:moveTo>
                <a:lnTo>
                  <a:pt x="695833" y="8636"/>
                </a:lnTo>
                <a:lnTo>
                  <a:pt x="708046" y="13946"/>
                </a:lnTo>
                <a:lnTo>
                  <a:pt x="718581" y="21304"/>
                </a:lnTo>
                <a:lnTo>
                  <a:pt x="739995" y="55429"/>
                </a:lnTo>
                <a:lnTo>
                  <a:pt x="746195" y="86483"/>
                </a:lnTo>
                <a:lnTo>
                  <a:pt x="746230" y="86723"/>
                </a:lnTo>
                <a:lnTo>
                  <a:pt x="743870" y="140398"/>
                </a:lnTo>
                <a:lnTo>
                  <a:pt x="727340" y="180786"/>
                </a:lnTo>
                <a:lnTo>
                  <a:pt x="696087" y="203200"/>
                </a:lnTo>
                <a:lnTo>
                  <a:pt x="698753" y="211709"/>
                </a:lnTo>
                <a:lnTo>
                  <a:pt x="739276" y="187706"/>
                </a:lnTo>
                <a:lnTo>
                  <a:pt x="761952" y="143335"/>
                </a:lnTo>
                <a:lnTo>
                  <a:pt x="766318" y="105918"/>
                </a:lnTo>
                <a:lnTo>
                  <a:pt x="765238" y="86723"/>
                </a:lnTo>
                <a:lnTo>
                  <a:pt x="748919" y="37084"/>
                </a:lnTo>
                <a:lnTo>
                  <a:pt x="714164" y="5526"/>
                </a:lnTo>
                <a:lnTo>
                  <a:pt x="698753" y="0"/>
                </a:lnTo>
                <a:close/>
              </a:path>
              <a:path w="766445" h="212089">
                <a:moveTo>
                  <a:pt x="67437" y="0"/>
                </a:moveTo>
                <a:lnTo>
                  <a:pt x="27092" y="24056"/>
                </a:lnTo>
                <a:lnTo>
                  <a:pt x="4318" y="68548"/>
                </a:lnTo>
                <a:lnTo>
                  <a:pt x="63" y="104775"/>
                </a:lnTo>
                <a:lnTo>
                  <a:pt x="0" y="105918"/>
                </a:lnTo>
                <a:lnTo>
                  <a:pt x="9751" y="159799"/>
                </a:lnTo>
                <a:lnTo>
                  <a:pt x="38608" y="198183"/>
                </a:lnTo>
                <a:lnTo>
                  <a:pt x="67437" y="211709"/>
                </a:lnTo>
                <a:lnTo>
                  <a:pt x="70103" y="203200"/>
                </a:lnTo>
                <a:lnTo>
                  <a:pt x="58056" y="197792"/>
                </a:lnTo>
                <a:lnTo>
                  <a:pt x="47640" y="190325"/>
                </a:lnTo>
                <a:lnTo>
                  <a:pt x="26322" y="155638"/>
                </a:lnTo>
                <a:lnTo>
                  <a:pt x="19351" y="105918"/>
                </a:lnTo>
                <a:lnTo>
                  <a:pt x="19303" y="104775"/>
                </a:lnTo>
                <a:lnTo>
                  <a:pt x="20087" y="86723"/>
                </a:lnTo>
                <a:lnTo>
                  <a:pt x="31750" y="42164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6" name="object 36"/>
          <p:cNvSpPr txBox="1"/>
          <p:nvPr/>
        </p:nvSpPr>
        <p:spPr>
          <a:xfrm>
            <a:off x="4962334" y="4362641"/>
            <a:ext cx="79009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2</a:t>
            </a:r>
            <a:r>
              <a:rPr sz="1463" spc="52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𝑃2,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19895" y="4372546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7429" y="65278"/>
                </a:moveTo>
                <a:lnTo>
                  <a:pt x="254381" y="56642"/>
                </a:lnTo>
                <a:lnTo>
                  <a:pt x="239039" y="62179"/>
                </a:lnTo>
                <a:lnTo>
                  <a:pt x="225590" y="70192"/>
                </a:lnTo>
                <a:lnTo>
                  <a:pt x="196684" y="108737"/>
                </a:lnTo>
                <a:lnTo>
                  <a:pt x="186994" y="161417"/>
                </a:lnTo>
                <a:lnTo>
                  <a:pt x="186944" y="162560"/>
                </a:lnTo>
                <a:lnTo>
                  <a:pt x="187909" y="180086"/>
                </a:lnTo>
                <a:lnTo>
                  <a:pt x="188010" y="182016"/>
                </a:lnTo>
                <a:lnTo>
                  <a:pt x="204343" y="231394"/>
                </a:lnTo>
                <a:lnTo>
                  <a:pt x="239014" y="262826"/>
                </a:lnTo>
                <a:lnTo>
                  <a:pt x="254381" y="268351"/>
                </a:lnTo>
                <a:lnTo>
                  <a:pt x="257048" y="259842"/>
                </a:lnTo>
                <a:lnTo>
                  <a:pt x="244995" y="254444"/>
                </a:lnTo>
                <a:lnTo>
                  <a:pt x="234581" y="246976"/>
                </a:lnTo>
                <a:lnTo>
                  <a:pt x="213258" y="212280"/>
                </a:lnTo>
                <a:lnTo>
                  <a:pt x="206286" y="162560"/>
                </a:lnTo>
                <a:lnTo>
                  <a:pt x="206248" y="161417"/>
                </a:lnTo>
                <a:lnTo>
                  <a:pt x="207022" y="143370"/>
                </a:lnTo>
                <a:lnTo>
                  <a:pt x="218694" y="98806"/>
                </a:lnTo>
                <a:lnTo>
                  <a:pt x="245211" y="70599"/>
                </a:lnTo>
                <a:lnTo>
                  <a:pt x="257429" y="65278"/>
                </a:lnTo>
                <a:close/>
              </a:path>
              <a:path w="2084070" h="285114">
                <a:moveTo>
                  <a:pt x="863346" y="162560"/>
                </a:moveTo>
                <a:lnTo>
                  <a:pt x="862253" y="143370"/>
                </a:lnTo>
                <a:lnTo>
                  <a:pt x="862241" y="143129"/>
                </a:lnTo>
                <a:lnTo>
                  <a:pt x="858977" y="125196"/>
                </a:lnTo>
                <a:lnTo>
                  <a:pt x="836244" y="80708"/>
                </a:lnTo>
                <a:lnTo>
                  <a:pt x="795782" y="56642"/>
                </a:lnTo>
                <a:lnTo>
                  <a:pt x="792861" y="65278"/>
                </a:lnTo>
                <a:lnTo>
                  <a:pt x="805065" y="70599"/>
                </a:lnTo>
                <a:lnTo>
                  <a:pt x="815606" y="77952"/>
                </a:lnTo>
                <a:lnTo>
                  <a:pt x="837018" y="112077"/>
                </a:lnTo>
                <a:lnTo>
                  <a:pt x="843216" y="143129"/>
                </a:lnTo>
                <a:lnTo>
                  <a:pt x="843254" y="143370"/>
                </a:lnTo>
                <a:lnTo>
                  <a:pt x="844042" y="161417"/>
                </a:lnTo>
                <a:lnTo>
                  <a:pt x="843254" y="180086"/>
                </a:lnTo>
                <a:lnTo>
                  <a:pt x="840892" y="197053"/>
                </a:lnTo>
                <a:lnTo>
                  <a:pt x="824357" y="237439"/>
                </a:lnTo>
                <a:lnTo>
                  <a:pt x="793115" y="259842"/>
                </a:lnTo>
                <a:lnTo>
                  <a:pt x="795782" y="268351"/>
                </a:lnTo>
                <a:lnTo>
                  <a:pt x="836295" y="244348"/>
                </a:lnTo>
                <a:lnTo>
                  <a:pt x="858977" y="199986"/>
                </a:lnTo>
                <a:lnTo>
                  <a:pt x="862241" y="182016"/>
                </a:lnTo>
                <a:lnTo>
                  <a:pt x="863346" y="162560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35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8" name="object 38"/>
          <p:cNvSpPr txBox="1"/>
          <p:nvPr/>
        </p:nvSpPr>
        <p:spPr>
          <a:xfrm>
            <a:off x="5813107" y="4362641"/>
            <a:ext cx="115395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403384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2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2</a:t>
            </a:r>
            <a:r>
              <a:rPr sz="1350" spc="263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203" baseline="2350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+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81920" y="4415027"/>
            <a:ext cx="507683" cy="159068"/>
          </a:xfrm>
          <a:custGeom>
            <a:avLst/>
            <a:gdLst/>
            <a:ahLst/>
            <a:cxnLst/>
            <a:rect l="l" t="t" r="r" b="b"/>
            <a:pathLst>
              <a:path w="676909" h="212089">
                <a:moveTo>
                  <a:pt x="608838" y="0"/>
                </a:moveTo>
                <a:lnTo>
                  <a:pt x="605917" y="8636"/>
                </a:lnTo>
                <a:lnTo>
                  <a:pt x="618130" y="13946"/>
                </a:lnTo>
                <a:lnTo>
                  <a:pt x="628665" y="21304"/>
                </a:lnTo>
                <a:lnTo>
                  <a:pt x="650079" y="55429"/>
                </a:lnTo>
                <a:lnTo>
                  <a:pt x="656279" y="86483"/>
                </a:lnTo>
                <a:lnTo>
                  <a:pt x="656314" y="86723"/>
                </a:lnTo>
                <a:lnTo>
                  <a:pt x="653954" y="140398"/>
                </a:lnTo>
                <a:lnTo>
                  <a:pt x="637424" y="180786"/>
                </a:lnTo>
                <a:lnTo>
                  <a:pt x="606171" y="203200"/>
                </a:lnTo>
                <a:lnTo>
                  <a:pt x="608838" y="211709"/>
                </a:lnTo>
                <a:lnTo>
                  <a:pt x="649360" y="187706"/>
                </a:lnTo>
                <a:lnTo>
                  <a:pt x="672036" y="143335"/>
                </a:lnTo>
                <a:lnTo>
                  <a:pt x="676401" y="105918"/>
                </a:lnTo>
                <a:lnTo>
                  <a:pt x="675322" y="86723"/>
                </a:lnTo>
                <a:lnTo>
                  <a:pt x="659002" y="37084"/>
                </a:lnTo>
                <a:lnTo>
                  <a:pt x="624248" y="5526"/>
                </a:lnTo>
                <a:lnTo>
                  <a:pt x="608838" y="0"/>
                </a:lnTo>
                <a:close/>
              </a:path>
              <a:path w="676909" h="212089">
                <a:moveTo>
                  <a:pt x="67437" y="0"/>
                </a:moveTo>
                <a:lnTo>
                  <a:pt x="27092" y="24056"/>
                </a:lnTo>
                <a:lnTo>
                  <a:pt x="4318" y="68548"/>
                </a:lnTo>
                <a:lnTo>
                  <a:pt x="63" y="104775"/>
                </a:lnTo>
                <a:lnTo>
                  <a:pt x="0" y="105918"/>
                </a:lnTo>
                <a:lnTo>
                  <a:pt x="9751" y="159799"/>
                </a:lnTo>
                <a:lnTo>
                  <a:pt x="38607" y="198183"/>
                </a:lnTo>
                <a:lnTo>
                  <a:pt x="67437" y="211709"/>
                </a:lnTo>
                <a:lnTo>
                  <a:pt x="70103" y="203200"/>
                </a:lnTo>
                <a:lnTo>
                  <a:pt x="58056" y="197792"/>
                </a:lnTo>
                <a:lnTo>
                  <a:pt x="47640" y="190325"/>
                </a:lnTo>
                <a:lnTo>
                  <a:pt x="26322" y="155638"/>
                </a:lnTo>
                <a:lnTo>
                  <a:pt x="19351" y="105918"/>
                </a:lnTo>
                <a:lnTo>
                  <a:pt x="19303" y="104775"/>
                </a:lnTo>
                <a:lnTo>
                  <a:pt x="20087" y="86723"/>
                </a:lnTo>
                <a:lnTo>
                  <a:pt x="31750" y="42164"/>
                </a:lnTo>
                <a:lnTo>
                  <a:pt x="58271" y="13946"/>
                </a:lnTo>
                <a:lnTo>
                  <a:pt x="70484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0" name="object 40"/>
          <p:cNvSpPr txBox="1"/>
          <p:nvPr/>
        </p:nvSpPr>
        <p:spPr>
          <a:xfrm>
            <a:off x="7010020" y="4362641"/>
            <a:ext cx="92249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259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26" baseline="2350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0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206841" y="4862416"/>
            <a:ext cx="576263" cy="159068"/>
          </a:xfrm>
          <a:custGeom>
            <a:avLst/>
            <a:gdLst/>
            <a:ahLst/>
            <a:cxnLst/>
            <a:rect l="l" t="t" r="r" b="b"/>
            <a:pathLst>
              <a:path w="768350" h="212089">
                <a:moveTo>
                  <a:pt x="700277" y="0"/>
                </a:moveTo>
                <a:lnTo>
                  <a:pt x="697356" y="8635"/>
                </a:lnTo>
                <a:lnTo>
                  <a:pt x="709570" y="13946"/>
                </a:lnTo>
                <a:lnTo>
                  <a:pt x="720105" y="21304"/>
                </a:lnTo>
                <a:lnTo>
                  <a:pt x="741519" y="55429"/>
                </a:lnTo>
                <a:lnTo>
                  <a:pt x="747719" y="86483"/>
                </a:lnTo>
                <a:lnTo>
                  <a:pt x="747754" y="86723"/>
                </a:lnTo>
                <a:lnTo>
                  <a:pt x="745394" y="140398"/>
                </a:lnTo>
                <a:lnTo>
                  <a:pt x="728864" y="180786"/>
                </a:lnTo>
                <a:lnTo>
                  <a:pt x="697611" y="203199"/>
                </a:lnTo>
                <a:lnTo>
                  <a:pt x="700277" y="211708"/>
                </a:lnTo>
                <a:lnTo>
                  <a:pt x="740800" y="187705"/>
                </a:lnTo>
                <a:lnTo>
                  <a:pt x="763476" y="143335"/>
                </a:lnTo>
                <a:lnTo>
                  <a:pt x="767842" y="105917"/>
                </a:lnTo>
                <a:lnTo>
                  <a:pt x="766762" y="86723"/>
                </a:lnTo>
                <a:lnTo>
                  <a:pt x="750443" y="37083"/>
                </a:lnTo>
                <a:lnTo>
                  <a:pt x="715688" y="5526"/>
                </a:lnTo>
                <a:lnTo>
                  <a:pt x="700277" y="0"/>
                </a:lnTo>
                <a:close/>
              </a:path>
              <a:path w="768350" h="212089">
                <a:moveTo>
                  <a:pt x="67437" y="0"/>
                </a:moveTo>
                <a:lnTo>
                  <a:pt x="27092" y="24056"/>
                </a:lnTo>
                <a:lnTo>
                  <a:pt x="4318" y="68548"/>
                </a:lnTo>
                <a:lnTo>
                  <a:pt x="63" y="104774"/>
                </a:lnTo>
                <a:lnTo>
                  <a:pt x="0" y="105917"/>
                </a:lnTo>
                <a:lnTo>
                  <a:pt x="9751" y="159799"/>
                </a:lnTo>
                <a:lnTo>
                  <a:pt x="38607" y="198183"/>
                </a:lnTo>
                <a:lnTo>
                  <a:pt x="67437" y="211708"/>
                </a:lnTo>
                <a:lnTo>
                  <a:pt x="70103" y="203199"/>
                </a:lnTo>
                <a:lnTo>
                  <a:pt x="58056" y="197792"/>
                </a:lnTo>
                <a:lnTo>
                  <a:pt x="47640" y="190325"/>
                </a:lnTo>
                <a:lnTo>
                  <a:pt x="26322" y="155638"/>
                </a:lnTo>
                <a:lnTo>
                  <a:pt x="19351" y="105917"/>
                </a:lnTo>
                <a:lnTo>
                  <a:pt x="19303" y="104774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5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2" name="object 42"/>
          <p:cNvSpPr txBox="1"/>
          <p:nvPr/>
        </p:nvSpPr>
        <p:spPr>
          <a:xfrm>
            <a:off x="4965764" y="4810029"/>
            <a:ext cx="79105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2</a:t>
            </a:r>
            <a:r>
              <a:rPr sz="1463" spc="512" baseline="-14957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𝑃2,</a:t>
            </a:r>
            <a:r>
              <a:rPr sz="1350" spc="-75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24467" y="4819936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5905" y="65278"/>
                </a:moveTo>
                <a:lnTo>
                  <a:pt x="252857" y="56642"/>
                </a:lnTo>
                <a:lnTo>
                  <a:pt x="237515" y="62179"/>
                </a:lnTo>
                <a:lnTo>
                  <a:pt x="224066" y="70192"/>
                </a:lnTo>
                <a:lnTo>
                  <a:pt x="195160" y="108737"/>
                </a:lnTo>
                <a:lnTo>
                  <a:pt x="185470" y="161417"/>
                </a:lnTo>
                <a:lnTo>
                  <a:pt x="185420" y="162560"/>
                </a:lnTo>
                <a:lnTo>
                  <a:pt x="186385" y="180098"/>
                </a:lnTo>
                <a:lnTo>
                  <a:pt x="186486" y="182016"/>
                </a:lnTo>
                <a:lnTo>
                  <a:pt x="202819" y="231394"/>
                </a:lnTo>
                <a:lnTo>
                  <a:pt x="237490" y="262826"/>
                </a:lnTo>
                <a:lnTo>
                  <a:pt x="252857" y="268351"/>
                </a:lnTo>
                <a:lnTo>
                  <a:pt x="255524" y="259842"/>
                </a:lnTo>
                <a:lnTo>
                  <a:pt x="243471" y="254444"/>
                </a:lnTo>
                <a:lnTo>
                  <a:pt x="233057" y="246976"/>
                </a:lnTo>
                <a:lnTo>
                  <a:pt x="211734" y="212293"/>
                </a:lnTo>
                <a:lnTo>
                  <a:pt x="204762" y="162560"/>
                </a:lnTo>
                <a:lnTo>
                  <a:pt x="204724" y="161417"/>
                </a:lnTo>
                <a:lnTo>
                  <a:pt x="205498" y="143370"/>
                </a:lnTo>
                <a:lnTo>
                  <a:pt x="217170" y="98806"/>
                </a:lnTo>
                <a:lnTo>
                  <a:pt x="243687" y="70599"/>
                </a:lnTo>
                <a:lnTo>
                  <a:pt x="255905" y="65278"/>
                </a:lnTo>
                <a:close/>
              </a:path>
              <a:path w="2084070" h="285114">
                <a:moveTo>
                  <a:pt x="861822" y="162560"/>
                </a:moveTo>
                <a:lnTo>
                  <a:pt x="860729" y="143370"/>
                </a:lnTo>
                <a:lnTo>
                  <a:pt x="860717" y="143129"/>
                </a:lnTo>
                <a:lnTo>
                  <a:pt x="857453" y="125196"/>
                </a:lnTo>
                <a:lnTo>
                  <a:pt x="834720" y="80708"/>
                </a:lnTo>
                <a:lnTo>
                  <a:pt x="794258" y="56642"/>
                </a:lnTo>
                <a:lnTo>
                  <a:pt x="791337" y="65278"/>
                </a:lnTo>
                <a:lnTo>
                  <a:pt x="803541" y="70599"/>
                </a:lnTo>
                <a:lnTo>
                  <a:pt x="814082" y="77952"/>
                </a:lnTo>
                <a:lnTo>
                  <a:pt x="835494" y="112077"/>
                </a:lnTo>
                <a:lnTo>
                  <a:pt x="841692" y="143129"/>
                </a:lnTo>
                <a:lnTo>
                  <a:pt x="841730" y="143370"/>
                </a:lnTo>
                <a:lnTo>
                  <a:pt x="842518" y="161417"/>
                </a:lnTo>
                <a:lnTo>
                  <a:pt x="841730" y="180086"/>
                </a:lnTo>
                <a:lnTo>
                  <a:pt x="839368" y="197040"/>
                </a:lnTo>
                <a:lnTo>
                  <a:pt x="822833" y="237439"/>
                </a:lnTo>
                <a:lnTo>
                  <a:pt x="791591" y="259842"/>
                </a:lnTo>
                <a:lnTo>
                  <a:pt x="794258" y="268351"/>
                </a:lnTo>
                <a:lnTo>
                  <a:pt x="834771" y="244348"/>
                </a:lnTo>
                <a:lnTo>
                  <a:pt x="857504" y="199986"/>
                </a:lnTo>
                <a:lnTo>
                  <a:pt x="860742" y="182016"/>
                </a:lnTo>
                <a:lnTo>
                  <a:pt x="861822" y="162560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35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4" name="object 44"/>
          <p:cNvSpPr txBox="1"/>
          <p:nvPr/>
        </p:nvSpPr>
        <p:spPr>
          <a:xfrm>
            <a:off x="5836730" y="4810029"/>
            <a:ext cx="78867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83381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4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59118" y="4758594"/>
            <a:ext cx="303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985348" y="4862416"/>
            <a:ext cx="507683" cy="159068"/>
          </a:xfrm>
          <a:custGeom>
            <a:avLst/>
            <a:gdLst/>
            <a:ahLst/>
            <a:cxnLst/>
            <a:rect l="l" t="t" r="r" b="b"/>
            <a:pathLst>
              <a:path w="676909" h="212089">
                <a:moveTo>
                  <a:pt x="608837" y="0"/>
                </a:moveTo>
                <a:lnTo>
                  <a:pt x="605917" y="8635"/>
                </a:lnTo>
                <a:lnTo>
                  <a:pt x="618130" y="13946"/>
                </a:lnTo>
                <a:lnTo>
                  <a:pt x="628665" y="21304"/>
                </a:lnTo>
                <a:lnTo>
                  <a:pt x="650079" y="55429"/>
                </a:lnTo>
                <a:lnTo>
                  <a:pt x="656279" y="86483"/>
                </a:lnTo>
                <a:lnTo>
                  <a:pt x="656314" y="86723"/>
                </a:lnTo>
                <a:lnTo>
                  <a:pt x="653954" y="140398"/>
                </a:lnTo>
                <a:lnTo>
                  <a:pt x="637424" y="180786"/>
                </a:lnTo>
                <a:lnTo>
                  <a:pt x="606171" y="203199"/>
                </a:lnTo>
                <a:lnTo>
                  <a:pt x="608837" y="211708"/>
                </a:lnTo>
                <a:lnTo>
                  <a:pt x="649360" y="187705"/>
                </a:lnTo>
                <a:lnTo>
                  <a:pt x="672036" y="143335"/>
                </a:lnTo>
                <a:lnTo>
                  <a:pt x="676401" y="105917"/>
                </a:lnTo>
                <a:lnTo>
                  <a:pt x="675322" y="86723"/>
                </a:lnTo>
                <a:lnTo>
                  <a:pt x="659002" y="37083"/>
                </a:lnTo>
                <a:lnTo>
                  <a:pt x="624248" y="5526"/>
                </a:lnTo>
                <a:lnTo>
                  <a:pt x="608837" y="0"/>
                </a:lnTo>
                <a:close/>
              </a:path>
              <a:path w="676909" h="212089">
                <a:moveTo>
                  <a:pt x="67436" y="0"/>
                </a:moveTo>
                <a:lnTo>
                  <a:pt x="27092" y="24056"/>
                </a:lnTo>
                <a:lnTo>
                  <a:pt x="4318" y="68548"/>
                </a:lnTo>
                <a:lnTo>
                  <a:pt x="63" y="104774"/>
                </a:lnTo>
                <a:lnTo>
                  <a:pt x="0" y="105917"/>
                </a:lnTo>
                <a:lnTo>
                  <a:pt x="9751" y="159799"/>
                </a:lnTo>
                <a:lnTo>
                  <a:pt x="38607" y="198183"/>
                </a:lnTo>
                <a:lnTo>
                  <a:pt x="67436" y="211708"/>
                </a:lnTo>
                <a:lnTo>
                  <a:pt x="70103" y="203199"/>
                </a:lnTo>
                <a:lnTo>
                  <a:pt x="58056" y="197792"/>
                </a:lnTo>
                <a:lnTo>
                  <a:pt x="47640" y="190325"/>
                </a:lnTo>
                <a:lnTo>
                  <a:pt x="26322" y="155638"/>
                </a:lnTo>
                <a:lnTo>
                  <a:pt x="19351" y="105917"/>
                </a:lnTo>
                <a:lnTo>
                  <a:pt x="19303" y="104774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4" y="8635"/>
                </a:lnTo>
                <a:lnTo>
                  <a:pt x="67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7" name="object 47"/>
          <p:cNvSpPr txBox="1"/>
          <p:nvPr/>
        </p:nvSpPr>
        <p:spPr>
          <a:xfrm>
            <a:off x="7032498" y="4810029"/>
            <a:ext cx="41481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4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 </a:t>
            </a:r>
            <a:r>
              <a:rPr sz="1350" spc="-38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480936" y="4758594"/>
            <a:ext cx="31241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236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=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814405" y="4834605"/>
            <a:ext cx="301466" cy="165259"/>
          </a:xfrm>
          <a:custGeom>
            <a:avLst/>
            <a:gdLst/>
            <a:ahLst/>
            <a:cxnLst/>
            <a:rect l="l" t="t" r="r" b="b"/>
            <a:pathLst>
              <a:path w="401954" h="220345">
                <a:moveTo>
                  <a:pt x="159639" y="0"/>
                </a:moveTo>
                <a:lnTo>
                  <a:pt x="131191" y="0"/>
                </a:lnTo>
                <a:lnTo>
                  <a:pt x="76073" y="190627"/>
                </a:lnTo>
                <a:lnTo>
                  <a:pt x="36575" y="104013"/>
                </a:lnTo>
                <a:lnTo>
                  <a:pt x="0" y="120650"/>
                </a:lnTo>
                <a:lnTo>
                  <a:pt x="3428" y="129032"/>
                </a:lnTo>
                <a:lnTo>
                  <a:pt x="22351" y="120650"/>
                </a:lnTo>
                <a:lnTo>
                  <a:pt x="68579" y="220091"/>
                </a:lnTo>
                <a:lnTo>
                  <a:pt x="79375" y="220091"/>
                </a:lnTo>
                <a:lnTo>
                  <a:pt x="139446" y="14859"/>
                </a:lnTo>
                <a:lnTo>
                  <a:pt x="146939" y="14859"/>
                </a:lnTo>
                <a:lnTo>
                  <a:pt x="146939" y="15494"/>
                </a:lnTo>
                <a:lnTo>
                  <a:pt x="401447" y="15494"/>
                </a:lnTo>
                <a:lnTo>
                  <a:pt x="401447" y="254"/>
                </a:lnTo>
                <a:lnTo>
                  <a:pt x="159639" y="254"/>
                </a:lnTo>
                <a:lnTo>
                  <a:pt x="1596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0" name="object 50"/>
          <p:cNvSpPr txBox="1"/>
          <p:nvPr/>
        </p:nvSpPr>
        <p:spPr>
          <a:xfrm>
            <a:off x="7916037" y="4810029"/>
            <a:ext cx="84915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13</a:t>
            </a:r>
            <a:r>
              <a:rPr sz="1350" spc="6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68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3.605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205699" y="5309797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753" y="0"/>
                </a:moveTo>
                <a:lnTo>
                  <a:pt x="695833" y="8585"/>
                </a:lnTo>
                <a:lnTo>
                  <a:pt x="708046" y="13910"/>
                </a:lnTo>
                <a:lnTo>
                  <a:pt x="718581" y="21275"/>
                </a:lnTo>
                <a:lnTo>
                  <a:pt x="739995" y="55406"/>
                </a:lnTo>
                <a:lnTo>
                  <a:pt x="747014" y="104813"/>
                </a:lnTo>
                <a:lnTo>
                  <a:pt x="746228" y="123484"/>
                </a:lnTo>
                <a:lnTo>
                  <a:pt x="734441" y="169214"/>
                </a:lnTo>
                <a:lnTo>
                  <a:pt x="708187" y="197805"/>
                </a:lnTo>
                <a:lnTo>
                  <a:pt x="696087" y="203149"/>
                </a:lnTo>
                <a:lnTo>
                  <a:pt x="698753" y="211747"/>
                </a:lnTo>
                <a:lnTo>
                  <a:pt x="739276" y="187703"/>
                </a:lnTo>
                <a:lnTo>
                  <a:pt x="761952" y="143335"/>
                </a:lnTo>
                <a:lnTo>
                  <a:pt x="766318" y="105930"/>
                </a:lnTo>
                <a:lnTo>
                  <a:pt x="765237" y="86744"/>
                </a:lnTo>
                <a:lnTo>
                  <a:pt x="765224" y="86513"/>
                </a:lnTo>
                <a:lnTo>
                  <a:pt x="748919" y="37109"/>
                </a:lnTo>
                <a:lnTo>
                  <a:pt x="714164" y="5541"/>
                </a:lnTo>
                <a:lnTo>
                  <a:pt x="698753" y="0"/>
                </a:lnTo>
                <a:close/>
              </a:path>
              <a:path w="766445" h="212089">
                <a:moveTo>
                  <a:pt x="67437" y="0"/>
                </a:moveTo>
                <a:lnTo>
                  <a:pt x="27092" y="24095"/>
                </a:lnTo>
                <a:lnTo>
                  <a:pt x="4318" y="68572"/>
                </a:lnTo>
                <a:lnTo>
                  <a:pt x="61" y="104813"/>
                </a:lnTo>
                <a:lnTo>
                  <a:pt x="0" y="105930"/>
                </a:lnTo>
                <a:lnTo>
                  <a:pt x="970" y="123484"/>
                </a:lnTo>
                <a:lnTo>
                  <a:pt x="1075" y="125383"/>
                </a:lnTo>
                <a:lnTo>
                  <a:pt x="4318" y="143335"/>
                </a:lnTo>
                <a:lnTo>
                  <a:pt x="27039" y="187703"/>
                </a:lnTo>
                <a:lnTo>
                  <a:pt x="67437" y="211747"/>
                </a:lnTo>
                <a:lnTo>
                  <a:pt x="70103" y="203149"/>
                </a:lnTo>
                <a:lnTo>
                  <a:pt x="58056" y="197805"/>
                </a:lnTo>
                <a:lnTo>
                  <a:pt x="47640" y="190368"/>
                </a:lnTo>
                <a:lnTo>
                  <a:pt x="26322" y="155687"/>
                </a:lnTo>
                <a:lnTo>
                  <a:pt x="19350" y="105930"/>
                </a:lnTo>
                <a:lnTo>
                  <a:pt x="19303" y="104813"/>
                </a:lnTo>
                <a:lnTo>
                  <a:pt x="26322" y="55406"/>
                </a:lnTo>
                <a:lnTo>
                  <a:pt x="47736" y="21275"/>
                </a:lnTo>
                <a:lnTo>
                  <a:pt x="70485" y="8585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2" name="object 52"/>
          <p:cNvSpPr/>
          <p:nvPr/>
        </p:nvSpPr>
        <p:spPr>
          <a:xfrm>
            <a:off x="6022181" y="5267316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7429" y="65227"/>
                </a:moveTo>
                <a:lnTo>
                  <a:pt x="254381" y="56642"/>
                </a:lnTo>
                <a:lnTo>
                  <a:pt x="239039" y="62191"/>
                </a:lnTo>
                <a:lnTo>
                  <a:pt x="225590" y="70218"/>
                </a:lnTo>
                <a:lnTo>
                  <a:pt x="196684" y="108750"/>
                </a:lnTo>
                <a:lnTo>
                  <a:pt x="186994" y="161455"/>
                </a:lnTo>
                <a:lnTo>
                  <a:pt x="186944" y="162572"/>
                </a:lnTo>
                <a:lnTo>
                  <a:pt x="187909" y="180136"/>
                </a:lnTo>
                <a:lnTo>
                  <a:pt x="188010" y="182029"/>
                </a:lnTo>
                <a:lnTo>
                  <a:pt x="204343" y="231381"/>
                </a:lnTo>
                <a:lnTo>
                  <a:pt x="239014" y="262851"/>
                </a:lnTo>
                <a:lnTo>
                  <a:pt x="254381" y="268389"/>
                </a:lnTo>
                <a:lnTo>
                  <a:pt x="257048" y="259791"/>
                </a:lnTo>
                <a:lnTo>
                  <a:pt x="244995" y="254457"/>
                </a:lnTo>
                <a:lnTo>
                  <a:pt x="234581" y="247015"/>
                </a:lnTo>
                <a:lnTo>
                  <a:pt x="213258" y="212331"/>
                </a:lnTo>
                <a:lnTo>
                  <a:pt x="206286" y="162572"/>
                </a:lnTo>
                <a:lnTo>
                  <a:pt x="206248" y="161455"/>
                </a:lnTo>
                <a:lnTo>
                  <a:pt x="207022" y="143395"/>
                </a:lnTo>
                <a:lnTo>
                  <a:pt x="218694" y="98780"/>
                </a:lnTo>
                <a:lnTo>
                  <a:pt x="245211" y="70561"/>
                </a:lnTo>
                <a:lnTo>
                  <a:pt x="257429" y="65227"/>
                </a:lnTo>
                <a:close/>
              </a:path>
              <a:path w="2084070" h="285114">
                <a:moveTo>
                  <a:pt x="861822" y="162572"/>
                </a:moveTo>
                <a:lnTo>
                  <a:pt x="860729" y="143395"/>
                </a:lnTo>
                <a:lnTo>
                  <a:pt x="860717" y="143167"/>
                </a:lnTo>
                <a:lnTo>
                  <a:pt x="857453" y="125222"/>
                </a:lnTo>
                <a:lnTo>
                  <a:pt x="834720" y="80746"/>
                </a:lnTo>
                <a:lnTo>
                  <a:pt x="794258" y="56642"/>
                </a:lnTo>
                <a:lnTo>
                  <a:pt x="791337" y="65227"/>
                </a:lnTo>
                <a:lnTo>
                  <a:pt x="803541" y="70561"/>
                </a:lnTo>
                <a:lnTo>
                  <a:pt x="814082" y="77927"/>
                </a:lnTo>
                <a:lnTo>
                  <a:pt x="835494" y="112052"/>
                </a:lnTo>
                <a:lnTo>
                  <a:pt x="841692" y="143167"/>
                </a:lnTo>
                <a:lnTo>
                  <a:pt x="841730" y="143395"/>
                </a:lnTo>
                <a:lnTo>
                  <a:pt x="842518" y="161455"/>
                </a:lnTo>
                <a:lnTo>
                  <a:pt x="841730" y="180136"/>
                </a:lnTo>
                <a:lnTo>
                  <a:pt x="839368" y="197091"/>
                </a:lnTo>
                <a:lnTo>
                  <a:pt x="822833" y="237490"/>
                </a:lnTo>
                <a:lnTo>
                  <a:pt x="791591" y="259791"/>
                </a:lnTo>
                <a:lnTo>
                  <a:pt x="794258" y="268389"/>
                </a:lnTo>
                <a:lnTo>
                  <a:pt x="834771" y="244348"/>
                </a:lnTo>
                <a:lnTo>
                  <a:pt x="857453" y="199986"/>
                </a:lnTo>
                <a:lnTo>
                  <a:pt x="860717" y="182029"/>
                </a:lnTo>
                <a:lnTo>
                  <a:pt x="861822" y="162572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49"/>
                </a:lnTo>
                <a:lnTo>
                  <a:pt x="143002" y="749"/>
                </a:lnTo>
                <a:lnTo>
                  <a:pt x="75184" y="254685"/>
                </a:lnTo>
                <a:lnTo>
                  <a:pt x="36576" y="168516"/>
                </a:lnTo>
                <a:lnTo>
                  <a:pt x="0" y="185254"/>
                </a:lnTo>
                <a:lnTo>
                  <a:pt x="3429" y="193636"/>
                </a:lnTo>
                <a:lnTo>
                  <a:pt x="22352" y="185254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595"/>
                </a:lnTo>
                <a:lnTo>
                  <a:pt x="174244" y="15595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3" name="object 53"/>
          <p:cNvSpPr txBox="1"/>
          <p:nvPr/>
        </p:nvSpPr>
        <p:spPr>
          <a:xfrm>
            <a:off x="4945570" y="5257647"/>
            <a:ext cx="169687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7150">
              <a:spcBef>
                <a:spcPts val="75"/>
              </a:spcBef>
              <a:tabLst>
                <a:tab pos="898208" algn="l"/>
                <a:tab pos="1273016" algn="l"/>
              </a:tabLst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2</a:t>
            </a:r>
            <a:r>
              <a:rPr sz="1463" spc="52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𝑃2,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𝐶3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2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56833" y="5206212"/>
            <a:ext cx="303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984206" y="5309797"/>
            <a:ext cx="507683" cy="159068"/>
          </a:xfrm>
          <a:custGeom>
            <a:avLst/>
            <a:gdLst/>
            <a:ahLst/>
            <a:cxnLst/>
            <a:rect l="l" t="t" r="r" b="b"/>
            <a:pathLst>
              <a:path w="676909" h="212089">
                <a:moveTo>
                  <a:pt x="608838" y="0"/>
                </a:moveTo>
                <a:lnTo>
                  <a:pt x="605917" y="8585"/>
                </a:lnTo>
                <a:lnTo>
                  <a:pt x="618130" y="13910"/>
                </a:lnTo>
                <a:lnTo>
                  <a:pt x="628665" y="21275"/>
                </a:lnTo>
                <a:lnTo>
                  <a:pt x="650079" y="55406"/>
                </a:lnTo>
                <a:lnTo>
                  <a:pt x="657098" y="104813"/>
                </a:lnTo>
                <a:lnTo>
                  <a:pt x="656312" y="123484"/>
                </a:lnTo>
                <a:lnTo>
                  <a:pt x="644525" y="169214"/>
                </a:lnTo>
                <a:lnTo>
                  <a:pt x="618271" y="197805"/>
                </a:lnTo>
                <a:lnTo>
                  <a:pt x="606171" y="203149"/>
                </a:lnTo>
                <a:lnTo>
                  <a:pt x="608838" y="211747"/>
                </a:lnTo>
                <a:lnTo>
                  <a:pt x="649360" y="187703"/>
                </a:lnTo>
                <a:lnTo>
                  <a:pt x="672036" y="143335"/>
                </a:lnTo>
                <a:lnTo>
                  <a:pt x="676401" y="105930"/>
                </a:lnTo>
                <a:lnTo>
                  <a:pt x="675321" y="86744"/>
                </a:lnTo>
                <a:lnTo>
                  <a:pt x="675308" y="86513"/>
                </a:lnTo>
                <a:lnTo>
                  <a:pt x="659002" y="37109"/>
                </a:lnTo>
                <a:lnTo>
                  <a:pt x="624248" y="5541"/>
                </a:lnTo>
                <a:lnTo>
                  <a:pt x="608838" y="0"/>
                </a:lnTo>
                <a:close/>
              </a:path>
              <a:path w="676909" h="212089">
                <a:moveTo>
                  <a:pt x="67436" y="0"/>
                </a:moveTo>
                <a:lnTo>
                  <a:pt x="27092" y="24095"/>
                </a:lnTo>
                <a:lnTo>
                  <a:pt x="4318" y="68572"/>
                </a:lnTo>
                <a:lnTo>
                  <a:pt x="61" y="104813"/>
                </a:lnTo>
                <a:lnTo>
                  <a:pt x="0" y="105930"/>
                </a:lnTo>
                <a:lnTo>
                  <a:pt x="970" y="123484"/>
                </a:lnTo>
                <a:lnTo>
                  <a:pt x="1075" y="125383"/>
                </a:lnTo>
                <a:lnTo>
                  <a:pt x="4318" y="143335"/>
                </a:lnTo>
                <a:lnTo>
                  <a:pt x="27039" y="187703"/>
                </a:lnTo>
                <a:lnTo>
                  <a:pt x="67436" y="211747"/>
                </a:lnTo>
                <a:lnTo>
                  <a:pt x="70103" y="203149"/>
                </a:lnTo>
                <a:lnTo>
                  <a:pt x="58056" y="197805"/>
                </a:lnTo>
                <a:lnTo>
                  <a:pt x="47640" y="190368"/>
                </a:lnTo>
                <a:lnTo>
                  <a:pt x="26322" y="155687"/>
                </a:lnTo>
                <a:lnTo>
                  <a:pt x="19350" y="105930"/>
                </a:lnTo>
                <a:lnTo>
                  <a:pt x="19303" y="104813"/>
                </a:lnTo>
                <a:lnTo>
                  <a:pt x="26322" y="55406"/>
                </a:lnTo>
                <a:lnTo>
                  <a:pt x="47736" y="21275"/>
                </a:lnTo>
                <a:lnTo>
                  <a:pt x="70484" y="8585"/>
                </a:lnTo>
                <a:lnTo>
                  <a:pt x="67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6" name="object 56"/>
          <p:cNvSpPr/>
          <p:nvPr/>
        </p:nvSpPr>
        <p:spPr>
          <a:xfrm>
            <a:off x="7813262" y="5282022"/>
            <a:ext cx="205264" cy="165259"/>
          </a:xfrm>
          <a:custGeom>
            <a:avLst/>
            <a:gdLst/>
            <a:ahLst/>
            <a:cxnLst/>
            <a:rect l="l" t="t" r="r" b="b"/>
            <a:pathLst>
              <a:path w="273684" h="220345">
                <a:moveTo>
                  <a:pt x="159639" y="0"/>
                </a:moveTo>
                <a:lnTo>
                  <a:pt x="131191" y="0"/>
                </a:lnTo>
                <a:lnTo>
                  <a:pt x="76073" y="190538"/>
                </a:lnTo>
                <a:lnTo>
                  <a:pt x="36575" y="103911"/>
                </a:lnTo>
                <a:lnTo>
                  <a:pt x="0" y="120662"/>
                </a:lnTo>
                <a:lnTo>
                  <a:pt x="3428" y="129031"/>
                </a:lnTo>
                <a:lnTo>
                  <a:pt x="22351" y="120662"/>
                </a:lnTo>
                <a:lnTo>
                  <a:pt x="68580" y="220002"/>
                </a:lnTo>
                <a:lnTo>
                  <a:pt x="79375" y="220002"/>
                </a:lnTo>
                <a:lnTo>
                  <a:pt x="139446" y="14846"/>
                </a:lnTo>
                <a:lnTo>
                  <a:pt x="146939" y="14846"/>
                </a:lnTo>
                <a:lnTo>
                  <a:pt x="146939" y="15443"/>
                </a:lnTo>
                <a:lnTo>
                  <a:pt x="273431" y="15443"/>
                </a:lnTo>
                <a:lnTo>
                  <a:pt x="273431" y="203"/>
                </a:lnTo>
                <a:lnTo>
                  <a:pt x="159639" y="203"/>
                </a:lnTo>
                <a:lnTo>
                  <a:pt x="1596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7" name="object 57"/>
          <p:cNvSpPr txBox="1"/>
          <p:nvPr/>
        </p:nvSpPr>
        <p:spPr>
          <a:xfrm>
            <a:off x="7002780" y="5257647"/>
            <a:ext cx="13635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  <a:tabLst>
                <a:tab pos="921544" algn="l"/>
              </a:tabLst>
            </a:pPr>
            <a:r>
              <a:rPr sz="1350" dirty="0">
                <a:latin typeface="Cambria Math"/>
                <a:cs typeface="Cambria Math"/>
              </a:rPr>
              <a:t>3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263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26" baseline="2350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4</a:t>
            </a:r>
            <a:r>
              <a:rPr sz="1350" spc="60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1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863466" y="3640455"/>
            <a:ext cx="3745706" cy="384334"/>
          </a:xfrm>
          <a:custGeom>
            <a:avLst/>
            <a:gdLst/>
            <a:ahLst/>
            <a:cxnLst/>
            <a:rect l="l" t="t" r="r" b="b"/>
            <a:pathLst>
              <a:path w="4994275" h="512445">
                <a:moveTo>
                  <a:pt x="0" y="512063"/>
                </a:moveTo>
                <a:lnTo>
                  <a:pt x="4994148" y="512063"/>
                </a:lnTo>
                <a:lnTo>
                  <a:pt x="4994148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ln w="158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9" name="object 59"/>
          <p:cNvSpPr/>
          <p:nvPr/>
        </p:nvSpPr>
        <p:spPr>
          <a:xfrm>
            <a:off x="4863466" y="4285107"/>
            <a:ext cx="3745706" cy="384334"/>
          </a:xfrm>
          <a:custGeom>
            <a:avLst/>
            <a:gdLst/>
            <a:ahLst/>
            <a:cxnLst/>
            <a:rect l="l" t="t" r="r" b="b"/>
            <a:pathLst>
              <a:path w="4994275" h="512445">
                <a:moveTo>
                  <a:pt x="0" y="512063"/>
                </a:moveTo>
                <a:lnTo>
                  <a:pt x="4994148" y="512063"/>
                </a:lnTo>
                <a:lnTo>
                  <a:pt x="4994148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ln w="1587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0" name="object 60"/>
          <p:cNvSpPr txBox="1"/>
          <p:nvPr/>
        </p:nvSpPr>
        <p:spPr>
          <a:xfrm>
            <a:off x="2667856" y="5621350"/>
            <a:ext cx="395763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Similarly,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other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points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appropriate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cluster.</a:t>
            </a:r>
            <a:endParaRPr sz="1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1124" y="273377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485698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55761" y="2483833"/>
            <a:ext cx="1330642" cy="139717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C1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(2,1)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C2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(4,4)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(2,3)</a:t>
            </a:r>
            <a:endParaRPr sz="1350">
              <a:latin typeface="Arial MT"/>
              <a:cs typeface="Arial MT"/>
            </a:endParaRPr>
          </a:p>
          <a:p>
            <a:pPr marL="21431" marR="3810">
              <a:spcBef>
                <a:spcPts val="1088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7856" y="4045363"/>
            <a:ext cx="1318736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{(2,1)}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5760" y="4856225"/>
            <a:ext cx="1319213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Cluster2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{(7,1)}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7446" y="2490655"/>
            <a:ext cx="2166461" cy="139717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{(2,1)}</a:t>
            </a:r>
            <a:endParaRPr sz="1350">
              <a:latin typeface="Arial MT"/>
              <a:cs typeface="Arial MT"/>
            </a:endParaRPr>
          </a:p>
          <a:p>
            <a:pPr marL="9525">
              <a:spcBef>
                <a:spcPts val="4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Cluster2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{(4,4),(7,1)}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  <a:p>
            <a:pPr marL="9525">
              <a:spcBef>
                <a:spcPts val="1058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Cluster2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{(4,4),(7,1),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(3,5)}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6200" y="4535710"/>
            <a:ext cx="3509010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{(2,1),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(1,2)}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{(4,4),(7,1),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(3,5),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(6,2),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(6,1),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(3,4)}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{(2,3),(2,5)}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44680" y="3989641"/>
            <a:ext cx="0" cy="451485"/>
          </a:xfrm>
          <a:custGeom>
            <a:avLst/>
            <a:gdLst/>
            <a:ahLst/>
            <a:cxnLst/>
            <a:rect l="l" t="t" r="r" b="b"/>
            <a:pathLst>
              <a:path h="601979">
                <a:moveTo>
                  <a:pt x="0" y="0"/>
                </a:moveTo>
                <a:lnTo>
                  <a:pt x="0" y="601471"/>
                </a:lnTo>
              </a:path>
            </a:pathLst>
          </a:custGeom>
          <a:ln w="381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92100" y="293357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485698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0943" y="2463165"/>
            <a:ext cx="4314825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3478" y="272340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220741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3.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Update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means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25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-50" dirty="0">
                          <a:solidFill>
                            <a:srgbClr val="C00000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55760" y="2483834"/>
            <a:ext cx="1570673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Old</a:t>
            </a:r>
            <a:r>
              <a:rPr sz="1350" spc="-30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C1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(2,1)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C2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(4,4)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(2,3)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1362" y="2483834"/>
            <a:ext cx="350948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Clusters: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{(2,1),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(1,2),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{(4,4),(7,1),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(3,5),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(6,2),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(6,1),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(3,4)}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{(2,3),(2,5)}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569" y="3514154"/>
            <a:ext cx="359378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mean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the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points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in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6770" y="3969258"/>
            <a:ext cx="100013" cy="177998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088" spc="-38" dirty="0">
                <a:latin typeface="Cambria Math"/>
                <a:cs typeface="Cambria Math"/>
              </a:rPr>
              <a:t>1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1570" y="3878541"/>
            <a:ext cx="76914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  <a:tabLst>
                <a:tab pos="616268" algn="l"/>
              </a:tabLst>
            </a:pPr>
            <a:r>
              <a:rPr sz="1500" spc="-15" dirty="0">
                <a:latin typeface="Cambria Math"/>
                <a:cs typeface="Cambria Math"/>
              </a:rPr>
              <a:t>𝑚𝑒𝑎𝑛</a:t>
            </a:r>
            <a:r>
              <a:rPr sz="1500" dirty="0">
                <a:latin typeface="Cambria Math"/>
                <a:cs typeface="Cambria Math"/>
              </a:rPr>
              <a:t>	</a:t>
            </a:r>
            <a:r>
              <a:rPr sz="1500" spc="-38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79578" y="3866578"/>
            <a:ext cx="784383" cy="314801"/>
          </a:xfrm>
          <a:custGeom>
            <a:avLst/>
            <a:gdLst/>
            <a:ahLst/>
            <a:cxnLst/>
            <a:rect l="l" t="t" r="r" b="b"/>
            <a:pathLst>
              <a:path w="1045845" h="419735">
                <a:moveTo>
                  <a:pt x="94742" y="9906"/>
                </a:moveTo>
                <a:lnTo>
                  <a:pt x="53289" y="29946"/>
                </a:lnTo>
                <a:lnTo>
                  <a:pt x="24511" y="77597"/>
                </a:lnTo>
                <a:lnTo>
                  <a:pt x="6108" y="138849"/>
                </a:lnTo>
                <a:lnTo>
                  <a:pt x="0" y="209804"/>
                </a:lnTo>
                <a:lnTo>
                  <a:pt x="1473" y="245186"/>
                </a:lnTo>
                <a:lnTo>
                  <a:pt x="13766" y="312394"/>
                </a:lnTo>
                <a:lnTo>
                  <a:pt x="37846" y="368236"/>
                </a:lnTo>
                <a:lnTo>
                  <a:pt x="70853" y="407098"/>
                </a:lnTo>
                <a:lnTo>
                  <a:pt x="90551" y="419735"/>
                </a:lnTo>
                <a:lnTo>
                  <a:pt x="94742" y="409829"/>
                </a:lnTo>
                <a:lnTo>
                  <a:pt x="78905" y="397103"/>
                </a:lnTo>
                <a:lnTo>
                  <a:pt x="64922" y="380453"/>
                </a:lnTo>
                <a:lnTo>
                  <a:pt x="42545" y="335534"/>
                </a:lnTo>
                <a:lnTo>
                  <a:pt x="28422" y="277799"/>
                </a:lnTo>
                <a:lnTo>
                  <a:pt x="23749" y="210058"/>
                </a:lnTo>
                <a:lnTo>
                  <a:pt x="24930" y="174320"/>
                </a:lnTo>
                <a:lnTo>
                  <a:pt x="34404" y="111163"/>
                </a:lnTo>
                <a:lnTo>
                  <a:pt x="53047" y="59524"/>
                </a:lnTo>
                <a:lnTo>
                  <a:pt x="79057" y="22656"/>
                </a:lnTo>
                <a:lnTo>
                  <a:pt x="94742" y="9906"/>
                </a:lnTo>
                <a:close/>
              </a:path>
              <a:path w="1045845" h="419735">
                <a:moveTo>
                  <a:pt x="453644" y="201930"/>
                </a:moveTo>
                <a:lnTo>
                  <a:pt x="103124" y="201930"/>
                </a:lnTo>
                <a:lnTo>
                  <a:pt x="103124" y="218694"/>
                </a:lnTo>
                <a:lnTo>
                  <a:pt x="453644" y="218694"/>
                </a:lnTo>
                <a:lnTo>
                  <a:pt x="453644" y="201930"/>
                </a:lnTo>
                <a:close/>
              </a:path>
              <a:path w="1045845" h="419735">
                <a:moveTo>
                  <a:pt x="941324" y="201930"/>
                </a:moveTo>
                <a:lnTo>
                  <a:pt x="590804" y="201930"/>
                </a:lnTo>
                <a:lnTo>
                  <a:pt x="590804" y="218694"/>
                </a:lnTo>
                <a:lnTo>
                  <a:pt x="941324" y="218694"/>
                </a:lnTo>
                <a:lnTo>
                  <a:pt x="941324" y="201930"/>
                </a:lnTo>
                <a:close/>
              </a:path>
              <a:path w="1045845" h="419735">
                <a:moveTo>
                  <a:pt x="1045718" y="209804"/>
                </a:moveTo>
                <a:lnTo>
                  <a:pt x="1039596" y="138849"/>
                </a:lnTo>
                <a:lnTo>
                  <a:pt x="1021207" y="77597"/>
                </a:lnTo>
                <a:lnTo>
                  <a:pt x="992352" y="29946"/>
                </a:lnTo>
                <a:lnTo>
                  <a:pt x="955040" y="0"/>
                </a:lnTo>
                <a:lnTo>
                  <a:pt x="950976" y="9906"/>
                </a:lnTo>
                <a:lnTo>
                  <a:pt x="966647" y="22656"/>
                </a:lnTo>
                <a:lnTo>
                  <a:pt x="980528" y="39179"/>
                </a:lnTo>
                <a:lnTo>
                  <a:pt x="1003046" y="83693"/>
                </a:lnTo>
                <a:lnTo>
                  <a:pt x="1017219" y="141351"/>
                </a:lnTo>
                <a:lnTo>
                  <a:pt x="1021956" y="209804"/>
                </a:lnTo>
                <a:lnTo>
                  <a:pt x="1021969" y="210058"/>
                </a:lnTo>
                <a:lnTo>
                  <a:pt x="1017282" y="277799"/>
                </a:lnTo>
                <a:lnTo>
                  <a:pt x="1003173" y="335534"/>
                </a:lnTo>
                <a:lnTo>
                  <a:pt x="980694" y="380453"/>
                </a:lnTo>
                <a:lnTo>
                  <a:pt x="950976" y="409829"/>
                </a:lnTo>
                <a:lnTo>
                  <a:pt x="955040" y="419735"/>
                </a:lnTo>
                <a:lnTo>
                  <a:pt x="992352" y="389928"/>
                </a:lnTo>
                <a:lnTo>
                  <a:pt x="1021207" y="342011"/>
                </a:lnTo>
                <a:lnTo>
                  <a:pt x="1039596" y="280479"/>
                </a:lnTo>
                <a:lnTo>
                  <a:pt x="1045705" y="210058"/>
                </a:lnTo>
                <a:lnTo>
                  <a:pt x="1045718" y="2098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3057143" y="4567047"/>
            <a:ext cx="100013" cy="177998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9525">
              <a:spcBef>
                <a:spcPts val="83"/>
              </a:spcBef>
            </a:pPr>
            <a:r>
              <a:rPr sz="1088" spc="-38" dirty="0">
                <a:latin typeface="Cambria Math"/>
                <a:cs typeface="Cambria Math"/>
              </a:rPr>
              <a:t>2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7371" y="4476750"/>
            <a:ext cx="772477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619601" algn="l"/>
              </a:tabLst>
            </a:pPr>
            <a:r>
              <a:rPr sz="1500" spc="-15" dirty="0">
                <a:latin typeface="Cambria Math"/>
                <a:cs typeface="Cambria Math"/>
              </a:rPr>
              <a:t>𝑚𝑒𝑎𝑛</a:t>
            </a:r>
            <a:r>
              <a:rPr sz="1500" dirty="0">
                <a:latin typeface="Cambria Math"/>
                <a:cs typeface="Cambria Math"/>
              </a:rPr>
              <a:t>	</a:t>
            </a:r>
            <a:r>
              <a:rPr sz="1500" spc="-38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19952" y="4464272"/>
            <a:ext cx="2241709" cy="315278"/>
          </a:xfrm>
          <a:custGeom>
            <a:avLst/>
            <a:gdLst/>
            <a:ahLst/>
            <a:cxnLst/>
            <a:rect l="l" t="t" r="r" b="b"/>
            <a:pathLst>
              <a:path w="2988945" h="420370">
                <a:moveTo>
                  <a:pt x="94615" y="9906"/>
                </a:moveTo>
                <a:lnTo>
                  <a:pt x="53289" y="29933"/>
                </a:lnTo>
                <a:lnTo>
                  <a:pt x="24511" y="77470"/>
                </a:lnTo>
                <a:lnTo>
                  <a:pt x="6108" y="138836"/>
                </a:lnTo>
                <a:lnTo>
                  <a:pt x="0" y="209804"/>
                </a:lnTo>
                <a:lnTo>
                  <a:pt x="1473" y="245186"/>
                </a:lnTo>
                <a:lnTo>
                  <a:pt x="13766" y="312394"/>
                </a:lnTo>
                <a:lnTo>
                  <a:pt x="37846" y="368236"/>
                </a:lnTo>
                <a:lnTo>
                  <a:pt x="70853" y="407098"/>
                </a:lnTo>
                <a:lnTo>
                  <a:pt x="90551" y="419747"/>
                </a:lnTo>
                <a:lnTo>
                  <a:pt x="94615" y="409841"/>
                </a:lnTo>
                <a:lnTo>
                  <a:pt x="78841" y="397103"/>
                </a:lnTo>
                <a:lnTo>
                  <a:pt x="64897" y="380453"/>
                </a:lnTo>
                <a:lnTo>
                  <a:pt x="42418" y="335534"/>
                </a:lnTo>
                <a:lnTo>
                  <a:pt x="28346" y="277799"/>
                </a:lnTo>
                <a:lnTo>
                  <a:pt x="23622" y="210058"/>
                </a:lnTo>
                <a:lnTo>
                  <a:pt x="24803" y="174320"/>
                </a:lnTo>
                <a:lnTo>
                  <a:pt x="34328" y="111163"/>
                </a:lnTo>
                <a:lnTo>
                  <a:pt x="52997" y="59524"/>
                </a:lnTo>
                <a:lnTo>
                  <a:pt x="78994" y="22656"/>
                </a:lnTo>
                <a:lnTo>
                  <a:pt x="94615" y="9906"/>
                </a:lnTo>
                <a:close/>
              </a:path>
              <a:path w="2988945" h="420370">
                <a:moveTo>
                  <a:pt x="1425829" y="201930"/>
                </a:moveTo>
                <a:lnTo>
                  <a:pt x="102997" y="201930"/>
                </a:lnTo>
                <a:lnTo>
                  <a:pt x="102997" y="218694"/>
                </a:lnTo>
                <a:lnTo>
                  <a:pt x="1425829" y="218694"/>
                </a:lnTo>
                <a:lnTo>
                  <a:pt x="1425829" y="201930"/>
                </a:lnTo>
                <a:close/>
              </a:path>
              <a:path w="2988945" h="420370">
                <a:moveTo>
                  <a:pt x="2884297" y="201930"/>
                </a:moveTo>
                <a:lnTo>
                  <a:pt x="1561465" y="201930"/>
                </a:lnTo>
                <a:lnTo>
                  <a:pt x="1561465" y="218694"/>
                </a:lnTo>
                <a:lnTo>
                  <a:pt x="2884297" y="218694"/>
                </a:lnTo>
                <a:lnTo>
                  <a:pt x="2884297" y="201930"/>
                </a:lnTo>
                <a:close/>
              </a:path>
              <a:path w="2988945" h="420370">
                <a:moveTo>
                  <a:pt x="2988818" y="209804"/>
                </a:moveTo>
                <a:lnTo>
                  <a:pt x="2987319" y="174320"/>
                </a:lnTo>
                <a:lnTo>
                  <a:pt x="2987268" y="173113"/>
                </a:lnTo>
                <a:lnTo>
                  <a:pt x="2982633" y="138836"/>
                </a:lnTo>
                <a:lnTo>
                  <a:pt x="2964180" y="77470"/>
                </a:lnTo>
                <a:lnTo>
                  <a:pt x="2935376" y="29933"/>
                </a:lnTo>
                <a:lnTo>
                  <a:pt x="2898013" y="0"/>
                </a:lnTo>
                <a:lnTo>
                  <a:pt x="2894076" y="9906"/>
                </a:lnTo>
                <a:lnTo>
                  <a:pt x="2909684" y="22656"/>
                </a:lnTo>
                <a:lnTo>
                  <a:pt x="2923565" y="39179"/>
                </a:lnTo>
                <a:lnTo>
                  <a:pt x="2946019" y="83693"/>
                </a:lnTo>
                <a:lnTo>
                  <a:pt x="2960306" y="141351"/>
                </a:lnTo>
                <a:lnTo>
                  <a:pt x="2965056" y="209804"/>
                </a:lnTo>
                <a:lnTo>
                  <a:pt x="2965069" y="210058"/>
                </a:lnTo>
                <a:lnTo>
                  <a:pt x="2960319" y="277799"/>
                </a:lnTo>
                <a:lnTo>
                  <a:pt x="2946146" y="335534"/>
                </a:lnTo>
                <a:lnTo>
                  <a:pt x="2923768" y="380453"/>
                </a:lnTo>
                <a:lnTo>
                  <a:pt x="2894076" y="409841"/>
                </a:lnTo>
                <a:lnTo>
                  <a:pt x="2898013" y="419747"/>
                </a:lnTo>
                <a:lnTo>
                  <a:pt x="2935376" y="389928"/>
                </a:lnTo>
                <a:lnTo>
                  <a:pt x="2964180" y="342011"/>
                </a:lnTo>
                <a:lnTo>
                  <a:pt x="2982633" y="280479"/>
                </a:lnTo>
                <a:lnTo>
                  <a:pt x="2988805" y="210058"/>
                </a:lnTo>
                <a:lnTo>
                  <a:pt x="2988818" y="2098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3121342" y="5104257"/>
            <a:ext cx="100013" cy="178479"/>
          </a:xfrm>
          <a:prstGeom prst="rect">
            <a:avLst/>
          </a:prstGeom>
        </p:spPr>
        <p:txBody>
          <a:bodyPr vert="horz" wrap="square" lIns="0" tIns="10954" rIns="0" bIns="0" rtlCol="0">
            <a:spAutoFit/>
          </a:bodyPr>
          <a:lstStyle/>
          <a:p>
            <a:pPr marL="9525">
              <a:spcBef>
                <a:spcPts val="86"/>
              </a:spcBef>
            </a:pPr>
            <a:r>
              <a:rPr sz="1088" spc="-38" dirty="0">
                <a:latin typeface="Cambria Math"/>
                <a:cs typeface="Cambria Math"/>
              </a:rPr>
              <a:t>3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1570" y="5013959"/>
            <a:ext cx="772477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619601" algn="l"/>
              </a:tabLst>
            </a:pPr>
            <a:r>
              <a:rPr sz="1500" spc="-15" dirty="0">
                <a:latin typeface="Cambria Math"/>
                <a:cs typeface="Cambria Math"/>
              </a:rPr>
              <a:t>𝑚𝑒𝑎𝑛</a:t>
            </a:r>
            <a:r>
              <a:rPr sz="1500" dirty="0">
                <a:latin typeface="Cambria Math"/>
                <a:cs typeface="Cambria Math"/>
              </a:rPr>
              <a:t>	</a:t>
            </a:r>
            <a:r>
              <a:rPr sz="1500" spc="-38" dirty="0">
                <a:latin typeface="Cambria Math"/>
                <a:cs typeface="Cambria Math"/>
              </a:rPr>
              <a:t>=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484150" y="5001386"/>
            <a:ext cx="784383" cy="315278"/>
          </a:xfrm>
          <a:custGeom>
            <a:avLst/>
            <a:gdLst/>
            <a:ahLst/>
            <a:cxnLst/>
            <a:rect l="l" t="t" r="r" b="b"/>
            <a:pathLst>
              <a:path w="1045845" h="420370">
                <a:moveTo>
                  <a:pt x="94742" y="9906"/>
                </a:moveTo>
                <a:lnTo>
                  <a:pt x="53289" y="29933"/>
                </a:lnTo>
                <a:lnTo>
                  <a:pt x="24511" y="77533"/>
                </a:lnTo>
                <a:lnTo>
                  <a:pt x="6108" y="138798"/>
                </a:lnTo>
                <a:lnTo>
                  <a:pt x="0" y="209753"/>
                </a:lnTo>
                <a:lnTo>
                  <a:pt x="1473" y="245173"/>
                </a:lnTo>
                <a:lnTo>
                  <a:pt x="13766" y="312381"/>
                </a:lnTo>
                <a:lnTo>
                  <a:pt x="37846" y="368198"/>
                </a:lnTo>
                <a:lnTo>
                  <a:pt x="70853" y="407085"/>
                </a:lnTo>
                <a:lnTo>
                  <a:pt x="90551" y="419773"/>
                </a:lnTo>
                <a:lnTo>
                  <a:pt x="94742" y="409829"/>
                </a:lnTo>
                <a:lnTo>
                  <a:pt x="78905" y="397078"/>
                </a:lnTo>
                <a:lnTo>
                  <a:pt x="64922" y="380453"/>
                </a:lnTo>
                <a:lnTo>
                  <a:pt x="42545" y="335521"/>
                </a:lnTo>
                <a:lnTo>
                  <a:pt x="28422" y="277799"/>
                </a:lnTo>
                <a:lnTo>
                  <a:pt x="23749" y="210007"/>
                </a:lnTo>
                <a:lnTo>
                  <a:pt x="24930" y="174294"/>
                </a:lnTo>
                <a:lnTo>
                  <a:pt x="34404" y="111137"/>
                </a:lnTo>
                <a:lnTo>
                  <a:pt x="53047" y="59524"/>
                </a:lnTo>
                <a:lnTo>
                  <a:pt x="79057" y="22656"/>
                </a:lnTo>
                <a:lnTo>
                  <a:pt x="94742" y="9906"/>
                </a:lnTo>
                <a:close/>
              </a:path>
              <a:path w="1045845" h="420370">
                <a:moveTo>
                  <a:pt x="453644" y="201930"/>
                </a:moveTo>
                <a:lnTo>
                  <a:pt x="103124" y="201930"/>
                </a:lnTo>
                <a:lnTo>
                  <a:pt x="103124" y="218694"/>
                </a:lnTo>
                <a:lnTo>
                  <a:pt x="453644" y="218694"/>
                </a:lnTo>
                <a:lnTo>
                  <a:pt x="453644" y="201930"/>
                </a:lnTo>
                <a:close/>
              </a:path>
              <a:path w="1045845" h="420370">
                <a:moveTo>
                  <a:pt x="941324" y="201930"/>
                </a:moveTo>
                <a:lnTo>
                  <a:pt x="590804" y="201930"/>
                </a:lnTo>
                <a:lnTo>
                  <a:pt x="590804" y="218694"/>
                </a:lnTo>
                <a:lnTo>
                  <a:pt x="941324" y="218694"/>
                </a:lnTo>
                <a:lnTo>
                  <a:pt x="941324" y="201930"/>
                </a:lnTo>
                <a:close/>
              </a:path>
              <a:path w="1045845" h="420370">
                <a:moveTo>
                  <a:pt x="1045718" y="209753"/>
                </a:moveTo>
                <a:lnTo>
                  <a:pt x="1044232" y="174294"/>
                </a:lnTo>
                <a:lnTo>
                  <a:pt x="1044181" y="173075"/>
                </a:lnTo>
                <a:lnTo>
                  <a:pt x="1039596" y="138798"/>
                </a:lnTo>
                <a:lnTo>
                  <a:pt x="1021207" y="77533"/>
                </a:lnTo>
                <a:lnTo>
                  <a:pt x="992352" y="29933"/>
                </a:lnTo>
                <a:lnTo>
                  <a:pt x="955040" y="0"/>
                </a:lnTo>
                <a:lnTo>
                  <a:pt x="950976" y="9906"/>
                </a:lnTo>
                <a:lnTo>
                  <a:pt x="966647" y="22656"/>
                </a:lnTo>
                <a:lnTo>
                  <a:pt x="980528" y="39179"/>
                </a:lnTo>
                <a:lnTo>
                  <a:pt x="1003046" y="83680"/>
                </a:lnTo>
                <a:lnTo>
                  <a:pt x="1017219" y="141338"/>
                </a:lnTo>
                <a:lnTo>
                  <a:pt x="1021956" y="209753"/>
                </a:lnTo>
                <a:lnTo>
                  <a:pt x="1021969" y="210007"/>
                </a:lnTo>
                <a:lnTo>
                  <a:pt x="1017282" y="277799"/>
                </a:lnTo>
                <a:lnTo>
                  <a:pt x="1003173" y="335521"/>
                </a:lnTo>
                <a:lnTo>
                  <a:pt x="980694" y="380453"/>
                </a:lnTo>
                <a:lnTo>
                  <a:pt x="950976" y="409829"/>
                </a:lnTo>
                <a:lnTo>
                  <a:pt x="955040" y="419773"/>
                </a:lnTo>
                <a:lnTo>
                  <a:pt x="992352" y="389890"/>
                </a:lnTo>
                <a:lnTo>
                  <a:pt x="1021207" y="341985"/>
                </a:lnTo>
                <a:lnTo>
                  <a:pt x="1039596" y="280466"/>
                </a:lnTo>
                <a:lnTo>
                  <a:pt x="1045705" y="210007"/>
                </a:lnTo>
                <a:lnTo>
                  <a:pt x="1045718" y="209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3430905" y="3724662"/>
            <a:ext cx="2220754" cy="1645418"/>
          </a:xfrm>
          <a:prstGeom prst="rect">
            <a:avLst/>
          </a:prstGeom>
        </p:spPr>
        <p:txBody>
          <a:bodyPr vert="horz" wrap="square" lIns="0" tIns="51911" rIns="0" bIns="0" rtlCol="0">
            <a:spAutoFit/>
          </a:bodyPr>
          <a:lstStyle/>
          <a:p>
            <a:pPr marL="126206">
              <a:spcBef>
                <a:spcPts val="409"/>
              </a:spcBef>
            </a:pPr>
            <a:r>
              <a:rPr sz="1088" dirty="0">
                <a:latin typeface="Cambria Math"/>
                <a:cs typeface="Cambria Math"/>
              </a:rPr>
              <a:t>2+1</a:t>
            </a:r>
            <a:r>
              <a:rPr sz="1088" spc="34" dirty="0">
                <a:latin typeface="Cambria Math"/>
                <a:cs typeface="Cambria Math"/>
              </a:rPr>
              <a:t> </a:t>
            </a:r>
            <a:r>
              <a:rPr sz="2250" spc="-11" baseline="-33333" dirty="0">
                <a:latin typeface="Cambria Math"/>
                <a:cs typeface="Cambria Math"/>
              </a:rPr>
              <a:t>,</a:t>
            </a:r>
            <a:r>
              <a:rPr sz="2250" spc="-78" baseline="-33333" dirty="0">
                <a:latin typeface="Cambria Math"/>
                <a:cs typeface="Cambria Math"/>
              </a:rPr>
              <a:t> </a:t>
            </a:r>
            <a:r>
              <a:rPr sz="1088" spc="-19" dirty="0">
                <a:latin typeface="Cambria Math"/>
                <a:cs typeface="Cambria Math"/>
              </a:rPr>
              <a:t>1+2</a:t>
            </a:r>
            <a:endParaRPr sz="1088">
              <a:latin typeface="Cambria Math"/>
              <a:cs typeface="Cambria Math"/>
            </a:endParaRPr>
          </a:p>
          <a:p>
            <a:pPr marL="216694">
              <a:spcBef>
                <a:spcPts val="251"/>
              </a:spcBef>
              <a:tabLst>
                <a:tab pos="582454" algn="l"/>
              </a:tabLst>
            </a:pPr>
            <a:r>
              <a:rPr sz="1088" spc="-38" dirty="0">
                <a:latin typeface="Cambria Math"/>
                <a:cs typeface="Cambria Math"/>
              </a:rPr>
              <a:t>2</a:t>
            </a:r>
            <a:r>
              <a:rPr sz="1088" dirty="0">
                <a:latin typeface="Cambria Math"/>
                <a:cs typeface="Cambria Math"/>
              </a:rPr>
              <a:t>	</a:t>
            </a:r>
            <a:r>
              <a:rPr sz="1088" spc="-38" dirty="0">
                <a:latin typeface="Cambria Math"/>
                <a:cs typeface="Cambria Math"/>
              </a:rPr>
              <a:t>2</a:t>
            </a:r>
            <a:endParaRPr sz="1088">
              <a:latin typeface="Cambria Math"/>
              <a:cs typeface="Cambria Math"/>
            </a:endParaRPr>
          </a:p>
          <a:p>
            <a:pPr>
              <a:spcBef>
                <a:spcPts val="75"/>
              </a:spcBef>
            </a:pPr>
            <a:endParaRPr sz="1088">
              <a:latin typeface="Cambria Math"/>
              <a:cs typeface="Cambria Math"/>
            </a:endParaRPr>
          </a:p>
          <a:p>
            <a:pPr marL="66675"/>
            <a:r>
              <a:rPr sz="1088" dirty="0">
                <a:latin typeface="Cambria Math"/>
                <a:cs typeface="Cambria Math"/>
              </a:rPr>
              <a:t>4+7+3+6+6+3</a:t>
            </a:r>
            <a:r>
              <a:rPr sz="1088" spc="60" dirty="0">
                <a:latin typeface="Cambria Math"/>
                <a:cs typeface="Cambria Math"/>
              </a:rPr>
              <a:t> </a:t>
            </a:r>
            <a:r>
              <a:rPr sz="2250" spc="-11" baseline="-33333" dirty="0">
                <a:latin typeface="Cambria Math"/>
                <a:cs typeface="Cambria Math"/>
              </a:rPr>
              <a:t>,</a:t>
            </a:r>
            <a:r>
              <a:rPr sz="2250" spc="-39" baseline="-33333" dirty="0">
                <a:latin typeface="Cambria Math"/>
                <a:cs typeface="Cambria Math"/>
              </a:rPr>
              <a:t> </a:t>
            </a:r>
            <a:r>
              <a:rPr sz="1088" spc="-8" dirty="0">
                <a:latin typeface="Cambria Math"/>
                <a:cs typeface="Cambria Math"/>
              </a:rPr>
              <a:t>4+1+5+2+1+4</a:t>
            </a:r>
            <a:endParaRPr sz="1088">
              <a:latin typeface="Cambria Math"/>
              <a:cs typeface="Cambria Math"/>
            </a:endParaRPr>
          </a:p>
          <a:p>
            <a:pPr marL="521494">
              <a:spcBef>
                <a:spcPts val="251"/>
              </a:spcBef>
              <a:tabLst>
                <a:tab pos="1615440" algn="l"/>
              </a:tabLst>
            </a:pPr>
            <a:r>
              <a:rPr sz="1088" spc="-38" dirty="0">
                <a:latin typeface="Cambria Math"/>
                <a:cs typeface="Cambria Math"/>
              </a:rPr>
              <a:t>6</a:t>
            </a:r>
            <a:r>
              <a:rPr sz="1088" dirty="0">
                <a:latin typeface="Cambria Math"/>
                <a:cs typeface="Cambria Math"/>
              </a:rPr>
              <a:t>	</a:t>
            </a:r>
            <a:r>
              <a:rPr sz="1088" spc="-38" dirty="0">
                <a:latin typeface="Cambria Math"/>
                <a:cs typeface="Cambria Math"/>
              </a:rPr>
              <a:t>6</a:t>
            </a:r>
            <a:endParaRPr sz="1088">
              <a:latin typeface="Cambria Math"/>
              <a:cs typeface="Cambria Math"/>
            </a:endParaRPr>
          </a:p>
          <a:p>
            <a:pPr marL="130969">
              <a:spcBef>
                <a:spcPts val="878"/>
              </a:spcBef>
            </a:pPr>
            <a:r>
              <a:rPr sz="1088" dirty="0">
                <a:latin typeface="Cambria Math"/>
                <a:cs typeface="Cambria Math"/>
              </a:rPr>
              <a:t>2+2</a:t>
            </a:r>
            <a:r>
              <a:rPr sz="1088" spc="11" dirty="0">
                <a:latin typeface="Cambria Math"/>
                <a:cs typeface="Cambria Math"/>
              </a:rPr>
              <a:t> </a:t>
            </a:r>
            <a:r>
              <a:rPr sz="2250" baseline="-33333" dirty="0">
                <a:latin typeface="Cambria Math"/>
                <a:cs typeface="Cambria Math"/>
              </a:rPr>
              <a:t>,</a:t>
            </a:r>
            <a:r>
              <a:rPr sz="2250" spc="-90" baseline="-33333" dirty="0">
                <a:latin typeface="Cambria Math"/>
                <a:cs typeface="Cambria Math"/>
              </a:rPr>
              <a:t> </a:t>
            </a:r>
            <a:r>
              <a:rPr sz="1088" spc="-19" dirty="0">
                <a:latin typeface="Cambria Math"/>
                <a:cs typeface="Cambria Math"/>
              </a:rPr>
              <a:t>3+5</a:t>
            </a:r>
            <a:endParaRPr sz="1088">
              <a:latin typeface="Cambria Math"/>
              <a:cs typeface="Cambria Math"/>
            </a:endParaRPr>
          </a:p>
          <a:p>
            <a:pPr marL="221456">
              <a:spcBef>
                <a:spcPts val="248"/>
              </a:spcBef>
              <a:tabLst>
                <a:tab pos="586740" algn="l"/>
              </a:tabLst>
            </a:pPr>
            <a:r>
              <a:rPr sz="1088" spc="-38" dirty="0">
                <a:latin typeface="Cambria Math"/>
                <a:cs typeface="Cambria Math"/>
              </a:rPr>
              <a:t>2</a:t>
            </a:r>
            <a:r>
              <a:rPr sz="1088" dirty="0">
                <a:latin typeface="Cambria Math"/>
                <a:cs typeface="Cambria Math"/>
              </a:rPr>
              <a:t>	</a:t>
            </a:r>
            <a:r>
              <a:rPr sz="1088" spc="-38" dirty="0">
                <a:latin typeface="Cambria Math"/>
                <a:cs typeface="Cambria Math"/>
              </a:rPr>
              <a:t>2</a:t>
            </a:r>
            <a:endParaRPr sz="1088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07861" y="4278535"/>
            <a:ext cx="164639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1350" spc="-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(4.83,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2.83)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(2, 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4)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51367" y="3780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485698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0979" y="2398013"/>
            <a:ext cx="4301108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25967" y="259491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485698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0979" y="2398013"/>
            <a:ext cx="4301108" cy="33284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08611" y="311819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963096" y="3382231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1" y="0"/>
                </a:moveTo>
                <a:lnTo>
                  <a:pt x="695960" y="8636"/>
                </a:lnTo>
                <a:lnTo>
                  <a:pt x="708173" y="13946"/>
                </a:lnTo>
                <a:lnTo>
                  <a:pt x="718708" y="21304"/>
                </a:lnTo>
                <a:lnTo>
                  <a:pt x="740122" y="55449"/>
                </a:lnTo>
                <a:lnTo>
                  <a:pt x="747141" y="104902"/>
                </a:lnTo>
                <a:lnTo>
                  <a:pt x="746355" y="123571"/>
                </a:lnTo>
                <a:lnTo>
                  <a:pt x="734568" y="169291"/>
                </a:lnTo>
                <a:lnTo>
                  <a:pt x="708314" y="197865"/>
                </a:lnTo>
                <a:lnTo>
                  <a:pt x="696214" y="203200"/>
                </a:lnTo>
                <a:lnTo>
                  <a:pt x="698881" y="211836"/>
                </a:lnTo>
                <a:lnTo>
                  <a:pt x="739403" y="187725"/>
                </a:lnTo>
                <a:lnTo>
                  <a:pt x="762079" y="143398"/>
                </a:lnTo>
                <a:lnTo>
                  <a:pt x="766445" y="106045"/>
                </a:lnTo>
                <a:lnTo>
                  <a:pt x="765363" y="86830"/>
                </a:lnTo>
                <a:lnTo>
                  <a:pt x="748919" y="37211"/>
                </a:lnTo>
                <a:lnTo>
                  <a:pt x="714236" y="5599"/>
                </a:lnTo>
                <a:lnTo>
                  <a:pt x="698881" y="0"/>
                </a:lnTo>
                <a:close/>
              </a:path>
              <a:path w="766445" h="212089">
                <a:moveTo>
                  <a:pt x="67564" y="0"/>
                </a:moveTo>
                <a:lnTo>
                  <a:pt x="27219" y="24181"/>
                </a:lnTo>
                <a:lnTo>
                  <a:pt x="4381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53" y="206291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4" y="104902"/>
                </a:lnTo>
                <a:lnTo>
                  <a:pt x="20089" y="86830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4725447" y="3329655"/>
            <a:ext cx="78628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1</a:t>
            </a:r>
            <a:r>
              <a:rPr sz="1463" spc="48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𝑃1,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𝐶1</a:t>
            </a:r>
            <a:endParaRPr sz="135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9675" y="3339751"/>
            <a:ext cx="1825943" cy="213836"/>
          </a:xfrm>
          <a:custGeom>
            <a:avLst/>
            <a:gdLst/>
            <a:ahLst/>
            <a:cxnLst/>
            <a:rect l="l" t="t" r="r" b="b"/>
            <a:pathLst>
              <a:path w="2434590" h="285114">
                <a:moveTo>
                  <a:pt x="257429" y="65278"/>
                </a:moveTo>
                <a:lnTo>
                  <a:pt x="254381" y="56642"/>
                </a:lnTo>
                <a:lnTo>
                  <a:pt x="239039" y="62242"/>
                </a:lnTo>
                <a:lnTo>
                  <a:pt x="225590" y="70294"/>
                </a:lnTo>
                <a:lnTo>
                  <a:pt x="196672" y="108813"/>
                </a:lnTo>
                <a:lnTo>
                  <a:pt x="186880" y="161544"/>
                </a:lnTo>
                <a:lnTo>
                  <a:pt x="186817" y="162687"/>
                </a:lnTo>
                <a:lnTo>
                  <a:pt x="187794" y="180213"/>
                </a:lnTo>
                <a:lnTo>
                  <a:pt x="204216" y="231406"/>
                </a:lnTo>
                <a:lnTo>
                  <a:pt x="238963" y="262940"/>
                </a:lnTo>
                <a:lnTo>
                  <a:pt x="254381" y="268478"/>
                </a:lnTo>
                <a:lnTo>
                  <a:pt x="257048" y="259842"/>
                </a:lnTo>
                <a:lnTo>
                  <a:pt x="244995" y="254508"/>
                </a:lnTo>
                <a:lnTo>
                  <a:pt x="234581" y="247078"/>
                </a:lnTo>
                <a:lnTo>
                  <a:pt x="213182" y="212407"/>
                </a:lnTo>
                <a:lnTo>
                  <a:pt x="206159" y="162687"/>
                </a:lnTo>
                <a:lnTo>
                  <a:pt x="206121" y="161544"/>
                </a:lnTo>
                <a:lnTo>
                  <a:pt x="206895" y="143484"/>
                </a:lnTo>
                <a:lnTo>
                  <a:pt x="218694" y="98806"/>
                </a:lnTo>
                <a:lnTo>
                  <a:pt x="245211" y="70599"/>
                </a:lnTo>
                <a:lnTo>
                  <a:pt x="257429" y="65278"/>
                </a:lnTo>
                <a:close/>
              </a:path>
              <a:path w="2434590" h="285114">
                <a:moveTo>
                  <a:pt x="1037082" y="162687"/>
                </a:moveTo>
                <a:lnTo>
                  <a:pt x="1035989" y="143484"/>
                </a:lnTo>
                <a:lnTo>
                  <a:pt x="1035977" y="143243"/>
                </a:lnTo>
                <a:lnTo>
                  <a:pt x="1032700" y="125272"/>
                </a:lnTo>
                <a:lnTo>
                  <a:pt x="1009904" y="80835"/>
                </a:lnTo>
                <a:lnTo>
                  <a:pt x="969518" y="56642"/>
                </a:lnTo>
                <a:lnTo>
                  <a:pt x="966597" y="65278"/>
                </a:lnTo>
                <a:lnTo>
                  <a:pt x="978801" y="70599"/>
                </a:lnTo>
                <a:lnTo>
                  <a:pt x="989342" y="77952"/>
                </a:lnTo>
                <a:lnTo>
                  <a:pt x="1010754" y="112102"/>
                </a:lnTo>
                <a:lnTo>
                  <a:pt x="1016952" y="143243"/>
                </a:lnTo>
                <a:lnTo>
                  <a:pt x="1016990" y="143484"/>
                </a:lnTo>
                <a:lnTo>
                  <a:pt x="1017778" y="161544"/>
                </a:lnTo>
                <a:lnTo>
                  <a:pt x="1016990" y="180225"/>
                </a:lnTo>
                <a:lnTo>
                  <a:pt x="1014628" y="197180"/>
                </a:lnTo>
                <a:lnTo>
                  <a:pt x="998093" y="237553"/>
                </a:lnTo>
                <a:lnTo>
                  <a:pt x="966851" y="259842"/>
                </a:lnTo>
                <a:lnTo>
                  <a:pt x="969518" y="268478"/>
                </a:lnTo>
                <a:lnTo>
                  <a:pt x="1010031" y="244373"/>
                </a:lnTo>
                <a:lnTo>
                  <a:pt x="1032713" y="200050"/>
                </a:lnTo>
                <a:lnTo>
                  <a:pt x="1035977" y="182130"/>
                </a:lnTo>
                <a:lnTo>
                  <a:pt x="1037082" y="162687"/>
                </a:lnTo>
                <a:close/>
              </a:path>
              <a:path w="2434590" h="285114">
                <a:moveTo>
                  <a:pt x="243446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762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580" y="284619"/>
                </a:lnTo>
                <a:lnTo>
                  <a:pt x="79375" y="284619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434463" y="15240"/>
                </a:lnTo>
                <a:lnTo>
                  <a:pt x="2434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5591842" y="3329655"/>
            <a:ext cx="92011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84334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1.5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5770" y="3278220"/>
            <a:ext cx="303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71907" y="3382231"/>
            <a:ext cx="639127" cy="159068"/>
          </a:xfrm>
          <a:custGeom>
            <a:avLst/>
            <a:gdLst/>
            <a:ahLst/>
            <a:cxnLst/>
            <a:rect l="l" t="t" r="r" b="b"/>
            <a:pathLst>
              <a:path w="852170" h="212089">
                <a:moveTo>
                  <a:pt x="784225" y="0"/>
                </a:moveTo>
                <a:lnTo>
                  <a:pt x="781303" y="8636"/>
                </a:lnTo>
                <a:lnTo>
                  <a:pt x="793517" y="13946"/>
                </a:lnTo>
                <a:lnTo>
                  <a:pt x="804052" y="21304"/>
                </a:lnTo>
                <a:lnTo>
                  <a:pt x="825466" y="55449"/>
                </a:lnTo>
                <a:lnTo>
                  <a:pt x="832484" y="104902"/>
                </a:lnTo>
                <a:lnTo>
                  <a:pt x="831699" y="123571"/>
                </a:lnTo>
                <a:lnTo>
                  <a:pt x="819911" y="169291"/>
                </a:lnTo>
                <a:lnTo>
                  <a:pt x="793658" y="197865"/>
                </a:lnTo>
                <a:lnTo>
                  <a:pt x="781557" y="203200"/>
                </a:lnTo>
                <a:lnTo>
                  <a:pt x="784225" y="211836"/>
                </a:lnTo>
                <a:lnTo>
                  <a:pt x="824747" y="187725"/>
                </a:lnTo>
                <a:lnTo>
                  <a:pt x="847423" y="143398"/>
                </a:lnTo>
                <a:lnTo>
                  <a:pt x="851788" y="106045"/>
                </a:lnTo>
                <a:lnTo>
                  <a:pt x="850707" y="86830"/>
                </a:lnTo>
                <a:lnTo>
                  <a:pt x="834262" y="37211"/>
                </a:lnTo>
                <a:lnTo>
                  <a:pt x="799580" y="5599"/>
                </a:lnTo>
                <a:lnTo>
                  <a:pt x="784225" y="0"/>
                </a:lnTo>
                <a:close/>
              </a:path>
              <a:path w="852170" h="212089">
                <a:moveTo>
                  <a:pt x="67563" y="0"/>
                </a:moveTo>
                <a:lnTo>
                  <a:pt x="27219" y="24181"/>
                </a:lnTo>
                <a:lnTo>
                  <a:pt x="4381" y="68627"/>
                </a:lnTo>
                <a:lnTo>
                  <a:pt x="0" y="106045"/>
                </a:lnTo>
                <a:lnTo>
                  <a:pt x="986" y="123571"/>
                </a:lnTo>
                <a:lnTo>
                  <a:pt x="1093" y="125477"/>
                </a:lnTo>
                <a:lnTo>
                  <a:pt x="17399" y="174752"/>
                </a:lnTo>
                <a:lnTo>
                  <a:pt x="52153" y="206291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3" y="104902"/>
                </a:lnTo>
                <a:lnTo>
                  <a:pt x="20089" y="86830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900100" y="3329655"/>
            <a:ext cx="137541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1.5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5</a:t>
            </a:r>
            <a:r>
              <a:rPr sz="1350" spc="259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26" baseline="2350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15" dirty="0">
                <a:latin typeface="Cambria Math"/>
                <a:cs typeface="Cambria Math"/>
              </a:rPr>
              <a:t>3.535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427" y="1956245"/>
            <a:ext cx="7557135" cy="1389964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 dirty="0">
              <a:latin typeface="Georgia"/>
              <a:cs typeface="Georgia"/>
            </a:endParaRPr>
          </a:p>
          <a:p>
            <a:pPr marL="1915478" marR="3702844">
              <a:spcBef>
                <a:spcPts val="1058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Updated</a:t>
            </a:r>
            <a:r>
              <a:rPr sz="1350" spc="-3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 dirty="0">
              <a:latin typeface="Arial MT"/>
              <a:cs typeface="Arial MT"/>
            </a:endParaRPr>
          </a:p>
          <a:p>
            <a:pPr marL="1915478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(4.83,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2.83)</a:t>
            </a:r>
            <a:endParaRPr sz="1350" dirty="0">
              <a:latin typeface="Arial MT"/>
              <a:cs typeface="Arial MT"/>
            </a:endParaRPr>
          </a:p>
          <a:p>
            <a:pPr marL="1915478">
              <a:spcBef>
                <a:spcPts val="4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(2, 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4)</a:t>
            </a:r>
            <a:endParaRPr sz="1350" dirty="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64239" y="3762660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1" y="0"/>
                </a:moveTo>
                <a:lnTo>
                  <a:pt x="695960" y="8509"/>
                </a:lnTo>
                <a:lnTo>
                  <a:pt x="708173" y="13892"/>
                </a:lnTo>
                <a:lnTo>
                  <a:pt x="718708" y="21288"/>
                </a:lnTo>
                <a:lnTo>
                  <a:pt x="740122" y="55375"/>
                </a:lnTo>
                <a:lnTo>
                  <a:pt x="747141" y="104775"/>
                </a:lnTo>
                <a:lnTo>
                  <a:pt x="746355" y="123444"/>
                </a:lnTo>
                <a:lnTo>
                  <a:pt x="734568" y="169164"/>
                </a:lnTo>
                <a:lnTo>
                  <a:pt x="708314" y="197739"/>
                </a:lnTo>
                <a:lnTo>
                  <a:pt x="696214" y="203073"/>
                </a:lnTo>
                <a:lnTo>
                  <a:pt x="698881" y="211709"/>
                </a:lnTo>
                <a:lnTo>
                  <a:pt x="739403" y="187706"/>
                </a:lnTo>
                <a:lnTo>
                  <a:pt x="762079" y="143335"/>
                </a:lnTo>
                <a:lnTo>
                  <a:pt x="766445" y="105918"/>
                </a:lnTo>
                <a:lnTo>
                  <a:pt x="765362" y="86705"/>
                </a:lnTo>
                <a:lnTo>
                  <a:pt x="748919" y="37084"/>
                </a:lnTo>
                <a:lnTo>
                  <a:pt x="714236" y="5526"/>
                </a:lnTo>
                <a:lnTo>
                  <a:pt x="698881" y="0"/>
                </a:lnTo>
                <a:close/>
              </a:path>
              <a:path w="766445" h="212089">
                <a:moveTo>
                  <a:pt x="67564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04" y="159799"/>
                </a:lnTo>
                <a:lnTo>
                  <a:pt x="38671" y="198183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9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05"/>
                </a:lnTo>
                <a:lnTo>
                  <a:pt x="31877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4706684" y="3709988"/>
            <a:ext cx="806291" cy="5790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7626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1</a:t>
            </a:r>
            <a:r>
              <a:rPr sz="1463" spc="48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𝑃1,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𝐶2</a:t>
            </a:r>
            <a:endParaRPr sz="1350">
              <a:latin typeface="Cambria Math"/>
              <a:cs typeface="Cambria Math"/>
            </a:endParaRPr>
          </a:p>
          <a:p>
            <a:pPr marL="38100">
              <a:spcBef>
                <a:spcPts val="1181"/>
              </a:spcBef>
            </a:pPr>
            <a:r>
              <a:rPr sz="1350" spc="-19" dirty="0">
                <a:latin typeface="Cambria Math"/>
                <a:cs typeface="Cambria Math"/>
              </a:rPr>
              <a:t>𝐷</a:t>
            </a:r>
            <a:r>
              <a:rPr sz="1463" spc="-28" baseline="-14957" dirty="0">
                <a:latin typeface="Cambria Math"/>
                <a:cs typeface="Cambria Math"/>
              </a:rPr>
              <a:t>1</a:t>
            </a:r>
            <a:endParaRPr sz="1463" baseline="-14957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80818" y="3720179"/>
            <a:ext cx="2015966" cy="213836"/>
          </a:xfrm>
          <a:custGeom>
            <a:avLst/>
            <a:gdLst/>
            <a:ahLst/>
            <a:cxnLst/>
            <a:rect l="l" t="t" r="r" b="b"/>
            <a:pathLst>
              <a:path w="2687954" h="285114">
                <a:moveTo>
                  <a:pt x="257429" y="65151"/>
                </a:moveTo>
                <a:lnTo>
                  <a:pt x="254381" y="56642"/>
                </a:lnTo>
                <a:lnTo>
                  <a:pt x="239039" y="62179"/>
                </a:lnTo>
                <a:lnTo>
                  <a:pt x="225590" y="70192"/>
                </a:lnTo>
                <a:lnTo>
                  <a:pt x="196672" y="108737"/>
                </a:lnTo>
                <a:lnTo>
                  <a:pt x="186880" y="161417"/>
                </a:lnTo>
                <a:lnTo>
                  <a:pt x="186817" y="162560"/>
                </a:lnTo>
                <a:lnTo>
                  <a:pt x="187794" y="180086"/>
                </a:lnTo>
                <a:lnTo>
                  <a:pt x="204216" y="231394"/>
                </a:lnTo>
                <a:lnTo>
                  <a:pt x="238963" y="262826"/>
                </a:lnTo>
                <a:lnTo>
                  <a:pt x="254381" y="268351"/>
                </a:lnTo>
                <a:lnTo>
                  <a:pt x="257048" y="259715"/>
                </a:lnTo>
                <a:lnTo>
                  <a:pt x="244995" y="254381"/>
                </a:lnTo>
                <a:lnTo>
                  <a:pt x="234581" y="246951"/>
                </a:lnTo>
                <a:lnTo>
                  <a:pt x="213182" y="212280"/>
                </a:lnTo>
                <a:lnTo>
                  <a:pt x="206159" y="162560"/>
                </a:lnTo>
                <a:lnTo>
                  <a:pt x="206121" y="161417"/>
                </a:lnTo>
                <a:lnTo>
                  <a:pt x="206895" y="143357"/>
                </a:lnTo>
                <a:lnTo>
                  <a:pt x="218694" y="98806"/>
                </a:lnTo>
                <a:lnTo>
                  <a:pt x="245211" y="70535"/>
                </a:lnTo>
                <a:lnTo>
                  <a:pt x="257429" y="65151"/>
                </a:lnTo>
                <a:close/>
              </a:path>
              <a:path w="2687954" h="285114">
                <a:moveTo>
                  <a:pt x="1163574" y="162560"/>
                </a:moveTo>
                <a:lnTo>
                  <a:pt x="1162481" y="143357"/>
                </a:lnTo>
                <a:lnTo>
                  <a:pt x="1162469" y="143129"/>
                </a:lnTo>
                <a:lnTo>
                  <a:pt x="1159192" y="125196"/>
                </a:lnTo>
                <a:lnTo>
                  <a:pt x="1136396" y="80708"/>
                </a:lnTo>
                <a:lnTo>
                  <a:pt x="1096010" y="56642"/>
                </a:lnTo>
                <a:lnTo>
                  <a:pt x="1093089" y="65151"/>
                </a:lnTo>
                <a:lnTo>
                  <a:pt x="1105293" y="70535"/>
                </a:lnTo>
                <a:lnTo>
                  <a:pt x="1115834" y="77939"/>
                </a:lnTo>
                <a:lnTo>
                  <a:pt x="1137246" y="112026"/>
                </a:lnTo>
                <a:lnTo>
                  <a:pt x="1143444" y="143129"/>
                </a:lnTo>
                <a:lnTo>
                  <a:pt x="1143482" y="143357"/>
                </a:lnTo>
                <a:lnTo>
                  <a:pt x="1144270" y="161417"/>
                </a:lnTo>
                <a:lnTo>
                  <a:pt x="1143482" y="180086"/>
                </a:lnTo>
                <a:lnTo>
                  <a:pt x="1141120" y="197040"/>
                </a:lnTo>
                <a:lnTo>
                  <a:pt x="1124585" y="237426"/>
                </a:lnTo>
                <a:lnTo>
                  <a:pt x="1093343" y="259715"/>
                </a:lnTo>
                <a:lnTo>
                  <a:pt x="1096010" y="268351"/>
                </a:lnTo>
                <a:lnTo>
                  <a:pt x="1136523" y="244348"/>
                </a:lnTo>
                <a:lnTo>
                  <a:pt x="1159205" y="199986"/>
                </a:lnTo>
                <a:lnTo>
                  <a:pt x="1162469" y="182016"/>
                </a:lnTo>
                <a:lnTo>
                  <a:pt x="1163574" y="162560"/>
                </a:lnTo>
                <a:close/>
              </a:path>
              <a:path w="2687954" h="285114">
                <a:moveTo>
                  <a:pt x="2687447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35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548"/>
                </a:lnTo>
                <a:lnTo>
                  <a:pt x="22352" y="185293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687447" y="15240"/>
                </a:lnTo>
                <a:lnTo>
                  <a:pt x="26874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6641782" y="3658553"/>
            <a:ext cx="303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69061" y="3762660"/>
            <a:ext cx="733901" cy="159068"/>
          </a:xfrm>
          <a:custGeom>
            <a:avLst/>
            <a:gdLst/>
            <a:ahLst/>
            <a:cxnLst/>
            <a:rect l="l" t="t" r="r" b="b"/>
            <a:pathLst>
              <a:path w="978534" h="212089">
                <a:moveTo>
                  <a:pt x="910717" y="0"/>
                </a:moveTo>
                <a:lnTo>
                  <a:pt x="907796" y="8509"/>
                </a:lnTo>
                <a:lnTo>
                  <a:pt x="920009" y="13892"/>
                </a:lnTo>
                <a:lnTo>
                  <a:pt x="930544" y="21288"/>
                </a:lnTo>
                <a:lnTo>
                  <a:pt x="951958" y="55375"/>
                </a:lnTo>
                <a:lnTo>
                  <a:pt x="958976" y="104775"/>
                </a:lnTo>
                <a:lnTo>
                  <a:pt x="958191" y="123444"/>
                </a:lnTo>
                <a:lnTo>
                  <a:pt x="946403" y="169164"/>
                </a:lnTo>
                <a:lnTo>
                  <a:pt x="920150" y="197739"/>
                </a:lnTo>
                <a:lnTo>
                  <a:pt x="908050" y="203073"/>
                </a:lnTo>
                <a:lnTo>
                  <a:pt x="910717" y="211709"/>
                </a:lnTo>
                <a:lnTo>
                  <a:pt x="951239" y="187706"/>
                </a:lnTo>
                <a:lnTo>
                  <a:pt x="973915" y="143335"/>
                </a:lnTo>
                <a:lnTo>
                  <a:pt x="978281" y="105918"/>
                </a:lnTo>
                <a:lnTo>
                  <a:pt x="977198" y="86705"/>
                </a:lnTo>
                <a:lnTo>
                  <a:pt x="960754" y="37084"/>
                </a:lnTo>
                <a:lnTo>
                  <a:pt x="926072" y="5526"/>
                </a:lnTo>
                <a:lnTo>
                  <a:pt x="910717" y="0"/>
                </a:lnTo>
                <a:close/>
              </a:path>
              <a:path w="978534" h="212089">
                <a:moveTo>
                  <a:pt x="67564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04" y="159799"/>
                </a:lnTo>
                <a:lnTo>
                  <a:pt x="38671" y="198183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9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5"/>
                </a:lnTo>
                <a:lnTo>
                  <a:pt x="31876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5573935" y="3709988"/>
            <a:ext cx="291131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403384" algn="l"/>
                <a:tab pos="1451610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4.83</a:t>
            </a:r>
            <a:r>
              <a:rPr sz="1350" spc="-11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23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r>
              <a:rPr sz="1350" dirty="0">
                <a:latin typeface="Cambria Math"/>
                <a:cs typeface="Cambria Math"/>
              </a:rPr>
              <a:t>	2.83 −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5</a:t>
            </a:r>
            <a:r>
              <a:rPr sz="1350" spc="255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14" baseline="2350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3.566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44427" y="4118134"/>
            <a:ext cx="576263" cy="159068"/>
          </a:xfrm>
          <a:custGeom>
            <a:avLst/>
            <a:gdLst/>
            <a:ahLst/>
            <a:cxnLst/>
            <a:rect l="l" t="t" r="r" b="b"/>
            <a:pathLst>
              <a:path w="768350" h="212089">
                <a:moveTo>
                  <a:pt x="700404" y="0"/>
                </a:moveTo>
                <a:lnTo>
                  <a:pt x="697483" y="8635"/>
                </a:lnTo>
                <a:lnTo>
                  <a:pt x="709695" y="13946"/>
                </a:lnTo>
                <a:lnTo>
                  <a:pt x="720217" y="21304"/>
                </a:lnTo>
                <a:lnTo>
                  <a:pt x="741592" y="55429"/>
                </a:lnTo>
                <a:lnTo>
                  <a:pt x="747844" y="86483"/>
                </a:lnTo>
                <a:lnTo>
                  <a:pt x="747879" y="86723"/>
                </a:lnTo>
                <a:lnTo>
                  <a:pt x="748664" y="104774"/>
                </a:lnTo>
                <a:lnTo>
                  <a:pt x="747879" y="123443"/>
                </a:lnTo>
                <a:lnTo>
                  <a:pt x="745521" y="140398"/>
                </a:lnTo>
                <a:lnTo>
                  <a:pt x="728991" y="180784"/>
                </a:lnTo>
                <a:lnTo>
                  <a:pt x="697737" y="203072"/>
                </a:lnTo>
                <a:lnTo>
                  <a:pt x="700404" y="211708"/>
                </a:lnTo>
                <a:lnTo>
                  <a:pt x="740874" y="187705"/>
                </a:lnTo>
                <a:lnTo>
                  <a:pt x="763603" y="143335"/>
                </a:lnTo>
                <a:lnTo>
                  <a:pt x="767969" y="105917"/>
                </a:lnTo>
                <a:lnTo>
                  <a:pt x="766887" y="86723"/>
                </a:lnTo>
                <a:lnTo>
                  <a:pt x="766873" y="86483"/>
                </a:lnTo>
                <a:lnTo>
                  <a:pt x="750443" y="37083"/>
                </a:lnTo>
                <a:lnTo>
                  <a:pt x="715760" y="5526"/>
                </a:lnTo>
                <a:lnTo>
                  <a:pt x="700404" y="0"/>
                </a:lnTo>
                <a:close/>
              </a:path>
              <a:path w="768350" h="212089">
                <a:moveTo>
                  <a:pt x="67563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4"/>
                </a:lnTo>
                <a:lnTo>
                  <a:pt x="0" y="105917"/>
                </a:lnTo>
                <a:lnTo>
                  <a:pt x="9804" y="159799"/>
                </a:lnTo>
                <a:lnTo>
                  <a:pt x="38671" y="198183"/>
                </a:lnTo>
                <a:lnTo>
                  <a:pt x="67563" y="211708"/>
                </a:lnTo>
                <a:lnTo>
                  <a:pt x="70230" y="203072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7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4991291" y="4065747"/>
            <a:ext cx="48387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𝑃1,</a:t>
            </a:r>
            <a:r>
              <a:rPr sz="1350" spc="-75" dirty="0">
                <a:latin typeface="Cambria Math"/>
                <a:cs typeface="Cambria Math"/>
              </a:rPr>
              <a:t> </a:t>
            </a:r>
            <a:r>
              <a:rPr sz="1350" spc="-26" dirty="0">
                <a:latin typeface="Cambria Math"/>
                <a:cs typeface="Cambria Math"/>
              </a:rPr>
              <a:t>𝐶3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62149" y="4075652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5905" y="65278"/>
                </a:moveTo>
                <a:lnTo>
                  <a:pt x="252857" y="56642"/>
                </a:lnTo>
                <a:lnTo>
                  <a:pt x="237515" y="62179"/>
                </a:lnTo>
                <a:lnTo>
                  <a:pt x="224066" y="70192"/>
                </a:lnTo>
                <a:lnTo>
                  <a:pt x="195148" y="108737"/>
                </a:lnTo>
                <a:lnTo>
                  <a:pt x="185356" y="161417"/>
                </a:lnTo>
                <a:lnTo>
                  <a:pt x="185293" y="162560"/>
                </a:lnTo>
                <a:lnTo>
                  <a:pt x="186270" y="180086"/>
                </a:lnTo>
                <a:lnTo>
                  <a:pt x="202692" y="231394"/>
                </a:lnTo>
                <a:lnTo>
                  <a:pt x="237439" y="262826"/>
                </a:lnTo>
                <a:lnTo>
                  <a:pt x="252857" y="268351"/>
                </a:lnTo>
                <a:lnTo>
                  <a:pt x="255524" y="259715"/>
                </a:lnTo>
                <a:lnTo>
                  <a:pt x="243471" y="254381"/>
                </a:lnTo>
                <a:lnTo>
                  <a:pt x="233057" y="246951"/>
                </a:lnTo>
                <a:lnTo>
                  <a:pt x="211658" y="212280"/>
                </a:lnTo>
                <a:lnTo>
                  <a:pt x="204635" y="162560"/>
                </a:lnTo>
                <a:lnTo>
                  <a:pt x="204597" y="161417"/>
                </a:lnTo>
                <a:lnTo>
                  <a:pt x="205371" y="143370"/>
                </a:lnTo>
                <a:lnTo>
                  <a:pt x="217170" y="98806"/>
                </a:lnTo>
                <a:lnTo>
                  <a:pt x="243687" y="70599"/>
                </a:lnTo>
                <a:lnTo>
                  <a:pt x="255905" y="65278"/>
                </a:lnTo>
                <a:close/>
              </a:path>
              <a:path w="2084070" h="285114">
                <a:moveTo>
                  <a:pt x="861822" y="162560"/>
                </a:moveTo>
                <a:lnTo>
                  <a:pt x="860729" y="143370"/>
                </a:lnTo>
                <a:lnTo>
                  <a:pt x="860717" y="143129"/>
                </a:lnTo>
                <a:lnTo>
                  <a:pt x="857427" y="125196"/>
                </a:lnTo>
                <a:lnTo>
                  <a:pt x="834644" y="80708"/>
                </a:lnTo>
                <a:lnTo>
                  <a:pt x="794258" y="56642"/>
                </a:lnTo>
                <a:lnTo>
                  <a:pt x="791337" y="65278"/>
                </a:lnTo>
                <a:lnTo>
                  <a:pt x="803541" y="70599"/>
                </a:lnTo>
                <a:lnTo>
                  <a:pt x="814070" y="77952"/>
                </a:lnTo>
                <a:lnTo>
                  <a:pt x="835444" y="112077"/>
                </a:lnTo>
                <a:lnTo>
                  <a:pt x="841692" y="143129"/>
                </a:lnTo>
                <a:lnTo>
                  <a:pt x="841730" y="143370"/>
                </a:lnTo>
                <a:lnTo>
                  <a:pt x="842518" y="161417"/>
                </a:lnTo>
                <a:lnTo>
                  <a:pt x="841730" y="180086"/>
                </a:lnTo>
                <a:lnTo>
                  <a:pt x="839368" y="197040"/>
                </a:lnTo>
                <a:lnTo>
                  <a:pt x="822833" y="237426"/>
                </a:lnTo>
                <a:lnTo>
                  <a:pt x="791591" y="259715"/>
                </a:lnTo>
                <a:lnTo>
                  <a:pt x="794258" y="268351"/>
                </a:lnTo>
                <a:lnTo>
                  <a:pt x="834720" y="244348"/>
                </a:lnTo>
                <a:lnTo>
                  <a:pt x="857453" y="199986"/>
                </a:lnTo>
                <a:lnTo>
                  <a:pt x="860717" y="182016"/>
                </a:lnTo>
                <a:lnTo>
                  <a:pt x="861822" y="162560"/>
                </a:lnTo>
                <a:close/>
              </a:path>
              <a:path w="2084070" h="285114">
                <a:moveTo>
                  <a:pt x="1351661" y="65278"/>
                </a:moveTo>
                <a:lnTo>
                  <a:pt x="1348613" y="56642"/>
                </a:lnTo>
                <a:lnTo>
                  <a:pt x="1333271" y="62179"/>
                </a:lnTo>
                <a:lnTo>
                  <a:pt x="1319822" y="70192"/>
                </a:lnTo>
                <a:lnTo>
                  <a:pt x="1290904" y="108737"/>
                </a:lnTo>
                <a:lnTo>
                  <a:pt x="1281112" y="161417"/>
                </a:lnTo>
                <a:lnTo>
                  <a:pt x="1281049" y="162560"/>
                </a:lnTo>
                <a:lnTo>
                  <a:pt x="1282026" y="180086"/>
                </a:lnTo>
                <a:lnTo>
                  <a:pt x="1298448" y="231394"/>
                </a:lnTo>
                <a:lnTo>
                  <a:pt x="1333195" y="262826"/>
                </a:lnTo>
                <a:lnTo>
                  <a:pt x="1348613" y="268351"/>
                </a:lnTo>
                <a:lnTo>
                  <a:pt x="1351280" y="259715"/>
                </a:lnTo>
                <a:lnTo>
                  <a:pt x="1339227" y="254381"/>
                </a:lnTo>
                <a:lnTo>
                  <a:pt x="1328813" y="246951"/>
                </a:lnTo>
                <a:lnTo>
                  <a:pt x="1307414" y="212280"/>
                </a:lnTo>
                <a:lnTo>
                  <a:pt x="1300391" y="162560"/>
                </a:lnTo>
                <a:lnTo>
                  <a:pt x="1300353" y="161417"/>
                </a:lnTo>
                <a:lnTo>
                  <a:pt x="1301127" y="143370"/>
                </a:lnTo>
                <a:lnTo>
                  <a:pt x="1312926" y="98806"/>
                </a:lnTo>
                <a:lnTo>
                  <a:pt x="1339443" y="70599"/>
                </a:lnTo>
                <a:lnTo>
                  <a:pt x="1351661" y="65278"/>
                </a:lnTo>
                <a:close/>
              </a:path>
              <a:path w="2084070" h="285114">
                <a:moveTo>
                  <a:pt x="1957578" y="162560"/>
                </a:moveTo>
                <a:lnTo>
                  <a:pt x="1956485" y="143370"/>
                </a:lnTo>
                <a:lnTo>
                  <a:pt x="1956473" y="143129"/>
                </a:lnTo>
                <a:lnTo>
                  <a:pt x="1953196" y="125196"/>
                </a:lnTo>
                <a:lnTo>
                  <a:pt x="1930400" y="80708"/>
                </a:lnTo>
                <a:lnTo>
                  <a:pt x="1890014" y="56642"/>
                </a:lnTo>
                <a:lnTo>
                  <a:pt x="1887093" y="65278"/>
                </a:lnTo>
                <a:lnTo>
                  <a:pt x="1899297" y="70599"/>
                </a:lnTo>
                <a:lnTo>
                  <a:pt x="1909813" y="77952"/>
                </a:lnTo>
                <a:lnTo>
                  <a:pt x="1931200" y="112077"/>
                </a:lnTo>
                <a:lnTo>
                  <a:pt x="1937448" y="143129"/>
                </a:lnTo>
                <a:lnTo>
                  <a:pt x="1937486" y="143370"/>
                </a:lnTo>
                <a:lnTo>
                  <a:pt x="1938274" y="161417"/>
                </a:lnTo>
                <a:lnTo>
                  <a:pt x="1937486" y="180086"/>
                </a:lnTo>
                <a:lnTo>
                  <a:pt x="1935124" y="197040"/>
                </a:lnTo>
                <a:lnTo>
                  <a:pt x="1918589" y="237426"/>
                </a:lnTo>
                <a:lnTo>
                  <a:pt x="1887347" y="259715"/>
                </a:lnTo>
                <a:lnTo>
                  <a:pt x="1890014" y="268351"/>
                </a:lnTo>
                <a:lnTo>
                  <a:pt x="1930476" y="244348"/>
                </a:lnTo>
                <a:lnTo>
                  <a:pt x="1953209" y="199986"/>
                </a:lnTo>
                <a:lnTo>
                  <a:pt x="1956473" y="182016"/>
                </a:lnTo>
                <a:lnTo>
                  <a:pt x="1957578" y="162560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35"/>
                </a:lnTo>
                <a:lnTo>
                  <a:pt x="36576" y="168529"/>
                </a:lnTo>
                <a:lnTo>
                  <a:pt x="0" y="185293"/>
                </a:lnTo>
                <a:lnTo>
                  <a:pt x="3429" y="193675"/>
                </a:lnTo>
                <a:lnTo>
                  <a:pt x="22352" y="185293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621"/>
                </a:lnTo>
                <a:lnTo>
                  <a:pt x="174244" y="15621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 txBox="1"/>
          <p:nvPr/>
        </p:nvSpPr>
        <p:spPr>
          <a:xfrm>
            <a:off x="5554314" y="4065747"/>
            <a:ext cx="212931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403384" algn="l"/>
                <a:tab pos="1224915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2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2</a:t>
            </a:r>
            <a:r>
              <a:rPr sz="1350" spc="263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203" baseline="2350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+</a:t>
            </a:r>
            <a:r>
              <a:rPr sz="1350" dirty="0">
                <a:latin typeface="Cambria Math"/>
                <a:cs typeface="Cambria Math"/>
              </a:rPr>
              <a:t>	4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5</a:t>
            </a:r>
            <a:r>
              <a:rPr sz="1350" spc="266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14" baseline="2350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1</a:t>
            </a:r>
            <a:endParaRPr sz="1350" dirty="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4709" y="3469290"/>
            <a:ext cx="1318736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85728" y="4500753"/>
            <a:ext cx="13811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38" dirty="0">
                <a:latin typeface="Cambria Math"/>
                <a:cs typeface="Cambria Math"/>
              </a:rPr>
              <a:t>𝐷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94313" y="4581906"/>
            <a:ext cx="91916" cy="161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975" spc="-38" dirty="0">
                <a:latin typeface="Cambria Math"/>
                <a:cs typeface="Cambria Math"/>
              </a:rPr>
              <a:t>2</a:t>
            </a:r>
            <a:endParaRPr sz="975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98231" y="4553235"/>
            <a:ext cx="576263" cy="159068"/>
          </a:xfrm>
          <a:custGeom>
            <a:avLst/>
            <a:gdLst/>
            <a:ahLst/>
            <a:cxnLst/>
            <a:rect l="l" t="t" r="r" b="b"/>
            <a:pathLst>
              <a:path w="768350" h="212089">
                <a:moveTo>
                  <a:pt x="700404" y="0"/>
                </a:moveTo>
                <a:lnTo>
                  <a:pt x="697483" y="8509"/>
                </a:lnTo>
                <a:lnTo>
                  <a:pt x="709697" y="13819"/>
                </a:lnTo>
                <a:lnTo>
                  <a:pt x="720232" y="21177"/>
                </a:lnTo>
                <a:lnTo>
                  <a:pt x="741646" y="55322"/>
                </a:lnTo>
                <a:lnTo>
                  <a:pt x="748665" y="104775"/>
                </a:lnTo>
                <a:lnTo>
                  <a:pt x="747879" y="123444"/>
                </a:lnTo>
                <a:lnTo>
                  <a:pt x="736092" y="169164"/>
                </a:lnTo>
                <a:lnTo>
                  <a:pt x="709838" y="197739"/>
                </a:lnTo>
                <a:lnTo>
                  <a:pt x="697738" y="203073"/>
                </a:lnTo>
                <a:lnTo>
                  <a:pt x="700404" y="211709"/>
                </a:lnTo>
                <a:lnTo>
                  <a:pt x="740927" y="187706"/>
                </a:lnTo>
                <a:lnTo>
                  <a:pt x="763603" y="143287"/>
                </a:lnTo>
                <a:lnTo>
                  <a:pt x="767969" y="105918"/>
                </a:lnTo>
                <a:lnTo>
                  <a:pt x="766888" y="86703"/>
                </a:lnTo>
                <a:lnTo>
                  <a:pt x="766875" y="86483"/>
                </a:lnTo>
                <a:lnTo>
                  <a:pt x="750570" y="37084"/>
                </a:lnTo>
                <a:lnTo>
                  <a:pt x="715762" y="5526"/>
                </a:lnTo>
                <a:lnTo>
                  <a:pt x="700404" y="0"/>
                </a:lnTo>
                <a:close/>
              </a:path>
              <a:path w="768350" h="212089">
                <a:moveTo>
                  <a:pt x="67564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8" y="159746"/>
                </a:lnTo>
                <a:lnTo>
                  <a:pt x="38687" y="198183"/>
                </a:lnTo>
                <a:lnTo>
                  <a:pt x="67564" y="211709"/>
                </a:lnTo>
                <a:lnTo>
                  <a:pt x="70230" y="203073"/>
                </a:lnTo>
                <a:lnTo>
                  <a:pt x="58183" y="197739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1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/>
          <p:cNvSpPr txBox="1"/>
          <p:nvPr/>
        </p:nvSpPr>
        <p:spPr>
          <a:xfrm>
            <a:off x="4945189" y="4500753"/>
            <a:ext cx="48387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𝑃2,</a:t>
            </a:r>
            <a:r>
              <a:rPr sz="1350" spc="-75" dirty="0">
                <a:latin typeface="Cambria Math"/>
                <a:cs typeface="Cambria Math"/>
              </a:rPr>
              <a:t> </a:t>
            </a:r>
            <a:r>
              <a:rPr sz="1350" spc="-26" dirty="0">
                <a:latin typeface="Cambria Math"/>
                <a:cs typeface="Cambria Math"/>
              </a:rPr>
              <a:t>𝐶1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15952" y="4510755"/>
            <a:ext cx="1825943" cy="213836"/>
          </a:xfrm>
          <a:custGeom>
            <a:avLst/>
            <a:gdLst/>
            <a:ahLst/>
            <a:cxnLst/>
            <a:rect l="l" t="t" r="r" b="b"/>
            <a:pathLst>
              <a:path w="2434590" h="285114">
                <a:moveTo>
                  <a:pt x="255905" y="65151"/>
                </a:moveTo>
                <a:lnTo>
                  <a:pt x="252857" y="56642"/>
                </a:lnTo>
                <a:lnTo>
                  <a:pt x="237515" y="62179"/>
                </a:lnTo>
                <a:lnTo>
                  <a:pt x="224066" y="70192"/>
                </a:lnTo>
                <a:lnTo>
                  <a:pt x="195148" y="108737"/>
                </a:lnTo>
                <a:lnTo>
                  <a:pt x="185356" y="161417"/>
                </a:lnTo>
                <a:lnTo>
                  <a:pt x="185293" y="162560"/>
                </a:lnTo>
                <a:lnTo>
                  <a:pt x="186270" y="180086"/>
                </a:lnTo>
                <a:lnTo>
                  <a:pt x="202819" y="231394"/>
                </a:lnTo>
                <a:lnTo>
                  <a:pt x="237439" y="262826"/>
                </a:lnTo>
                <a:lnTo>
                  <a:pt x="252857" y="268351"/>
                </a:lnTo>
                <a:lnTo>
                  <a:pt x="255524" y="259715"/>
                </a:lnTo>
                <a:lnTo>
                  <a:pt x="243471" y="254381"/>
                </a:lnTo>
                <a:lnTo>
                  <a:pt x="233057" y="246951"/>
                </a:lnTo>
                <a:lnTo>
                  <a:pt x="211658" y="212280"/>
                </a:lnTo>
                <a:lnTo>
                  <a:pt x="204635" y="162560"/>
                </a:lnTo>
                <a:lnTo>
                  <a:pt x="204597" y="161417"/>
                </a:lnTo>
                <a:lnTo>
                  <a:pt x="205371" y="143357"/>
                </a:lnTo>
                <a:lnTo>
                  <a:pt x="217170" y="98679"/>
                </a:lnTo>
                <a:lnTo>
                  <a:pt x="243687" y="70472"/>
                </a:lnTo>
                <a:lnTo>
                  <a:pt x="255905" y="65151"/>
                </a:lnTo>
                <a:close/>
              </a:path>
              <a:path w="2434590" h="285114">
                <a:moveTo>
                  <a:pt x="1035558" y="162560"/>
                </a:moveTo>
                <a:lnTo>
                  <a:pt x="1034465" y="143357"/>
                </a:lnTo>
                <a:lnTo>
                  <a:pt x="1034453" y="143129"/>
                </a:lnTo>
                <a:lnTo>
                  <a:pt x="1031189" y="125196"/>
                </a:lnTo>
                <a:lnTo>
                  <a:pt x="1008443" y="80708"/>
                </a:lnTo>
                <a:lnTo>
                  <a:pt x="967994" y="56642"/>
                </a:lnTo>
                <a:lnTo>
                  <a:pt x="965073" y="65151"/>
                </a:lnTo>
                <a:lnTo>
                  <a:pt x="977277" y="70472"/>
                </a:lnTo>
                <a:lnTo>
                  <a:pt x="987818" y="77825"/>
                </a:lnTo>
                <a:lnTo>
                  <a:pt x="1009230" y="111975"/>
                </a:lnTo>
                <a:lnTo>
                  <a:pt x="1015428" y="143129"/>
                </a:lnTo>
                <a:lnTo>
                  <a:pt x="1015466" y="143357"/>
                </a:lnTo>
                <a:lnTo>
                  <a:pt x="1016254" y="161417"/>
                </a:lnTo>
                <a:lnTo>
                  <a:pt x="1015466" y="180086"/>
                </a:lnTo>
                <a:lnTo>
                  <a:pt x="1013104" y="197040"/>
                </a:lnTo>
                <a:lnTo>
                  <a:pt x="996569" y="237426"/>
                </a:lnTo>
                <a:lnTo>
                  <a:pt x="965327" y="259715"/>
                </a:lnTo>
                <a:lnTo>
                  <a:pt x="967994" y="268351"/>
                </a:lnTo>
                <a:lnTo>
                  <a:pt x="1008507" y="244348"/>
                </a:lnTo>
                <a:lnTo>
                  <a:pt x="1031189" y="199936"/>
                </a:lnTo>
                <a:lnTo>
                  <a:pt x="1034453" y="182003"/>
                </a:lnTo>
                <a:lnTo>
                  <a:pt x="1035558" y="162560"/>
                </a:lnTo>
                <a:close/>
              </a:path>
              <a:path w="2434590" h="285114">
                <a:moveTo>
                  <a:pt x="243446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35"/>
                </a:lnTo>
                <a:lnTo>
                  <a:pt x="36576" y="168529"/>
                </a:lnTo>
                <a:lnTo>
                  <a:pt x="0" y="185166"/>
                </a:lnTo>
                <a:lnTo>
                  <a:pt x="3429" y="193548"/>
                </a:lnTo>
                <a:lnTo>
                  <a:pt x="22352" y="185166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494"/>
                </a:lnTo>
                <a:lnTo>
                  <a:pt x="174244" y="15494"/>
                </a:lnTo>
                <a:lnTo>
                  <a:pt x="174244" y="15240"/>
                </a:lnTo>
                <a:lnTo>
                  <a:pt x="2434463" y="15240"/>
                </a:lnTo>
                <a:lnTo>
                  <a:pt x="2434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/>
          <p:cNvSpPr txBox="1"/>
          <p:nvPr/>
        </p:nvSpPr>
        <p:spPr>
          <a:xfrm>
            <a:off x="6480811" y="4449318"/>
            <a:ext cx="303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08185" y="4553235"/>
            <a:ext cx="637699" cy="159068"/>
          </a:xfrm>
          <a:custGeom>
            <a:avLst/>
            <a:gdLst/>
            <a:ahLst/>
            <a:cxnLst/>
            <a:rect l="l" t="t" r="r" b="b"/>
            <a:pathLst>
              <a:path w="850265" h="212089">
                <a:moveTo>
                  <a:pt x="782701" y="0"/>
                </a:moveTo>
                <a:lnTo>
                  <a:pt x="779779" y="8509"/>
                </a:lnTo>
                <a:lnTo>
                  <a:pt x="791993" y="13819"/>
                </a:lnTo>
                <a:lnTo>
                  <a:pt x="802528" y="21177"/>
                </a:lnTo>
                <a:lnTo>
                  <a:pt x="823942" y="55322"/>
                </a:lnTo>
                <a:lnTo>
                  <a:pt x="830961" y="104775"/>
                </a:lnTo>
                <a:lnTo>
                  <a:pt x="830175" y="123444"/>
                </a:lnTo>
                <a:lnTo>
                  <a:pt x="818388" y="169164"/>
                </a:lnTo>
                <a:lnTo>
                  <a:pt x="792134" y="197739"/>
                </a:lnTo>
                <a:lnTo>
                  <a:pt x="780034" y="203073"/>
                </a:lnTo>
                <a:lnTo>
                  <a:pt x="782701" y="211709"/>
                </a:lnTo>
                <a:lnTo>
                  <a:pt x="823223" y="187706"/>
                </a:lnTo>
                <a:lnTo>
                  <a:pt x="845899" y="143287"/>
                </a:lnTo>
                <a:lnTo>
                  <a:pt x="850265" y="105918"/>
                </a:lnTo>
                <a:lnTo>
                  <a:pt x="849184" y="86703"/>
                </a:lnTo>
                <a:lnTo>
                  <a:pt x="849171" y="86483"/>
                </a:lnTo>
                <a:lnTo>
                  <a:pt x="832866" y="37084"/>
                </a:lnTo>
                <a:lnTo>
                  <a:pt x="798058" y="5526"/>
                </a:lnTo>
                <a:lnTo>
                  <a:pt x="782701" y="0"/>
                </a:lnTo>
                <a:close/>
              </a:path>
              <a:path w="850265" h="212089">
                <a:moveTo>
                  <a:pt x="67564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8" y="159746"/>
                </a:lnTo>
                <a:lnTo>
                  <a:pt x="38687" y="198183"/>
                </a:lnTo>
                <a:lnTo>
                  <a:pt x="67564" y="211709"/>
                </a:lnTo>
                <a:lnTo>
                  <a:pt x="70230" y="203073"/>
                </a:lnTo>
                <a:lnTo>
                  <a:pt x="58183" y="197739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/>
          <p:cNvSpPr txBox="1"/>
          <p:nvPr/>
        </p:nvSpPr>
        <p:spPr>
          <a:xfrm>
            <a:off x="5507927" y="4500753"/>
            <a:ext cx="272176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403384" algn="l"/>
                <a:tab pos="1356836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1.5</a:t>
            </a:r>
            <a:r>
              <a:rPr sz="1350" spc="-19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r>
              <a:rPr sz="1350" dirty="0">
                <a:latin typeface="Cambria Math"/>
                <a:cs typeface="Cambria Math"/>
              </a:rPr>
              <a:t>	1.5</a:t>
            </a:r>
            <a:r>
              <a:rPr sz="1350" spc="-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266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09" baseline="2350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0.707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02803" y="5000625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0" y="0"/>
                </a:moveTo>
                <a:lnTo>
                  <a:pt x="695959" y="8509"/>
                </a:lnTo>
                <a:lnTo>
                  <a:pt x="708173" y="13819"/>
                </a:lnTo>
                <a:lnTo>
                  <a:pt x="718708" y="21177"/>
                </a:lnTo>
                <a:lnTo>
                  <a:pt x="740122" y="55320"/>
                </a:lnTo>
                <a:lnTo>
                  <a:pt x="747140" y="104762"/>
                </a:lnTo>
                <a:lnTo>
                  <a:pt x="746355" y="123438"/>
                </a:lnTo>
                <a:lnTo>
                  <a:pt x="734568" y="169176"/>
                </a:lnTo>
                <a:lnTo>
                  <a:pt x="708314" y="197757"/>
                </a:lnTo>
                <a:lnTo>
                  <a:pt x="696213" y="203098"/>
                </a:lnTo>
                <a:lnTo>
                  <a:pt x="698880" y="211696"/>
                </a:lnTo>
                <a:lnTo>
                  <a:pt x="739403" y="187664"/>
                </a:lnTo>
                <a:lnTo>
                  <a:pt x="762079" y="143286"/>
                </a:lnTo>
                <a:lnTo>
                  <a:pt x="766445" y="105879"/>
                </a:lnTo>
                <a:lnTo>
                  <a:pt x="765363" y="86692"/>
                </a:lnTo>
                <a:lnTo>
                  <a:pt x="765351" y="86477"/>
                </a:lnTo>
                <a:lnTo>
                  <a:pt x="749046" y="37084"/>
                </a:lnTo>
                <a:lnTo>
                  <a:pt x="714238" y="5526"/>
                </a:lnTo>
                <a:lnTo>
                  <a:pt x="698880" y="0"/>
                </a:lnTo>
                <a:close/>
              </a:path>
              <a:path w="766445" h="212089">
                <a:moveTo>
                  <a:pt x="67563" y="0"/>
                </a:moveTo>
                <a:lnTo>
                  <a:pt x="27219" y="24056"/>
                </a:lnTo>
                <a:lnTo>
                  <a:pt x="4381" y="68553"/>
                </a:lnTo>
                <a:lnTo>
                  <a:pt x="0" y="105879"/>
                </a:lnTo>
                <a:lnTo>
                  <a:pt x="988" y="123438"/>
                </a:lnTo>
                <a:lnTo>
                  <a:pt x="17525" y="174701"/>
                </a:lnTo>
                <a:lnTo>
                  <a:pt x="52155" y="206162"/>
                </a:lnTo>
                <a:lnTo>
                  <a:pt x="67563" y="211696"/>
                </a:lnTo>
                <a:lnTo>
                  <a:pt x="70230" y="203098"/>
                </a:lnTo>
                <a:lnTo>
                  <a:pt x="58183" y="197757"/>
                </a:lnTo>
                <a:lnTo>
                  <a:pt x="47767" y="190323"/>
                </a:lnTo>
                <a:lnTo>
                  <a:pt x="26376" y="155643"/>
                </a:lnTo>
                <a:lnTo>
                  <a:pt x="19351" y="105879"/>
                </a:lnTo>
                <a:lnTo>
                  <a:pt x="19303" y="104762"/>
                </a:lnTo>
                <a:lnTo>
                  <a:pt x="26376" y="55320"/>
                </a:lnTo>
                <a:lnTo>
                  <a:pt x="47863" y="21177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 txBox="1"/>
          <p:nvPr/>
        </p:nvSpPr>
        <p:spPr>
          <a:xfrm>
            <a:off x="4661726" y="4948352"/>
            <a:ext cx="79009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spcBef>
                <a:spcPts val="75"/>
              </a:spcBef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2</a:t>
            </a:r>
            <a:r>
              <a:rPr sz="1463" spc="52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𝑃2,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719382" y="4958144"/>
            <a:ext cx="2015966" cy="213836"/>
          </a:xfrm>
          <a:custGeom>
            <a:avLst/>
            <a:gdLst/>
            <a:ahLst/>
            <a:cxnLst/>
            <a:rect l="l" t="t" r="r" b="b"/>
            <a:pathLst>
              <a:path w="2687954" h="285114">
                <a:moveTo>
                  <a:pt x="257429" y="65151"/>
                </a:moveTo>
                <a:lnTo>
                  <a:pt x="254381" y="56642"/>
                </a:lnTo>
                <a:lnTo>
                  <a:pt x="239039" y="62179"/>
                </a:lnTo>
                <a:lnTo>
                  <a:pt x="225590" y="70192"/>
                </a:lnTo>
                <a:lnTo>
                  <a:pt x="196672" y="108737"/>
                </a:lnTo>
                <a:lnTo>
                  <a:pt x="186867" y="161404"/>
                </a:lnTo>
                <a:lnTo>
                  <a:pt x="186817" y="162521"/>
                </a:lnTo>
                <a:lnTo>
                  <a:pt x="187794" y="180086"/>
                </a:lnTo>
                <a:lnTo>
                  <a:pt x="204343" y="231343"/>
                </a:lnTo>
                <a:lnTo>
                  <a:pt x="238963" y="262813"/>
                </a:lnTo>
                <a:lnTo>
                  <a:pt x="254381" y="268338"/>
                </a:lnTo>
                <a:lnTo>
                  <a:pt x="257048" y="259740"/>
                </a:lnTo>
                <a:lnTo>
                  <a:pt x="244995" y="254406"/>
                </a:lnTo>
                <a:lnTo>
                  <a:pt x="234581" y="246976"/>
                </a:lnTo>
                <a:lnTo>
                  <a:pt x="213182" y="212293"/>
                </a:lnTo>
                <a:lnTo>
                  <a:pt x="206159" y="162521"/>
                </a:lnTo>
                <a:lnTo>
                  <a:pt x="206121" y="161404"/>
                </a:lnTo>
                <a:lnTo>
                  <a:pt x="206895" y="143344"/>
                </a:lnTo>
                <a:lnTo>
                  <a:pt x="218694" y="98679"/>
                </a:lnTo>
                <a:lnTo>
                  <a:pt x="245211" y="70472"/>
                </a:lnTo>
                <a:lnTo>
                  <a:pt x="257429" y="65151"/>
                </a:lnTo>
                <a:close/>
              </a:path>
              <a:path w="2687954" h="285114">
                <a:moveTo>
                  <a:pt x="1163574" y="162521"/>
                </a:moveTo>
                <a:lnTo>
                  <a:pt x="1153756" y="108737"/>
                </a:lnTo>
                <a:lnTo>
                  <a:pt x="1124851" y="70192"/>
                </a:lnTo>
                <a:lnTo>
                  <a:pt x="1096010" y="56642"/>
                </a:lnTo>
                <a:lnTo>
                  <a:pt x="1093089" y="65151"/>
                </a:lnTo>
                <a:lnTo>
                  <a:pt x="1105293" y="70472"/>
                </a:lnTo>
                <a:lnTo>
                  <a:pt x="1115834" y="77825"/>
                </a:lnTo>
                <a:lnTo>
                  <a:pt x="1137246" y="111963"/>
                </a:lnTo>
                <a:lnTo>
                  <a:pt x="1143444" y="143129"/>
                </a:lnTo>
                <a:lnTo>
                  <a:pt x="1143482" y="143344"/>
                </a:lnTo>
                <a:lnTo>
                  <a:pt x="1144270" y="161404"/>
                </a:lnTo>
                <a:lnTo>
                  <a:pt x="1143482" y="180086"/>
                </a:lnTo>
                <a:lnTo>
                  <a:pt x="1141120" y="197040"/>
                </a:lnTo>
                <a:lnTo>
                  <a:pt x="1124585" y="237451"/>
                </a:lnTo>
                <a:lnTo>
                  <a:pt x="1093343" y="259740"/>
                </a:lnTo>
                <a:lnTo>
                  <a:pt x="1096010" y="268338"/>
                </a:lnTo>
                <a:lnTo>
                  <a:pt x="1136523" y="244309"/>
                </a:lnTo>
                <a:lnTo>
                  <a:pt x="1159205" y="199936"/>
                </a:lnTo>
                <a:lnTo>
                  <a:pt x="1162469" y="181978"/>
                </a:lnTo>
                <a:lnTo>
                  <a:pt x="1163574" y="162521"/>
                </a:lnTo>
                <a:close/>
              </a:path>
              <a:path w="2687954" h="285114">
                <a:moveTo>
                  <a:pt x="2687447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47"/>
                </a:lnTo>
                <a:lnTo>
                  <a:pt x="36576" y="168478"/>
                </a:lnTo>
                <a:lnTo>
                  <a:pt x="0" y="185216"/>
                </a:lnTo>
                <a:lnTo>
                  <a:pt x="3429" y="193586"/>
                </a:lnTo>
                <a:lnTo>
                  <a:pt x="22352" y="185216"/>
                </a:lnTo>
                <a:lnTo>
                  <a:pt x="68580" y="284556"/>
                </a:lnTo>
                <a:lnTo>
                  <a:pt x="79375" y="284556"/>
                </a:lnTo>
                <a:lnTo>
                  <a:pt x="151892" y="15494"/>
                </a:lnTo>
                <a:lnTo>
                  <a:pt x="174244" y="15494"/>
                </a:lnTo>
                <a:lnTo>
                  <a:pt x="174244" y="15240"/>
                </a:lnTo>
                <a:lnTo>
                  <a:pt x="2687447" y="15240"/>
                </a:lnTo>
                <a:lnTo>
                  <a:pt x="26874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/>
          <p:cNvSpPr txBox="1"/>
          <p:nvPr/>
        </p:nvSpPr>
        <p:spPr>
          <a:xfrm>
            <a:off x="6580252" y="4896917"/>
            <a:ext cx="30337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975" dirty="0">
                <a:latin typeface="Cambria Math"/>
                <a:cs typeface="Cambria Math"/>
              </a:rPr>
              <a:t>2</a:t>
            </a:r>
            <a:r>
              <a:rPr sz="975" spc="161" dirty="0">
                <a:latin typeface="Cambria Math"/>
                <a:cs typeface="Cambria Math"/>
              </a:rPr>
              <a:t> </a:t>
            </a:r>
            <a:r>
              <a:rPr sz="2025" spc="-56" baseline="-16975" dirty="0">
                <a:latin typeface="Cambria Math"/>
                <a:cs typeface="Cambria Math"/>
              </a:rPr>
              <a:t>+</a:t>
            </a:r>
            <a:endParaRPr sz="2025" baseline="-16975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907626" y="5000625"/>
            <a:ext cx="733901" cy="159068"/>
          </a:xfrm>
          <a:custGeom>
            <a:avLst/>
            <a:gdLst/>
            <a:ahLst/>
            <a:cxnLst/>
            <a:rect l="l" t="t" r="r" b="b"/>
            <a:pathLst>
              <a:path w="978534" h="212089">
                <a:moveTo>
                  <a:pt x="910716" y="0"/>
                </a:moveTo>
                <a:lnTo>
                  <a:pt x="907796" y="8509"/>
                </a:lnTo>
                <a:lnTo>
                  <a:pt x="920009" y="13819"/>
                </a:lnTo>
                <a:lnTo>
                  <a:pt x="930544" y="21177"/>
                </a:lnTo>
                <a:lnTo>
                  <a:pt x="951958" y="55320"/>
                </a:lnTo>
                <a:lnTo>
                  <a:pt x="958976" y="104762"/>
                </a:lnTo>
                <a:lnTo>
                  <a:pt x="958191" y="123438"/>
                </a:lnTo>
                <a:lnTo>
                  <a:pt x="946403" y="169176"/>
                </a:lnTo>
                <a:lnTo>
                  <a:pt x="920150" y="197757"/>
                </a:lnTo>
                <a:lnTo>
                  <a:pt x="908050" y="203098"/>
                </a:lnTo>
                <a:lnTo>
                  <a:pt x="910716" y="211696"/>
                </a:lnTo>
                <a:lnTo>
                  <a:pt x="951239" y="187664"/>
                </a:lnTo>
                <a:lnTo>
                  <a:pt x="973915" y="143286"/>
                </a:lnTo>
                <a:lnTo>
                  <a:pt x="978280" y="105879"/>
                </a:lnTo>
                <a:lnTo>
                  <a:pt x="977199" y="86692"/>
                </a:lnTo>
                <a:lnTo>
                  <a:pt x="977187" y="86477"/>
                </a:lnTo>
                <a:lnTo>
                  <a:pt x="960881" y="37084"/>
                </a:lnTo>
                <a:lnTo>
                  <a:pt x="926074" y="5526"/>
                </a:lnTo>
                <a:lnTo>
                  <a:pt x="910716" y="0"/>
                </a:lnTo>
                <a:close/>
              </a:path>
              <a:path w="978534" h="212089">
                <a:moveTo>
                  <a:pt x="67563" y="0"/>
                </a:moveTo>
                <a:lnTo>
                  <a:pt x="27219" y="24056"/>
                </a:lnTo>
                <a:lnTo>
                  <a:pt x="4381" y="68553"/>
                </a:lnTo>
                <a:lnTo>
                  <a:pt x="0" y="105879"/>
                </a:lnTo>
                <a:lnTo>
                  <a:pt x="988" y="123438"/>
                </a:lnTo>
                <a:lnTo>
                  <a:pt x="17525" y="174701"/>
                </a:lnTo>
                <a:lnTo>
                  <a:pt x="52155" y="206162"/>
                </a:lnTo>
                <a:lnTo>
                  <a:pt x="67563" y="211696"/>
                </a:lnTo>
                <a:lnTo>
                  <a:pt x="70230" y="203098"/>
                </a:lnTo>
                <a:lnTo>
                  <a:pt x="58183" y="197757"/>
                </a:lnTo>
                <a:lnTo>
                  <a:pt x="47767" y="190323"/>
                </a:lnTo>
                <a:lnTo>
                  <a:pt x="26376" y="155643"/>
                </a:lnTo>
                <a:lnTo>
                  <a:pt x="19351" y="105879"/>
                </a:lnTo>
                <a:lnTo>
                  <a:pt x="19303" y="104762"/>
                </a:lnTo>
                <a:lnTo>
                  <a:pt x="26376" y="55320"/>
                </a:lnTo>
                <a:lnTo>
                  <a:pt x="47863" y="21177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6" name="object 36"/>
          <p:cNvSpPr/>
          <p:nvPr/>
        </p:nvSpPr>
        <p:spPr>
          <a:xfrm>
            <a:off x="7963091" y="4972812"/>
            <a:ext cx="301466" cy="165259"/>
          </a:xfrm>
          <a:custGeom>
            <a:avLst/>
            <a:gdLst/>
            <a:ahLst/>
            <a:cxnLst/>
            <a:rect l="l" t="t" r="r" b="b"/>
            <a:pathLst>
              <a:path w="401954" h="220345">
                <a:moveTo>
                  <a:pt x="159639" y="0"/>
                </a:moveTo>
                <a:lnTo>
                  <a:pt x="131191" y="0"/>
                </a:lnTo>
                <a:lnTo>
                  <a:pt x="75946" y="190538"/>
                </a:lnTo>
                <a:lnTo>
                  <a:pt x="36575" y="103924"/>
                </a:lnTo>
                <a:lnTo>
                  <a:pt x="0" y="120662"/>
                </a:lnTo>
                <a:lnTo>
                  <a:pt x="3428" y="129032"/>
                </a:lnTo>
                <a:lnTo>
                  <a:pt x="22351" y="120662"/>
                </a:lnTo>
                <a:lnTo>
                  <a:pt x="68579" y="220014"/>
                </a:lnTo>
                <a:lnTo>
                  <a:pt x="79375" y="220014"/>
                </a:lnTo>
                <a:lnTo>
                  <a:pt x="139446" y="14859"/>
                </a:lnTo>
                <a:lnTo>
                  <a:pt x="146939" y="14859"/>
                </a:lnTo>
                <a:lnTo>
                  <a:pt x="146939" y="15494"/>
                </a:lnTo>
                <a:lnTo>
                  <a:pt x="401447" y="15494"/>
                </a:lnTo>
                <a:lnTo>
                  <a:pt x="401447" y="254"/>
                </a:lnTo>
                <a:lnTo>
                  <a:pt x="159639" y="254"/>
                </a:lnTo>
                <a:lnTo>
                  <a:pt x="1596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7" name="object 37"/>
          <p:cNvSpPr txBox="1"/>
          <p:nvPr/>
        </p:nvSpPr>
        <p:spPr>
          <a:xfrm>
            <a:off x="5512498" y="4948352"/>
            <a:ext cx="353329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  <a:tabLst>
                <a:tab pos="403384" algn="l"/>
                <a:tab pos="1451610" algn="l"/>
                <a:tab pos="2561749" algn="l"/>
              </a:tabLst>
            </a:pP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4.83</a:t>
            </a:r>
            <a:r>
              <a:rPr sz="1350" spc="-15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-23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2</a:t>
            </a:r>
            <a:r>
              <a:rPr sz="1350" dirty="0">
                <a:latin typeface="Cambria Math"/>
                <a:cs typeface="Cambria Math"/>
              </a:rPr>
              <a:t>	2.83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259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20" baseline="2350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13</a:t>
            </a:r>
            <a:r>
              <a:rPr sz="1350" spc="6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64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3.3701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895946" y="5447976"/>
            <a:ext cx="574834" cy="159068"/>
          </a:xfrm>
          <a:custGeom>
            <a:avLst/>
            <a:gdLst/>
            <a:ahLst/>
            <a:cxnLst/>
            <a:rect l="l" t="t" r="r" b="b"/>
            <a:pathLst>
              <a:path w="766445" h="212089">
                <a:moveTo>
                  <a:pt x="698880" y="0"/>
                </a:moveTo>
                <a:lnTo>
                  <a:pt x="695959" y="8597"/>
                </a:lnTo>
                <a:lnTo>
                  <a:pt x="708173" y="13915"/>
                </a:lnTo>
                <a:lnTo>
                  <a:pt x="718708" y="21277"/>
                </a:lnTo>
                <a:lnTo>
                  <a:pt x="740122" y="55414"/>
                </a:lnTo>
                <a:lnTo>
                  <a:pt x="746324" y="86521"/>
                </a:lnTo>
                <a:lnTo>
                  <a:pt x="746357" y="86751"/>
                </a:lnTo>
                <a:lnTo>
                  <a:pt x="743997" y="140447"/>
                </a:lnTo>
                <a:lnTo>
                  <a:pt x="727467" y="180837"/>
                </a:lnTo>
                <a:lnTo>
                  <a:pt x="696214" y="203149"/>
                </a:lnTo>
                <a:lnTo>
                  <a:pt x="698880" y="211747"/>
                </a:lnTo>
                <a:lnTo>
                  <a:pt x="739403" y="187710"/>
                </a:lnTo>
                <a:lnTo>
                  <a:pt x="762079" y="143335"/>
                </a:lnTo>
                <a:lnTo>
                  <a:pt x="766445" y="105930"/>
                </a:lnTo>
                <a:lnTo>
                  <a:pt x="765364" y="86751"/>
                </a:lnTo>
                <a:lnTo>
                  <a:pt x="749046" y="37122"/>
                </a:lnTo>
                <a:lnTo>
                  <a:pt x="714238" y="5541"/>
                </a:lnTo>
                <a:lnTo>
                  <a:pt x="698880" y="0"/>
                </a:lnTo>
                <a:close/>
              </a:path>
              <a:path w="766445" h="212089">
                <a:moveTo>
                  <a:pt x="67564" y="0"/>
                </a:moveTo>
                <a:lnTo>
                  <a:pt x="27219" y="24101"/>
                </a:lnTo>
                <a:lnTo>
                  <a:pt x="4381" y="68583"/>
                </a:lnTo>
                <a:lnTo>
                  <a:pt x="0" y="105930"/>
                </a:lnTo>
                <a:lnTo>
                  <a:pt x="988" y="123489"/>
                </a:lnTo>
                <a:lnTo>
                  <a:pt x="17525" y="174739"/>
                </a:lnTo>
                <a:lnTo>
                  <a:pt x="52155" y="206212"/>
                </a:lnTo>
                <a:lnTo>
                  <a:pt x="67564" y="211747"/>
                </a:lnTo>
                <a:lnTo>
                  <a:pt x="70230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51" y="105930"/>
                </a:lnTo>
                <a:lnTo>
                  <a:pt x="19303" y="104813"/>
                </a:lnTo>
                <a:lnTo>
                  <a:pt x="20089" y="86751"/>
                </a:lnTo>
                <a:lnTo>
                  <a:pt x="31876" y="42138"/>
                </a:lnTo>
                <a:lnTo>
                  <a:pt x="58398" y="13915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9" name="object 39"/>
          <p:cNvSpPr/>
          <p:nvPr/>
        </p:nvSpPr>
        <p:spPr>
          <a:xfrm>
            <a:off x="5712523" y="5405495"/>
            <a:ext cx="1563053" cy="213836"/>
          </a:xfrm>
          <a:custGeom>
            <a:avLst/>
            <a:gdLst/>
            <a:ahLst/>
            <a:cxnLst/>
            <a:rect l="l" t="t" r="r" b="b"/>
            <a:pathLst>
              <a:path w="2084070" h="285114">
                <a:moveTo>
                  <a:pt x="257429" y="65239"/>
                </a:moveTo>
                <a:lnTo>
                  <a:pt x="254381" y="56642"/>
                </a:lnTo>
                <a:lnTo>
                  <a:pt x="239039" y="62191"/>
                </a:lnTo>
                <a:lnTo>
                  <a:pt x="225590" y="70218"/>
                </a:lnTo>
                <a:lnTo>
                  <a:pt x="196672" y="108762"/>
                </a:lnTo>
                <a:lnTo>
                  <a:pt x="186867" y="161455"/>
                </a:lnTo>
                <a:lnTo>
                  <a:pt x="186817" y="162572"/>
                </a:lnTo>
                <a:lnTo>
                  <a:pt x="187794" y="180136"/>
                </a:lnTo>
                <a:lnTo>
                  <a:pt x="204343" y="231381"/>
                </a:lnTo>
                <a:lnTo>
                  <a:pt x="238963" y="262864"/>
                </a:lnTo>
                <a:lnTo>
                  <a:pt x="254381" y="268389"/>
                </a:lnTo>
                <a:lnTo>
                  <a:pt x="257048" y="259791"/>
                </a:lnTo>
                <a:lnTo>
                  <a:pt x="244995" y="254457"/>
                </a:lnTo>
                <a:lnTo>
                  <a:pt x="234581" y="247015"/>
                </a:lnTo>
                <a:lnTo>
                  <a:pt x="213182" y="212331"/>
                </a:lnTo>
                <a:lnTo>
                  <a:pt x="206159" y="162572"/>
                </a:lnTo>
                <a:lnTo>
                  <a:pt x="206121" y="161455"/>
                </a:lnTo>
                <a:lnTo>
                  <a:pt x="206895" y="143395"/>
                </a:lnTo>
                <a:lnTo>
                  <a:pt x="218694" y="98780"/>
                </a:lnTo>
                <a:lnTo>
                  <a:pt x="245211" y="70561"/>
                </a:lnTo>
                <a:lnTo>
                  <a:pt x="257429" y="65239"/>
                </a:lnTo>
                <a:close/>
              </a:path>
              <a:path w="2084070" h="285114">
                <a:moveTo>
                  <a:pt x="863346" y="162572"/>
                </a:moveTo>
                <a:lnTo>
                  <a:pt x="862253" y="143395"/>
                </a:lnTo>
                <a:lnTo>
                  <a:pt x="862241" y="143167"/>
                </a:lnTo>
                <a:lnTo>
                  <a:pt x="858977" y="125234"/>
                </a:lnTo>
                <a:lnTo>
                  <a:pt x="836231" y="80746"/>
                </a:lnTo>
                <a:lnTo>
                  <a:pt x="795782" y="56642"/>
                </a:lnTo>
                <a:lnTo>
                  <a:pt x="792861" y="65239"/>
                </a:lnTo>
                <a:lnTo>
                  <a:pt x="805065" y="70561"/>
                </a:lnTo>
                <a:lnTo>
                  <a:pt x="815606" y="77927"/>
                </a:lnTo>
                <a:lnTo>
                  <a:pt x="837018" y="112064"/>
                </a:lnTo>
                <a:lnTo>
                  <a:pt x="843216" y="143167"/>
                </a:lnTo>
                <a:lnTo>
                  <a:pt x="843254" y="143395"/>
                </a:lnTo>
                <a:lnTo>
                  <a:pt x="844042" y="161455"/>
                </a:lnTo>
                <a:lnTo>
                  <a:pt x="843254" y="180136"/>
                </a:lnTo>
                <a:lnTo>
                  <a:pt x="840892" y="197091"/>
                </a:lnTo>
                <a:lnTo>
                  <a:pt x="824357" y="237490"/>
                </a:lnTo>
                <a:lnTo>
                  <a:pt x="793115" y="259791"/>
                </a:lnTo>
                <a:lnTo>
                  <a:pt x="795782" y="268389"/>
                </a:lnTo>
                <a:lnTo>
                  <a:pt x="836295" y="244360"/>
                </a:lnTo>
                <a:lnTo>
                  <a:pt x="858977" y="199986"/>
                </a:lnTo>
                <a:lnTo>
                  <a:pt x="862241" y="182029"/>
                </a:lnTo>
                <a:lnTo>
                  <a:pt x="863346" y="162572"/>
                </a:lnTo>
                <a:close/>
              </a:path>
              <a:path w="2084070" h="285114">
                <a:moveTo>
                  <a:pt x="1353185" y="65239"/>
                </a:moveTo>
                <a:lnTo>
                  <a:pt x="1350137" y="56642"/>
                </a:lnTo>
                <a:lnTo>
                  <a:pt x="1334795" y="62191"/>
                </a:lnTo>
                <a:lnTo>
                  <a:pt x="1321346" y="70218"/>
                </a:lnTo>
                <a:lnTo>
                  <a:pt x="1292428" y="108762"/>
                </a:lnTo>
                <a:lnTo>
                  <a:pt x="1282623" y="161455"/>
                </a:lnTo>
                <a:lnTo>
                  <a:pt x="1282573" y="162572"/>
                </a:lnTo>
                <a:lnTo>
                  <a:pt x="1283550" y="180136"/>
                </a:lnTo>
                <a:lnTo>
                  <a:pt x="1300099" y="231381"/>
                </a:lnTo>
                <a:lnTo>
                  <a:pt x="1334719" y="262864"/>
                </a:lnTo>
                <a:lnTo>
                  <a:pt x="1350137" y="268389"/>
                </a:lnTo>
                <a:lnTo>
                  <a:pt x="1352804" y="259791"/>
                </a:lnTo>
                <a:lnTo>
                  <a:pt x="1340751" y="254457"/>
                </a:lnTo>
                <a:lnTo>
                  <a:pt x="1330337" y="247015"/>
                </a:lnTo>
                <a:lnTo>
                  <a:pt x="1308938" y="212331"/>
                </a:lnTo>
                <a:lnTo>
                  <a:pt x="1301915" y="162572"/>
                </a:lnTo>
                <a:lnTo>
                  <a:pt x="1301877" y="161455"/>
                </a:lnTo>
                <a:lnTo>
                  <a:pt x="1302651" y="143395"/>
                </a:lnTo>
                <a:lnTo>
                  <a:pt x="1314450" y="98780"/>
                </a:lnTo>
                <a:lnTo>
                  <a:pt x="1340967" y="70561"/>
                </a:lnTo>
                <a:lnTo>
                  <a:pt x="1353185" y="65239"/>
                </a:lnTo>
                <a:close/>
              </a:path>
              <a:path w="2084070" h="285114">
                <a:moveTo>
                  <a:pt x="1959102" y="162572"/>
                </a:moveTo>
                <a:lnTo>
                  <a:pt x="1958009" y="143395"/>
                </a:lnTo>
                <a:lnTo>
                  <a:pt x="1957997" y="143167"/>
                </a:lnTo>
                <a:lnTo>
                  <a:pt x="1954733" y="125234"/>
                </a:lnTo>
                <a:lnTo>
                  <a:pt x="1931987" y="80746"/>
                </a:lnTo>
                <a:lnTo>
                  <a:pt x="1891538" y="56642"/>
                </a:lnTo>
                <a:lnTo>
                  <a:pt x="1888617" y="65239"/>
                </a:lnTo>
                <a:lnTo>
                  <a:pt x="1900821" y="70561"/>
                </a:lnTo>
                <a:lnTo>
                  <a:pt x="1911362" y="77927"/>
                </a:lnTo>
                <a:lnTo>
                  <a:pt x="1932774" y="112064"/>
                </a:lnTo>
                <a:lnTo>
                  <a:pt x="1938972" y="143167"/>
                </a:lnTo>
                <a:lnTo>
                  <a:pt x="1939010" y="143395"/>
                </a:lnTo>
                <a:lnTo>
                  <a:pt x="1939798" y="161455"/>
                </a:lnTo>
                <a:lnTo>
                  <a:pt x="1939010" y="180136"/>
                </a:lnTo>
                <a:lnTo>
                  <a:pt x="1936648" y="197091"/>
                </a:lnTo>
                <a:lnTo>
                  <a:pt x="1920113" y="237490"/>
                </a:lnTo>
                <a:lnTo>
                  <a:pt x="1888871" y="259791"/>
                </a:lnTo>
                <a:lnTo>
                  <a:pt x="1891538" y="268389"/>
                </a:lnTo>
                <a:lnTo>
                  <a:pt x="1932051" y="244360"/>
                </a:lnTo>
                <a:lnTo>
                  <a:pt x="1954733" y="199986"/>
                </a:lnTo>
                <a:lnTo>
                  <a:pt x="1957997" y="182029"/>
                </a:lnTo>
                <a:lnTo>
                  <a:pt x="1959102" y="162572"/>
                </a:lnTo>
                <a:close/>
              </a:path>
              <a:path w="2084070" h="285114">
                <a:moveTo>
                  <a:pt x="2083943" y="0"/>
                </a:moveTo>
                <a:lnTo>
                  <a:pt x="165227" y="0"/>
                </a:lnTo>
                <a:lnTo>
                  <a:pt x="165227" y="762"/>
                </a:lnTo>
                <a:lnTo>
                  <a:pt x="143002" y="762"/>
                </a:lnTo>
                <a:lnTo>
                  <a:pt x="75184" y="254698"/>
                </a:lnTo>
                <a:lnTo>
                  <a:pt x="36576" y="168516"/>
                </a:lnTo>
                <a:lnTo>
                  <a:pt x="0" y="185267"/>
                </a:lnTo>
                <a:lnTo>
                  <a:pt x="3429" y="193636"/>
                </a:lnTo>
                <a:lnTo>
                  <a:pt x="22352" y="185267"/>
                </a:lnTo>
                <a:lnTo>
                  <a:pt x="68580" y="284607"/>
                </a:lnTo>
                <a:lnTo>
                  <a:pt x="79375" y="284607"/>
                </a:lnTo>
                <a:lnTo>
                  <a:pt x="151892" y="15595"/>
                </a:lnTo>
                <a:lnTo>
                  <a:pt x="174244" y="15595"/>
                </a:lnTo>
                <a:lnTo>
                  <a:pt x="174244" y="15240"/>
                </a:lnTo>
                <a:lnTo>
                  <a:pt x="2083943" y="15240"/>
                </a:lnTo>
                <a:lnTo>
                  <a:pt x="2083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0" name="object 40"/>
          <p:cNvSpPr txBox="1"/>
          <p:nvPr/>
        </p:nvSpPr>
        <p:spPr>
          <a:xfrm>
            <a:off x="2648806" y="5375834"/>
            <a:ext cx="4995863" cy="470481"/>
          </a:xfrm>
          <a:prstGeom prst="rect">
            <a:avLst/>
          </a:prstGeom>
        </p:spPr>
        <p:txBody>
          <a:bodyPr vert="horz" wrap="square" lIns="0" tIns="29051" rIns="0" bIns="0" rtlCol="0">
            <a:spAutoFit/>
          </a:bodyPr>
          <a:lstStyle/>
          <a:p>
            <a:pPr marL="2044065">
              <a:spcBef>
                <a:spcPts val="229"/>
              </a:spcBef>
              <a:tabLst>
                <a:tab pos="2885122" algn="l"/>
                <a:tab pos="3260408" algn="l"/>
                <a:tab pos="4081939" algn="l"/>
              </a:tabLst>
            </a:pPr>
            <a:r>
              <a:rPr sz="1350" dirty="0">
                <a:latin typeface="Cambria Math"/>
                <a:cs typeface="Cambria Math"/>
              </a:rPr>
              <a:t>𝐷</a:t>
            </a:r>
            <a:r>
              <a:rPr sz="1463" baseline="-14957" dirty="0">
                <a:latin typeface="Cambria Math"/>
                <a:cs typeface="Cambria Math"/>
              </a:rPr>
              <a:t>2</a:t>
            </a:r>
            <a:r>
              <a:rPr sz="1463" spc="523" baseline="-14957" dirty="0">
                <a:latin typeface="Cambria Math"/>
                <a:cs typeface="Cambria Math"/>
              </a:rPr>
              <a:t> </a:t>
            </a:r>
            <a:r>
              <a:rPr sz="1350" spc="-8" dirty="0">
                <a:latin typeface="Cambria Math"/>
                <a:cs typeface="Cambria Math"/>
              </a:rPr>
              <a:t>𝑃2,</a:t>
            </a:r>
            <a:r>
              <a:rPr sz="1350" spc="-71" dirty="0">
                <a:latin typeface="Cambria Math"/>
                <a:cs typeface="Cambria Math"/>
              </a:rPr>
              <a:t> </a:t>
            </a:r>
            <a:r>
              <a:rPr sz="1350" spc="-19" dirty="0">
                <a:latin typeface="Cambria Math"/>
                <a:cs typeface="Cambria Math"/>
              </a:rPr>
              <a:t>𝐶3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38" dirty="0">
                <a:latin typeface="Cambria Math"/>
                <a:cs typeface="Cambria Math"/>
              </a:rPr>
              <a:t>=</a:t>
            </a:r>
            <a:r>
              <a:rPr sz="1350" dirty="0">
                <a:latin typeface="Cambria Math"/>
                <a:cs typeface="Cambria Math"/>
              </a:rPr>
              <a:t>	2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2</a:t>
            </a:r>
            <a:r>
              <a:rPr sz="1350" spc="263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203" baseline="23504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+</a:t>
            </a:r>
            <a:r>
              <a:rPr sz="1350" dirty="0">
                <a:latin typeface="Cambria Math"/>
                <a:cs typeface="Cambria Math"/>
              </a:rPr>
              <a:t>	4</a:t>
            </a:r>
            <a:r>
              <a:rPr sz="1350" spc="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−</a:t>
            </a:r>
            <a:r>
              <a:rPr sz="1350" spc="8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1</a:t>
            </a:r>
            <a:r>
              <a:rPr sz="1350" spc="259" dirty="0">
                <a:latin typeface="Cambria Math"/>
                <a:cs typeface="Cambria Math"/>
              </a:rPr>
              <a:t> </a:t>
            </a:r>
            <a:r>
              <a:rPr sz="1463" baseline="23504" dirty="0">
                <a:latin typeface="Cambria Math"/>
                <a:cs typeface="Cambria Math"/>
              </a:rPr>
              <a:t>2</a:t>
            </a:r>
            <a:r>
              <a:rPr sz="1463" spc="326" baseline="23504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=</a:t>
            </a:r>
            <a:r>
              <a:rPr sz="1350" spc="75" dirty="0">
                <a:latin typeface="Cambria Math"/>
                <a:cs typeface="Cambria Math"/>
              </a:rPr>
              <a:t> </a:t>
            </a:r>
            <a:r>
              <a:rPr sz="1350" spc="-38" dirty="0">
                <a:latin typeface="Cambria Math"/>
                <a:cs typeface="Cambria Math"/>
              </a:rPr>
              <a:t>3</a:t>
            </a:r>
            <a:endParaRPr sz="1350" dirty="0">
              <a:latin typeface="Cambria Math"/>
              <a:cs typeface="Cambria Math"/>
            </a:endParaRPr>
          </a:p>
          <a:p>
            <a:pPr marL="28575">
              <a:spcBef>
                <a:spcPts val="158"/>
              </a:spcBef>
            </a:pPr>
            <a:r>
              <a:rPr sz="1350" dirty="0">
                <a:latin typeface="Georgia"/>
                <a:cs typeface="Georgia"/>
              </a:rPr>
              <a:t>Similarly,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other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points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appropriate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spc="-8" dirty="0">
                <a:latin typeface="Georgia"/>
                <a:cs typeface="Georgia"/>
              </a:rPr>
              <a:t>cluster.</a:t>
            </a:r>
            <a:endParaRPr sz="1350" dirty="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34709" y="4388548"/>
            <a:ext cx="1318736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Cluster1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{(2,1)}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Cluster3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2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{(2,5)}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92607" y="39495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557135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55761" y="2483834"/>
            <a:ext cx="195119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Updated</a:t>
            </a:r>
            <a:r>
              <a:rPr sz="1350" spc="-3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(4.83,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2.83)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(2, 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4)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5287" y="2517838"/>
            <a:ext cx="2661284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Updated</a:t>
            </a:r>
            <a:r>
              <a:rPr sz="1350" spc="-26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Clusters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{(2,1),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(1,2)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{(7,1),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(4,4),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(6,2),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(6,1)}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{(3,5),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(2,5),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(3,4),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(2,3)}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8149" y="3744087"/>
            <a:ext cx="1321117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{(2,1)}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</a:t>
            </a:r>
            <a:r>
              <a:rPr sz="1350" spc="-4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 {(2,5)}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82033" y="3526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557135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5802" y="2391155"/>
            <a:ext cx="4286250" cy="333527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17384" y="425841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49427" y="1956244"/>
            <a:ext cx="7557135" cy="948817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buClr>
                <a:srgbClr val="1CACE3"/>
              </a:buClr>
              <a:buAutoNum type="arabicPeriod" startAt="2"/>
              <a:tabLst>
                <a:tab pos="266700" algn="l"/>
              </a:tabLst>
            </a:pP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  <a:p>
            <a:pPr marL="2177415" indent="-190500">
              <a:spcBef>
                <a:spcPts val="881"/>
              </a:spcBef>
              <a:buAutoNum type="arabicPeriod" startAt="2"/>
              <a:tabLst>
                <a:tab pos="2177415" algn="l"/>
              </a:tabLst>
            </a:pPr>
            <a:r>
              <a:rPr sz="1350" dirty="0">
                <a:latin typeface="Arial MT"/>
                <a:cs typeface="Arial MT"/>
              </a:rPr>
              <a:t>Update</a:t>
            </a:r>
            <a:r>
              <a:rPr sz="1350" spc="-4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Cluster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centers by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repeating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the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process</a:t>
            </a:r>
            <a:r>
              <a:rPr sz="1350" spc="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until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there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is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spc="-19" dirty="0">
                <a:latin typeface="Arial MT"/>
                <a:cs typeface="Arial MT"/>
              </a:rPr>
              <a:t>no</a:t>
            </a:r>
            <a:endParaRPr sz="1350">
              <a:latin typeface="Arial MT"/>
              <a:cs typeface="Arial MT"/>
            </a:endParaRPr>
          </a:p>
          <a:p>
            <a:pPr marL="1986915"/>
            <a:r>
              <a:rPr sz="1350" dirty="0">
                <a:latin typeface="Arial MT"/>
                <a:cs typeface="Arial MT"/>
              </a:rPr>
              <a:t>change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in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spc="-8" dirty="0">
                <a:latin typeface="Arial MT"/>
                <a:cs typeface="Arial MT"/>
              </a:rPr>
              <a:t>clusters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8148" y="2965513"/>
            <a:ext cx="1570673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Old</a:t>
            </a:r>
            <a:r>
              <a:rPr sz="13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(4.83,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2.83)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(2, 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4)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7677" y="2999518"/>
            <a:ext cx="2661284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850583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Updated</a:t>
            </a:r>
            <a:r>
              <a:rPr sz="1350" spc="-26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Clusters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{(2,1),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(1,2)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{(7,1),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(4,4),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(6,2),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(6,1)}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{(3,5),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(2,5),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(3,4),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(2,3)}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7320" y="4244244"/>
            <a:ext cx="164639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1350" spc="-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(5.75,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2)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4.25)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00567" y="427756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557135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8068" y="2463165"/>
            <a:ext cx="4335399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66700" y="27369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49427" y="1956244"/>
            <a:ext cx="7557135" cy="948817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buClr>
                <a:srgbClr val="1CACE3"/>
              </a:buClr>
              <a:buAutoNum type="arabicPeriod" startAt="2"/>
              <a:tabLst>
                <a:tab pos="266700" algn="l"/>
              </a:tabLst>
            </a:pP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  <a:p>
            <a:pPr marL="2177415" indent="-190500">
              <a:spcBef>
                <a:spcPts val="881"/>
              </a:spcBef>
              <a:buAutoNum type="arabicPeriod" startAt="2"/>
              <a:tabLst>
                <a:tab pos="2177415" algn="l"/>
              </a:tabLst>
            </a:pPr>
            <a:r>
              <a:rPr sz="1350" dirty="0">
                <a:latin typeface="Arial MT"/>
                <a:cs typeface="Arial MT"/>
              </a:rPr>
              <a:t>Update</a:t>
            </a:r>
            <a:r>
              <a:rPr sz="1350" spc="-4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Cluster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centers by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repeating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the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process</a:t>
            </a:r>
            <a:r>
              <a:rPr sz="1350" spc="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until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there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is</a:t>
            </a:r>
            <a:r>
              <a:rPr sz="1350" spc="-8" dirty="0">
                <a:latin typeface="Arial MT"/>
                <a:cs typeface="Arial MT"/>
              </a:rPr>
              <a:t> </a:t>
            </a:r>
            <a:r>
              <a:rPr sz="1350" spc="-19" dirty="0">
                <a:latin typeface="Arial MT"/>
                <a:cs typeface="Arial MT"/>
              </a:rPr>
              <a:t>no</a:t>
            </a:r>
            <a:endParaRPr sz="1350">
              <a:latin typeface="Arial MT"/>
              <a:cs typeface="Arial MT"/>
            </a:endParaRPr>
          </a:p>
          <a:p>
            <a:pPr marL="1986915"/>
            <a:r>
              <a:rPr sz="1350" dirty="0">
                <a:latin typeface="Arial MT"/>
                <a:cs typeface="Arial MT"/>
              </a:rPr>
              <a:t>change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in</a:t>
            </a:r>
            <a:r>
              <a:rPr sz="1350" spc="-11" dirty="0">
                <a:latin typeface="Arial MT"/>
                <a:cs typeface="Arial MT"/>
              </a:rPr>
              <a:t> </a:t>
            </a:r>
            <a:r>
              <a:rPr sz="1350" spc="-8" dirty="0">
                <a:latin typeface="Arial MT"/>
                <a:cs typeface="Arial MT"/>
              </a:rPr>
              <a:t>clusters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8148" y="2965513"/>
            <a:ext cx="1570673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Old</a:t>
            </a:r>
            <a:r>
              <a:rPr sz="13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(5.75, </a:t>
            </a:r>
            <a:r>
              <a:rPr sz="1350" spc="-19" dirty="0">
                <a:solidFill>
                  <a:srgbClr val="FF0000"/>
                </a:solidFill>
                <a:latin typeface="Arial MT"/>
                <a:cs typeface="Arial MT"/>
              </a:rPr>
              <a:t>2)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4.25)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7677" y="2999518"/>
            <a:ext cx="310943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1298734">
              <a:spcBef>
                <a:spcPts val="75"/>
              </a:spcBef>
            </a:pP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Updated</a:t>
            </a:r>
            <a:r>
              <a:rPr sz="1350" spc="-26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Clusters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Cluster1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{(2,1),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(1,2)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38" dirty="0">
                <a:solidFill>
                  <a:srgbClr val="001F5F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Cluster2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{(7,1),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(6,2),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(6,1)}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Cluster3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=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{(3,5),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(2,5),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(4,4),</a:t>
            </a:r>
            <a:r>
              <a:rPr sz="1350" spc="-15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001F5F"/>
                </a:solidFill>
                <a:latin typeface="Arial MT"/>
                <a:cs typeface="Arial MT"/>
              </a:rPr>
              <a:t>(3,4),</a:t>
            </a:r>
            <a:r>
              <a:rPr sz="1350" spc="-11" dirty="0">
                <a:solidFill>
                  <a:srgbClr val="001F5F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001F5F"/>
                </a:solidFill>
                <a:latin typeface="Arial MT"/>
                <a:cs typeface="Arial MT"/>
              </a:rPr>
              <a:t>(2,3)}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7320" y="4244244"/>
            <a:ext cx="164639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1350" spc="-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Cluster</a:t>
            </a:r>
            <a:r>
              <a:rPr sz="1350" spc="-3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Centers: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C1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(1.5,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1.5)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C2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(6.33,</a:t>
            </a:r>
            <a:r>
              <a:rPr sz="1350" spc="-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1.33)</a:t>
            </a:r>
            <a:endParaRPr sz="1350">
              <a:latin typeface="Arial MT"/>
              <a:cs typeface="Arial MT"/>
            </a:endParaRPr>
          </a:p>
          <a:p>
            <a:pPr marL="9525"/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C3</a:t>
            </a:r>
            <a:r>
              <a:rPr sz="1350" spc="-1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1350" spc="-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0000"/>
                </a:solidFill>
                <a:latin typeface="Arial MT"/>
                <a:cs typeface="Arial MT"/>
              </a:rPr>
              <a:t>(2.8,</a:t>
            </a:r>
            <a:r>
              <a:rPr sz="135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350" spc="-15" dirty="0">
                <a:solidFill>
                  <a:srgbClr val="FF0000"/>
                </a:solidFill>
                <a:latin typeface="Arial MT"/>
                <a:cs typeface="Arial MT"/>
              </a:rPr>
              <a:t>4.2)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2900" y="34415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427" y="1956245"/>
            <a:ext cx="7557135" cy="417903"/>
          </a:xfrm>
          <a:prstGeom prst="rect">
            <a:avLst/>
          </a:prstGeom>
        </p:spPr>
        <p:txBody>
          <a:bodyPr vert="horz" wrap="square" lIns="0" tIns="32861" rIns="0" bIns="0" rtlCol="0">
            <a:spAutoFit/>
          </a:bodyPr>
          <a:lstStyle/>
          <a:p>
            <a:pPr marL="266700" marR="3810" indent="-257651">
              <a:lnSpc>
                <a:spcPts val="1454"/>
              </a:lnSpc>
              <a:spcBef>
                <a:spcPts val="259"/>
              </a:spcBef>
              <a:tabLst>
                <a:tab pos="266700" algn="l"/>
              </a:tabLst>
            </a:pPr>
            <a:r>
              <a:rPr sz="1350" spc="-19" dirty="0">
                <a:solidFill>
                  <a:srgbClr val="1CACE3"/>
                </a:solidFill>
                <a:latin typeface="Georgia"/>
                <a:cs typeface="Georgia"/>
              </a:rPr>
              <a:t>2.</a:t>
            </a:r>
            <a:r>
              <a:rPr sz="1350" dirty="0">
                <a:solidFill>
                  <a:srgbClr val="1CACE3"/>
                </a:solidFill>
                <a:latin typeface="Georgia"/>
                <a:cs typeface="Georgia"/>
              </a:rPr>
              <a:t>	</a:t>
            </a:r>
            <a:r>
              <a:rPr sz="1350" dirty="0">
                <a:latin typeface="Georgia"/>
                <a:cs typeface="Georgia"/>
              </a:rPr>
              <a:t>Repeat: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Assign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to</a:t>
            </a:r>
            <a:r>
              <a:rPr sz="1350" spc="-23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its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41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Calculate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distance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of</a:t>
            </a:r>
            <a:r>
              <a:rPr sz="1350" spc="-34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each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point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from</a:t>
            </a:r>
            <a:r>
              <a:rPr sz="1350" spc="-19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each </a:t>
            </a:r>
            <a:r>
              <a:rPr sz="1350" dirty="0">
                <a:latin typeface="Georgia"/>
                <a:cs typeface="Georgia"/>
              </a:rPr>
              <a:t>cluster</a:t>
            </a:r>
            <a:r>
              <a:rPr sz="1350" spc="-45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centers.</a:t>
            </a:r>
            <a:r>
              <a:rPr sz="1350" spc="-30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And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choose</a:t>
            </a:r>
            <a:r>
              <a:rPr sz="1350" spc="-26" dirty="0">
                <a:latin typeface="Georgia"/>
                <a:cs typeface="Georgia"/>
              </a:rPr>
              <a:t> </a:t>
            </a:r>
            <a:r>
              <a:rPr sz="1350" dirty="0">
                <a:latin typeface="Georgia"/>
                <a:cs typeface="Georgia"/>
              </a:rPr>
              <a:t>closest</a:t>
            </a:r>
            <a:r>
              <a:rPr sz="1350" spc="-38" dirty="0">
                <a:latin typeface="Georgia"/>
                <a:cs typeface="Georgia"/>
              </a:rPr>
              <a:t> </a:t>
            </a:r>
            <a:r>
              <a:rPr sz="1350" spc="-15" dirty="0">
                <a:latin typeface="Georgia"/>
                <a:cs typeface="Georgia"/>
              </a:rPr>
              <a:t>one.</a:t>
            </a:r>
            <a:endParaRPr sz="135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862" y="2458498"/>
          <a:ext cx="1772601" cy="3049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1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Point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X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Y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P7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P8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1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P9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4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5" dirty="0">
                          <a:latin typeface="Georgia"/>
                          <a:cs typeface="Georgia"/>
                        </a:rPr>
                        <a:t>P10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50" dirty="0">
                          <a:latin typeface="Georgia"/>
                          <a:cs typeface="Georgia"/>
                        </a:rPr>
                        <a:t>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0" marR="0" marT="2905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505" y="2369438"/>
            <a:ext cx="4301109" cy="335699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7500" y="353815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/>
          <p:nvPr/>
        </p:nvSpPr>
        <p:spPr>
          <a:xfrm>
            <a:off x="5250561" y="2683574"/>
            <a:ext cx="419576" cy="177165"/>
          </a:xfrm>
          <a:custGeom>
            <a:avLst/>
            <a:gdLst/>
            <a:ahLst/>
            <a:cxnLst/>
            <a:rect l="l" t="t" r="r" b="b"/>
            <a:pathLst>
              <a:path w="559434" h="236219">
                <a:moveTo>
                  <a:pt x="484124" y="0"/>
                </a:moveTo>
                <a:lnTo>
                  <a:pt x="480695" y="9651"/>
                </a:lnTo>
                <a:lnTo>
                  <a:pt x="494335" y="15557"/>
                </a:lnTo>
                <a:lnTo>
                  <a:pt x="506094" y="23749"/>
                </a:lnTo>
                <a:lnTo>
                  <a:pt x="529949" y="61723"/>
                </a:lnTo>
                <a:lnTo>
                  <a:pt x="536818" y="96337"/>
                </a:lnTo>
                <a:lnTo>
                  <a:pt x="536858" y="96621"/>
                </a:lnTo>
                <a:lnTo>
                  <a:pt x="536856" y="137497"/>
                </a:lnTo>
                <a:lnTo>
                  <a:pt x="523748" y="188467"/>
                </a:lnTo>
                <a:lnTo>
                  <a:pt x="494530" y="220257"/>
                </a:lnTo>
                <a:lnTo>
                  <a:pt x="481075" y="226187"/>
                </a:lnTo>
                <a:lnTo>
                  <a:pt x="484124" y="235712"/>
                </a:lnTo>
                <a:lnTo>
                  <a:pt x="529111" y="208994"/>
                </a:lnTo>
                <a:lnTo>
                  <a:pt x="554450" y="159607"/>
                </a:lnTo>
                <a:lnTo>
                  <a:pt x="559307" y="117982"/>
                </a:lnTo>
                <a:lnTo>
                  <a:pt x="558107" y="96621"/>
                </a:lnTo>
                <a:lnTo>
                  <a:pt x="558091" y="96337"/>
                </a:lnTo>
                <a:lnTo>
                  <a:pt x="548324" y="58046"/>
                </a:lnTo>
                <a:lnTo>
                  <a:pt x="516127" y="15128"/>
                </a:lnTo>
                <a:lnTo>
                  <a:pt x="501173" y="6165"/>
                </a:lnTo>
                <a:lnTo>
                  <a:pt x="484124" y="0"/>
                </a:lnTo>
                <a:close/>
              </a:path>
              <a:path w="559434" h="236219">
                <a:moveTo>
                  <a:pt x="75183" y="0"/>
                </a:moveTo>
                <a:lnTo>
                  <a:pt x="30214" y="26878"/>
                </a:lnTo>
                <a:lnTo>
                  <a:pt x="4857" y="76358"/>
                </a:lnTo>
                <a:lnTo>
                  <a:pt x="71" y="116712"/>
                </a:lnTo>
                <a:lnTo>
                  <a:pt x="0" y="117982"/>
                </a:lnTo>
                <a:lnTo>
                  <a:pt x="1094" y="137497"/>
                </a:lnTo>
                <a:lnTo>
                  <a:pt x="10929" y="177919"/>
                </a:lnTo>
                <a:lnTo>
                  <a:pt x="43068" y="220662"/>
                </a:lnTo>
                <a:lnTo>
                  <a:pt x="75183" y="235712"/>
                </a:lnTo>
                <a:lnTo>
                  <a:pt x="78231" y="226187"/>
                </a:lnTo>
                <a:lnTo>
                  <a:pt x="64775" y="220257"/>
                </a:lnTo>
                <a:lnTo>
                  <a:pt x="53165" y="211994"/>
                </a:lnTo>
                <a:lnTo>
                  <a:pt x="29338" y="173398"/>
                </a:lnTo>
                <a:lnTo>
                  <a:pt x="21516" y="117982"/>
                </a:lnTo>
                <a:lnTo>
                  <a:pt x="21462" y="116712"/>
                </a:lnTo>
                <a:lnTo>
                  <a:pt x="24971" y="78279"/>
                </a:lnTo>
                <a:lnTo>
                  <a:pt x="43412" y="34226"/>
                </a:lnTo>
                <a:lnTo>
                  <a:pt x="78612" y="9651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653415" y="1830924"/>
            <a:ext cx="7046119" cy="3359574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pPr marL="169069" indent="-159544">
              <a:spcBef>
                <a:spcPts val="938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pc="-8" dirty="0">
                <a:latin typeface="Georgia"/>
                <a:cs typeface="Georgia"/>
              </a:rPr>
              <a:t>Advantages:</a:t>
            </a:r>
            <a:endParaRPr dirty="0">
              <a:latin typeface="Georgia"/>
              <a:cs typeface="Georgia"/>
            </a:endParaRPr>
          </a:p>
          <a:p>
            <a:pPr marL="254794" lvl="1" indent="-149543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latin typeface="Georgia"/>
                <a:cs typeface="Georgia"/>
              </a:rPr>
              <a:t>Relatively</a:t>
            </a:r>
            <a:r>
              <a:rPr sz="1500" spc="-4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scalable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and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efficient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in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processing</a:t>
            </a:r>
            <a:r>
              <a:rPr sz="1500" spc="-34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large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data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spc="-15" dirty="0">
                <a:latin typeface="Georgia"/>
                <a:cs typeface="Georgia"/>
              </a:rPr>
              <a:t>sets</a:t>
            </a:r>
            <a:endParaRPr sz="1500" dirty="0">
              <a:latin typeface="Georgia"/>
              <a:cs typeface="Georgia"/>
            </a:endParaRPr>
          </a:p>
          <a:p>
            <a:pPr marL="254794" lvl="1" indent="-149543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computational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complexity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algorithm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𝑂</a:t>
            </a:r>
            <a:r>
              <a:rPr sz="1500" spc="296" dirty="0">
                <a:latin typeface="Cambria Math"/>
                <a:cs typeface="Cambria Math"/>
              </a:rPr>
              <a:t> </a:t>
            </a:r>
            <a:r>
              <a:rPr sz="1500" spc="-19" dirty="0">
                <a:latin typeface="Cambria Math"/>
                <a:cs typeface="Cambria Math"/>
              </a:rPr>
              <a:t>𝑛𝑘𝑡</a:t>
            </a:r>
            <a:endParaRPr sz="1500" dirty="0">
              <a:latin typeface="Cambria Math"/>
              <a:cs typeface="Cambria Math"/>
            </a:endParaRPr>
          </a:p>
          <a:p>
            <a:pPr marL="381953" lvl="2" indent="-139065">
              <a:spcBef>
                <a:spcPts val="769"/>
              </a:spcBef>
              <a:buClr>
                <a:srgbClr val="1CACE3"/>
              </a:buClr>
              <a:buFont typeface="Wingdings"/>
              <a:buChar char=""/>
              <a:tabLst>
                <a:tab pos="381953" algn="l"/>
              </a:tabLst>
            </a:pPr>
            <a:r>
              <a:rPr sz="1200" dirty="0">
                <a:latin typeface="Georgia"/>
                <a:cs typeface="Georgia"/>
              </a:rPr>
              <a:t>where</a:t>
            </a:r>
            <a:r>
              <a:rPr sz="1200" spc="-8" dirty="0">
                <a:latin typeface="Georgia"/>
                <a:cs typeface="Georgia"/>
              </a:rPr>
              <a:t> </a:t>
            </a:r>
            <a:r>
              <a:rPr sz="1200" dirty="0">
                <a:latin typeface="Cambria Math"/>
                <a:cs typeface="Cambria Math"/>
              </a:rPr>
              <a:t>𝑛</a:t>
            </a:r>
            <a:r>
              <a:rPr sz="1200" spc="11" dirty="0">
                <a:latin typeface="Cambria Math"/>
                <a:cs typeface="Cambria Math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23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9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total</a:t>
            </a:r>
            <a:r>
              <a:rPr sz="1200" spc="-19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number</a:t>
            </a:r>
            <a:r>
              <a:rPr sz="1200" spc="-11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23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objects,</a:t>
            </a:r>
            <a:r>
              <a:rPr sz="1200" spc="8" dirty="0">
                <a:latin typeface="Georgia"/>
                <a:cs typeface="Georgia"/>
              </a:rPr>
              <a:t> </a:t>
            </a:r>
            <a:r>
              <a:rPr sz="1200" dirty="0">
                <a:latin typeface="Cambria Math"/>
                <a:cs typeface="Cambria Math"/>
              </a:rPr>
              <a:t>𝑘</a:t>
            </a:r>
            <a:r>
              <a:rPr sz="1200" spc="38" dirty="0">
                <a:latin typeface="Cambria Math"/>
                <a:cs typeface="Cambria Math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23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9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number</a:t>
            </a:r>
            <a:r>
              <a:rPr sz="1200" spc="-11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19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clusters,</a:t>
            </a:r>
            <a:r>
              <a:rPr sz="1200" spc="-4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and</a:t>
            </a:r>
            <a:r>
              <a:rPr sz="1200" spc="-4" dirty="0">
                <a:latin typeface="Georgia"/>
                <a:cs typeface="Georgia"/>
              </a:rPr>
              <a:t> </a:t>
            </a:r>
            <a:r>
              <a:rPr sz="1200" dirty="0">
                <a:latin typeface="Cambria Math"/>
                <a:cs typeface="Cambria Math"/>
              </a:rPr>
              <a:t>𝑡</a:t>
            </a:r>
            <a:r>
              <a:rPr sz="1200" spc="26" dirty="0">
                <a:latin typeface="Cambria Math"/>
                <a:cs typeface="Cambria Math"/>
              </a:rPr>
              <a:t> </a:t>
            </a:r>
            <a:r>
              <a:rPr sz="1200" dirty="0">
                <a:latin typeface="Georgia"/>
                <a:cs typeface="Georgia"/>
              </a:rPr>
              <a:t>is</a:t>
            </a:r>
            <a:r>
              <a:rPr sz="1200" spc="-23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the</a:t>
            </a:r>
            <a:r>
              <a:rPr sz="1200" spc="-19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number</a:t>
            </a:r>
            <a:r>
              <a:rPr sz="1200" spc="-11" dirty="0">
                <a:latin typeface="Georgia"/>
                <a:cs typeface="Georgia"/>
              </a:rPr>
              <a:t> </a:t>
            </a:r>
            <a:r>
              <a:rPr sz="1200" dirty="0">
                <a:latin typeface="Georgia"/>
                <a:cs typeface="Georgia"/>
              </a:rPr>
              <a:t>of</a:t>
            </a:r>
            <a:r>
              <a:rPr sz="1200" spc="-19" dirty="0">
                <a:latin typeface="Georgia"/>
                <a:cs typeface="Georgia"/>
              </a:rPr>
              <a:t> </a:t>
            </a:r>
            <a:r>
              <a:rPr sz="1200" spc="-8" dirty="0">
                <a:latin typeface="Georgia"/>
                <a:cs typeface="Georgia"/>
              </a:rPr>
              <a:t>iterations</a:t>
            </a:r>
            <a:endParaRPr sz="1200" dirty="0">
              <a:latin typeface="Georgia"/>
              <a:cs typeface="Georgia"/>
            </a:endParaRPr>
          </a:p>
          <a:p>
            <a:pPr marL="254794" lvl="1" indent="-149543">
              <a:spcBef>
                <a:spcPts val="708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latin typeface="Georgia"/>
                <a:cs typeface="Georgia"/>
              </a:rPr>
              <a:t>This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method</a:t>
            </a:r>
            <a:r>
              <a:rPr sz="1500" spc="-4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terminates</a:t>
            </a:r>
            <a:r>
              <a:rPr sz="1500" spc="-3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at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local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optimum.</a:t>
            </a:r>
            <a:endParaRPr sz="1500" dirty="0">
              <a:latin typeface="Georgia"/>
              <a:cs typeface="Georgia"/>
            </a:endParaRPr>
          </a:p>
          <a:p>
            <a:pPr lvl="1">
              <a:lnSpc>
                <a:spcPct val="100000"/>
              </a:lnSpc>
              <a:buClr>
                <a:srgbClr val="1CACE3"/>
              </a:buClr>
              <a:buFont typeface="Wingdings"/>
              <a:buChar char=""/>
            </a:pPr>
            <a:endParaRPr sz="1500" dirty="0">
              <a:latin typeface="Georgia"/>
              <a:cs typeface="Georgia"/>
            </a:endParaRPr>
          </a:p>
          <a:p>
            <a:pPr lvl="1">
              <a:spcBef>
                <a:spcPts val="116"/>
              </a:spcBef>
              <a:buClr>
                <a:srgbClr val="1CACE3"/>
              </a:buClr>
              <a:buFont typeface="Wingdings"/>
              <a:buChar char=""/>
            </a:pPr>
            <a:endParaRPr sz="1500" dirty="0">
              <a:latin typeface="Georgia"/>
              <a:cs typeface="Georgia"/>
            </a:endParaRPr>
          </a:p>
          <a:p>
            <a:pPr marL="114300" indent="-114300">
              <a:buClr>
                <a:srgbClr val="1CACE3"/>
              </a:buClr>
              <a:buFont typeface="Wingdings"/>
              <a:buChar char=""/>
              <a:tabLst>
                <a:tab pos="114300" algn="l"/>
              </a:tabLst>
            </a:pPr>
            <a:r>
              <a:rPr spc="-8" dirty="0">
                <a:latin typeface="Georgia"/>
                <a:cs typeface="Georgia"/>
              </a:rPr>
              <a:t>Disadvantages:</a:t>
            </a:r>
            <a:endParaRPr dirty="0">
              <a:latin typeface="Georgia"/>
              <a:cs typeface="Georgia"/>
            </a:endParaRPr>
          </a:p>
          <a:p>
            <a:pPr marL="254794" lvl="1" indent="-149543">
              <a:spcBef>
                <a:spcPts val="727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latin typeface="Georgia"/>
                <a:cs typeface="Georgia"/>
              </a:rPr>
              <a:t>Can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be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applied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only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when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mean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is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defined</a:t>
            </a:r>
            <a:endParaRPr sz="1500" dirty="0">
              <a:latin typeface="Georgia"/>
              <a:cs typeface="Georgia"/>
            </a:endParaRPr>
          </a:p>
          <a:p>
            <a:pPr marL="254794" lvl="1" indent="-149543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latin typeface="Georgia"/>
                <a:cs typeface="Georgia"/>
              </a:rPr>
              <a:t>The</a:t>
            </a:r>
            <a:r>
              <a:rPr sz="1500" spc="-26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necessity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for</a:t>
            </a:r>
            <a:r>
              <a:rPr sz="1500" spc="-15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users</a:t>
            </a:r>
            <a:r>
              <a:rPr sz="1500" spc="-19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specify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Cambria Math"/>
                <a:cs typeface="Cambria Math"/>
              </a:rPr>
              <a:t>𝑘</a:t>
            </a:r>
            <a:r>
              <a:rPr sz="1500" dirty="0">
                <a:latin typeface="Georgia"/>
                <a:cs typeface="Georgia"/>
              </a:rPr>
              <a:t>,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the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number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of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clusters,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in</a:t>
            </a:r>
            <a:r>
              <a:rPr sz="1500" spc="-11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advance.</a:t>
            </a:r>
            <a:endParaRPr sz="1500" dirty="0">
              <a:latin typeface="Georgia"/>
              <a:cs typeface="Georgia"/>
            </a:endParaRPr>
          </a:p>
          <a:p>
            <a:pPr marL="254794" lvl="1" indent="-149543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254794" algn="l"/>
              </a:tabLst>
            </a:pPr>
            <a:r>
              <a:rPr sz="1500" dirty="0">
                <a:latin typeface="Georgia"/>
                <a:cs typeface="Georgia"/>
              </a:rPr>
              <a:t>Sensitive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to</a:t>
            </a:r>
            <a:r>
              <a:rPr sz="1500" spc="-41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noise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and</a:t>
            </a:r>
            <a:r>
              <a:rPr sz="1500" spc="-8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outlier</a:t>
            </a:r>
            <a:r>
              <a:rPr sz="1500" spc="-23" dirty="0">
                <a:latin typeface="Georgia"/>
                <a:cs typeface="Georgia"/>
              </a:rPr>
              <a:t> </a:t>
            </a:r>
            <a:r>
              <a:rPr sz="1500" dirty="0">
                <a:latin typeface="Georgia"/>
                <a:cs typeface="Georgia"/>
              </a:rPr>
              <a:t>data</a:t>
            </a:r>
            <a:r>
              <a:rPr sz="1500" spc="-4" dirty="0">
                <a:latin typeface="Georgia"/>
                <a:cs typeface="Georgia"/>
              </a:rPr>
              <a:t> </a:t>
            </a:r>
            <a:r>
              <a:rPr sz="1500" spc="-8" dirty="0">
                <a:latin typeface="Georgia"/>
                <a:cs typeface="Georgia"/>
              </a:rPr>
              <a:t>points</a:t>
            </a:r>
            <a:endParaRPr sz="15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1B4BD-0F8F-D6A9-52F9-3529874E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EFE43B-7F9B-AEB4-E825-3064C6711D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7500" y="353815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pc="-10" dirty="0">
                <a:solidFill>
                  <a:schemeClr val="bg1"/>
                </a:solidFill>
              </a:rPr>
              <a:t>Relevant</a:t>
            </a:r>
            <a:r>
              <a:rPr lang="en-US" spc="-145" dirty="0">
                <a:solidFill>
                  <a:schemeClr val="bg1"/>
                </a:solidFill>
              </a:rPr>
              <a:t> </a:t>
            </a:r>
            <a:r>
              <a:rPr lang="en-US" spc="-10" dirty="0">
                <a:solidFill>
                  <a:schemeClr val="bg1"/>
                </a:solidFill>
              </a:rPr>
              <a:t>Issues</a:t>
            </a:r>
            <a:endParaRPr spc="38" dirty="0">
              <a:solidFill>
                <a:schemeClr val="bg1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52E2DA4-D8D9-EDC5-F322-E8D9FD9B916D}"/>
              </a:ext>
            </a:extLst>
          </p:cNvPr>
          <p:cNvSpPr txBox="1"/>
          <p:nvPr/>
        </p:nvSpPr>
        <p:spPr>
          <a:xfrm>
            <a:off x="244889" y="1654025"/>
            <a:ext cx="8654222" cy="412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Calibri"/>
                <a:cs typeface="Calibri"/>
              </a:rPr>
              <a:t>Efficient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computation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-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O(</a:t>
            </a:r>
            <a:r>
              <a:rPr i="1" dirty="0">
                <a:latin typeface="Calibri"/>
                <a:cs typeface="Calibri"/>
              </a:rPr>
              <a:t>tKn</a:t>
            </a:r>
            <a:r>
              <a:rPr dirty="0">
                <a:latin typeface="Calibri"/>
                <a:cs typeface="Calibri"/>
              </a:rPr>
              <a:t>),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where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</a:t>
            </a:r>
            <a:r>
              <a:rPr i="1" spc="4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objects,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K</a:t>
            </a:r>
            <a:r>
              <a:rPr i="1" spc="4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clusters,</a:t>
            </a:r>
            <a:endParaRPr dirty="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  <a:spcBef>
                <a:spcPts val="5"/>
              </a:spcBef>
              <a:tabLst>
                <a:tab pos="1188720" algn="l"/>
              </a:tabLst>
            </a:pP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i="1" spc="-50" dirty="0">
                <a:latin typeface="Calibri"/>
                <a:cs typeface="Calibri"/>
              </a:rPr>
              <a:t>t</a:t>
            </a:r>
            <a:r>
              <a:rPr lang="en-US" i="1"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iterations.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Normally, </a:t>
            </a:r>
            <a:r>
              <a:rPr i="1" dirty="0">
                <a:latin typeface="Calibri"/>
                <a:cs typeface="Calibri"/>
              </a:rPr>
              <a:t>K</a:t>
            </a:r>
            <a:r>
              <a:rPr dirty="0">
                <a:latin typeface="Calibri"/>
                <a:cs typeface="Calibri"/>
              </a:rPr>
              <a:t>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</a:t>
            </a:r>
            <a:r>
              <a:rPr i="1" spc="-2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&lt;&lt;</a:t>
            </a:r>
            <a:r>
              <a:rPr i="1" spc="-20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n</a:t>
            </a:r>
            <a:r>
              <a:rPr spc="-25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  <a:p>
            <a:pPr marL="478790" marR="31115" indent="-466725">
              <a:lnSpc>
                <a:spcPct val="100000"/>
              </a:lnSpc>
              <a:spcBef>
                <a:spcPts val="2400"/>
              </a:spcBef>
              <a:tabLst>
                <a:tab pos="1861185" algn="l"/>
              </a:tabLst>
            </a:pPr>
            <a:r>
              <a:rPr b="1" dirty="0">
                <a:latin typeface="Calibri"/>
                <a:cs typeface="Calibri"/>
              </a:rPr>
              <a:t>Local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optimum</a:t>
            </a:r>
            <a:r>
              <a:rPr lang="en-US"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-</a:t>
            </a:r>
            <a:r>
              <a:rPr lang="en-US" b="1" spc="4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sensitive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initial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seed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points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converge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local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optimum: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maybe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an </a:t>
            </a:r>
            <a:r>
              <a:rPr spc="-10" dirty="0">
                <a:latin typeface="Calibri"/>
                <a:cs typeface="Calibri"/>
              </a:rPr>
              <a:t>unwanted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solution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b="1" dirty="0">
                <a:latin typeface="Calibri"/>
                <a:cs typeface="Calibri"/>
              </a:rPr>
              <a:t>Other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problems</a:t>
            </a:r>
            <a:endParaRPr dirty="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040"/>
              </a:spcBef>
              <a:buClr>
                <a:srgbClr val="FF0000"/>
              </a:buClr>
              <a:buFont typeface="Wingdings"/>
              <a:buChar char=""/>
              <a:tabLst>
                <a:tab pos="478790" algn="l"/>
              </a:tabLst>
            </a:pPr>
            <a:r>
              <a:rPr sz="1600" dirty="0">
                <a:latin typeface="Calibri"/>
                <a:cs typeface="Calibri"/>
              </a:rPr>
              <a:t>Need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K,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number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clusters,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advance</a:t>
            </a:r>
            <a:endParaRPr sz="1600" dirty="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395"/>
              </a:spcBef>
              <a:buClr>
                <a:srgbClr val="FF0000"/>
              </a:buClr>
              <a:buFont typeface="Wingdings"/>
              <a:buChar char=""/>
              <a:tabLst>
                <a:tab pos="478790" algn="l"/>
              </a:tabLst>
            </a:pPr>
            <a:r>
              <a:rPr sz="1600" dirty="0">
                <a:latin typeface="Calibri"/>
                <a:cs typeface="Calibri"/>
              </a:rPr>
              <a:t>Unable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noisy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outliers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</a:t>
            </a:r>
            <a:r>
              <a:rPr sz="1600" i="1" spc="-10" dirty="0">
                <a:latin typeface="Calibri"/>
                <a:cs typeface="Calibri"/>
              </a:rPr>
              <a:t>K-</a:t>
            </a:r>
            <a:r>
              <a:rPr sz="1600" i="1" dirty="0">
                <a:latin typeface="Calibri"/>
                <a:cs typeface="Calibri"/>
              </a:rPr>
              <a:t>Medoids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algorithm)</a:t>
            </a:r>
            <a:endParaRPr sz="1600" dirty="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405"/>
              </a:spcBef>
              <a:buClr>
                <a:srgbClr val="FF0000"/>
              </a:buClr>
              <a:buFont typeface="Wingdings"/>
              <a:buChar char=""/>
              <a:tabLst>
                <a:tab pos="478790" algn="l"/>
              </a:tabLst>
            </a:pPr>
            <a:r>
              <a:rPr sz="1600" dirty="0">
                <a:latin typeface="Calibri"/>
                <a:cs typeface="Calibri"/>
              </a:rPr>
              <a:t>Not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suitable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discovering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clusters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non-</a:t>
            </a:r>
            <a:r>
              <a:rPr sz="1600" spc="-20" dirty="0">
                <a:latin typeface="Calibri"/>
                <a:cs typeface="Calibri"/>
              </a:rPr>
              <a:t>convex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shapes</a:t>
            </a:r>
            <a:endParaRPr sz="1600" dirty="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405"/>
              </a:spcBef>
              <a:buClr>
                <a:srgbClr val="FF0000"/>
              </a:buClr>
              <a:buFont typeface="Wingdings"/>
              <a:buChar char=""/>
              <a:tabLst>
                <a:tab pos="478790" algn="l"/>
              </a:tabLst>
            </a:pPr>
            <a:r>
              <a:rPr sz="1600" dirty="0">
                <a:latin typeface="Calibri"/>
                <a:cs typeface="Calibri"/>
              </a:rPr>
              <a:t>Applicable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defined,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about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data?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</a:t>
            </a:r>
            <a:r>
              <a:rPr sz="1600" i="1" spc="-10" dirty="0">
                <a:latin typeface="Calibri"/>
                <a:cs typeface="Calibri"/>
              </a:rPr>
              <a:t>K-</a:t>
            </a:r>
            <a:r>
              <a:rPr sz="1600" i="1" dirty="0">
                <a:latin typeface="Calibri"/>
                <a:cs typeface="Calibri"/>
              </a:rPr>
              <a:t>mode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algorithm)</a:t>
            </a:r>
            <a:endParaRPr sz="1600" dirty="0">
              <a:latin typeface="Calibri"/>
              <a:cs typeface="Calibri"/>
            </a:endParaRPr>
          </a:p>
          <a:p>
            <a:pPr marL="478790" indent="-466090">
              <a:lnSpc>
                <a:spcPct val="100000"/>
              </a:lnSpc>
              <a:spcBef>
                <a:spcPts val="1390"/>
              </a:spcBef>
              <a:buClr>
                <a:srgbClr val="FF0000"/>
              </a:buClr>
              <a:buFont typeface="Wingdings"/>
              <a:buChar char=""/>
              <a:tabLst>
                <a:tab pos="478790" algn="l"/>
              </a:tabLst>
            </a:pPr>
            <a:r>
              <a:rPr sz="1600" dirty="0">
                <a:latin typeface="Calibri"/>
                <a:cs typeface="Calibri"/>
              </a:rPr>
              <a:t>how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evaluate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K</a:t>
            </a:r>
            <a:r>
              <a:rPr sz="1600" spc="-10" dirty="0">
                <a:latin typeface="Calibri"/>
                <a:cs typeface="Calibri"/>
              </a:rPr>
              <a:t>-</a:t>
            </a:r>
            <a:r>
              <a:rPr sz="1600" dirty="0">
                <a:latin typeface="Calibri"/>
                <a:cs typeface="Calibri"/>
              </a:rPr>
              <a:t>mean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performance?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38045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91F9-EF5B-7E3A-CAB7-A577D5B7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5732D7-D44A-BC2C-317C-E089EAB430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44889" y="178127"/>
            <a:ext cx="8654221" cy="1117614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z="3600" spc="-10" dirty="0">
                <a:solidFill>
                  <a:schemeClr val="bg1"/>
                </a:solidFill>
              </a:rPr>
              <a:t>K-</a:t>
            </a:r>
            <a:r>
              <a:rPr lang="en-US" sz="3600" dirty="0">
                <a:solidFill>
                  <a:schemeClr val="bg1"/>
                </a:solidFill>
              </a:rPr>
              <a:t>means++</a:t>
            </a:r>
            <a:r>
              <a:rPr lang="en-US" sz="3600" spc="-75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-</a:t>
            </a:r>
            <a:r>
              <a:rPr lang="en-US" sz="3600" spc="-7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An</a:t>
            </a:r>
            <a:r>
              <a:rPr lang="en-US" sz="3600" spc="-65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initialization</a:t>
            </a:r>
            <a:r>
              <a:rPr lang="en-US" sz="3600" spc="-1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procedure</a:t>
            </a:r>
            <a:r>
              <a:rPr lang="en-US" sz="3600" spc="-1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for</a:t>
            </a:r>
            <a:r>
              <a:rPr lang="en-US" sz="3600" spc="-65" dirty="0">
                <a:solidFill>
                  <a:schemeClr val="bg1"/>
                </a:solidFill>
              </a:rPr>
              <a:t> </a:t>
            </a:r>
            <a:r>
              <a:rPr lang="en-US" sz="3600" spc="-20" dirty="0">
                <a:solidFill>
                  <a:schemeClr val="bg1"/>
                </a:solidFill>
              </a:rPr>
              <a:t>K-</a:t>
            </a:r>
            <a:r>
              <a:rPr lang="en-US" sz="3600" spc="-10" dirty="0">
                <a:solidFill>
                  <a:schemeClr val="bg1"/>
                </a:solidFill>
              </a:rPr>
              <a:t>means</a:t>
            </a:r>
            <a:endParaRPr sz="3600" spc="38" dirty="0">
              <a:solidFill>
                <a:schemeClr val="bg1"/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9860B7F-9007-CAD3-763F-2A6E6D3EAFD2}"/>
              </a:ext>
            </a:extLst>
          </p:cNvPr>
          <p:cNvSpPr txBox="1"/>
          <p:nvPr/>
        </p:nvSpPr>
        <p:spPr>
          <a:xfrm>
            <a:off x="244889" y="1453264"/>
            <a:ext cx="8899111" cy="47863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235585">
              <a:lnSpc>
                <a:spcPct val="102400"/>
              </a:lnSpc>
              <a:spcBef>
                <a:spcPts val="35"/>
              </a:spcBef>
              <a:buClr>
                <a:srgbClr val="FF0000"/>
              </a:buClr>
              <a:tabLst>
                <a:tab pos="325755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approach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acknowledges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choice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centroid </a:t>
            </a:r>
            <a:r>
              <a:rPr sz="2000" dirty="0">
                <a:latin typeface="Calibri"/>
                <a:cs typeface="Calibri"/>
              </a:rPr>
              <a:t>locations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assignment.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Specifically,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K-means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tends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better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centroids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seeded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doesn't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clump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together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space. </a:t>
            </a:r>
            <a:endParaRPr lang="en-US" sz="2000" spc="-10" dirty="0">
              <a:latin typeface="Calibri"/>
              <a:cs typeface="Calibri"/>
            </a:endParaRPr>
          </a:p>
          <a:p>
            <a:pPr marL="12700" marR="235585">
              <a:lnSpc>
                <a:spcPct val="102400"/>
              </a:lnSpc>
              <a:spcBef>
                <a:spcPts val="35"/>
              </a:spcBef>
              <a:buClr>
                <a:srgbClr val="FF0000"/>
              </a:buClr>
              <a:tabLst>
                <a:tab pos="325755" algn="l"/>
              </a:tabLst>
            </a:pPr>
            <a:endParaRPr lang="en-US" sz="2000" b="1" u="sng" spc="-10" dirty="0">
              <a:uFill>
                <a:solidFill>
                  <a:srgbClr val="5F5F5F"/>
                </a:solidFill>
              </a:uFill>
              <a:latin typeface="Calibri"/>
              <a:cs typeface="Calibri"/>
            </a:endParaRPr>
          </a:p>
          <a:p>
            <a:pPr marL="12700" marR="235585">
              <a:lnSpc>
                <a:spcPct val="102400"/>
              </a:lnSpc>
              <a:spcBef>
                <a:spcPts val="35"/>
              </a:spcBef>
              <a:buClr>
                <a:srgbClr val="FF0000"/>
              </a:buClr>
              <a:tabLst>
                <a:tab pos="325755" algn="l"/>
              </a:tabLst>
            </a:pP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Step</a:t>
            </a:r>
            <a:r>
              <a:rPr sz="2000" b="1" u="sng" spc="-45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centroid.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Step</a:t>
            </a:r>
            <a:r>
              <a:rPr sz="2000" b="1" u="sng" spc="-50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D(x),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centroid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points,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x.</a:t>
            </a:r>
            <a:endParaRPr sz="2000" dirty="0">
              <a:latin typeface="Calibri"/>
              <a:cs typeface="Calibri"/>
            </a:endParaRPr>
          </a:p>
          <a:p>
            <a:pPr marL="12700" marR="624205">
              <a:lnSpc>
                <a:spcPct val="100000"/>
              </a:lnSpc>
              <a:spcBef>
                <a:spcPts val="204"/>
              </a:spcBef>
            </a:pP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Step</a:t>
            </a:r>
            <a:r>
              <a:rPr sz="2000" b="1" u="sng" spc="-70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3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centroid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remaining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datapoints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 </a:t>
            </a:r>
            <a:r>
              <a:rPr sz="2000" dirty="0">
                <a:latin typeface="Calibri"/>
                <a:cs typeface="Calibri"/>
              </a:rPr>
              <a:t>proportional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D(x).D(x)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closest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centroid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point.)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Step</a:t>
            </a:r>
            <a:r>
              <a:rPr sz="2000" b="1" u="sng" spc="-60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 </a:t>
            </a:r>
            <a:r>
              <a:rPr lang="en-US" sz="2000" b="1" u="sng" spc="-60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4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Repeat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centroids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assigned.</a:t>
            </a:r>
            <a:endParaRPr lang="en-US" sz="20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endParaRPr sz="2000" dirty="0">
              <a:latin typeface="Calibri"/>
              <a:cs typeface="Calibri"/>
            </a:endParaRPr>
          </a:p>
          <a:p>
            <a:pPr marL="12700" marR="572135">
              <a:lnSpc>
                <a:spcPct val="100000"/>
              </a:lnSpc>
              <a:spcBef>
                <a:spcPts val="209"/>
              </a:spcBef>
            </a:pPr>
            <a:r>
              <a:rPr sz="20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Note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D(x)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updated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centroids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added.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distance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nearest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centroid.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98581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96B46-5E8F-4183-4A49-020B8F62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27BB9F-920F-110C-B7C6-C89FF0EB68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8871" y="59619"/>
            <a:ext cx="8654221" cy="1117614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z="3600" dirty="0">
                <a:solidFill>
                  <a:schemeClr val="bg1"/>
                </a:solidFill>
              </a:rPr>
              <a:t>How</a:t>
            </a:r>
            <a:r>
              <a:rPr lang="en-US" sz="3600" spc="-4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can</a:t>
            </a:r>
            <a:r>
              <a:rPr lang="en-US" sz="3600" spc="-5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we</a:t>
            </a:r>
            <a:r>
              <a:rPr lang="en-US" sz="3600" spc="-35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choose</a:t>
            </a:r>
            <a:r>
              <a:rPr lang="en-US" sz="3600" spc="-35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a</a:t>
            </a:r>
            <a:r>
              <a:rPr lang="en-US" sz="3600" spc="-4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"good"</a:t>
            </a:r>
            <a:r>
              <a:rPr lang="en-US" sz="3600" spc="-4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K</a:t>
            </a:r>
            <a:r>
              <a:rPr lang="en-US" sz="3600" spc="-35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for</a:t>
            </a:r>
            <a:r>
              <a:rPr lang="en-US" sz="3600" spc="-55" dirty="0">
                <a:solidFill>
                  <a:schemeClr val="bg1"/>
                </a:solidFill>
              </a:rPr>
              <a:t> </a:t>
            </a:r>
            <a:r>
              <a:rPr lang="en-US" sz="3600" spc="-20" dirty="0">
                <a:solidFill>
                  <a:schemeClr val="bg1"/>
                </a:solidFill>
              </a:rPr>
              <a:t>K-</a:t>
            </a:r>
            <a:r>
              <a:rPr lang="en-US" sz="3600" dirty="0">
                <a:solidFill>
                  <a:schemeClr val="bg1"/>
                </a:solidFill>
              </a:rPr>
              <a:t>means</a:t>
            </a:r>
            <a:r>
              <a:rPr lang="en-US" sz="3600" spc="-40" dirty="0">
                <a:solidFill>
                  <a:schemeClr val="bg1"/>
                </a:solidFill>
              </a:rPr>
              <a:t> </a:t>
            </a:r>
            <a:r>
              <a:rPr lang="en-US" sz="3600" spc="-10" dirty="0">
                <a:solidFill>
                  <a:schemeClr val="bg1"/>
                </a:solidFill>
              </a:rPr>
              <a:t>clustering?</a:t>
            </a:r>
            <a:endParaRPr sz="3600" spc="38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661B5C-EBA0-BFEE-B356-E4B3C107B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8870" y="1557782"/>
            <a:ext cx="9005129" cy="46011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spcBef>
                <a:spcPts val="95"/>
              </a:spcBef>
              <a:buClr>
                <a:schemeClr val="tx2">
                  <a:lumMod val="75000"/>
                  <a:lumOff val="25000"/>
                </a:schemeClr>
              </a:buClr>
              <a:tabLst>
                <a:tab pos="325755" algn="l"/>
              </a:tabLst>
            </a:pPr>
            <a:r>
              <a:rPr sz="2400" dirty="0"/>
              <a:t>Choose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number</a:t>
            </a:r>
            <a:r>
              <a:rPr sz="2400" spc="-35" dirty="0"/>
              <a:t>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spc="-10" dirty="0"/>
              <a:t>clusters</a:t>
            </a:r>
            <a:r>
              <a:rPr sz="2400" spc="-30" dirty="0"/>
              <a:t> </a:t>
            </a:r>
            <a:r>
              <a:rPr sz="2400" dirty="0"/>
              <a:t>by</a:t>
            </a:r>
            <a:r>
              <a:rPr sz="2400" spc="-35" dirty="0"/>
              <a:t> </a:t>
            </a:r>
            <a:r>
              <a:rPr sz="2400" dirty="0"/>
              <a:t>visually</a:t>
            </a:r>
            <a:r>
              <a:rPr sz="2400" spc="-65" dirty="0"/>
              <a:t> </a:t>
            </a:r>
            <a:r>
              <a:rPr sz="2400" dirty="0"/>
              <a:t>inspecting</a:t>
            </a:r>
            <a:r>
              <a:rPr sz="2400" spc="-35" dirty="0"/>
              <a:t> </a:t>
            </a:r>
            <a:r>
              <a:rPr sz="2400" dirty="0"/>
              <a:t>your</a:t>
            </a:r>
            <a:r>
              <a:rPr sz="2400" spc="-35" dirty="0"/>
              <a:t> </a:t>
            </a:r>
            <a:r>
              <a:rPr sz="2400" dirty="0"/>
              <a:t>data</a:t>
            </a:r>
            <a:r>
              <a:rPr sz="2400" spc="-40" dirty="0"/>
              <a:t> </a:t>
            </a:r>
            <a:r>
              <a:rPr sz="2400" spc="-10" dirty="0"/>
              <a:t>points</a:t>
            </a:r>
          </a:p>
          <a:p>
            <a:pPr marL="388620" indent="-375920">
              <a:lnSpc>
                <a:spcPct val="100000"/>
              </a:lnSpc>
              <a:spcBef>
                <a:spcPts val="2140"/>
              </a:spcBef>
              <a:buClr>
                <a:schemeClr val="tx2">
                  <a:lumMod val="90000"/>
                  <a:lumOff val="10000"/>
                </a:schemeClr>
              </a:buClr>
              <a:buFont typeface="Wingdings"/>
              <a:buChar char=""/>
              <a:tabLst>
                <a:tab pos="388620" algn="l"/>
              </a:tabLst>
            </a:pPr>
            <a:r>
              <a:rPr sz="2400" b="1" u="sng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Elbow</a:t>
            </a:r>
            <a:r>
              <a:rPr sz="2400" b="1" u="sng" spc="-40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Method:</a:t>
            </a:r>
          </a:p>
          <a:p>
            <a:pPr marL="12700" marR="5080" indent="192405">
              <a:lnSpc>
                <a:spcPct val="90100"/>
              </a:lnSpc>
              <a:spcBef>
                <a:spcPts val="2395"/>
              </a:spcBef>
              <a:buClr>
                <a:srgbClr val="FF0000"/>
              </a:buClr>
              <a:buFont typeface="Wingdings"/>
              <a:buChar char=""/>
              <a:tabLst>
                <a:tab pos="205104" algn="l"/>
              </a:tabLst>
            </a:pPr>
            <a:r>
              <a:rPr sz="2400" dirty="0"/>
              <a:t>First</a:t>
            </a:r>
            <a:r>
              <a:rPr sz="2400" spc="-65" dirty="0"/>
              <a:t> </a:t>
            </a:r>
            <a:r>
              <a:rPr sz="2400" dirty="0"/>
              <a:t>of</a:t>
            </a:r>
            <a:r>
              <a:rPr sz="2400" spc="-45" dirty="0"/>
              <a:t> </a:t>
            </a:r>
            <a:r>
              <a:rPr sz="2400" dirty="0"/>
              <a:t>all,</a:t>
            </a:r>
            <a:r>
              <a:rPr sz="2400" spc="-70" dirty="0"/>
              <a:t> </a:t>
            </a:r>
            <a:r>
              <a:rPr sz="2400" dirty="0"/>
              <a:t>compute</a:t>
            </a:r>
            <a:r>
              <a:rPr sz="2400" spc="-30" dirty="0"/>
              <a:t> </a:t>
            </a:r>
            <a:r>
              <a:rPr sz="2400" dirty="0"/>
              <a:t>the</a:t>
            </a:r>
            <a:r>
              <a:rPr sz="2400" spc="-40" dirty="0"/>
              <a:t> </a:t>
            </a:r>
            <a:r>
              <a:rPr sz="2400" dirty="0"/>
              <a:t>sum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50" dirty="0"/>
              <a:t> </a:t>
            </a:r>
            <a:r>
              <a:rPr sz="2400" dirty="0"/>
              <a:t>squared</a:t>
            </a:r>
            <a:r>
              <a:rPr sz="2400" spc="-75" dirty="0"/>
              <a:t> </a:t>
            </a:r>
            <a:r>
              <a:rPr sz="2400" dirty="0"/>
              <a:t>error</a:t>
            </a:r>
            <a:r>
              <a:rPr sz="2400" spc="-55" dirty="0"/>
              <a:t> </a:t>
            </a:r>
            <a:r>
              <a:rPr sz="2400" dirty="0"/>
              <a:t>(SSE)</a:t>
            </a:r>
            <a:r>
              <a:rPr sz="2400" spc="-50" dirty="0"/>
              <a:t> </a:t>
            </a:r>
            <a:r>
              <a:rPr sz="2400" dirty="0"/>
              <a:t>for</a:t>
            </a:r>
            <a:r>
              <a:rPr sz="2400" spc="-50" dirty="0"/>
              <a:t> </a:t>
            </a:r>
            <a:r>
              <a:rPr sz="2400" dirty="0"/>
              <a:t>some</a:t>
            </a:r>
            <a:r>
              <a:rPr sz="2400" spc="-40" dirty="0"/>
              <a:t> </a:t>
            </a:r>
            <a:r>
              <a:rPr sz="2400" dirty="0"/>
              <a:t>values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k</a:t>
            </a:r>
            <a:r>
              <a:rPr sz="2400" spc="-60" dirty="0"/>
              <a:t> </a:t>
            </a:r>
            <a:r>
              <a:rPr sz="2400" dirty="0"/>
              <a:t>(for</a:t>
            </a:r>
            <a:r>
              <a:rPr sz="2400" spc="-45" dirty="0"/>
              <a:t> </a:t>
            </a:r>
            <a:r>
              <a:rPr sz="2400" spc="-10" dirty="0"/>
              <a:t>example</a:t>
            </a:r>
            <a:r>
              <a:rPr sz="2400" spc="-40" dirty="0"/>
              <a:t> </a:t>
            </a:r>
            <a:r>
              <a:rPr sz="2400" spc="-25" dirty="0"/>
              <a:t>2, </a:t>
            </a:r>
            <a:r>
              <a:rPr sz="2400" dirty="0"/>
              <a:t>4,</a:t>
            </a:r>
            <a:r>
              <a:rPr sz="2400" spc="-40" dirty="0"/>
              <a:t> </a:t>
            </a:r>
            <a:r>
              <a:rPr sz="2400" dirty="0"/>
              <a:t>6,</a:t>
            </a:r>
            <a:r>
              <a:rPr sz="2400" spc="-35" dirty="0"/>
              <a:t> </a:t>
            </a:r>
            <a:r>
              <a:rPr sz="2400" dirty="0"/>
              <a:t>8,</a:t>
            </a:r>
            <a:r>
              <a:rPr sz="2400" spc="-35" dirty="0"/>
              <a:t> </a:t>
            </a:r>
            <a:r>
              <a:rPr sz="2400" dirty="0"/>
              <a:t>etc.).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SSE</a:t>
            </a:r>
            <a:r>
              <a:rPr sz="2400" spc="-30" dirty="0"/>
              <a:t> </a:t>
            </a:r>
            <a:r>
              <a:rPr sz="2400" dirty="0"/>
              <a:t>is</a:t>
            </a:r>
            <a:r>
              <a:rPr sz="2400" spc="-45" dirty="0"/>
              <a:t> </a:t>
            </a:r>
            <a:r>
              <a:rPr sz="2400" dirty="0"/>
              <a:t>defined</a:t>
            </a:r>
            <a:r>
              <a:rPr sz="2400" spc="-30" dirty="0"/>
              <a:t> </a:t>
            </a:r>
            <a:r>
              <a:rPr sz="2400" dirty="0"/>
              <a:t>as</a:t>
            </a:r>
            <a:r>
              <a:rPr sz="2400" spc="-4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sum</a:t>
            </a:r>
            <a:r>
              <a:rPr sz="2400" spc="-45" dirty="0"/>
              <a:t>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dirty="0"/>
              <a:t>the</a:t>
            </a:r>
            <a:r>
              <a:rPr sz="2400" spc="-40" dirty="0"/>
              <a:t> </a:t>
            </a:r>
            <a:r>
              <a:rPr sz="2400" dirty="0"/>
              <a:t>squared</a:t>
            </a:r>
            <a:r>
              <a:rPr sz="2400" spc="-50" dirty="0"/>
              <a:t> </a:t>
            </a:r>
            <a:r>
              <a:rPr sz="2400" dirty="0"/>
              <a:t>distance</a:t>
            </a:r>
            <a:r>
              <a:rPr sz="2400" spc="-45" dirty="0"/>
              <a:t> </a:t>
            </a:r>
            <a:r>
              <a:rPr sz="2400" dirty="0"/>
              <a:t>between</a:t>
            </a:r>
            <a:r>
              <a:rPr sz="2400" spc="-25" dirty="0"/>
              <a:t> </a:t>
            </a:r>
            <a:r>
              <a:rPr sz="2400" dirty="0"/>
              <a:t>each</a:t>
            </a:r>
            <a:r>
              <a:rPr sz="2400" spc="-45" dirty="0"/>
              <a:t> </a:t>
            </a:r>
            <a:r>
              <a:rPr sz="2400" spc="-10" dirty="0"/>
              <a:t>member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dirty="0"/>
              <a:t>the</a:t>
            </a:r>
            <a:r>
              <a:rPr sz="2400" spc="-40" dirty="0"/>
              <a:t> </a:t>
            </a:r>
            <a:r>
              <a:rPr sz="2400" dirty="0"/>
              <a:t>cluster</a:t>
            </a:r>
            <a:r>
              <a:rPr sz="2400" spc="-30" dirty="0"/>
              <a:t> </a:t>
            </a:r>
            <a:r>
              <a:rPr sz="2400" dirty="0"/>
              <a:t>and</a:t>
            </a:r>
            <a:r>
              <a:rPr sz="2400" spc="-40" dirty="0"/>
              <a:t> </a:t>
            </a:r>
            <a:r>
              <a:rPr sz="2400" dirty="0"/>
              <a:t>its</a:t>
            </a:r>
            <a:r>
              <a:rPr sz="2400" spc="-20" dirty="0"/>
              <a:t> </a:t>
            </a:r>
            <a:r>
              <a:rPr sz="2400" spc="-10" dirty="0"/>
              <a:t>centroid.</a:t>
            </a:r>
          </a:p>
          <a:p>
            <a:pPr marL="141605" indent="-140970">
              <a:lnSpc>
                <a:spcPct val="100000"/>
              </a:lnSpc>
              <a:spcBef>
                <a:spcPts val="2140"/>
              </a:spcBef>
              <a:buClr>
                <a:srgbClr val="FF0000"/>
              </a:buClr>
              <a:buFont typeface="Wingdings"/>
              <a:buChar char=""/>
              <a:tabLst>
                <a:tab pos="141605" algn="l"/>
              </a:tabLst>
            </a:pPr>
            <a:r>
              <a:rPr sz="2400" spc="-10" dirty="0"/>
              <a:t>Mathematically:</a:t>
            </a:r>
          </a:p>
          <a:p>
            <a:pPr marL="12700" marR="121920" indent="193040">
              <a:lnSpc>
                <a:spcPct val="90000"/>
              </a:lnSpc>
              <a:spcBef>
                <a:spcPts val="2400"/>
              </a:spcBef>
              <a:buClr>
                <a:srgbClr val="FF0000"/>
              </a:buClr>
              <a:buFont typeface="Wingdings"/>
              <a:buChar char=""/>
              <a:tabLst>
                <a:tab pos="205740" algn="l"/>
              </a:tabLst>
            </a:pPr>
            <a:r>
              <a:rPr sz="2400" dirty="0"/>
              <a:t>If</a:t>
            </a:r>
            <a:r>
              <a:rPr sz="2400" spc="-30" dirty="0"/>
              <a:t> </a:t>
            </a:r>
            <a:r>
              <a:rPr sz="2400" dirty="0"/>
              <a:t>you</a:t>
            </a:r>
            <a:r>
              <a:rPr sz="2400" spc="-25" dirty="0"/>
              <a:t> </a:t>
            </a:r>
            <a:r>
              <a:rPr sz="2400" dirty="0"/>
              <a:t>plot</a:t>
            </a:r>
            <a:r>
              <a:rPr sz="2400" spc="-30" dirty="0"/>
              <a:t> </a:t>
            </a:r>
            <a:r>
              <a:rPr sz="2400" dirty="0"/>
              <a:t>k</a:t>
            </a:r>
            <a:r>
              <a:rPr sz="2400" spc="-25" dirty="0"/>
              <a:t> </a:t>
            </a:r>
            <a:r>
              <a:rPr sz="2400" dirty="0"/>
              <a:t>against</a:t>
            </a:r>
            <a:r>
              <a:rPr sz="2400" spc="-35" dirty="0"/>
              <a:t> </a:t>
            </a:r>
            <a:r>
              <a:rPr sz="2400" dirty="0"/>
              <a:t>the</a:t>
            </a:r>
            <a:r>
              <a:rPr sz="2400" spc="-20" dirty="0"/>
              <a:t> </a:t>
            </a:r>
            <a:r>
              <a:rPr sz="2400" dirty="0"/>
              <a:t>SSE,</a:t>
            </a:r>
            <a:r>
              <a:rPr sz="2400" spc="-20" dirty="0"/>
              <a:t> </a:t>
            </a:r>
            <a:r>
              <a:rPr sz="2400" dirty="0"/>
              <a:t>you</a:t>
            </a:r>
            <a:r>
              <a:rPr sz="2400" spc="-20" dirty="0"/>
              <a:t> </a:t>
            </a:r>
            <a:r>
              <a:rPr sz="2400" dirty="0"/>
              <a:t>will</a:t>
            </a:r>
            <a:r>
              <a:rPr sz="2400" spc="-35" dirty="0"/>
              <a:t> </a:t>
            </a:r>
            <a:r>
              <a:rPr sz="2400" dirty="0"/>
              <a:t>see</a:t>
            </a:r>
            <a:r>
              <a:rPr sz="2400" spc="-10" dirty="0"/>
              <a:t> </a:t>
            </a:r>
            <a:r>
              <a:rPr sz="2400" dirty="0"/>
              <a:t>that</a:t>
            </a:r>
            <a:r>
              <a:rPr sz="2400" spc="-10" dirty="0"/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error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decreases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as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k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gets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larger</a:t>
            </a:r>
            <a:r>
              <a:rPr sz="2400" dirty="0"/>
              <a:t>;</a:t>
            </a:r>
            <a:r>
              <a:rPr sz="2400" spc="-45" dirty="0"/>
              <a:t> </a:t>
            </a:r>
            <a:r>
              <a:rPr sz="2400" dirty="0"/>
              <a:t>this</a:t>
            </a:r>
            <a:r>
              <a:rPr sz="2400" spc="-20" dirty="0"/>
              <a:t> </a:t>
            </a:r>
            <a:r>
              <a:rPr sz="2400" spc="-25" dirty="0"/>
              <a:t>is </a:t>
            </a:r>
            <a:r>
              <a:rPr sz="2400" dirty="0"/>
              <a:t>because</a:t>
            </a:r>
            <a:r>
              <a:rPr sz="2400" spc="-45" dirty="0"/>
              <a:t> </a:t>
            </a:r>
            <a:r>
              <a:rPr sz="2400" dirty="0"/>
              <a:t>when</a:t>
            </a:r>
            <a:r>
              <a:rPr sz="2400" spc="-65" dirty="0"/>
              <a:t> </a:t>
            </a:r>
            <a:r>
              <a:rPr sz="2400" dirty="0"/>
              <a:t>the</a:t>
            </a:r>
            <a:r>
              <a:rPr sz="2400" spc="-50" dirty="0"/>
              <a:t> </a:t>
            </a:r>
            <a:r>
              <a:rPr sz="2400" dirty="0"/>
              <a:t>number</a:t>
            </a:r>
            <a:r>
              <a:rPr sz="2400" spc="-45" dirty="0"/>
              <a:t> </a:t>
            </a:r>
            <a:r>
              <a:rPr sz="2400" dirty="0"/>
              <a:t>of</a:t>
            </a:r>
            <a:r>
              <a:rPr sz="2400" spc="-50" dirty="0"/>
              <a:t> </a:t>
            </a:r>
            <a:r>
              <a:rPr sz="2400" spc="-10" dirty="0"/>
              <a:t>clusters</a:t>
            </a:r>
            <a:r>
              <a:rPr sz="2400" spc="-65" dirty="0"/>
              <a:t> </a:t>
            </a:r>
            <a:r>
              <a:rPr sz="2400" dirty="0"/>
              <a:t>increases,</a:t>
            </a:r>
            <a:r>
              <a:rPr sz="2400" spc="-55" dirty="0"/>
              <a:t> </a:t>
            </a:r>
            <a:r>
              <a:rPr sz="2400" dirty="0"/>
              <a:t>they</a:t>
            </a:r>
            <a:r>
              <a:rPr sz="2400" spc="-45" dirty="0"/>
              <a:t> </a:t>
            </a:r>
            <a:r>
              <a:rPr sz="2400" dirty="0"/>
              <a:t>should</a:t>
            </a:r>
            <a:r>
              <a:rPr sz="2400" spc="-80" dirty="0"/>
              <a:t> </a:t>
            </a:r>
            <a:r>
              <a:rPr sz="2400" dirty="0"/>
              <a:t>be</a:t>
            </a:r>
            <a:r>
              <a:rPr sz="2400" spc="-60" dirty="0"/>
              <a:t> </a:t>
            </a:r>
            <a:r>
              <a:rPr sz="2400" spc="-25" dirty="0"/>
              <a:t>smaller,</a:t>
            </a:r>
            <a:r>
              <a:rPr sz="2400" spc="-50" dirty="0"/>
              <a:t> </a:t>
            </a:r>
            <a:r>
              <a:rPr sz="2400" dirty="0"/>
              <a:t>so</a:t>
            </a:r>
            <a:r>
              <a:rPr sz="2400" spc="-55" dirty="0"/>
              <a:t> </a:t>
            </a:r>
            <a:r>
              <a:rPr sz="2400" dirty="0"/>
              <a:t>distortion</a:t>
            </a:r>
            <a:r>
              <a:rPr sz="2400" spc="-60" dirty="0"/>
              <a:t> </a:t>
            </a:r>
            <a:r>
              <a:rPr sz="2400" spc="-25" dirty="0"/>
              <a:t>is </a:t>
            </a:r>
            <a:r>
              <a:rPr sz="2400" dirty="0"/>
              <a:t>also</a:t>
            </a:r>
            <a:r>
              <a:rPr sz="2400" spc="-35" dirty="0"/>
              <a:t> </a:t>
            </a:r>
            <a:r>
              <a:rPr sz="2400" spc="-30" dirty="0"/>
              <a:t>smaller.</a:t>
            </a:r>
            <a:r>
              <a:rPr sz="2400" spc="-5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idea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elbow</a:t>
            </a:r>
            <a:r>
              <a:rPr sz="2400" spc="-30" dirty="0"/>
              <a:t> </a:t>
            </a:r>
            <a:r>
              <a:rPr sz="2400" dirty="0"/>
              <a:t>method</a:t>
            </a:r>
            <a:r>
              <a:rPr sz="2400" spc="-20" dirty="0"/>
              <a:t> </a:t>
            </a:r>
            <a:r>
              <a:rPr sz="2400" dirty="0"/>
              <a:t>is</a:t>
            </a:r>
            <a:r>
              <a:rPr sz="2400" spc="-25" dirty="0"/>
              <a:t> </a:t>
            </a:r>
            <a:r>
              <a:rPr sz="2400" dirty="0"/>
              <a:t>to</a:t>
            </a:r>
            <a:r>
              <a:rPr sz="2400" spc="-30" dirty="0"/>
              <a:t> </a:t>
            </a:r>
            <a:r>
              <a:rPr sz="2400" dirty="0"/>
              <a:t>choose</a:t>
            </a:r>
            <a:r>
              <a:rPr sz="2400" spc="-25" dirty="0"/>
              <a:t> </a:t>
            </a:r>
            <a:r>
              <a:rPr sz="2400" dirty="0"/>
              <a:t>the</a:t>
            </a:r>
            <a:r>
              <a:rPr sz="2400" spc="-35" dirty="0"/>
              <a:t> </a:t>
            </a:r>
            <a:r>
              <a:rPr sz="2400" dirty="0"/>
              <a:t>k</a:t>
            </a:r>
            <a:r>
              <a:rPr sz="2400" spc="-40" dirty="0"/>
              <a:t> </a:t>
            </a:r>
            <a:r>
              <a:rPr sz="2400" dirty="0"/>
              <a:t>at</a:t>
            </a:r>
            <a:r>
              <a:rPr sz="2400" spc="-35" dirty="0"/>
              <a:t> </a:t>
            </a:r>
            <a:r>
              <a:rPr sz="2400" dirty="0"/>
              <a:t>which</a:t>
            </a:r>
            <a:r>
              <a:rPr sz="2400" spc="-40" dirty="0"/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SSE</a:t>
            </a:r>
            <a:r>
              <a:rPr sz="2400" spc="-25" dirty="0"/>
              <a:t> </a:t>
            </a:r>
            <a:r>
              <a:rPr sz="2400" spc="-10" dirty="0"/>
              <a:t>decreases abruptly.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D0D5EBD-02A5-422E-21E0-3AF36B8DF8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8101" y="4067622"/>
            <a:ext cx="23622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97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66B8-F6E0-0AFD-DE2D-EB29EA54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9F0CB4-1AFF-EAD0-84ED-A9A28D5873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44889" y="287986"/>
            <a:ext cx="8654221" cy="871392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z="2800" dirty="0">
                <a:solidFill>
                  <a:schemeClr val="bg1"/>
                </a:solidFill>
              </a:rPr>
              <a:t>This</a:t>
            </a:r>
            <a:r>
              <a:rPr lang="en-US" sz="2800" spc="-6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produces</a:t>
            </a:r>
            <a:r>
              <a:rPr lang="en-US" sz="2800" spc="-85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an</a:t>
            </a:r>
            <a:r>
              <a:rPr lang="en-US" sz="2800" spc="-6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"elbow</a:t>
            </a:r>
            <a:r>
              <a:rPr lang="en-US" sz="2800" spc="-7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effect"</a:t>
            </a:r>
            <a:r>
              <a:rPr lang="en-US" sz="2800" spc="-7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in</a:t>
            </a:r>
            <a:r>
              <a:rPr lang="en-US" sz="2800" spc="-7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the</a:t>
            </a:r>
            <a:r>
              <a:rPr lang="en-US" sz="2800" spc="-7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graph,</a:t>
            </a:r>
            <a:r>
              <a:rPr lang="en-US" sz="2800" spc="-8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as</a:t>
            </a:r>
            <a:r>
              <a:rPr lang="en-US" sz="2800" spc="-6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you</a:t>
            </a:r>
            <a:r>
              <a:rPr lang="en-US" sz="2800" spc="-75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can</a:t>
            </a:r>
            <a:r>
              <a:rPr lang="en-US" sz="2800" spc="-65" dirty="0">
                <a:solidFill>
                  <a:schemeClr val="bg1"/>
                </a:solidFill>
              </a:rPr>
              <a:t> </a:t>
            </a:r>
            <a:r>
              <a:rPr lang="en-US" sz="2800" spc="-25" dirty="0">
                <a:solidFill>
                  <a:schemeClr val="bg1"/>
                </a:solidFill>
              </a:rPr>
              <a:t>see </a:t>
            </a:r>
            <a:r>
              <a:rPr lang="en-US" sz="2800" dirty="0">
                <a:solidFill>
                  <a:schemeClr val="bg1"/>
                </a:solidFill>
              </a:rPr>
              <a:t>in</a:t>
            </a:r>
            <a:r>
              <a:rPr lang="en-US" sz="2800" spc="-6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the</a:t>
            </a:r>
            <a:r>
              <a:rPr lang="en-US" sz="2800" spc="-70" dirty="0">
                <a:solidFill>
                  <a:schemeClr val="bg1"/>
                </a:solidFill>
              </a:rPr>
              <a:t> </a:t>
            </a:r>
            <a:r>
              <a:rPr lang="en-US" sz="2800" spc="-10" dirty="0">
                <a:solidFill>
                  <a:schemeClr val="bg1"/>
                </a:solidFill>
              </a:rPr>
              <a:t>following</a:t>
            </a:r>
            <a:r>
              <a:rPr lang="en-US" sz="2800" spc="-70" dirty="0">
                <a:solidFill>
                  <a:schemeClr val="bg1"/>
                </a:solidFill>
              </a:rPr>
              <a:t> </a:t>
            </a:r>
            <a:r>
              <a:rPr lang="en-US" sz="2800" spc="-10" dirty="0">
                <a:solidFill>
                  <a:schemeClr val="bg1"/>
                </a:solidFill>
              </a:rPr>
              <a:t>picture:</a:t>
            </a:r>
            <a:endParaRPr sz="2800" spc="38" dirty="0">
              <a:solidFill>
                <a:schemeClr val="bg1"/>
              </a:solidFill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7E7E62E-022C-B963-4DDB-227FAF6AC8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9079" y="1956233"/>
            <a:ext cx="3975651" cy="41265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8F15F4-6C9E-D2D4-DA0B-899059D3297C}"/>
              </a:ext>
            </a:extLst>
          </p:cNvPr>
          <p:cNvSpPr txBox="1"/>
          <p:nvPr/>
        </p:nvSpPr>
        <p:spPr>
          <a:xfrm>
            <a:off x="119270" y="2221759"/>
            <a:ext cx="48041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this case,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Elbow method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suggests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 = 6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Elbow method is 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heuristic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→ may or may not work well for every dataset.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Sometimes there may be: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More than one elbow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or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No clear elbow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at all.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 such cases, the best value of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chosen by: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Evaluating how well k-means performs,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Considering the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specific context of the clustering problem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74105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DE3F-A466-9A07-E297-E9AECECAE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785786-695D-B45F-8C3D-9C4A121EC99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9270" y="554999"/>
            <a:ext cx="8899111" cy="440505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z="2800" dirty="0">
                <a:solidFill>
                  <a:schemeClr val="bg1"/>
                </a:solidFill>
              </a:rPr>
              <a:t>Feature</a:t>
            </a:r>
            <a:r>
              <a:rPr lang="en-US" sz="2800" spc="-114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Scaling</a:t>
            </a:r>
            <a:r>
              <a:rPr lang="en-US" sz="2800" spc="-105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</a:t>
            </a:r>
            <a:r>
              <a:rPr lang="en-US" sz="2800" spc="-80" dirty="0">
                <a:solidFill>
                  <a:schemeClr val="bg1"/>
                </a:solidFill>
              </a:rPr>
              <a:t> </a:t>
            </a:r>
            <a:r>
              <a:rPr lang="en-US" sz="2800" spc="-20" dirty="0">
                <a:solidFill>
                  <a:schemeClr val="bg1"/>
                </a:solidFill>
              </a:rPr>
              <a:t>Pre-</a:t>
            </a:r>
            <a:r>
              <a:rPr lang="en-US" sz="2800" spc="-10" dirty="0">
                <a:solidFill>
                  <a:schemeClr val="bg1"/>
                </a:solidFill>
              </a:rPr>
              <a:t>processing</a:t>
            </a:r>
            <a:r>
              <a:rPr lang="en-US" sz="2800" spc="-9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step</a:t>
            </a:r>
            <a:r>
              <a:rPr lang="en-US" sz="2800" spc="-85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to</a:t>
            </a:r>
            <a:r>
              <a:rPr lang="en-US" sz="2800" spc="-8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improve</a:t>
            </a:r>
            <a:r>
              <a:rPr lang="en-US" sz="2800" spc="-114" dirty="0">
                <a:solidFill>
                  <a:schemeClr val="bg1"/>
                </a:solidFill>
              </a:rPr>
              <a:t> </a:t>
            </a:r>
            <a:r>
              <a:rPr lang="en-US" sz="2800" spc="-10" dirty="0">
                <a:solidFill>
                  <a:schemeClr val="bg1"/>
                </a:solidFill>
              </a:rPr>
              <a:t>K-Means</a:t>
            </a:r>
            <a:endParaRPr sz="2800" spc="38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5E09A8-8D7F-667F-0137-B3746976773A}"/>
              </a:ext>
            </a:extLst>
          </p:cNvPr>
          <p:cNvSpPr txBox="1"/>
          <p:nvPr/>
        </p:nvSpPr>
        <p:spPr>
          <a:xfrm>
            <a:off x="319201" y="1773427"/>
            <a:ext cx="8499247" cy="411074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r>
              <a:rPr sz="2000" b="1" spc="-10" dirty="0">
                <a:latin typeface="Calibri"/>
                <a:cs typeface="Calibri"/>
              </a:rPr>
              <a:t>Feature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scaling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standardize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 variables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467886"/>
                </a:solidFill>
                <a:uFill>
                  <a:solidFill>
                    <a:srgbClr val="8DA6B0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r>
              <a:rPr sz="2000" u="sng" spc="-50" dirty="0">
                <a:solidFill>
                  <a:srgbClr val="467886"/>
                </a:solidFill>
                <a:uFill>
                  <a:solidFill>
                    <a:srgbClr val="8DA6B0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2000" u="sng" dirty="0">
                <a:uFill>
                  <a:solidFill>
                    <a:srgbClr val="8DA6B0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processing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</a:t>
            </a:r>
            <a:r>
              <a:rPr sz="2000" dirty="0">
                <a:latin typeface="Calibri"/>
                <a:cs typeface="Calibri"/>
              </a:rPr>
              <a:t>normalization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generally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preprocessing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step.</a:t>
            </a:r>
            <a:endParaRPr lang="en-US" sz="2000" spc="-10" dirty="0">
              <a:latin typeface="Calibri"/>
              <a:cs typeface="Calibri"/>
            </a:endParaRPr>
          </a:p>
          <a:p>
            <a:endParaRPr lang="en-US" sz="2000" spc="-10" dirty="0">
              <a:latin typeface="Calibri"/>
              <a:cs typeface="Calibri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 Raw data often has features with </a:t>
            </a:r>
            <a:r>
              <a:rPr lang="en-US" sz="2000" b="1" dirty="0"/>
              <a:t>different ranges</a:t>
            </a:r>
            <a:r>
              <a:rPr lang="en-US" sz="2000" dirty="0"/>
              <a:t> (e.g., age: 0–100, income: 0–100,000).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Machine learning algorithms that rely on </a:t>
            </a:r>
            <a:r>
              <a:rPr lang="en-US" sz="2000" b="1" dirty="0"/>
              <a:t>distance or optimization</a:t>
            </a:r>
            <a:r>
              <a:rPr lang="en-US" sz="2000" dirty="0"/>
              <a:t> can be distorted if features are on very different scales.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Example: In clustering, a feature with a larger numerical range can dominate distance calculations.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Scaling/normalization</a:t>
            </a:r>
            <a:r>
              <a:rPr lang="en-US" sz="2000" dirty="0"/>
              <a:t> helps put all features on a comparable scale so objective functions work properly</a:t>
            </a:r>
          </a:p>
          <a:p>
            <a:pPr marL="50800" marR="703580" indent="408305">
              <a:lnSpc>
                <a:spcPts val="2590"/>
              </a:lnSpc>
              <a:spcBef>
                <a:spcPts val="430"/>
              </a:spcBef>
              <a:buClr>
                <a:srgbClr val="FF0000"/>
              </a:buClr>
              <a:buFont typeface="Wingdings"/>
              <a:buChar char=""/>
              <a:tabLst>
                <a:tab pos="459105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23591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B328E-1C9D-9B3B-E9EC-2C422716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F080FA-6CC9-B9C9-35ED-8261CDFE4E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37080" y="396406"/>
            <a:ext cx="7268451" cy="62517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lang="en-US" sz="4000" dirty="0">
                <a:solidFill>
                  <a:schemeClr val="bg1"/>
                </a:solidFill>
              </a:rPr>
              <a:t>Curse</a:t>
            </a:r>
            <a:r>
              <a:rPr lang="en-US" sz="4000" spc="-8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of</a:t>
            </a:r>
            <a:r>
              <a:rPr lang="en-US" sz="4000" spc="-65" dirty="0">
                <a:solidFill>
                  <a:schemeClr val="bg1"/>
                </a:solidFill>
              </a:rPr>
              <a:t> </a:t>
            </a:r>
            <a:r>
              <a:rPr lang="en-US" sz="4000" spc="-10" dirty="0">
                <a:solidFill>
                  <a:schemeClr val="bg1"/>
                </a:solidFill>
              </a:rPr>
              <a:t>Dimensionality</a:t>
            </a:r>
            <a:endParaRPr sz="4000" spc="38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CF6A0F5-D839-3064-8DF0-F783A224F974}"/>
              </a:ext>
            </a:extLst>
          </p:cNvPr>
          <p:cNvSpPr txBox="1"/>
          <p:nvPr/>
        </p:nvSpPr>
        <p:spPr>
          <a:xfrm>
            <a:off x="537080" y="2092737"/>
            <a:ext cx="7268451" cy="267252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398780">
              <a:lnSpc>
                <a:spcPts val="3020"/>
              </a:lnSpc>
              <a:spcBef>
                <a:spcPts val="480"/>
              </a:spcBef>
              <a:buClr>
                <a:srgbClr val="FF0000"/>
              </a:buClr>
              <a:buFont typeface="Wingdings"/>
              <a:buChar char=""/>
              <a:tabLst>
                <a:tab pos="41148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dimensions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infinity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dataset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converges.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maximum </a:t>
            </a: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your </a:t>
            </a:r>
            <a:r>
              <a:rPr sz="2800" spc="-10" dirty="0">
                <a:latin typeface="Calibri"/>
                <a:cs typeface="Calibri"/>
              </a:rPr>
              <a:t>dataset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same.</a:t>
            </a:r>
            <a:endParaRPr sz="2800" dirty="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spcBef>
                <a:spcPts val="2035"/>
              </a:spcBef>
              <a:buClr>
                <a:srgbClr val="FF0000"/>
              </a:buClr>
              <a:buFont typeface="Wingdings"/>
              <a:buChar char=""/>
              <a:tabLst>
                <a:tab pos="411480" algn="l"/>
              </a:tabLst>
            </a:pPr>
            <a:r>
              <a:rPr sz="2800" dirty="0">
                <a:latin typeface="Calibri"/>
                <a:cs typeface="Calibri"/>
              </a:rPr>
              <a:t>Reduce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features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14728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15900" y="276424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l">
              <a:spcBef>
                <a:spcPts val="75"/>
              </a:spcBef>
            </a:pPr>
            <a:r>
              <a:rPr spc="109" dirty="0">
                <a:solidFill>
                  <a:schemeClr val="bg1"/>
                </a:solidFill>
                <a:latin typeface="Cambria Math"/>
                <a:cs typeface="Cambria Math"/>
              </a:rPr>
              <a:t>𝑘</a:t>
            </a:r>
            <a:r>
              <a:rPr spc="109" dirty="0">
                <a:solidFill>
                  <a:schemeClr val="bg1"/>
                </a:solidFill>
              </a:rPr>
              <a:t>-</a:t>
            </a:r>
            <a:r>
              <a:rPr spc="38" dirty="0">
                <a:solidFill>
                  <a:schemeClr val="bg1"/>
                </a:solidFill>
              </a:rPr>
              <a:t>means</a:t>
            </a:r>
            <a:r>
              <a:rPr spc="184" dirty="0">
                <a:solidFill>
                  <a:schemeClr val="bg1"/>
                </a:solidFill>
              </a:rPr>
              <a:t> </a:t>
            </a:r>
            <a:r>
              <a:rPr spc="38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882" y="2338924"/>
            <a:ext cx="7864052" cy="2672206"/>
          </a:xfrm>
          <a:prstGeom prst="rect">
            <a:avLst/>
          </a:prstGeom>
        </p:spPr>
        <p:txBody>
          <a:bodyPr vert="horz" wrap="square" lIns="0" tIns="119063" rIns="0" bIns="0" rtlCol="0">
            <a:spAutoFit/>
          </a:bodyPr>
          <a:lstStyle/>
          <a:p>
            <a:pPr marL="169069" indent="-159544">
              <a:spcBef>
                <a:spcPts val="938"/>
              </a:spcBef>
              <a:buClr>
                <a:srgbClr val="1CACE3"/>
              </a:buClr>
              <a:buFont typeface="Wingdings"/>
              <a:buChar char=""/>
              <a:tabLst>
                <a:tab pos="169069" algn="l"/>
              </a:tabLst>
            </a:pPr>
            <a:r>
              <a:rPr sz="3200" dirty="0">
                <a:latin typeface="Georgia"/>
                <a:cs typeface="Georgia"/>
              </a:rPr>
              <a:t>How</a:t>
            </a:r>
            <a:r>
              <a:rPr sz="3200" spc="-34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to</a:t>
            </a:r>
            <a:r>
              <a:rPr sz="3200" spc="-3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cluster</a:t>
            </a:r>
            <a:r>
              <a:rPr sz="3200" spc="-4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categorical</a:t>
            </a:r>
            <a:r>
              <a:rPr sz="3200" spc="-41" dirty="0">
                <a:latin typeface="Georgia"/>
                <a:cs typeface="Georgia"/>
              </a:rPr>
              <a:t> </a:t>
            </a:r>
            <a:r>
              <a:rPr sz="3200" spc="-8" dirty="0">
                <a:latin typeface="Georgia"/>
                <a:cs typeface="Georgia"/>
              </a:rPr>
              <a:t>data?</a:t>
            </a:r>
            <a:endParaRPr sz="3200" dirty="0">
              <a:latin typeface="Georgia"/>
              <a:cs typeface="Georgia"/>
            </a:endParaRPr>
          </a:p>
          <a:p>
            <a:pPr marL="142875" indent="-133350">
              <a:spcBef>
                <a:spcPts val="720"/>
              </a:spcBef>
              <a:buClr>
                <a:srgbClr val="1CACE3"/>
              </a:buClr>
              <a:buFont typeface="Wingdings"/>
              <a:buChar char=""/>
              <a:tabLst>
                <a:tab pos="142875" algn="l"/>
              </a:tabLst>
            </a:pPr>
            <a:r>
              <a:rPr sz="2400" dirty="0">
                <a:latin typeface="Georgia"/>
                <a:cs typeface="Georgia"/>
              </a:rPr>
              <a:t>Variant</a:t>
            </a:r>
            <a:r>
              <a:rPr sz="2400" spc="-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dirty="0">
                <a:latin typeface="Georgia"/>
                <a:cs typeface="Georgia"/>
              </a:rPr>
              <a:t>-means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used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clustering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categorical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data: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dirty="0">
                <a:latin typeface="Georgia"/>
                <a:cs typeface="Georgia"/>
              </a:rPr>
              <a:t>-modes</a:t>
            </a:r>
            <a:r>
              <a:rPr sz="2400" spc="-11" dirty="0">
                <a:latin typeface="Georgia"/>
                <a:cs typeface="Georgia"/>
              </a:rPr>
              <a:t> </a:t>
            </a:r>
            <a:r>
              <a:rPr sz="2400" spc="-8" dirty="0">
                <a:latin typeface="Georgia"/>
                <a:cs typeface="Georgia"/>
              </a:rPr>
              <a:t>Method</a:t>
            </a:r>
            <a:endParaRPr sz="2400" dirty="0">
              <a:latin typeface="Georgia"/>
              <a:cs typeface="Georgia"/>
            </a:endParaRPr>
          </a:p>
          <a:p>
            <a:pPr marL="244793" lvl="1" indent="-139541">
              <a:spcBef>
                <a:spcPts val="769"/>
              </a:spcBef>
              <a:buClr>
                <a:srgbClr val="1CACE3"/>
              </a:buClr>
              <a:buFont typeface="Wingdings"/>
              <a:buChar char=""/>
              <a:tabLst>
                <a:tab pos="244793" algn="l"/>
              </a:tabLst>
            </a:pPr>
            <a:r>
              <a:rPr sz="2000" dirty="0">
                <a:latin typeface="Georgia"/>
                <a:cs typeface="Georgia"/>
              </a:rPr>
              <a:t>Replace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mean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cluster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with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mode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5" dirty="0">
                <a:latin typeface="Georgia"/>
                <a:cs typeface="Georgia"/>
              </a:rPr>
              <a:t>data</a:t>
            </a:r>
            <a:endParaRPr sz="2000" dirty="0">
              <a:latin typeface="Georgia"/>
              <a:cs typeface="Georgia"/>
            </a:endParaRPr>
          </a:p>
          <a:p>
            <a:pPr marL="244793" lvl="1" indent="-139541">
              <a:spcBef>
                <a:spcPts val="758"/>
              </a:spcBef>
              <a:buClr>
                <a:srgbClr val="1CACE3"/>
              </a:buClr>
              <a:buFont typeface="Wingdings"/>
              <a:buChar char=""/>
              <a:tabLst>
                <a:tab pos="244793" algn="l"/>
              </a:tabLst>
            </a:pPr>
            <a:r>
              <a:rPr sz="2000" dirty="0">
                <a:latin typeface="Georgia"/>
                <a:cs typeface="Georgia"/>
              </a:rPr>
              <a:t>A</a:t>
            </a:r>
            <a:r>
              <a:rPr sz="2000" spc="-4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new</a:t>
            </a:r>
            <a:r>
              <a:rPr sz="2000" spc="-4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dissimilarity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measures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4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deal</a:t>
            </a:r>
            <a:r>
              <a:rPr sz="2000" spc="-26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with</a:t>
            </a:r>
            <a:r>
              <a:rPr sz="2000" spc="-3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categorical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spc="-8" dirty="0">
                <a:latin typeface="Georgia"/>
                <a:cs typeface="Georgia"/>
              </a:rPr>
              <a:t>objects</a:t>
            </a:r>
            <a:endParaRPr sz="2000" dirty="0">
              <a:latin typeface="Georgia"/>
              <a:cs typeface="Georgia"/>
            </a:endParaRPr>
          </a:p>
          <a:p>
            <a:pPr marL="208121" lvl="1" indent="-102870">
              <a:spcBef>
                <a:spcPts val="758"/>
              </a:spcBef>
              <a:buClr>
                <a:srgbClr val="1CACE3"/>
              </a:buClr>
              <a:buFont typeface="Wingdings"/>
              <a:buChar char=""/>
              <a:tabLst>
                <a:tab pos="208121" algn="l"/>
              </a:tabLst>
            </a:pPr>
            <a:r>
              <a:rPr sz="2000" dirty="0">
                <a:latin typeface="Georgia"/>
                <a:cs typeface="Georgia"/>
              </a:rPr>
              <a:t>A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spc="-15" dirty="0">
                <a:latin typeface="Georgia"/>
                <a:cs typeface="Georgia"/>
              </a:rPr>
              <a:t>frequency-</a:t>
            </a:r>
            <a:r>
              <a:rPr sz="2000" dirty="0">
                <a:latin typeface="Georgia"/>
                <a:cs typeface="Georgia"/>
              </a:rPr>
              <a:t>based</a:t>
            </a:r>
            <a:r>
              <a:rPr sz="2000" spc="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method to</a:t>
            </a:r>
            <a:r>
              <a:rPr sz="2000" spc="-23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update</a:t>
            </a:r>
            <a:r>
              <a:rPr sz="2000" spc="-11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modes</a:t>
            </a:r>
            <a:r>
              <a:rPr sz="2000" spc="-8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19" dirty="0">
                <a:latin typeface="Georgia"/>
                <a:cs typeface="Georgia"/>
              </a:rPr>
              <a:t> </a:t>
            </a:r>
            <a:r>
              <a:rPr sz="2000" spc="-8" dirty="0">
                <a:latin typeface="Georgia"/>
                <a:cs typeface="Georgia"/>
              </a:rPr>
              <a:t>clusters.</a:t>
            </a: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CB96C09-6346-A91E-C5F2-827E54345EE3}"/>
              </a:ext>
            </a:extLst>
          </p:cNvPr>
          <p:cNvSpPr/>
          <p:nvPr/>
        </p:nvSpPr>
        <p:spPr>
          <a:xfrm>
            <a:off x="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Thank You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4903309" y="1756322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 dirty="0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ED78D4-97B6-F989-CC08-19CEAFAF6537}"/>
              </a:ext>
            </a:extLst>
          </p:cNvPr>
          <p:cNvSpPr/>
          <p:nvPr/>
        </p:nvSpPr>
        <p:spPr>
          <a:xfrm>
            <a:off x="0" y="6282284"/>
            <a:ext cx="9144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91890-EFE8-4C45-FC37-66D139C08713}"/>
              </a:ext>
            </a:extLst>
          </p:cNvPr>
          <p:cNvSpPr txBox="1"/>
          <p:nvPr/>
        </p:nvSpPr>
        <p:spPr>
          <a:xfrm>
            <a:off x="304800" y="1838354"/>
            <a:ext cx="624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Reference:</a:t>
            </a:r>
            <a:endParaRPr lang="en-US" sz="16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75DDF62-93E7-C815-6FA0-28D0D81668BF}"/>
              </a:ext>
            </a:extLst>
          </p:cNvPr>
          <p:cNvSpPr txBox="1">
            <a:spLocks/>
          </p:cNvSpPr>
          <p:nvPr/>
        </p:nvSpPr>
        <p:spPr>
          <a:xfrm>
            <a:off x="381550" y="2828058"/>
            <a:ext cx="7086049" cy="60094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>
              <a:buNone/>
              <a:defRPr sz="2200" b="0" i="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l">
              <a:spcBef>
                <a:spcPts val="525"/>
              </a:spcBef>
            </a:pPr>
            <a:r>
              <a:rPr lang="en-US" sz="1600" dirty="0">
                <a:solidFill>
                  <a:schemeClr val="tx1"/>
                </a:solidFill>
              </a:rPr>
              <a:t>Credits: </a:t>
            </a:r>
            <a:r>
              <a:rPr lang="en-US" sz="1600" spc="-20" dirty="0" err="1">
                <a:solidFill>
                  <a:schemeClr val="tx1"/>
                </a:solidFill>
              </a:rPr>
              <a:t>Dr.R.R.Rajalaxmi</a:t>
            </a:r>
            <a:r>
              <a:rPr lang="en-US" sz="1600" spc="-20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Professor/CSE </a:t>
            </a:r>
            <a:r>
              <a:rPr lang="en-US" sz="1600" dirty="0" err="1">
                <a:solidFill>
                  <a:schemeClr val="tx1"/>
                </a:solidFill>
              </a:rPr>
              <a:t>Kongu</a:t>
            </a:r>
            <a:r>
              <a:rPr lang="en-US" sz="1600" spc="-8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Engineering</a:t>
            </a:r>
            <a:r>
              <a:rPr lang="en-US" sz="1600" spc="-100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College </a:t>
            </a:r>
            <a:r>
              <a:rPr lang="en-US" sz="1600" spc="-10" dirty="0" err="1">
                <a:solidFill>
                  <a:schemeClr val="tx1"/>
                </a:solidFill>
              </a:rPr>
              <a:t>Perundurai</a:t>
            </a:r>
            <a:br>
              <a:rPr lang="en-US" sz="1600" spc="-1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  <a:latin typeface="Georgia"/>
                <a:cs typeface="Georgia"/>
              </a:rPr>
              <a:t>Ms.</a:t>
            </a:r>
            <a:r>
              <a:rPr lang="en-US" sz="1600" spc="-19" dirty="0">
                <a:solidFill>
                  <a:schemeClr val="tx1"/>
                </a:solidFill>
                <a:latin typeface="Georgia"/>
                <a:cs typeface="Georg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Georgia"/>
                <a:cs typeface="Georgia"/>
              </a:rPr>
              <a:t>Rashmi</a:t>
            </a:r>
            <a:r>
              <a:rPr lang="en-US" sz="1600" spc="-8" dirty="0">
                <a:solidFill>
                  <a:schemeClr val="tx1"/>
                </a:solidFill>
                <a:latin typeface="Georgia"/>
                <a:cs typeface="Georgia"/>
              </a:rPr>
              <a:t> </a:t>
            </a:r>
            <a:r>
              <a:rPr lang="en-US" sz="1600" spc="-15" dirty="0">
                <a:solidFill>
                  <a:schemeClr val="tx1"/>
                </a:solidFill>
                <a:latin typeface="Georgia"/>
                <a:cs typeface="Georgia"/>
              </a:rPr>
              <a:t>Bhat, Assistant prof, </a:t>
            </a:r>
            <a:r>
              <a:rPr lang="en-US" sz="1600" spc="-15" dirty="0" err="1">
                <a:solidFill>
                  <a:schemeClr val="tx1"/>
                </a:solidFill>
                <a:latin typeface="Georgia"/>
                <a:cs typeface="Georgia"/>
              </a:rPr>
              <a:t>Slideshare</a:t>
            </a:r>
            <a:endParaRPr lang="en-US" sz="1600" spc="-15" dirty="0">
              <a:solidFill>
                <a:schemeClr val="tx1"/>
              </a:solidFill>
              <a:latin typeface="Georgia"/>
              <a:cs typeface="Georgia"/>
            </a:endParaRPr>
          </a:p>
          <a:p>
            <a:pPr marL="635" algn="l">
              <a:spcBef>
                <a:spcPts val="525"/>
              </a:spcBef>
            </a:pPr>
            <a:r>
              <a:rPr lang="en-US" sz="1600" dirty="0">
                <a:solidFill>
                  <a:schemeClr val="tx1"/>
                </a:solidFill>
              </a:rPr>
              <a:t>David</a:t>
            </a:r>
            <a:r>
              <a:rPr lang="en-US" sz="1600" spc="-135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Sontag </a:t>
            </a:r>
            <a:r>
              <a:rPr lang="en-US" sz="1600" dirty="0">
                <a:solidFill>
                  <a:schemeClr val="tx1"/>
                </a:solidFill>
              </a:rPr>
              <a:t>New</a:t>
            </a:r>
            <a:r>
              <a:rPr lang="en-US" sz="1600" spc="-85" dirty="0">
                <a:solidFill>
                  <a:schemeClr val="tx1"/>
                </a:solidFill>
              </a:rPr>
              <a:t> </a:t>
            </a:r>
            <a:r>
              <a:rPr lang="en-US" sz="1600" spc="-30" dirty="0">
                <a:solidFill>
                  <a:schemeClr val="tx1"/>
                </a:solidFill>
              </a:rPr>
              <a:t>York</a:t>
            </a:r>
            <a:r>
              <a:rPr lang="en-US" sz="1600" spc="-85" dirty="0">
                <a:solidFill>
                  <a:schemeClr val="tx1"/>
                </a:solidFill>
              </a:rPr>
              <a:t> </a:t>
            </a:r>
            <a:r>
              <a:rPr lang="en-US" sz="1600" spc="-10" dirty="0">
                <a:solidFill>
                  <a:schemeClr val="tx1"/>
                </a:solidFill>
              </a:rPr>
              <a:t>University</a:t>
            </a:r>
            <a:br>
              <a:rPr lang="en-US" sz="1600" spc="-10" dirty="0">
                <a:solidFill>
                  <a:schemeClr val="tx1"/>
                </a:solidFill>
              </a:rPr>
            </a:br>
            <a:r>
              <a:rPr lang="en-US" sz="1600" spc="-80" dirty="0">
                <a:solidFill>
                  <a:schemeClr val="tx1"/>
                </a:solidFill>
                <a:latin typeface="Cambria"/>
                <a:cs typeface="Cambria"/>
              </a:rPr>
              <a:t>Dr.</a:t>
            </a:r>
            <a:r>
              <a:rPr lang="en-US" sz="1600" spc="-6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185" dirty="0">
                <a:solidFill>
                  <a:schemeClr val="tx1"/>
                </a:solidFill>
                <a:latin typeface="Cambria"/>
                <a:cs typeface="Cambria"/>
              </a:rPr>
              <a:t>T.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10" dirty="0" err="1">
                <a:solidFill>
                  <a:schemeClr val="tx1"/>
                </a:solidFill>
                <a:latin typeface="Cambria"/>
                <a:cs typeface="Cambria"/>
              </a:rPr>
              <a:t>Veeramakali,</a:t>
            </a:r>
            <a:r>
              <a:rPr lang="en-US" sz="1600" dirty="0" err="1">
                <a:solidFill>
                  <a:schemeClr val="tx1"/>
                </a:solidFill>
                <a:latin typeface="Cambria"/>
                <a:cs typeface="Cambria"/>
              </a:rPr>
              <a:t>Assoc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.</a:t>
            </a:r>
            <a:r>
              <a:rPr lang="en-US" sz="1600" spc="-4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Prof.</a:t>
            </a:r>
            <a:r>
              <a:rPr lang="en-US" sz="1600" spc="-4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/</a:t>
            </a:r>
            <a:r>
              <a:rPr lang="en-US" sz="1600" spc="-4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DSBS,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SRM</a:t>
            </a:r>
            <a:r>
              <a:rPr lang="en-US" sz="1600" spc="-5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Institute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of</a:t>
            </a:r>
            <a:r>
              <a:rPr lang="en-US" sz="1600" spc="-5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Science</a:t>
            </a:r>
            <a:r>
              <a:rPr lang="en-US" sz="1600" spc="-4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/>
                <a:cs typeface="Cambria"/>
              </a:rPr>
              <a:t>&amp;</a:t>
            </a:r>
            <a:r>
              <a:rPr lang="en-US" sz="1600" spc="-6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  <a:t>Technology </a:t>
            </a:r>
            <a:r>
              <a:rPr lang="en-US" sz="1600" spc="-25" dirty="0" err="1">
                <a:solidFill>
                  <a:schemeClr val="tx1"/>
                </a:solidFill>
                <a:latin typeface="Cambria"/>
                <a:cs typeface="Cambria"/>
              </a:rPr>
              <a:t>Kattankulathur</a:t>
            </a:r>
            <a:r>
              <a:rPr lang="en-US" sz="1600" spc="-25" dirty="0">
                <a:solidFill>
                  <a:schemeClr val="tx1"/>
                </a:solidFill>
                <a:latin typeface="Cambria"/>
                <a:cs typeface="Cambria"/>
              </a:rPr>
              <a:t>,</a:t>
            </a:r>
            <a:r>
              <a:rPr lang="en-US" sz="1600" spc="9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sz="1600" spc="-20" dirty="0">
                <a:solidFill>
                  <a:schemeClr val="tx1"/>
                </a:solidFill>
                <a:latin typeface="Cambria"/>
                <a:cs typeface="Cambria"/>
              </a:rPr>
              <a:t>Chennai-</a:t>
            </a:r>
            <a: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  <a:t>603203.</a:t>
            </a:r>
          </a:p>
          <a:p>
            <a:pPr marL="635" algn="l">
              <a:spcBef>
                <a:spcPts val="525"/>
              </a:spcBef>
            </a:pPr>
            <a:endParaRPr lang="en-US" sz="1600" dirty="0">
              <a:solidFill>
                <a:schemeClr val="tx1"/>
              </a:solidFill>
              <a:latin typeface="Cambria"/>
              <a:cs typeface="Cambria"/>
            </a:endParaRPr>
          </a:p>
          <a:p>
            <a:pPr marL="635" algn="l">
              <a:spcBef>
                <a:spcPts val="525"/>
              </a:spcBef>
            </a:pPr>
            <a:br>
              <a:rPr lang="en-US" sz="1600" spc="-10" dirty="0">
                <a:solidFill>
                  <a:schemeClr val="tx1"/>
                </a:solidFill>
              </a:rPr>
            </a:br>
            <a:endParaRPr lang="en-US" sz="1600" dirty="0">
              <a:solidFill>
                <a:schemeClr val="tx1"/>
              </a:solidFill>
            </a:endParaRPr>
          </a:p>
          <a:p>
            <a:pPr marL="635" algn="l">
              <a:spcBef>
                <a:spcPts val="525"/>
              </a:spcBef>
            </a:pPr>
            <a:endParaRPr lang="en-US" sz="1600" dirty="0">
              <a:solidFill>
                <a:schemeClr val="tx1"/>
              </a:solidFill>
              <a:latin typeface="Georgia"/>
              <a:cs typeface="Georgia"/>
            </a:endParaRPr>
          </a:p>
          <a:p>
            <a:pPr marL="635" algn="l">
              <a:spcBef>
                <a:spcPts val="525"/>
              </a:spcBef>
            </a:pPr>
            <a:r>
              <a:rPr lang="en-US" sz="1600" spc="-10" dirty="0">
                <a:solidFill>
                  <a:schemeClr val="tx1"/>
                </a:solidFill>
                <a:latin typeface="Cambria"/>
                <a:cs typeface="Cambria"/>
              </a:rPr>
              <a:t>.</a:t>
            </a:r>
            <a:endParaRPr lang="en-US" sz="1600" dirty="0">
              <a:solidFill>
                <a:schemeClr val="tx1"/>
              </a:solidFill>
              <a:latin typeface="Cambria"/>
              <a:cs typeface="Cambria"/>
            </a:endParaRPr>
          </a:p>
          <a:p>
            <a:pPr marL="647700" marR="640715" algn="l">
              <a:lnSpc>
                <a:spcPct val="114599"/>
              </a:lnSpc>
              <a:spcBef>
                <a:spcPts val="95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algn="l"/>
            <a:endParaRPr lang="en-US" sz="1600" dirty="0">
              <a:solidFill>
                <a:schemeClr val="tx1"/>
              </a:solidFill>
            </a:endParaRPr>
          </a:p>
          <a:p>
            <a:pPr algn="l"/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26915-4C02-0032-FA06-AA1D6F48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66" y="6397252"/>
            <a:ext cx="4318000" cy="34577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69</a:t>
            </a:fld>
            <a:endParaRPr lang="en-US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B34C096-2B9F-3D5D-9C0F-AF66318D5B17}"/>
              </a:ext>
            </a:extLst>
          </p:cNvPr>
          <p:cNvSpPr txBox="1">
            <a:spLocks/>
          </p:cNvSpPr>
          <p:nvPr/>
        </p:nvSpPr>
        <p:spPr>
          <a:xfrm>
            <a:off x="381550" y="4250386"/>
            <a:ext cx="7516746" cy="117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865"/>
              </a:lnSpc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Copyright</a:t>
            </a:r>
            <a:r>
              <a:rPr lang="en-US" sz="105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105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2014</a:t>
            </a:r>
            <a:r>
              <a:rPr lang="en-US" sz="105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Oracle and/or</a:t>
            </a:r>
            <a:r>
              <a:rPr lang="en-US" sz="105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en-US" sz="10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spc="-10" dirty="0">
                <a:latin typeface="Arial" panose="020B0604020202020204" pitchFamily="34" charset="0"/>
                <a:cs typeface="Arial" panose="020B0604020202020204" pitchFamily="34" charset="0"/>
              </a:rPr>
              <a:t>affiliates.</a:t>
            </a:r>
            <a:r>
              <a:rPr lang="en-US" sz="10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105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rights</a:t>
            </a:r>
            <a:r>
              <a:rPr lang="en-US" sz="105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reserved.</a:t>
            </a:r>
            <a:r>
              <a:rPr lang="en-US" sz="105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sz="105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Oracle</a:t>
            </a:r>
            <a:r>
              <a:rPr lang="en-US" sz="105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spc="-10" dirty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105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05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spc="-10" dirty="0">
                <a:latin typeface="Arial" panose="020B0604020202020204" pitchFamily="34" charset="0"/>
                <a:cs typeface="Arial" panose="020B0604020202020204" pitchFamily="34" charset="0"/>
              </a:rPr>
              <a:t>Internal/Restricted/Highly</a:t>
            </a:r>
            <a:r>
              <a:rPr lang="en-US" sz="105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spc="-10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</TotalTime>
  <Words>5073</Words>
  <Application>Microsoft Office PowerPoint</Application>
  <PresentationFormat>On-screen Show (4:3)</PresentationFormat>
  <Paragraphs>1065</Paragraphs>
  <Slides>69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5" baseType="lpstr">
      <vt:lpstr>Aptos</vt:lpstr>
      <vt:lpstr>Arial</vt:lpstr>
      <vt:lpstr>Arial MT</vt:lpstr>
      <vt:lpstr>Arial Narrow</vt:lpstr>
      <vt:lpstr>Calibri</vt:lpstr>
      <vt:lpstr>Calibri Light</vt:lpstr>
      <vt:lpstr>Cambria</vt:lpstr>
      <vt:lpstr>Cambria Math</vt:lpstr>
      <vt:lpstr>Comic Sans MS</vt:lpstr>
      <vt:lpstr>Franklin Gothic Book</vt:lpstr>
      <vt:lpstr>Franklin Gothic Medium</vt:lpstr>
      <vt:lpstr>Georgia</vt:lpstr>
      <vt:lpstr>Hiragino Sans W4</vt:lpstr>
      <vt:lpstr>Tahoma</vt:lpstr>
      <vt:lpstr>Wingdings</vt:lpstr>
      <vt:lpstr>NAU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Element-wise product</vt:lpstr>
      <vt:lpstr>Outer product</vt:lpstr>
      <vt:lpstr>Sample Data-Iris</vt:lpstr>
      <vt:lpstr>Solving Systems of Equations</vt:lpstr>
      <vt:lpstr>Visualizing the equation</vt:lpstr>
      <vt:lpstr>Methods for solving systems of linear equations</vt:lpstr>
      <vt:lpstr>Statistics</vt:lpstr>
      <vt:lpstr>Probability</vt:lpstr>
      <vt:lpstr>Distributions</vt:lpstr>
      <vt:lpstr>Examples of normal distribution</vt:lpstr>
      <vt:lpstr>Long-tailed distribution</vt:lpstr>
      <vt:lpstr>PowerPoint Presentation</vt:lpstr>
      <vt:lpstr>Resampling Methods</vt:lpstr>
      <vt:lpstr>PowerPoint Presentation</vt:lpstr>
      <vt:lpstr>Supervised vs. Unsupervised Learning</vt:lpstr>
      <vt:lpstr>Issues: Data Preparation</vt:lpstr>
      <vt:lpstr>PowerPoint Presentation</vt:lpstr>
      <vt:lpstr>PowerPoint Presentation</vt:lpstr>
      <vt:lpstr>PowerPoint Presentation</vt:lpstr>
      <vt:lpstr>PowerPoint Presentation</vt:lpstr>
      <vt:lpstr>What is Clustering??</vt:lpstr>
      <vt:lpstr>What is Clustering??</vt:lpstr>
      <vt:lpstr>What is Clustering??</vt:lpstr>
      <vt:lpstr>PowerPoint Presentation</vt:lpstr>
      <vt:lpstr>What is Cluster Analysis??</vt:lpstr>
      <vt:lpstr>What is Cluster Analysis??</vt:lpstr>
      <vt:lpstr>What is Cluster Analysis??</vt:lpstr>
      <vt:lpstr>What is Cluster Analysis??</vt:lpstr>
      <vt:lpstr>Applications of Clustering</vt:lpstr>
      <vt:lpstr>Requirements of Clustering Analysis</vt:lpstr>
      <vt:lpstr>Distance Measures</vt:lpstr>
      <vt:lpstr>Distance Measures</vt:lpstr>
      <vt:lpstr>Distance Measures</vt:lpstr>
      <vt:lpstr>Distance Measures</vt:lpstr>
      <vt:lpstr>Distance Measures</vt:lpstr>
      <vt:lpstr>Distance Measures</vt:lpstr>
      <vt:lpstr>Distance Measures</vt:lpstr>
      <vt:lpstr>Clustering Techniques</vt:lpstr>
      <vt:lpstr>Partitioning Method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𝑘-means Clustering</vt:lpstr>
      <vt:lpstr>Relevant Issues</vt:lpstr>
      <vt:lpstr>K-means++ - An initialization procedure for K-means</vt:lpstr>
      <vt:lpstr>How can we choose a "good" K for K-means clustering?</vt:lpstr>
      <vt:lpstr>This produces an "elbow effect" in the graph, as you can see in the following picture:</vt:lpstr>
      <vt:lpstr>Feature Scaling – Pre-processing step to improve K-Means</vt:lpstr>
      <vt:lpstr>Curse of Dimensionality</vt:lpstr>
      <vt:lpstr>𝑘-means Clustering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Fariha Hossain</cp:lastModifiedBy>
  <cp:revision>26</cp:revision>
  <dcterms:created xsi:type="dcterms:W3CDTF">2013-01-27T09:14:16Z</dcterms:created>
  <dcterms:modified xsi:type="dcterms:W3CDTF">2026-01-21T18:56:53Z</dcterms:modified>
  <cp:category/>
</cp:coreProperties>
</file>