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328" r:id="rId2"/>
    <p:sldId id="294" r:id="rId3"/>
    <p:sldId id="383" r:id="rId4"/>
    <p:sldId id="382" r:id="rId5"/>
    <p:sldId id="38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47" r:id="rId20"/>
    <p:sldId id="380" r:id="rId21"/>
    <p:sldId id="277" r:id="rId22"/>
    <p:sldId id="381" r:id="rId23"/>
    <p:sldId id="389" r:id="rId24"/>
    <p:sldId id="390" r:id="rId25"/>
    <p:sldId id="353" r:id="rId26"/>
    <p:sldId id="386" r:id="rId27"/>
    <p:sldId id="387" r:id="rId28"/>
    <p:sldId id="388" r:id="rId29"/>
    <p:sldId id="385" r:id="rId30"/>
    <p:sldId id="37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8E8CE-07BF-438A-8D4D-27F332D6345C}" v="6" dt="2026-01-26T18:04:35.461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/>
    <p:restoredTop sz="94630"/>
  </p:normalViewPr>
  <p:slideViewPr>
    <p:cSldViewPr snapToGrid="0" snapToObjects="1">
      <p:cViewPr varScale="1">
        <p:scale>
          <a:sx n="98" d="100"/>
          <a:sy n="98" d="100"/>
        </p:scale>
        <p:origin x="17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ha Hossain" userId="6aa7d125-f4d1-4b59-9e05-e109224d2bd2" providerId="ADAL" clId="{907321D6-D07A-494C-A977-7A7DC7C5B0B5}"/>
    <pc:docChg chg="custSel addSld delSld modSld sldOrd">
      <pc:chgData name="Fariha Hossain" userId="6aa7d125-f4d1-4b59-9e05-e109224d2bd2" providerId="ADAL" clId="{907321D6-D07A-494C-A977-7A7DC7C5B0B5}" dt="2026-01-26T18:07:13.549" v="97"/>
      <pc:docMkLst>
        <pc:docMk/>
      </pc:docMkLst>
      <pc:sldChg chg="modSp mod">
        <pc:chgData name="Fariha Hossain" userId="6aa7d125-f4d1-4b59-9e05-e109224d2bd2" providerId="ADAL" clId="{907321D6-D07A-494C-A977-7A7DC7C5B0B5}" dt="2026-01-26T18:01:16.611" v="5" actId="20577"/>
        <pc:sldMkLst>
          <pc:docMk/>
          <pc:sldMk cId="3038847088" sldId="328"/>
        </pc:sldMkLst>
        <pc:spChg chg="mod">
          <ac:chgData name="Fariha Hossain" userId="6aa7d125-f4d1-4b59-9e05-e109224d2bd2" providerId="ADAL" clId="{907321D6-D07A-494C-A977-7A7DC7C5B0B5}" dt="2026-01-26T18:01:16.611" v="5" actId="20577"/>
          <ac:spMkLst>
            <pc:docMk/>
            <pc:sldMk cId="3038847088" sldId="328"/>
            <ac:spMk id="7" creationId="{AAF5713D-B244-5594-9CF6-D3BAD5B04CA6}"/>
          </ac:spMkLst>
        </pc:spChg>
      </pc:sldChg>
      <pc:sldChg chg="del">
        <pc:chgData name="Fariha Hossain" userId="6aa7d125-f4d1-4b59-9e05-e109224d2bd2" providerId="ADAL" clId="{907321D6-D07A-494C-A977-7A7DC7C5B0B5}" dt="2026-01-26T18:06:39.335" v="89" actId="47"/>
        <pc:sldMkLst>
          <pc:docMk/>
          <pc:sldMk cId="0" sldId="348"/>
        </pc:sldMkLst>
      </pc:sldChg>
      <pc:sldChg chg="addSp delSp modSp add mod ord">
        <pc:chgData name="Fariha Hossain" userId="6aa7d125-f4d1-4b59-9e05-e109224d2bd2" providerId="ADAL" clId="{907321D6-D07A-494C-A977-7A7DC7C5B0B5}" dt="2026-01-26T18:07:03.455" v="95"/>
        <pc:sldMkLst>
          <pc:docMk/>
          <pc:sldMk cId="3069232181" sldId="389"/>
        </pc:sldMkLst>
        <pc:spChg chg="mod">
          <ac:chgData name="Fariha Hossain" userId="6aa7d125-f4d1-4b59-9e05-e109224d2bd2" providerId="ADAL" clId="{907321D6-D07A-494C-A977-7A7DC7C5B0B5}" dt="2026-01-26T18:03:53.042" v="61" actId="1076"/>
          <ac:spMkLst>
            <pc:docMk/>
            <pc:sldMk cId="3069232181" sldId="389"/>
            <ac:spMk id="2" creationId="{8CD219C0-A173-7289-4636-2084696C6342}"/>
          </ac:spMkLst>
        </pc:spChg>
        <pc:spChg chg="del">
          <ac:chgData name="Fariha Hossain" userId="6aa7d125-f4d1-4b59-9e05-e109224d2bd2" providerId="ADAL" clId="{907321D6-D07A-494C-A977-7A7DC7C5B0B5}" dt="2026-01-26T18:02:21.436" v="7" actId="478"/>
          <ac:spMkLst>
            <pc:docMk/>
            <pc:sldMk cId="3069232181" sldId="389"/>
            <ac:spMk id="3" creationId="{70B06F45-A8D8-C716-DB40-A9DB77EE586D}"/>
          </ac:spMkLst>
        </pc:spChg>
        <pc:graphicFrameChg chg="add mod modGraphic">
          <ac:chgData name="Fariha Hossain" userId="6aa7d125-f4d1-4b59-9e05-e109224d2bd2" providerId="ADAL" clId="{907321D6-D07A-494C-A977-7A7DC7C5B0B5}" dt="2026-01-26T18:03:13.708" v="22" actId="12385"/>
          <ac:graphicFrameMkLst>
            <pc:docMk/>
            <pc:sldMk cId="3069232181" sldId="389"/>
            <ac:graphicFrameMk id="4" creationId="{D7435592-355D-D34A-45BC-069BF6346D40}"/>
          </ac:graphicFrameMkLst>
        </pc:graphicFrameChg>
      </pc:sldChg>
      <pc:sldChg chg="addSp delSp modSp add mod ord">
        <pc:chgData name="Fariha Hossain" userId="6aa7d125-f4d1-4b59-9e05-e109224d2bd2" providerId="ADAL" clId="{907321D6-D07A-494C-A977-7A7DC7C5B0B5}" dt="2026-01-26T18:07:13.549" v="97"/>
        <pc:sldMkLst>
          <pc:docMk/>
          <pc:sldMk cId="2324008089" sldId="390"/>
        </pc:sldMkLst>
        <pc:spChg chg="mod">
          <ac:chgData name="Fariha Hossain" userId="6aa7d125-f4d1-4b59-9e05-e109224d2bd2" providerId="ADAL" clId="{907321D6-D07A-494C-A977-7A7DC7C5B0B5}" dt="2026-01-26T18:04:45.435" v="76" actId="20577"/>
          <ac:spMkLst>
            <pc:docMk/>
            <pc:sldMk cId="2324008089" sldId="390"/>
            <ac:spMk id="2" creationId="{EBA1F523-6A10-D2BB-AD19-4569F171A537}"/>
          </ac:spMkLst>
        </pc:spChg>
        <pc:spChg chg="del">
          <ac:chgData name="Fariha Hossain" userId="6aa7d125-f4d1-4b59-9e05-e109224d2bd2" providerId="ADAL" clId="{907321D6-D07A-494C-A977-7A7DC7C5B0B5}" dt="2026-01-26T18:04:18.209" v="65" actId="478"/>
          <ac:spMkLst>
            <pc:docMk/>
            <pc:sldMk cId="2324008089" sldId="390"/>
            <ac:spMk id="3" creationId="{D3123DB8-33D0-6796-38AA-5C3569CBE17F}"/>
          </ac:spMkLst>
        </pc:spChg>
        <pc:spChg chg="add mod">
          <ac:chgData name="Fariha Hossain" userId="6aa7d125-f4d1-4b59-9e05-e109224d2bd2" providerId="ADAL" clId="{907321D6-D07A-494C-A977-7A7DC7C5B0B5}" dt="2026-01-26T18:05:16.677" v="86" actId="403"/>
          <ac:spMkLst>
            <pc:docMk/>
            <pc:sldMk cId="2324008089" sldId="390"/>
            <ac:spMk id="5" creationId="{8FDA4AE3-DCF2-4865-8D20-7AF4E6D77B26}"/>
          </ac:spMkLst>
        </pc:spChg>
      </pc:sldChg>
      <pc:sldChg chg="add del">
        <pc:chgData name="Fariha Hossain" userId="6aa7d125-f4d1-4b59-9e05-e109224d2bd2" providerId="ADAL" clId="{907321D6-D07A-494C-A977-7A7DC7C5B0B5}" dt="2026-01-26T18:02:25.871" v="9"/>
        <pc:sldMkLst>
          <pc:docMk/>
          <pc:sldMk cId="2373607484" sldId="3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390" y="6376229"/>
            <a:ext cx="3409123" cy="365125"/>
          </a:xfrm>
        </p:spPr>
        <p:txBody>
          <a:bodyPr/>
          <a:lstStyle/>
          <a:p>
            <a:r>
              <a:rPr lang="en-US" dirty="0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9329" y="6301408"/>
            <a:ext cx="2961861" cy="556591"/>
          </a:xfr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lIns="0" tIns="0" rIns="0" bIns="0"/>
          <a:lstStyle>
            <a:lvl1pPr algn="ctr">
              <a:defRPr sz="1100" b="0" i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defRPr>
            </a:lvl1pPr>
          </a:lstStyle>
          <a:p>
            <a:pPr marL="9525">
              <a:lnSpc>
                <a:spcPts val="930"/>
              </a:lnSpc>
            </a:pPr>
            <a:r>
              <a:rPr lang="en-US"/>
              <a:t>CS 472/572 – Unsupervised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5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95" b="0" i="0">
                <a:solidFill>
                  <a:srgbClr val="6600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96" b="0" i="0">
                <a:solidFill>
                  <a:srgbClr val="00009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633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99390" y="6410739"/>
            <a:ext cx="2660744" cy="3452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  <a:endParaRPr lang="en-US" sz="1100" b="0" i="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7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o-NvOvMF10W6u3FNGegx-dUKeXmYr3sg?usp=sharin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1607876" y="1832345"/>
            <a:ext cx="6121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CS 472/572</a:t>
            </a:r>
          </a:p>
          <a:p>
            <a:pPr algn="ctr"/>
            <a:r>
              <a:rPr lang="en-US" sz="2800" b="1" dirty="0"/>
              <a:t>  Unsupervised Machine Learning</a:t>
            </a:r>
            <a:endParaRPr lang="en-US" sz="105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866" y="4610631"/>
            <a:ext cx="6858000" cy="123148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Spring</a:t>
            </a:r>
            <a:r>
              <a:rPr sz="2000" dirty="0">
                <a:solidFill>
                  <a:schemeClr val="tx1"/>
                </a:solidFill>
              </a:rPr>
              <a:t> 202</a:t>
            </a:r>
            <a:r>
              <a:rPr lang="en-US" sz="2000" dirty="0">
                <a:solidFill>
                  <a:schemeClr val="tx1"/>
                </a:solidFill>
              </a:rPr>
              <a:t>6</a:t>
            </a:r>
            <a:endParaRPr sz="2000" dirty="0">
              <a:solidFill>
                <a:schemeClr val="tx1"/>
              </a:solidFill>
            </a:endParaRPr>
          </a:p>
          <a:p>
            <a:r>
              <a:rPr sz="2000" dirty="0">
                <a:solidFill>
                  <a:schemeClr val="tx1"/>
                </a:solidFill>
              </a:rPr>
              <a:t>Instructor: Dr. Khondker Fariha Hossain</a:t>
            </a:r>
            <a:endParaRPr lang="en-US"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E0BA2A-FF20-6CCE-9B7C-3B9E47537101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1752600" y="3007205"/>
            <a:ext cx="624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Clustering 1</a:t>
            </a:r>
          </a:p>
          <a:p>
            <a:pPr algn="ctr"/>
            <a:r>
              <a:rPr lang="en-US" sz="2000" b="1" dirty="0"/>
              <a:t>Week-2 -Class -2</a:t>
            </a:r>
            <a:endParaRPr lang="en-US" sz="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8BB169-C297-8747-2C7E-20A34A3B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15900" y="2764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749" y="2309000"/>
            <a:ext cx="8253518" cy="2672206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pPr marL="169069" indent="-159544">
              <a:spcBef>
                <a:spcPts val="938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3200" dirty="0">
                <a:latin typeface="Georgia"/>
                <a:cs typeface="Georgia"/>
              </a:rPr>
              <a:t>How</a:t>
            </a:r>
            <a:r>
              <a:rPr sz="3200" spc="-34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to</a:t>
            </a:r>
            <a:r>
              <a:rPr sz="3200" spc="-3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cluster</a:t>
            </a:r>
            <a:r>
              <a:rPr sz="3200" spc="-4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categorical</a:t>
            </a:r>
            <a:r>
              <a:rPr sz="3200" spc="-41" dirty="0">
                <a:latin typeface="Georgia"/>
                <a:cs typeface="Georgia"/>
              </a:rPr>
              <a:t> </a:t>
            </a:r>
            <a:r>
              <a:rPr sz="3200" spc="-8" dirty="0">
                <a:latin typeface="Georgia"/>
                <a:cs typeface="Georgia"/>
              </a:rPr>
              <a:t>data?</a:t>
            </a:r>
            <a:endParaRPr sz="3200" dirty="0">
              <a:latin typeface="Georgia"/>
              <a:cs typeface="Georgia"/>
            </a:endParaRPr>
          </a:p>
          <a:p>
            <a:pPr marL="142875" indent="-133350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142875" algn="l"/>
              </a:tabLst>
            </a:pPr>
            <a:r>
              <a:rPr sz="2400" dirty="0">
                <a:latin typeface="Georgia"/>
                <a:cs typeface="Georgia"/>
              </a:rPr>
              <a:t>Variant</a:t>
            </a:r>
            <a:r>
              <a:rPr sz="2400" spc="-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dirty="0">
                <a:latin typeface="Georgia"/>
                <a:cs typeface="Georgia"/>
              </a:rPr>
              <a:t>-means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used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clustering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categorical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data: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dirty="0">
                <a:latin typeface="Georgia"/>
                <a:cs typeface="Georgia"/>
              </a:rPr>
              <a:t>-modes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spc="-8" dirty="0">
                <a:latin typeface="Georgia"/>
                <a:cs typeface="Georgia"/>
              </a:rPr>
              <a:t>Method</a:t>
            </a:r>
            <a:endParaRPr sz="2400" dirty="0">
              <a:latin typeface="Georgia"/>
              <a:cs typeface="Georgia"/>
            </a:endParaRPr>
          </a:p>
          <a:p>
            <a:pPr marL="244793" lvl="1" indent="-139541">
              <a:spcBef>
                <a:spcPts val="769"/>
              </a:spcBef>
              <a:buClr>
                <a:srgbClr val="1CACE3"/>
              </a:buClr>
              <a:buFont typeface="Wingdings"/>
              <a:buChar char=""/>
              <a:tabLst>
                <a:tab pos="244793" algn="l"/>
              </a:tabLst>
            </a:pPr>
            <a:r>
              <a:rPr sz="2000" dirty="0">
                <a:latin typeface="Georgia"/>
                <a:cs typeface="Georgia"/>
              </a:rPr>
              <a:t>Replace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mean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cluster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mode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data</a:t>
            </a:r>
            <a:endParaRPr sz="2000" dirty="0">
              <a:latin typeface="Georgia"/>
              <a:cs typeface="Georgia"/>
            </a:endParaRPr>
          </a:p>
          <a:p>
            <a:pPr marL="244793" lvl="1" indent="-139541">
              <a:spcBef>
                <a:spcPts val="758"/>
              </a:spcBef>
              <a:buClr>
                <a:srgbClr val="1CACE3"/>
              </a:buClr>
              <a:buFont typeface="Wingdings"/>
              <a:buChar char=""/>
              <a:tabLst>
                <a:tab pos="244793" algn="l"/>
              </a:tabLst>
            </a:pPr>
            <a:r>
              <a:rPr sz="2000" dirty="0">
                <a:latin typeface="Georgia"/>
                <a:cs typeface="Georgia"/>
              </a:rPr>
              <a:t>A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new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dissimilarity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measures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deal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-3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categorical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objects</a:t>
            </a:r>
            <a:endParaRPr sz="2000" dirty="0">
              <a:latin typeface="Georgia"/>
              <a:cs typeface="Georgia"/>
            </a:endParaRPr>
          </a:p>
          <a:p>
            <a:pPr marL="208121" lvl="1" indent="-102870">
              <a:spcBef>
                <a:spcPts val="758"/>
              </a:spcBef>
              <a:buClr>
                <a:srgbClr val="1CACE3"/>
              </a:buClr>
              <a:buFont typeface="Wingdings"/>
              <a:buChar char=""/>
              <a:tabLst>
                <a:tab pos="208121" algn="l"/>
              </a:tabLst>
            </a:pPr>
            <a:r>
              <a:rPr sz="2000" dirty="0">
                <a:latin typeface="Georgia"/>
                <a:cs typeface="Georgia"/>
              </a:rPr>
              <a:t>A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frequency-</a:t>
            </a:r>
            <a:r>
              <a:rPr sz="2000" dirty="0">
                <a:latin typeface="Georgia"/>
                <a:cs typeface="Georgia"/>
              </a:rPr>
              <a:t>based</a:t>
            </a:r>
            <a:r>
              <a:rPr sz="2000" spc="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method to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update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modes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clusters.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8FBD-521B-F869-7E41-DD82DEB1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06B0EF-F37C-CBEE-B607-6E4962393F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899" y="399533"/>
            <a:ext cx="8555567" cy="440505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2800" b="1" dirty="0">
                <a:solidFill>
                  <a:schemeClr val="bg1"/>
                </a:solidFill>
              </a:rPr>
              <a:t>Distance/Similarity Measures for Categorical Data</a:t>
            </a:r>
            <a:endParaRPr sz="2800" spc="38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5BE874C-7DAC-B31E-EE6F-16166A54FDD7}"/>
              </a:ext>
            </a:extLst>
          </p:cNvPr>
          <p:cNvSpPr txBox="1"/>
          <p:nvPr/>
        </p:nvSpPr>
        <p:spPr>
          <a:xfrm>
            <a:off x="314749" y="2309000"/>
            <a:ext cx="8253518" cy="2982548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r>
              <a:rPr lang="en-US" sz="2400" dirty="0"/>
              <a:t>Instead of Euclidean, you use measures suited for categories: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Hamming distance</a:t>
            </a:r>
            <a:r>
              <a:rPr lang="en-US" dirty="0"/>
              <a:t> → counts mismatches between categorical attributes.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Jaccard similarity</a:t>
            </a:r>
            <a:r>
              <a:rPr lang="en-US" dirty="0"/>
              <a:t> → for binary/categorical presence–absence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Matching coefficient</a:t>
            </a:r>
            <a:r>
              <a:rPr lang="en-US" dirty="0"/>
              <a:t> → % of attributes that match.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Goodall’s measure</a:t>
            </a:r>
            <a:r>
              <a:rPr lang="en-US" dirty="0"/>
              <a:t> or </a:t>
            </a:r>
            <a:r>
              <a:rPr lang="en-US" b="1" dirty="0"/>
              <a:t>Gower’s similarity</a:t>
            </a:r>
            <a:r>
              <a:rPr lang="en-US" dirty="0"/>
              <a:t> → handle mixed data types (numeric + categorical).</a:t>
            </a:r>
          </a:p>
          <a:p>
            <a:endParaRPr lang="en-US" dirty="0"/>
          </a:p>
          <a:p>
            <a:r>
              <a:rPr lang="en-US" dirty="0"/>
              <a:t>Once you compute a similarity or distance matrix, you can feed it into clustering algorithms like </a:t>
            </a:r>
            <a:r>
              <a:rPr lang="en-US" b="1" dirty="0"/>
              <a:t>hierarchical clustering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54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CDBC-3E60-E3DF-3058-2D8EB743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42174A-D3F0-BAB4-7082-5B9F0A6C4C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900" y="2764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dirty="0">
                <a:solidFill>
                  <a:schemeClr val="bg1"/>
                </a:solidFill>
              </a:rPr>
              <a:t>K-Modes Algorithm</a:t>
            </a:r>
            <a:endParaRPr spc="38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A79744-F827-0439-A796-73E7A52A31B8}"/>
              </a:ext>
            </a:extLst>
          </p:cNvPr>
          <p:cNvSpPr txBox="1"/>
          <p:nvPr/>
        </p:nvSpPr>
        <p:spPr>
          <a:xfrm>
            <a:off x="357083" y="1631666"/>
            <a:ext cx="8253518" cy="4305987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r>
              <a:rPr lang="en-US" sz="1600" b="1" dirty="0"/>
              <a:t>Adaptation of K-Means for categorical data</a:t>
            </a:r>
            <a:br>
              <a:rPr lang="en-US" sz="1600" dirty="0"/>
            </a:br>
            <a:r>
              <a:rPr lang="en-US" sz="1600" dirty="0"/>
              <a:t>Designed to work where averaging (means) makes no sense.</a:t>
            </a:r>
          </a:p>
          <a:p>
            <a:endParaRPr lang="en-US" sz="1600" dirty="0"/>
          </a:p>
          <a:p>
            <a:r>
              <a:rPr lang="en-US" sz="1600" b="1" dirty="0"/>
              <a:t>Cluster centers = Modes</a:t>
            </a:r>
            <a:br>
              <a:rPr lang="en-US" sz="1600" dirty="0"/>
            </a:br>
            <a:r>
              <a:rPr lang="en-US" sz="1600" dirty="0"/>
              <a:t>Each cluster is represented by its </a:t>
            </a:r>
            <a:r>
              <a:rPr lang="en-US" sz="1600" b="1" dirty="0"/>
              <a:t>mode</a:t>
            </a:r>
            <a:r>
              <a:rPr lang="en-US" sz="1600" dirty="0"/>
              <a:t> (the most frequent category in each feature).</a:t>
            </a:r>
            <a:br>
              <a:rPr lang="en-US" sz="1600" dirty="0"/>
            </a:br>
            <a:r>
              <a:rPr lang="en-US" sz="1600" dirty="0"/>
              <a:t>Example: If most items in a cluster are </a:t>
            </a:r>
            <a:r>
              <a:rPr lang="en-US" sz="1050" dirty="0"/>
              <a:t>"Red"</a:t>
            </a:r>
            <a:r>
              <a:rPr lang="en-US" sz="1600" dirty="0"/>
              <a:t>, </a:t>
            </a:r>
            <a:r>
              <a:rPr lang="en-US" sz="1050" dirty="0"/>
              <a:t>"Circle"</a:t>
            </a:r>
            <a:r>
              <a:rPr lang="en-US" sz="1600" dirty="0"/>
              <a:t>, </a:t>
            </a:r>
            <a:r>
              <a:rPr lang="en-US" sz="1050" dirty="0"/>
              <a:t>"Large"</a:t>
            </a:r>
            <a:r>
              <a:rPr lang="en-US" sz="1600" dirty="0"/>
              <a:t>, the cluster’s center is (</a:t>
            </a:r>
            <a:r>
              <a:rPr lang="en-US" sz="1050" dirty="0"/>
              <a:t>Red, Circle, Large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b="1" dirty="0"/>
              <a:t>Distance measure</a:t>
            </a:r>
            <a:br>
              <a:rPr lang="en-US" sz="1600" dirty="0"/>
            </a:br>
            <a:r>
              <a:rPr lang="en-US" sz="1600" dirty="0"/>
              <a:t>Uses </a:t>
            </a:r>
            <a:r>
              <a:rPr lang="en-US" sz="1600" b="1" dirty="0"/>
              <a:t>Hamming distance</a:t>
            </a:r>
            <a:r>
              <a:rPr lang="en-US" sz="1600" dirty="0"/>
              <a:t> (counts the number of mismatched categories between a data point and the cluster mode).</a:t>
            </a:r>
          </a:p>
          <a:p>
            <a:r>
              <a:rPr lang="en-US" sz="1600" dirty="0"/>
              <a:t>Example: Comparing (</a:t>
            </a:r>
            <a:r>
              <a:rPr lang="en-US" sz="1050" dirty="0"/>
              <a:t>Red, Circle, Large</a:t>
            </a:r>
            <a:r>
              <a:rPr lang="en-US" sz="1600" dirty="0"/>
              <a:t>) vs (</a:t>
            </a:r>
            <a:r>
              <a:rPr lang="en-US" sz="1050" dirty="0"/>
              <a:t>Blue, Circle, Small</a:t>
            </a:r>
            <a:r>
              <a:rPr lang="en-US" sz="1600" dirty="0"/>
              <a:t>) → 2 mismatches.</a:t>
            </a:r>
          </a:p>
          <a:p>
            <a:endParaRPr lang="en-US" sz="1600" dirty="0"/>
          </a:p>
          <a:p>
            <a:r>
              <a:rPr lang="en-US" sz="1600" b="1" dirty="0"/>
              <a:t>Algorithm workflow</a:t>
            </a:r>
            <a:endParaRPr lang="en-US" sz="1600" dirty="0"/>
          </a:p>
          <a:p>
            <a:r>
              <a:rPr lang="en-US" sz="1600" dirty="0"/>
              <a:t>Randomly select </a:t>
            </a:r>
            <a:r>
              <a:rPr lang="en-US" sz="1050" dirty="0"/>
              <a:t>k</a:t>
            </a:r>
            <a:r>
              <a:rPr lang="en-US" sz="1600" dirty="0"/>
              <a:t> categorical points as initial modes.</a:t>
            </a:r>
          </a:p>
          <a:p>
            <a:r>
              <a:rPr lang="en-US" sz="1600" dirty="0"/>
              <a:t>Assign each data point to the closest mode (least mismatches).</a:t>
            </a:r>
          </a:p>
          <a:p>
            <a:r>
              <a:rPr lang="en-US" sz="1600" dirty="0"/>
              <a:t>Update cluster modes by taking the most frequent category in each attribute.</a:t>
            </a:r>
          </a:p>
          <a:p>
            <a:r>
              <a:rPr lang="en-US" sz="1600" dirty="0"/>
              <a:t>Repeat until assignments stabilize.</a:t>
            </a:r>
          </a:p>
        </p:txBody>
      </p:sp>
    </p:spTree>
    <p:extLst>
      <p:ext uri="{BB962C8B-B14F-4D97-AF65-F5344CB8AC3E}">
        <p14:creationId xmlns:p14="http://schemas.microsoft.com/office/powerpoint/2010/main" val="178205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06CF-18AA-F786-52D3-67B377B0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5E7350-C4E3-EFE9-B542-061594D48C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900" y="2764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dirty="0">
                <a:solidFill>
                  <a:schemeClr val="bg1"/>
                </a:solidFill>
              </a:rPr>
              <a:t>K-Modes Algorithm</a:t>
            </a:r>
            <a:endParaRPr spc="38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B12EDE-7A5F-F352-2F80-0F72DA9C9716}"/>
              </a:ext>
            </a:extLst>
          </p:cNvPr>
          <p:cNvSpPr txBox="1"/>
          <p:nvPr/>
        </p:nvSpPr>
        <p:spPr>
          <a:xfrm>
            <a:off x="975149" y="2224332"/>
            <a:ext cx="6094517" cy="2951770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Strengths</a:t>
            </a:r>
            <a:endParaRPr lang="en-US" sz="20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Handles </a:t>
            </a:r>
            <a:r>
              <a:rPr lang="en-US" sz="1600" b="1" dirty="0"/>
              <a:t>large categorical datasets</a:t>
            </a:r>
            <a:r>
              <a:rPr lang="en-US" sz="1600" dirty="0"/>
              <a:t> efficiently.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Results are </a:t>
            </a:r>
            <a:r>
              <a:rPr lang="en-US" sz="1600" b="1" dirty="0"/>
              <a:t>interpretable</a:t>
            </a:r>
            <a:r>
              <a:rPr lang="en-US" sz="1600" dirty="0"/>
              <a:t> (clusters described by actual categories).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Robust compared to forcing categorical data into numeric form.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2</a:t>
            </a:r>
            <a:r>
              <a:rPr lang="en-US" sz="2000" b="1" dirty="0"/>
              <a:t>. Applications</a:t>
            </a:r>
            <a:endParaRPr lang="en-US" sz="20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Customer segmentation (demographics, preferences).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Market basket analysis.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Survey/medical records with categorical features</a:t>
            </a:r>
          </a:p>
        </p:txBody>
      </p:sp>
    </p:spTree>
    <p:extLst>
      <p:ext uri="{BB962C8B-B14F-4D97-AF65-F5344CB8AC3E}">
        <p14:creationId xmlns:p14="http://schemas.microsoft.com/office/powerpoint/2010/main" val="410883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6315" y="36109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889" y="1943862"/>
            <a:ext cx="7785735" cy="2763898"/>
          </a:xfrm>
          <a:prstGeom prst="rect">
            <a:avLst/>
          </a:prstGeom>
        </p:spPr>
        <p:txBody>
          <a:bodyPr vert="horz" wrap="square" lIns="0" tIns="37148" rIns="0" bIns="0" rtlCol="0">
            <a:spAutoFit/>
          </a:bodyPr>
          <a:lstStyle/>
          <a:p>
            <a:pPr marL="87629" marR="195263" indent="-68580">
              <a:lnSpc>
                <a:spcPts val="1785"/>
              </a:lnSpc>
              <a:spcBef>
                <a:spcPts val="293"/>
              </a:spcBef>
              <a:buClr>
                <a:srgbClr val="1CACE3"/>
              </a:buClr>
              <a:buSzPct val="90909"/>
              <a:buFont typeface="Wingdings"/>
              <a:buChar char=""/>
              <a:tabLst>
                <a:tab pos="87629" algn="l"/>
                <a:tab pos="152400" algn="l"/>
              </a:tabLst>
            </a:pPr>
            <a:r>
              <a:rPr sz="1650" dirty="0">
                <a:latin typeface="Georgia"/>
                <a:cs typeface="Georgia"/>
              </a:rPr>
              <a:t>Picks</a:t>
            </a:r>
            <a:r>
              <a:rPr sz="1650" spc="-64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actual</a:t>
            </a:r>
            <a:r>
              <a:rPr sz="1650" spc="-34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objects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to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represent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</a:t>
            </a:r>
            <a:r>
              <a:rPr sz="1650" spc="-5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clusters,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using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one</a:t>
            </a:r>
            <a:r>
              <a:rPr sz="1650" spc="-5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representative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object</a:t>
            </a:r>
            <a:r>
              <a:rPr sz="1650" spc="-34" dirty="0">
                <a:latin typeface="Georgia"/>
                <a:cs typeface="Georgia"/>
              </a:rPr>
              <a:t> </a:t>
            </a:r>
            <a:r>
              <a:rPr sz="1650" spc="-19" dirty="0">
                <a:latin typeface="Georgia"/>
                <a:cs typeface="Georgia"/>
              </a:rPr>
              <a:t>per </a:t>
            </a:r>
            <a:r>
              <a:rPr sz="1650" spc="-8" dirty="0">
                <a:latin typeface="Georgia"/>
                <a:cs typeface="Georgia"/>
              </a:rPr>
              <a:t>cluster</a:t>
            </a:r>
            <a:endParaRPr sz="1650" dirty="0">
              <a:latin typeface="Georgia"/>
              <a:cs typeface="Georgia"/>
            </a:endParaRPr>
          </a:p>
          <a:p>
            <a:pPr marL="87629" marR="60960" indent="-68580">
              <a:lnSpc>
                <a:spcPts val="1785"/>
              </a:lnSpc>
              <a:spcBef>
                <a:spcPts val="893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64783" algn="l"/>
              </a:tabLst>
            </a:pPr>
            <a:r>
              <a:rPr sz="1650" dirty="0">
                <a:latin typeface="Georgia"/>
                <a:cs typeface="Georgia"/>
              </a:rPr>
              <a:t>Each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remaining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object</a:t>
            </a:r>
            <a:r>
              <a:rPr sz="1650" spc="-30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is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clustered</a:t>
            </a:r>
            <a:r>
              <a:rPr sz="1650" spc="-23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with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representative</a:t>
            </a:r>
            <a:r>
              <a:rPr sz="1650" spc="-1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object</a:t>
            </a:r>
            <a:r>
              <a:rPr sz="1650" spc="-30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to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which</a:t>
            </a:r>
            <a:r>
              <a:rPr sz="1650" spc="-53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it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is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spc="-19" dirty="0">
                <a:latin typeface="Georgia"/>
                <a:cs typeface="Georgia"/>
              </a:rPr>
              <a:t>the </a:t>
            </a:r>
            <a:r>
              <a:rPr sz="1650" dirty="0">
                <a:latin typeface="Georgia"/>
                <a:cs typeface="Georgia"/>
              </a:rPr>
              <a:t>most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similar.</a:t>
            </a:r>
            <a:endParaRPr sz="1650" dirty="0">
              <a:latin typeface="Georgia"/>
              <a:cs typeface="Georgia"/>
            </a:endParaRPr>
          </a:p>
          <a:p>
            <a:pPr marL="87629" marR="13335" indent="-68580" algn="just">
              <a:lnSpc>
                <a:spcPts val="1785"/>
              </a:lnSpc>
              <a:spcBef>
                <a:spcPts val="896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64783" algn="l"/>
              </a:tabLst>
            </a:pPr>
            <a:r>
              <a:rPr sz="1650" dirty="0">
                <a:latin typeface="Georgia"/>
                <a:cs typeface="Georgia"/>
              </a:rPr>
              <a:t>Partitioning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method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is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then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performed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based</a:t>
            </a:r>
            <a:r>
              <a:rPr sz="1650" spc="-34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on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principle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of</a:t>
            </a:r>
            <a:r>
              <a:rPr sz="1650" spc="-90" dirty="0">
                <a:latin typeface="Georgia"/>
                <a:cs typeface="Georgia"/>
              </a:rPr>
              <a:t> </a:t>
            </a:r>
            <a:r>
              <a:rPr sz="1650" b="1" dirty="0">
                <a:latin typeface="Georgia"/>
                <a:cs typeface="Georgia"/>
              </a:rPr>
              <a:t>minimizing</a:t>
            </a:r>
            <a:r>
              <a:rPr sz="1650" b="1" spc="-49" dirty="0">
                <a:latin typeface="Georgia"/>
                <a:cs typeface="Georgia"/>
              </a:rPr>
              <a:t> </a:t>
            </a:r>
            <a:r>
              <a:rPr sz="1650" b="1" spc="-19" dirty="0">
                <a:latin typeface="Georgia"/>
                <a:cs typeface="Georgia"/>
              </a:rPr>
              <a:t>the </a:t>
            </a:r>
            <a:r>
              <a:rPr sz="1650" b="1" dirty="0">
                <a:latin typeface="Georgia"/>
                <a:cs typeface="Georgia"/>
              </a:rPr>
              <a:t>sum</a:t>
            </a:r>
            <a:r>
              <a:rPr sz="1650" b="1" spc="-34" dirty="0">
                <a:latin typeface="Georgia"/>
                <a:cs typeface="Georgia"/>
              </a:rPr>
              <a:t> </a:t>
            </a:r>
            <a:r>
              <a:rPr sz="1650" b="1" dirty="0">
                <a:latin typeface="Georgia"/>
                <a:cs typeface="Georgia"/>
              </a:rPr>
              <a:t>of</a:t>
            </a:r>
            <a:r>
              <a:rPr sz="1650" b="1" spc="-38" dirty="0">
                <a:latin typeface="Georgia"/>
                <a:cs typeface="Georgia"/>
              </a:rPr>
              <a:t> </a:t>
            </a:r>
            <a:r>
              <a:rPr sz="1650" b="1" dirty="0">
                <a:latin typeface="Georgia"/>
                <a:cs typeface="Georgia"/>
              </a:rPr>
              <a:t>the</a:t>
            </a:r>
            <a:r>
              <a:rPr sz="1650" b="1" spc="-19" dirty="0">
                <a:latin typeface="Georgia"/>
                <a:cs typeface="Georgia"/>
              </a:rPr>
              <a:t> </a:t>
            </a:r>
            <a:r>
              <a:rPr sz="1650" b="1" spc="-8" dirty="0">
                <a:latin typeface="Georgia"/>
                <a:cs typeface="Georgia"/>
              </a:rPr>
              <a:t>dissimilarities</a:t>
            </a:r>
            <a:r>
              <a:rPr sz="1650" b="1" spc="-6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between</a:t>
            </a:r>
            <a:r>
              <a:rPr sz="1650" spc="-1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each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object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and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its</a:t>
            </a:r>
            <a:r>
              <a:rPr sz="1650" spc="-30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corresponding</a:t>
            </a:r>
            <a:r>
              <a:rPr sz="1650" spc="-19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reference point</a:t>
            </a:r>
            <a:endParaRPr sz="1650" dirty="0">
              <a:latin typeface="Georgia"/>
              <a:cs typeface="Georgia"/>
            </a:endParaRPr>
          </a:p>
          <a:p>
            <a:pPr marL="164783" indent="-145733" algn="just">
              <a:lnSpc>
                <a:spcPts val="1886"/>
              </a:lnSpc>
              <a:spcBef>
                <a:spcPts val="671"/>
              </a:spcBef>
              <a:buClr>
                <a:srgbClr val="1CACE3"/>
              </a:buClr>
              <a:buFont typeface="Wingdings"/>
              <a:buChar char=""/>
              <a:tabLst>
                <a:tab pos="164783" algn="l"/>
              </a:tabLst>
            </a:pPr>
            <a:r>
              <a:rPr sz="1650" dirty="0">
                <a:latin typeface="Georgia"/>
                <a:cs typeface="Georgia"/>
              </a:rPr>
              <a:t>Absolute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Error</a:t>
            </a:r>
            <a:r>
              <a:rPr sz="1650" spc="-53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criterion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is</a:t>
            </a:r>
            <a:r>
              <a:rPr sz="1650" spc="-53" dirty="0">
                <a:latin typeface="Georgia"/>
                <a:cs typeface="Georgia"/>
              </a:rPr>
              <a:t> </a:t>
            </a:r>
            <a:r>
              <a:rPr sz="1650" spc="-15" dirty="0">
                <a:latin typeface="Georgia"/>
                <a:cs typeface="Georgia"/>
              </a:rPr>
              <a:t>used</a:t>
            </a:r>
            <a:endParaRPr sz="1650" dirty="0">
              <a:latin typeface="Georgia"/>
              <a:cs typeface="Georgia"/>
            </a:endParaRPr>
          </a:p>
          <a:p>
            <a:pPr marR="690086" algn="ctr">
              <a:lnSpc>
                <a:spcPts val="1481"/>
              </a:lnSpc>
            </a:pPr>
            <a:r>
              <a:rPr sz="1313" spc="34" dirty="0">
                <a:latin typeface="Cambria Math"/>
                <a:cs typeface="Cambria Math"/>
              </a:rPr>
              <a:t>𝑘</a:t>
            </a:r>
            <a:endParaRPr sz="1313" dirty="0">
              <a:latin typeface="Cambria Math"/>
              <a:cs typeface="Cambria Math"/>
            </a:endParaRPr>
          </a:p>
          <a:p>
            <a:pPr marL="354806" algn="ctr">
              <a:spcBef>
                <a:spcPts val="619"/>
              </a:spcBef>
              <a:tabLst>
                <a:tab pos="1227296" algn="l"/>
              </a:tabLst>
            </a:pPr>
            <a:r>
              <a:rPr dirty="0">
                <a:latin typeface="Cambria Math"/>
                <a:cs typeface="Cambria Math"/>
              </a:rPr>
              <a:t>𝐸</a:t>
            </a:r>
            <a:r>
              <a:rPr spc="161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98" dirty="0">
                <a:latin typeface="Cambria Math"/>
                <a:cs typeface="Cambria Math"/>
              </a:rPr>
              <a:t> </a:t>
            </a:r>
            <a:r>
              <a:rPr spc="536" dirty="0">
                <a:latin typeface="Cambria Math"/>
                <a:cs typeface="Cambria Math"/>
              </a:rPr>
              <a:t>෍</a:t>
            </a:r>
            <a:r>
              <a:rPr dirty="0">
                <a:latin typeface="Cambria Math"/>
                <a:cs typeface="Cambria Math"/>
              </a:rPr>
              <a:t>	</a:t>
            </a:r>
            <a:r>
              <a:rPr spc="574" dirty="0">
                <a:latin typeface="Cambria Math"/>
                <a:cs typeface="Cambria Math"/>
              </a:rPr>
              <a:t>෍</a:t>
            </a:r>
            <a:r>
              <a:rPr spc="184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𝑑𝑖𝑠𝑡(𝑝,</a:t>
            </a:r>
            <a:r>
              <a:rPr spc="-94" dirty="0">
                <a:latin typeface="Cambria Math"/>
                <a:cs typeface="Cambria Math"/>
              </a:rPr>
              <a:t> </a:t>
            </a:r>
            <a:r>
              <a:rPr spc="-19" dirty="0">
                <a:latin typeface="Cambria Math"/>
                <a:cs typeface="Cambria Math"/>
              </a:rPr>
              <a:t>𝑜</a:t>
            </a:r>
            <a:r>
              <a:rPr sz="1969" spc="-28" baseline="-15873" dirty="0">
                <a:latin typeface="Cambria Math"/>
                <a:cs typeface="Cambria Math"/>
              </a:rPr>
              <a:t>𝑗</a:t>
            </a:r>
            <a:r>
              <a:rPr spc="-19" dirty="0">
                <a:latin typeface="Cambria Math"/>
                <a:cs typeface="Cambria Math"/>
              </a:rPr>
              <a:t>)</a:t>
            </a:r>
            <a:endParaRPr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1263" y="4730973"/>
            <a:ext cx="811530" cy="2116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313" spc="60" dirty="0">
                <a:latin typeface="Cambria Math"/>
                <a:cs typeface="Cambria Math"/>
              </a:rPr>
              <a:t>𝑗=1  𝑝∈𝑐</a:t>
            </a:r>
            <a:r>
              <a:rPr sz="1631" spc="90" baseline="-13409" dirty="0">
                <a:latin typeface="Cambria Math"/>
                <a:cs typeface="Cambria Math"/>
              </a:rPr>
              <a:t>𝑗</a:t>
            </a:r>
            <a:endParaRPr sz="1631" baseline="-13409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5885" y="4714494"/>
            <a:ext cx="52149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8" dirty="0">
                <a:latin typeface="Georgia"/>
                <a:cs typeface="Georgia"/>
              </a:rPr>
              <a:t>Where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7310" y="4920233"/>
            <a:ext cx="2948464" cy="869308"/>
          </a:xfrm>
          <a:prstGeom prst="rect">
            <a:avLst/>
          </a:prstGeom>
        </p:spPr>
        <p:txBody>
          <a:bodyPr vert="horz" wrap="square" lIns="0" tIns="17621" rIns="0" bIns="0" rtlCol="0">
            <a:spAutoFit/>
          </a:bodyPr>
          <a:lstStyle/>
          <a:p>
            <a:pPr marL="252889" marR="41910" indent="-215265">
              <a:lnSpc>
                <a:spcPts val="1605"/>
              </a:lnSpc>
              <a:spcBef>
                <a:spcPts val="139"/>
              </a:spcBef>
              <a:buFont typeface="Arial MT"/>
              <a:buChar char="•"/>
              <a:tabLst>
                <a:tab pos="252889" algn="l"/>
              </a:tabLst>
            </a:pPr>
            <a:r>
              <a:rPr sz="1350" dirty="0">
                <a:latin typeface="Cambria Math"/>
                <a:cs typeface="Cambria Math"/>
              </a:rPr>
              <a:t>𝑝</a:t>
            </a:r>
            <a:r>
              <a:rPr sz="1350" spc="19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is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in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space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representing </a:t>
            </a:r>
            <a:r>
              <a:rPr sz="1350" dirty="0">
                <a:latin typeface="Georgia"/>
                <a:cs typeface="Georgia"/>
              </a:rPr>
              <a:t>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given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in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15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𝑐</a:t>
            </a:r>
            <a:r>
              <a:rPr sz="1463" spc="-28" baseline="-14957" dirty="0">
                <a:latin typeface="Cambria Math"/>
                <a:cs typeface="Cambria Math"/>
              </a:rPr>
              <a:t>𝑗</a:t>
            </a:r>
            <a:endParaRPr sz="1463" baseline="-14957" dirty="0">
              <a:latin typeface="Cambria Math"/>
              <a:cs typeface="Cambria Math"/>
            </a:endParaRPr>
          </a:p>
          <a:p>
            <a:pPr marL="252889" indent="-214789">
              <a:spcBef>
                <a:spcPts val="83"/>
              </a:spcBef>
              <a:buFont typeface="Arial MT"/>
              <a:buChar char="•"/>
              <a:tabLst>
                <a:tab pos="252889" algn="l"/>
              </a:tabLst>
            </a:pP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𝑗</a:t>
            </a:r>
            <a:r>
              <a:rPr sz="1463" spc="208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is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of</a:t>
            </a:r>
            <a:endParaRPr sz="1350" dirty="0">
              <a:latin typeface="Georgia"/>
              <a:cs typeface="Georgia"/>
            </a:endParaRPr>
          </a:p>
          <a:p>
            <a:pPr marL="252889">
              <a:spcBef>
                <a:spcPts val="127"/>
              </a:spcBef>
            </a:pP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𝑐</a:t>
            </a:r>
            <a:r>
              <a:rPr sz="1463" spc="-28" baseline="-14957" dirty="0">
                <a:latin typeface="Cambria Math"/>
                <a:cs typeface="Cambria Math"/>
              </a:rPr>
              <a:t>𝑗</a:t>
            </a:r>
            <a:endParaRPr sz="1463" baseline="-14957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9975" y="4867179"/>
            <a:ext cx="166449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Sum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absolute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error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07436" y="4694300"/>
            <a:ext cx="425291" cy="295275"/>
          </a:xfrm>
          <a:custGeom>
            <a:avLst/>
            <a:gdLst/>
            <a:ahLst/>
            <a:cxnLst/>
            <a:rect l="l" t="t" r="r" b="b"/>
            <a:pathLst>
              <a:path w="567054" h="393700">
                <a:moveTo>
                  <a:pt x="500623" y="38047"/>
                </a:moveTo>
                <a:lnTo>
                  <a:pt x="0" y="383158"/>
                </a:lnTo>
                <a:lnTo>
                  <a:pt x="7112" y="393572"/>
                </a:lnTo>
                <a:lnTo>
                  <a:pt x="507827" y="48483"/>
                </a:lnTo>
                <a:lnTo>
                  <a:pt x="500623" y="38047"/>
                </a:lnTo>
                <a:close/>
              </a:path>
              <a:path w="567054" h="393700">
                <a:moveTo>
                  <a:pt x="549975" y="30860"/>
                </a:moveTo>
                <a:lnTo>
                  <a:pt x="511048" y="30860"/>
                </a:lnTo>
                <a:lnTo>
                  <a:pt x="518287" y="41274"/>
                </a:lnTo>
                <a:lnTo>
                  <a:pt x="507827" y="48483"/>
                </a:lnTo>
                <a:lnTo>
                  <a:pt x="525906" y="74675"/>
                </a:lnTo>
                <a:lnTo>
                  <a:pt x="549975" y="30860"/>
                </a:lnTo>
                <a:close/>
              </a:path>
              <a:path w="567054" h="393700">
                <a:moveTo>
                  <a:pt x="511048" y="30860"/>
                </a:moveTo>
                <a:lnTo>
                  <a:pt x="500623" y="38047"/>
                </a:lnTo>
                <a:lnTo>
                  <a:pt x="507827" y="48483"/>
                </a:lnTo>
                <a:lnTo>
                  <a:pt x="518287" y="41274"/>
                </a:lnTo>
                <a:lnTo>
                  <a:pt x="511048" y="30860"/>
                </a:lnTo>
                <a:close/>
              </a:path>
              <a:path w="567054" h="393700">
                <a:moveTo>
                  <a:pt x="566927" y="0"/>
                </a:moveTo>
                <a:lnTo>
                  <a:pt x="482600" y="11937"/>
                </a:lnTo>
                <a:lnTo>
                  <a:pt x="500623" y="38047"/>
                </a:lnTo>
                <a:lnTo>
                  <a:pt x="511048" y="30860"/>
                </a:lnTo>
                <a:lnTo>
                  <a:pt x="549975" y="30860"/>
                </a:lnTo>
                <a:lnTo>
                  <a:pt x="566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6035" y="368412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889" y="1945005"/>
            <a:ext cx="7918133" cy="1651895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87629" marR="609600" indent="-68580">
              <a:lnSpc>
                <a:spcPts val="1620"/>
              </a:lnSpc>
              <a:spcBef>
                <a:spcPts val="281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52400" algn="l"/>
              </a:tabLst>
            </a:pP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iterative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process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replacing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4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by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nonrepresentative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objects </a:t>
            </a:r>
            <a:r>
              <a:rPr sz="1500" dirty="0">
                <a:latin typeface="Georgia"/>
                <a:cs typeface="Georgia"/>
              </a:rPr>
              <a:t>continues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as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long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as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quality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resulting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clustering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improved.</a:t>
            </a:r>
            <a:endParaRPr sz="1500">
              <a:latin typeface="Georgia"/>
              <a:cs typeface="Georgia"/>
            </a:endParaRPr>
          </a:p>
          <a:p>
            <a:pPr marL="87629" marR="13335" indent="-68580">
              <a:lnSpc>
                <a:spcPts val="1650"/>
              </a:lnSpc>
              <a:spcBef>
                <a:spcPts val="1013"/>
              </a:spcBef>
              <a:buClr>
                <a:srgbClr val="1CACE3"/>
              </a:buClr>
              <a:buSzPct val="110000"/>
              <a:buFont typeface="Wingdings"/>
              <a:buChar char=""/>
              <a:tabLst>
                <a:tab pos="87629" algn="l"/>
                <a:tab pos="164783" algn="l"/>
              </a:tabLst>
            </a:pPr>
            <a:r>
              <a:rPr sz="1500" dirty="0">
                <a:latin typeface="Georgia"/>
                <a:cs typeface="Georgia"/>
              </a:rPr>
              <a:t>Quality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measured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by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cost</a:t>
            </a:r>
            <a:r>
              <a:rPr sz="1500" b="1" spc="-15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function</a:t>
            </a:r>
            <a:r>
              <a:rPr sz="1500" b="1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that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measures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average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dissimilarity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between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spc="-19" dirty="0">
                <a:latin typeface="Georgia"/>
                <a:cs typeface="Georgia"/>
              </a:rPr>
              <a:t>an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and 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its</a:t>
            </a:r>
            <a:r>
              <a:rPr sz="1500" spc="-8" dirty="0">
                <a:latin typeface="Georgia"/>
                <a:cs typeface="Georgia"/>
              </a:rPr>
              <a:t> cluster.</a:t>
            </a:r>
            <a:endParaRPr sz="1500">
              <a:latin typeface="Georgia"/>
              <a:cs typeface="Georgia"/>
            </a:endParaRPr>
          </a:p>
          <a:p>
            <a:pPr marL="152400" indent="-133350">
              <a:spcBef>
                <a:spcPts val="686"/>
              </a:spcBef>
              <a:buClr>
                <a:srgbClr val="1CACE3"/>
              </a:buClr>
              <a:buFont typeface="Wingdings"/>
              <a:buChar char=""/>
              <a:tabLst>
                <a:tab pos="152400" algn="l"/>
              </a:tabLst>
            </a:pPr>
            <a:r>
              <a:rPr sz="1500" dirty="0">
                <a:latin typeface="Georgia"/>
                <a:cs typeface="Georgia"/>
              </a:rPr>
              <a:t>Four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cases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are</a:t>
            </a:r>
            <a:r>
              <a:rPr sz="1500" spc="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examined</a:t>
            </a:r>
            <a:r>
              <a:rPr sz="1500" spc="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for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 of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nonrepresentative</a:t>
            </a:r>
            <a:r>
              <a:rPr sz="1500" spc="-8" dirty="0">
                <a:latin typeface="Georgia"/>
                <a:cs typeface="Georgia"/>
              </a:rPr>
              <a:t> objects,</a:t>
            </a:r>
            <a:r>
              <a:rPr sz="1500" spc="-105" dirty="0">
                <a:latin typeface="Georgia"/>
                <a:cs typeface="Georgia"/>
              </a:rPr>
              <a:t> </a:t>
            </a:r>
            <a:r>
              <a:rPr sz="1500" spc="-19" dirty="0">
                <a:latin typeface="Cambria Math"/>
                <a:cs typeface="Cambria Math"/>
              </a:rPr>
              <a:t>𝑝</a:t>
            </a:r>
            <a:r>
              <a:rPr sz="1500" spc="-19" dirty="0">
                <a:latin typeface="Georgia"/>
                <a:cs typeface="Georgia"/>
              </a:rPr>
              <a:t>.</a:t>
            </a:r>
            <a:endParaRPr sz="1500">
              <a:latin typeface="Georgia"/>
              <a:cs typeface="Georgia"/>
            </a:endParaRPr>
          </a:p>
          <a:p>
            <a:pPr marL="152400" indent="-133350">
              <a:spcBef>
                <a:spcPts val="739"/>
              </a:spcBef>
              <a:buClr>
                <a:srgbClr val="1CACE3"/>
              </a:buClr>
              <a:buFont typeface="Wingdings"/>
              <a:buChar char=""/>
              <a:tabLst>
                <a:tab pos="152400" algn="l"/>
              </a:tabLst>
            </a:pPr>
            <a:r>
              <a:rPr sz="1500" dirty="0">
                <a:latin typeface="Georgia"/>
                <a:cs typeface="Georgia"/>
              </a:rPr>
              <a:t>Suppose,</a:t>
            </a:r>
            <a:r>
              <a:rPr sz="1500" spc="-4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41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𝒑</a:t>
            </a:r>
            <a:r>
              <a:rPr sz="1500" spc="1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currently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assigned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represented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by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medoid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spc="-19" dirty="0">
                <a:latin typeface="Cambria Math"/>
                <a:cs typeface="Cambria Math"/>
              </a:rPr>
              <a:t>𝑶</a:t>
            </a:r>
            <a:r>
              <a:rPr sz="1631" spc="-28" baseline="-15325" dirty="0">
                <a:latin typeface="Cambria Math"/>
                <a:cs typeface="Cambria Math"/>
              </a:rPr>
              <a:t>𝒋</a:t>
            </a:r>
            <a:endParaRPr sz="1631" baseline="-15325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221" y="3711893"/>
            <a:ext cx="1840230" cy="1560195"/>
          </a:xfrm>
          <a:custGeom>
            <a:avLst/>
            <a:gdLst/>
            <a:ahLst/>
            <a:cxnLst/>
            <a:rect l="l" t="t" r="r" b="b"/>
            <a:pathLst>
              <a:path w="2453640" h="2080260">
                <a:moveTo>
                  <a:pt x="0" y="2080260"/>
                </a:moveTo>
                <a:lnTo>
                  <a:pt x="2453640" y="2080260"/>
                </a:lnTo>
                <a:lnTo>
                  <a:pt x="2453640" y="0"/>
                </a:lnTo>
                <a:lnTo>
                  <a:pt x="0" y="0"/>
                </a:lnTo>
                <a:lnTo>
                  <a:pt x="0" y="208026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594288" y="3711893"/>
            <a:ext cx="1841659" cy="1560195"/>
          </a:xfrm>
          <a:custGeom>
            <a:avLst/>
            <a:gdLst/>
            <a:ahLst/>
            <a:cxnLst/>
            <a:rect l="l" t="t" r="r" b="b"/>
            <a:pathLst>
              <a:path w="2455545" h="2080260">
                <a:moveTo>
                  <a:pt x="0" y="2080260"/>
                </a:moveTo>
                <a:lnTo>
                  <a:pt x="2455164" y="2080260"/>
                </a:lnTo>
                <a:lnTo>
                  <a:pt x="2455164" y="0"/>
                </a:lnTo>
                <a:lnTo>
                  <a:pt x="0" y="0"/>
                </a:lnTo>
                <a:lnTo>
                  <a:pt x="0" y="208026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1221866" y="4237863"/>
            <a:ext cx="11620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𝒑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433" y="3814763"/>
            <a:ext cx="22002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𝒊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1560" y="4164711"/>
            <a:ext cx="22240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𝒋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8486" y="4779645"/>
            <a:ext cx="66865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2025" spc="-11" baseline="10802" dirty="0">
                <a:latin typeface="Cambria Math"/>
                <a:cs typeface="Cambria Math"/>
              </a:rPr>
              <a:t>𝑶</a:t>
            </a:r>
            <a:r>
              <a:rPr sz="975" spc="-8" dirty="0">
                <a:latin typeface="Cambria Math"/>
                <a:cs typeface="Cambria Math"/>
              </a:rPr>
              <a:t>𝒓𝒂𝒏𝒅𝒐𝒎</a:t>
            </a:r>
            <a:endParaRPr sz="975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2691" y="4030503"/>
            <a:ext cx="807244" cy="364807"/>
            <a:chOff x="1283588" y="4231004"/>
            <a:chExt cx="1076325" cy="486409"/>
          </a:xfrm>
        </p:grpSpPr>
        <p:sp>
          <p:nvSpPr>
            <p:cNvPr id="11" name="object 11"/>
            <p:cNvSpPr/>
            <p:nvPr/>
          </p:nvSpPr>
          <p:spPr>
            <a:xfrm>
              <a:off x="1802130" y="4626101"/>
              <a:ext cx="548005" cy="81915"/>
            </a:xfrm>
            <a:custGeom>
              <a:avLst/>
              <a:gdLst/>
              <a:ahLst/>
              <a:cxnLst/>
              <a:rect l="l" t="t" r="r" b="b"/>
              <a:pathLst>
                <a:path w="548005" h="81914">
                  <a:moveTo>
                    <a:pt x="0" y="81406"/>
                  </a:moveTo>
                  <a:lnTo>
                    <a:pt x="547751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3113" y="4240529"/>
              <a:ext cx="300990" cy="379730"/>
            </a:xfrm>
            <a:custGeom>
              <a:avLst/>
              <a:gdLst/>
              <a:ahLst/>
              <a:cxnLst/>
              <a:rect l="l" t="t" r="r" b="b"/>
              <a:pathLst>
                <a:path w="300990" h="379729">
                  <a:moveTo>
                    <a:pt x="300863" y="37960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1F5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12327" y="3711893"/>
            <a:ext cx="1840230" cy="1217802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29064" rIns="0" bIns="0" rtlCol="0">
            <a:spAutoFit/>
          </a:bodyPr>
          <a:lstStyle/>
          <a:p>
            <a:pPr marL="294323">
              <a:spcBef>
                <a:spcPts val="1016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𝒊</a:t>
            </a:r>
            <a:endParaRPr sz="1463" baseline="-14957">
              <a:latin typeface="Cambria Math"/>
              <a:cs typeface="Cambria Math"/>
            </a:endParaRPr>
          </a:p>
          <a:p>
            <a:pPr marL="790575" algn="ctr">
              <a:spcBef>
                <a:spcPts val="1136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𝒋</a:t>
            </a:r>
            <a:endParaRPr sz="1463" baseline="-14957">
              <a:latin typeface="Cambria Math"/>
              <a:cs typeface="Cambria Math"/>
            </a:endParaRPr>
          </a:p>
          <a:p>
            <a:pPr marR="483870" algn="ctr">
              <a:spcBef>
                <a:spcPts val="379"/>
              </a:spcBef>
            </a:pPr>
            <a:r>
              <a:rPr sz="1350" spc="-38" dirty="0">
                <a:latin typeface="Cambria Math"/>
                <a:cs typeface="Cambria Math"/>
              </a:rPr>
              <a:t>𝒑</a:t>
            </a:r>
            <a:endParaRPr sz="1350">
              <a:latin typeface="Cambria Math"/>
              <a:cs typeface="Cambria Math"/>
            </a:endParaRPr>
          </a:p>
          <a:p>
            <a:pPr marL="1043940" algn="ctr">
              <a:spcBef>
                <a:spcPts val="521"/>
              </a:spcBef>
            </a:pPr>
            <a:r>
              <a:rPr sz="2025" spc="-11" baseline="10802" dirty="0">
                <a:latin typeface="Cambria Math"/>
                <a:cs typeface="Cambria Math"/>
              </a:rPr>
              <a:t>𝑶</a:t>
            </a:r>
            <a:r>
              <a:rPr sz="975" spc="-8" dirty="0">
                <a:latin typeface="Cambria Math"/>
                <a:cs typeface="Cambria Math"/>
              </a:rPr>
              <a:t>𝒓𝒂𝒏𝒅𝒐𝒎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63277" y="4343971"/>
            <a:ext cx="408623" cy="211455"/>
          </a:xfrm>
          <a:custGeom>
            <a:avLst/>
            <a:gdLst/>
            <a:ahLst/>
            <a:cxnLst/>
            <a:rect l="l" t="t" r="r" b="b"/>
            <a:pathLst>
              <a:path w="544829" h="281939">
                <a:moveTo>
                  <a:pt x="0" y="281939"/>
                </a:moveTo>
                <a:lnTo>
                  <a:pt x="544449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3362135" y="4664012"/>
            <a:ext cx="313849" cy="127635"/>
          </a:xfrm>
          <a:custGeom>
            <a:avLst/>
            <a:gdLst/>
            <a:ahLst/>
            <a:cxnLst/>
            <a:rect l="l" t="t" r="r" b="b"/>
            <a:pathLst>
              <a:path w="418464" h="170179">
                <a:moveTo>
                  <a:pt x="418211" y="170053"/>
                </a:moveTo>
                <a:lnTo>
                  <a:pt x="0" y="0"/>
                </a:lnTo>
              </a:path>
            </a:pathLst>
          </a:custGeom>
          <a:ln w="19049">
            <a:solidFill>
              <a:srgbClr val="001F5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/>
        </p:nvSpPr>
        <p:spPr>
          <a:xfrm>
            <a:off x="4769072" y="4345553"/>
            <a:ext cx="11620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𝒑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0981" y="3785902"/>
            <a:ext cx="22002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𝒊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4248" y="4185762"/>
            <a:ext cx="22240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𝒋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1174" y="4800696"/>
            <a:ext cx="66865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2025" spc="-11" baseline="10802" dirty="0">
                <a:latin typeface="Cambria Math"/>
                <a:cs typeface="Cambria Math"/>
              </a:rPr>
              <a:t>𝑶</a:t>
            </a:r>
            <a:r>
              <a:rPr sz="975" spc="-8" dirty="0">
                <a:latin typeface="Cambria Math"/>
                <a:cs typeface="Cambria Math"/>
              </a:rPr>
              <a:t>𝒓𝒂𝒏𝒅𝒐𝒎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22888" y="4043363"/>
            <a:ext cx="28099" cy="383381"/>
          </a:xfrm>
          <a:custGeom>
            <a:avLst/>
            <a:gdLst/>
            <a:ahLst/>
            <a:cxnLst/>
            <a:rect l="l" t="t" r="r" b="b"/>
            <a:pathLst>
              <a:path w="37464" h="511175">
                <a:moveTo>
                  <a:pt x="0" y="510667"/>
                </a:moveTo>
                <a:lnTo>
                  <a:pt x="36957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6577393" y="3711893"/>
            <a:ext cx="1840230" cy="1345401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39529" rIns="0" bIns="0" rtlCol="0">
            <a:spAutoFit/>
          </a:bodyPr>
          <a:lstStyle/>
          <a:p>
            <a:pPr>
              <a:spcBef>
                <a:spcPts val="311"/>
              </a:spcBef>
            </a:pPr>
            <a:endParaRPr sz="975">
              <a:latin typeface="Times New Roman"/>
              <a:cs typeface="Times New Roman"/>
            </a:endParaRPr>
          </a:p>
          <a:p>
            <a:pPr marL="341948"/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𝒊</a:t>
            </a:r>
            <a:endParaRPr sz="1463" baseline="-14957">
              <a:latin typeface="Cambria Math"/>
              <a:cs typeface="Cambria Math"/>
            </a:endParaRPr>
          </a:p>
          <a:p>
            <a:pPr marL="749141" algn="ctr">
              <a:spcBef>
                <a:spcPts val="754"/>
              </a:spcBef>
            </a:pP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𝒋</a:t>
            </a:r>
            <a:endParaRPr sz="1463" baseline="-14957">
              <a:latin typeface="Cambria Math"/>
              <a:cs typeface="Cambria Math"/>
            </a:endParaRPr>
          </a:p>
          <a:p>
            <a:pPr>
              <a:spcBef>
                <a:spcPts val="566"/>
              </a:spcBef>
            </a:pPr>
            <a:endParaRPr sz="975">
              <a:latin typeface="Cambria Math"/>
              <a:cs typeface="Cambria Math"/>
            </a:endParaRPr>
          </a:p>
          <a:p>
            <a:pPr marL="302895">
              <a:lnSpc>
                <a:spcPts val="1568"/>
              </a:lnSpc>
            </a:pPr>
            <a:r>
              <a:rPr sz="1350" spc="-38" dirty="0">
                <a:latin typeface="Cambria Math"/>
                <a:cs typeface="Cambria Math"/>
              </a:rPr>
              <a:t>𝒑</a:t>
            </a:r>
            <a:endParaRPr sz="1350">
              <a:latin typeface="Cambria Math"/>
              <a:cs typeface="Cambria Math"/>
            </a:endParaRPr>
          </a:p>
          <a:p>
            <a:pPr marL="769144" algn="ctr">
              <a:lnSpc>
                <a:spcPts val="1568"/>
              </a:lnSpc>
            </a:pPr>
            <a:r>
              <a:rPr sz="2025" spc="-11" baseline="10802" dirty="0">
                <a:latin typeface="Cambria Math"/>
                <a:cs typeface="Cambria Math"/>
              </a:rPr>
              <a:t>𝑶</a:t>
            </a:r>
            <a:r>
              <a:rPr sz="975" spc="-8" dirty="0">
                <a:latin typeface="Cambria Math"/>
                <a:cs typeface="Cambria Math"/>
              </a:rPr>
              <a:t>𝒓𝒂𝒏𝒅𝒐𝒎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34009" y="4119943"/>
            <a:ext cx="46196" cy="500063"/>
          </a:xfrm>
          <a:custGeom>
            <a:avLst/>
            <a:gdLst/>
            <a:ahLst/>
            <a:cxnLst/>
            <a:rect l="l" t="t" r="r" b="b"/>
            <a:pathLst>
              <a:path w="61595" h="666750">
                <a:moveTo>
                  <a:pt x="0" y="666369"/>
                </a:moveTo>
                <a:lnTo>
                  <a:pt x="61595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/>
          <p:nvPr/>
        </p:nvSpPr>
        <p:spPr>
          <a:xfrm>
            <a:off x="7023164" y="4790885"/>
            <a:ext cx="480060" cy="93345"/>
          </a:xfrm>
          <a:custGeom>
            <a:avLst/>
            <a:gdLst/>
            <a:ahLst/>
            <a:cxnLst/>
            <a:rect l="l" t="t" r="r" b="b"/>
            <a:pathLst>
              <a:path w="640079" h="124460">
                <a:moveTo>
                  <a:pt x="639699" y="12433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1F5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634212" y="5206212"/>
            <a:ext cx="1303020" cy="4968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561499">
              <a:lnSpc>
                <a:spcPct val="123300"/>
              </a:lnSpc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Case</a:t>
            </a:r>
            <a:r>
              <a:rPr sz="1350" spc="-38" dirty="0">
                <a:latin typeface="Georgia"/>
                <a:cs typeface="Georgia"/>
              </a:rPr>
              <a:t> 1 </a:t>
            </a:r>
            <a:r>
              <a:rPr sz="1350" dirty="0">
                <a:latin typeface="Georgia"/>
                <a:cs typeface="Georgia"/>
              </a:rPr>
              <a:t>Before</a:t>
            </a:r>
            <a:r>
              <a:rPr sz="1350" spc="-4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Swapping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49644" y="5246446"/>
            <a:ext cx="51054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Case</a:t>
            </a:r>
            <a:r>
              <a:rPr sz="1350" spc="-38" dirty="0">
                <a:latin typeface="Georgia"/>
                <a:cs typeface="Georgia"/>
              </a:rPr>
              <a:t> 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6465" y="5246446"/>
            <a:ext cx="50911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Case</a:t>
            </a:r>
            <a:r>
              <a:rPr sz="1350" spc="-38" dirty="0">
                <a:latin typeface="Georgia"/>
                <a:cs typeface="Georgia"/>
              </a:rPr>
              <a:t> 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41857" y="5254218"/>
            <a:ext cx="51149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Case</a:t>
            </a:r>
            <a:r>
              <a:rPr sz="1350" spc="-38" dirty="0">
                <a:latin typeface="Georgia"/>
                <a:cs typeface="Georgia"/>
              </a:rPr>
              <a:t> 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031683" y="5662994"/>
            <a:ext cx="876776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653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 txBox="1"/>
          <p:nvPr/>
        </p:nvSpPr>
        <p:spPr>
          <a:xfrm>
            <a:off x="3649694" y="5545912"/>
            <a:ext cx="119062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After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Swapping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18341" y="5692711"/>
            <a:ext cx="941070" cy="4763"/>
          </a:xfrm>
          <a:custGeom>
            <a:avLst/>
            <a:gdLst/>
            <a:ahLst/>
            <a:cxnLst/>
            <a:rect l="l" t="t" r="r" b="b"/>
            <a:pathLst>
              <a:path w="1254759" h="6350">
                <a:moveTo>
                  <a:pt x="1254759" y="0"/>
                </a:moveTo>
                <a:lnTo>
                  <a:pt x="0" y="6096"/>
                </a:lnTo>
              </a:path>
            </a:pathLst>
          </a:custGeom>
          <a:ln w="19050">
            <a:solidFill>
              <a:srgbClr val="001F5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3634" y="33569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967" y="2143633"/>
            <a:ext cx="8150066" cy="2985272"/>
          </a:xfrm>
          <a:prstGeom prst="rect">
            <a:avLst/>
          </a:prstGeom>
        </p:spPr>
        <p:txBody>
          <a:bodyPr vert="horz" wrap="square" lIns="0" tIns="40481" rIns="0" bIns="0" rtlCol="0">
            <a:spAutoFit/>
          </a:bodyPr>
          <a:lstStyle/>
          <a:p>
            <a:pPr marL="87629" marR="1072515" indent="-68580">
              <a:lnSpc>
                <a:spcPts val="1943"/>
              </a:lnSpc>
              <a:spcBef>
                <a:spcPts val="319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78594" algn="l"/>
              </a:tabLst>
            </a:pPr>
            <a:r>
              <a:rPr dirty="0">
                <a:latin typeface="Georgia"/>
                <a:cs typeface="Georgia"/>
              </a:rPr>
              <a:t>	Each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time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reassignment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occurs,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difference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absolute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error,</a:t>
            </a:r>
            <a:r>
              <a:rPr spc="-60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𝐸</a:t>
            </a:r>
            <a:r>
              <a:rPr dirty="0">
                <a:latin typeface="Georgia"/>
                <a:cs typeface="Georgia"/>
              </a:rPr>
              <a:t>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19" dirty="0">
                <a:latin typeface="Georgia"/>
                <a:cs typeface="Georgia"/>
              </a:rPr>
              <a:t>is </a:t>
            </a:r>
            <a:r>
              <a:rPr dirty="0">
                <a:latin typeface="Georgia"/>
                <a:cs typeface="Georgia"/>
              </a:rPr>
              <a:t>contributed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to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cost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function.</a:t>
            </a:r>
            <a:endParaRPr dirty="0">
              <a:latin typeface="Georgia"/>
              <a:cs typeface="Georgia"/>
            </a:endParaRPr>
          </a:p>
          <a:p>
            <a:pPr marL="87629" marR="134303" indent="-68580">
              <a:lnSpc>
                <a:spcPts val="1943"/>
              </a:lnSpc>
              <a:spcBef>
                <a:spcPts val="904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78594" algn="l"/>
              </a:tabLst>
            </a:pPr>
            <a:r>
              <a:rPr dirty="0">
                <a:latin typeface="Georgia"/>
                <a:cs typeface="Georgia"/>
              </a:rPr>
              <a:t>	Therefore,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cost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function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calculates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difference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spc="-19" dirty="0">
                <a:latin typeface="Georgia"/>
                <a:cs typeface="Georgia"/>
              </a:rPr>
              <a:t>absolute-</a:t>
            </a:r>
            <a:r>
              <a:rPr dirty="0">
                <a:latin typeface="Georgia"/>
                <a:cs typeface="Georgia"/>
              </a:rPr>
              <a:t>error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value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spc="-19" dirty="0">
                <a:latin typeface="Georgia"/>
                <a:cs typeface="Georgia"/>
              </a:rPr>
              <a:t>if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current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representative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object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replaced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by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nonrepresentative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object.</a:t>
            </a:r>
            <a:endParaRPr dirty="0">
              <a:latin typeface="Georgia"/>
              <a:cs typeface="Georgia"/>
            </a:endParaRPr>
          </a:p>
          <a:p>
            <a:pPr marL="87629" marR="13335" indent="-68580">
              <a:lnSpc>
                <a:spcPts val="1943"/>
              </a:lnSpc>
              <a:spcBef>
                <a:spcPts val="904"/>
              </a:spcBef>
              <a:buClr>
                <a:srgbClr val="1CACE3"/>
              </a:buClr>
              <a:buFont typeface="Wingdings"/>
              <a:buChar char=""/>
              <a:tabLst>
                <a:tab pos="87629" algn="l"/>
                <a:tab pos="178594" algn="l"/>
              </a:tabLst>
            </a:pPr>
            <a:r>
              <a:rPr dirty="0">
                <a:latin typeface="Georgia"/>
                <a:cs typeface="Georgia"/>
              </a:rPr>
              <a:t>	The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total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cost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swapping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sum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costs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incurred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by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all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nonrepresentative objects.</a:t>
            </a:r>
            <a:endParaRPr dirty="0">
              <a:latin typeface="Georgia"/>
              <a:cs typeface="Georgia"/>
            </a:endParaRPr>
          </a:p>
          <a:p>
            <a:pPr marL="264319" lvl="1" indent="-149543">
              <a:spcBef>
                <a:spcPts val="716"/>
              </a:spcBef>
              <a:buClr>
                <a:srgbClr val="1CACE3"/>
              </a:buClr>
              <a:buFont typeface="Wingdings"/>
              <a:buChar char=""/>
              <a:tabLst>
                <a:tab pos="264319" algn="l"/>
              </a:tabLst>
            </a:pPr>
            <a:r>
              <a:rPr sz="1500" dirty="0">
                <a:latin typeface="Georgia"/>
                <a:cs typeface="Georgia"/>
              </a:rPr>
              <a:t>If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total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cost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negative,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then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𝑂</a:t>
            </a:r>
            <a:r>
              <a:rPr sz="1631" baseline="-15325" dirty="0">
                <a:latin typeface="Cambria Math"/>
                <a:cs typeface="Cambria Math"/>
              </a:rPr>
              <a:t>𝑗</a:t>
            </a:r>
            <a:r>
              <a:rPr sz="1631" spc="309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replaced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or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swapped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with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45" dirty="0">
                <a:latin typeface="Cambria Math"/>
                <a:cs typeface="Cambria Math"/>
              </a:rPr>
              <a:t>𝑂</a:t>
            </a:r>
            <a:r>
              <a:rPr sz="1631" spc="67" baseline="-15325" dirty="0">
                <a:latin typeface="Cambria Math"/>
                <a:cs typeface="Cambria Math"/>
              </a:rPr>
              <a:t>𝑟𝑎𝑛𝑑𝑜𝑚</a:t>
            </a:r>
            <a:endParaRPr sz="1631" baseline="-15325" dirty="0">
              <a:latin typeface="Cambria Math"/>
              <a:cs typeface="Cambria Math"/>
            </a:endParaRPr>
          </a:p>
          <a:p>
            <a:pPr marL="264319" lvl="1" indent="-149543">
              <a:lnSpc>
                <a:spcPts val="1770"/>
              </a:lnSpc>
              <a:spcBef>
                <a:spcPts val="844"/>
              </a:spcBef>
              <a:buClr>
                <a:srgbClr val="1CACE3"/>
              </a:buClr>
              <a:buFont typeface="Wingdings"/>
              <a:buChar char=""/>
              <a:tabLst>
                <a:tab pos="264319" algn="l"/>
              </a:tabLst>
            </a:pPr>
            <a:r>
              <a:rPr sz="1500" dirty="0">
                <a:latin typeface="Georgia"/>
                <a:cs typeface="Georgia"/>
              </a:rPr>
              <a:t>If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total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cost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positive,</a:t>
            </a:r>
            <a:r>
              <a:rPr sz="1500" spc="-4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current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object,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𝑂</a:t>
            </a:r>
            <a:r>
              <a:rPr sz="1631" baseline="-15325" dirty="0">
                <a:latin typeface="Cambria Math"/>
                <a:cs typeface="Cambria Math"/>
              </a:rPr>
              <a:t>𝑗</a:t>
            </a:r>
            <a:r>
              <a:rPr sz="1500" dirty="0">
                <a:latin typeface="Georgia"/>
                <a:cs typeface="Georgia"/>
              </a:rPr>
              <a:t>,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considered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acceptable,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spc="-19" dirty="0">
                <a:latin typeface="Georgia"/>
                <a:cs typeface="Georgia"/>
              </a:rPr>
              <a:t>and</a:t>
            </a:r>
            <a:endParaRPr sz="1500" dirty="0">
              <a:latin typeface="Georgia"/>
              <a:cs typeface="Georgia"/>
            </a:endParaRPr>
          </a:p>
          <a:p>
            <a:pPr marL="218123">
              <a:lnSpc>
                <a:spcPts val="1770"/>
              </a:lnSpc>
            </a:pPr>
            <a:r>
              <a:rPr sz="1500" dirty="0">
                <a:latin typeface="Georgia"/>
                <a:cs typeface="Georgia"/>
              </a:rPr>
              <a:t>nothing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8" dirty="0">
                <a:latin typeface="Georgia"/>
                <a:cs typeface="Georgia"/>
              </a:rPr>
              <a:t> changed.</a:t>
            </a:r>
            <a:endParaRPr sz="1500" dirty="0">
              <a:latin typeface="Georgia"/>
              <a:cs typeface="Georgia"/>
            </a:endParaRPr>
          </a:p>
          <a:p>
            <a:pPr marL="178594" indent="-159544">
              <a:spcBef>
                <a:spcPts val="683"/>
              </a:spcBef>
              <a:buClr>
                <a:srgbClr val="1CACE3"/>
              </a:buClr>
              <a:buFont typeface="Wingdings"/>
              <a:buChar char=""/>
              <a:tabLst>
                <a:tab pos="178594" algn="l"/>
              </a:tabLst>
            </a:pPr>
            <a:r>
              <a:rPr dirty="0">
                <a:latin typeface="Georgia"/>
                <a:cs typeface="Georgia"/>
              </a:rPr>
              <a:t>PAM(Partitioning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Around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Medoids)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was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one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first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spc="-41" dirty="0">
                <a:latin typeface="Georgia"/>
                <a:cs typeface="Georgia"/>
              </a:rPr>
              <a:t>k-</a:t>
            </a:r>
            <a:r>
              <a:rPr dirty="0">
                <a:latin typeface="Georgia"/>
                <a:cs typeface="Georgia"/>
              </a:rPr>
              <a:t>medoids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algorithms</a:t>
            </a:r>
            <a:endParaRPr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51366" y="301825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889" y="1853564"/>
            <a:ext cx="7323773" cy="3513719"/>
          </a:xfrm>
          <a:prstGeom prst="rect">
            <a:avLst/>
          </a:prstGeom>
        </p:spPr>
        <p:txBody>
          <a:bodyPr vert="horz" wrap="square" lIns="0" tIns="96203" rIns="0" bIns="0" rtlCol="0">
            <a:spAutoFit/>
          </a:bodyPr>
          <a:lstStyle/>
          <a:p>
            <a:pPr marL="19050">
              <a:spcBef>
                <a:spcPts val="758"/>
              </a:spcBef>
            </a:pPr>
            <a:r>
              <a:rPr dirty="0">
                <a:solidFill>
                  <a:srgbClr val="C00000"/>
                </a:solidFill>
                <a:latin typeface="Georgia"/>
                <a:cs typeface="Georgia"/>
              </a:rPr>
              <a:t>Input</a:t>
            </a:r>
            <a:r>
              <a:rPr dirty="0">
                <a:latin typeface="Georgia"/>
                <a:cs typeface="Georgia"/>
              </a:rPr>
              <a:t>: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𝑘</a:t>
            </a:r>
            <a:r>
              <a:rPr spc="-75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number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clusters,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𝑛</a:t>
            </a:r>
            <a:r>
              <a:rPr spc="41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data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from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data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set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spc="-38" dirty="0">
                <a:latin typeface="Cambria Math"/>
                <a:cs typeface="Cambria Math"/>
              </a:rPr>
              <a:t>𝐷</a:t>
            </a:r>
            <a:endParaRPr>
              <a:latin typeface="Cambria Math"/>
              <a:cs typeface="Cambria Math"/>
            </a:endParaRPr>
          </a:p>
          <a:p>
            <a:pPr marL="19050" marR="4735354">
              <a:lnSpc>
                <a:spcPct val="131700"/>
              </a:lnSpc>
            </a:pPr>
            <a:r>
              <a:rPr dirty="0">
                <a:solidFill>
                  <a:srgbClr val="C00000"/>
                </a:solidFill>
                <a:latin typeface="Georgia"/>
                <a:cs typeface="Georgia"/>
              </a:rPr>
              <a:t>Output</a:t>
            </a:r>
            <a:r>
              <a:rPr dirty="0">
                <a:latin typeface="Georgia"/>
                <a:cs typeface="Georgia"/>
              </a:rPr>
              <a:t>: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set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𝑘</a:t>
            </a:r>
            <a:r>
              <a:rPr spc="-60" dirty="0">
                <a:latin typeface="Cambria Math"/>
                <a:cs typeface="Cambria Math"/>
              </a:rPr>
              <a:t> </a:t>
            </a:r>
            <a:r>
              <a:rPr spc="-8" dirty="0">
                <a:latin typeface="Georgia"/>
                <a:cs typeface="Georgia"/>
              </a:rPr>
              <a:t>clusters </a:t>
            </a:r>
            <a:r>
              <a:rPr spc="-8" dirty="0">
                <a:solidFill>
                  <a:srgbClr val="C00000"/>
                </a:solidFill>
                <a:latin typeface="Georgia"/>
                <a:cs typeface="Georgia"/>
              </a:rPr>
              <a:t>Algorithm:</a:t>
            </a:r>
            <a:endParaRPr>
              <a:latin typeface="Georgia"/>
              <a:cs typeface="Georgia"/>
            </a:endParaRPr>
          </a:p>
          <a:p>
            <a:pPr marL="276225" indent="-257175">
              <a:spcBef>
                <a:spcPts val="686"/>
              </a:spcBef>
              <a:buClr>
                <a:srgbClr val="1CACE3"/>
              </a:buClr>
              <a:buAutoNum type="arabicPeriod"/>
              <a:tabLst>
                <a:tab pos="276225" algn="l"/>
              </a:tabLst>
            </a:pPr>
            <a:r>
              <a:rPr dirty="0">
                <a:latin typeface="Georgia"/>
                <a:cs typeface="Georgia"/>
              </a:rPr>
              <a:t>Arbitrarily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select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𝑘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as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representative</a:t>
            </a:r>
            <a:r>
              <a:rPr spc="-5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or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seeds</a:t>
            </a:r>
            <a:endParaRPr>
              <a:latin typeface="Georgia"/>
              <a:cs typeface="Georgia"/>
            </a:endParaRPr>
          </a:p>
          <a:p>
            <a:pPr marL="275273" indent="-256223">
              <a:spcBef>
                <a:spcPts val="683"/>
              </a:spcBef>
              <a:buClr>
                <a:srgbClr val="1CACE3"/>
              </a:buClr>
              <a:buAutoNum type="arabicPeriod"/>
              <a:tabLst>
                <a:tab pos="275273" algn="l"/>
              </a:tabLst>
            </a:pPr>
            <a:r>
              <a:rPr spc="-8" dirty="0">
                <a:latin typeface="Georgia"/>
                <a:cs typeface="Georgia"/>
              </a:rPr>
              <a:t>Repeat</a:t>
            </a:r>
            <a:endParaRPr>
              <a:latin typeface="Georgia"/>
              <a:cs typeface="Georgia"/>
            </a:endParaRPr>
          </a:p>
          <a:p>
            <a:pPr marL="406241" lvl="1" indent="-257175">
              <a:spcBef>
                <a:spcPts val="724"/>
              </a:spcBef>
              <a:buClr>
                <a:srgbClr val="1CACE3"/>
              </a:buClr>
              <a:buAutoNum type="arabicPeriod"/>
              <a:tabLst>
                <a:tab pos="406241" algn="l"/>
              </a:tabLst>
            </a:pPr>
            <a:r>
              <a:rPr sz="1500" dirty="0">
                <a:latin typeface="Georgia"/>
                <a:cs typeface="Georgia"/>
              </a:rPr>
              <a:t>Assign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remaining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with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nearest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53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object</a:t>
            </a:r>
            <a:endParaRPr sz="1500">
              <a:latin typeface="Georgia"/>
              <a:cs typeface="Georgia"/>
            </a:endParaRPr>
          </a:p>
          <a:p>
            <a:pPr marL="406241" lvl="1" indent="-257175">
              <a:spcBef>
                <a:spcPts val="720"/>
              </a:spcBef>
              <a:buClr>
                <a:srgbClr val="1CACE3"/>
              </a:buClr>
              <a:buAutoNum type="arabicPeriod"/>
              <a:tabLst>
                <a:tab pos="406241" algn="l"/>
              </a:tabLst>
            </a:pPr>
            <a:r>
              <a:rPr sz="1500" dirty="0">
                <a:latin typeface="Georgia"/>
                <a:cs typeface="Georgia"/>
              </a:rPr>
              <a:t>Randomly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select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non-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41" dirty="0">
                <a:latin typeface="Georgia"/>
                <a:cs typeface="Georgia"/>
              </a:rPr>
              <a:t> </a:t>
            </a:r>
            <a:r>
              <a:rPr sz="1500" spc="45" dirty="0">
                <a:latin typeface="Cambria Math"/>
                <a:cs typeface="Cambria Math"/>
              </a:rPr>
              <a:t>𝑂</a:t>
            </a:r>
            <a:r>
              <a:rPr sz="1631" spc="67" baseline="-15325" dirty="0">
                <a:latin typeface="Cambria Math"/>
                <a:cs typeface="Cambria Math"/>
              </a:rPr>
              <a:t>𝑟𝑎𝑛𝑑𝑜𝑚</a:t>
            </a:r>
            <a:endParaRPr sz="1631" baseline="-15325">
              <a:latin typeface="Cambria Math"/>
              <a:cs typeface="Cambria Math"/>
            </a:endParaRPr>
          </a:p>
          <a:p>
            <a:pPr marL="406241" lvl="1" indent="-257175">
              <a:spcBef>
                <a:spcPts val="739"/>
              </a:spcBef>
              <a:buClr>
                <a:srgbClr val="1CACE3"/>
              </a:buClr>
              <a:buAutoNum type="arabicPeriod"/>
              <a:tabLst>
                <a:tab pos="406241" algn="l"/>
              </a:tabLst>
            </a:pPr>
            <a:r>
              <a:rPr sz="1500" dirty="0">
                <a:latin typeface="Georgia"/>
                <a:cs typeface="Georgia"/>
              </a:rPr>
              <a:t>Compute</a:t>
            </a:r>
            <a:r>
              <a:rPr sz="1500" spc="-4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total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cost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𝑆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swapping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𝑂</a:t>
            </a:r>
            <a:r>
              <a:rPr sz="1631" baseline="-15325" dirty="0">
                <a:latin typeface="Cambria Math"/>
                <a:cs typeface="Cambria Math"/>
              </a:rPr>
              <a:t>𝑗</a:t>
            </a:r>
            <a:r>
              <a:rPr sz="1631" spc="298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with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spc="45" dirty="0">
                <a:latin typeface="Cambria Math"/>
                <a:cs typeface="Cambria Math"/>
              </a:rPr>
              <a:t>𝑂</a:t>
            </a:r>
            <a:r>
              <a:rPr sz="1631" spc="67" baseline="-15325" dirty="0">
                <a:latin typeface="Cambria Math"/>
                <a:cs typeface="Cambria Math"/>
              </a:rPr>
              <a:t>𝑟𝑎𝑛𝑑𝑜𝑚</a:t>
            </a:r>
            <a:endParaRPr sz="1631" baseline="-15325">
              <a:latin typeface="Cambria Math"/>
              <a:cs typeface="Cambria Math"/>
            </a:endParaRPr>
          </a:p>
          <a:p>
            <a:pPr marL="406241" lvl="1" indent="-257175">
              <a:spcBef>
                <a:spcPts val="848"/>
              </a:spcBef>
              <a:buClr>
                <a:srgbClr val="1CACE3"/>
              </a:buClr>
              <a:buAutoNum type="arabicPeriod"/>
              <a:tabLst>
                <a:tab pos="406241" algn="l"/>
              </a:tabLst>
            </a:pPr>
            <a:r>
              <a:rPr sz="1500" dirty="0">
                <a:latin typeface="Georgia"/>
                <a:cs typeface="Georgia"/>
              </a:rPr>
              <a:t>If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𝑆</a:t>
            </a:r>
            <a:r>
              <a:rPr sz="1500" spc="10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&lt;</a:t>
            </a:r>
            <a:r>
              <a:rPr sz="1500" spc="7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0</a:t>
            </a:r>
            <a:r>
              <a:rPr sz="1500" dirty="0">
                <a:latin typeface="Georgia"/>
                <a:cs typeface="Georgia"/>
              </a:rPr>
              <a:t>,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then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swap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𝑂</a:t>
            </a:r>
            <a:r>
              <a:rPr sz="1631" baseline="-15325" dirty="0">
                <a:latin typeface="Cambria Math"/>
                <a:cs typeface="Cambria Math"/>
              </a:rPr>
              <a:t>𝑗</a:t>
            </a:r>
            <a:r>
              <a:rPr sz="1631" spc="320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with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53" dirty="0">
                <a:latin typeface="Cambria Math"/>
                <a:cs typeface="Cambria Math"/>
              </a:rPr>
              <a:t>𝑂</a:t>
            </a:r>
            <a:r>
              <a:rPr sz="1631" spc="78" baseline="-15325" dirty="0">
                <a:latin typeface="Cambria Math"/>
                <a:cs typeface="Cambria Math"/>
              </a:rPr>
              <a:t>𝑟𝑎𝑛𝑑𝑜𝑚</a:t>
            </a:r>
            <a:r>
              <a:rPr sz="1631" spc="287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form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new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set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4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𝑘</a:t>
            </a:r>
            <a:r>
              <a:rPr sz="1500" spc="60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representative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objects</a:t>
            </a:r>
            <a:endParaRPr sz="1500">
              <a:latin typeface="Georgia"/>
              <a:cs typeface="Georgia"/>
            </a:endParaRPr>
          </a:p>
          <a:p>
            <a:pPr marL="275749" indent="-256699">
              <a:spcBef>
                <a:spcPts val="799"/>
              </a:spcBef>
              <a:buClr>
                <a:srgbClr val="1CACE3"/>
              </a:buClr>
              <a:buAutoNum type="arabicPeriod"/>
              <a:tabLst>
                <a:tab pos="275749" algn="l"/>
              </a:tabLst>
            </a:pPr>
            <a:r>
              <a:rPr dirty="0">
                <a:latin typeface="Georgia"/>
                <a:cs typeface="Georgia"/>
              </a:rPr>
              <a:t>Until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no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change</a:t>
            </a:r>
            <a:endParaRPr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36033" y="2885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9218" y="2301050"/>
          <a:ext cx="1807368" cy="3084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80" y="2177415"/>
            <a:ext cx="3682746" cy="36324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930396" y="3717512"/>
            <a:ext cx="338613" cy="159068"/>
          </a:xfrm>
          <a:custGeom>
            <a:avLst/>
            <a:gdLst/>
            <a:ahLst/>
            <a:cxnLst/>
            <a:rect l="l" t="t" r="r" b="b"/>
            <a:pathLst>
              <a:path w="451485" h="212089">
                <a:moveTo>
                  <a:pt x="383413" y="0"/>
                </a:moveTo>
                <a:lnTo>
                  <a:pt x="380364" y="8636"/>
                </a:lnTo>
                <a:lnTo>
                  <a:pt x="392650" y="13946"/>
                </a:lnTo>
                <a:lnTo>
                  <a:pt x="403209" y="21304"/>
                </a:lnTo>
                <a:lnTo>
                  <a:pt x="424600" y="55429"/>
                </a:lnTo>
                <a:lnTo>
                  <a:pt x="431673" y="104775"/>
                </a:lnTo>
                <a:lnTo>
                  <a:pt x="430887" y="123444"/>
                </a:lnTo>
                <a:lnTo>
                  <a:pt x="419100" y="169164"/>
                </a:lnTo>
                <a:lnTo>
                  <a:pt x="392793" y="197792"/>
                </a:lnTo>
                <a:lnTo>
                  <a:pt x="380746" y="203200"/>
                </a:lnTo>
                <a:lnTo>
                  <a:pt x="383413" y="211709"/>
                </a:lnTo>
                <a:lnTo>
                  <a:pt x="423882" y="187706"/>
                </a:lnTo>
                <a:lnTo>
                  <a:pt x="446611" y="143335"/>
                </a:lnTo>
                <a:lnTo>
                  <a:pt x="450976" y="105918"/>
                </a:lnTo>
                <a:lnTo>
                  <a:pt x="449895" y="86723"/>
                </a:lnTo>
                <a:lnTo>
                  <a:pt x="449881" y="86483"/>
                </a:lnTo>
                <a:lnTo>
                  <a:pt x="433450" y="37084"/>
                </a:lnTo>
                <a:lnTo>
                  <a:pt x="398768" y="5526"/>
                </a:lnTo>
                <a:lnTo>
                  <a:pt x="383413" y="0"/>
                </a:lnTo>
                <a:close/>
              </a:path>
              <a:path w="451485" h="212089">
                <a:moveTo>
                  <a:pt x="67563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6376" y="55429"/>
                </a:lnTo>
                <a:lnTo>
                  <a:pt x="47863" y="21304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1065467" y="2005394"/>
            <a:ext cx="3935730" cy="211788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590675">
              <a:spcBef>
                <a:spcPts val="1095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05"/>
              </a:spcBef>
            </a:pPr>
            <a:endParaRPr sz="1350">
              <a:latin typeface="Georgia"/>
              <a:cs typeface="Georgia"/>
            </a:endParaRPr>
          </a:p>
          <a:p>
            <a:pPr marL="1579245"/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1:</a:t>
            </a:r>
            <a:endParaRPr sz="1350">
              <a:latin typeface="Georgia"/>
              <a:cs typeface="Georgia"/>
            </a:endParaRPr>
          </a:p>
          <a:p>
            <a:pPr marL="1579245"/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randomly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two</a:t>
            </a:r>
            <a:r>
              <a:rPr sz="1350" spc="-4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medoids</a:t>
            </a:r>
            <a:endParaRPr sz="1350">
              <a:latin typeface="Georgia"/>
              <a:cs typeface="Georgia"/>
            </a:endParaRPr>
          </a:p>
          <a:p>
            <a:pPr marL="1579245"/>
            <a:r>
              <a:rPr sz="1350" dirty="0">
                <a:latin typeface="Georgia"/>
                <a:cs typeface="Georgia"/>
              </a:rPr>
              <a:t>(representative</a:t>
            </a:r>
            <a:r>
              <a:rPr sz="1350" spc="-68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objects)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98"/>
              </a:spcBef>
            </a:pPr>
            <a:endParaRPr sz="1350">
              <a:latin typeface="Georgia"/>
              <a:cs typeface="Georgia"/>
            </a:endParaRPr>
          </a:p>
          <a:p>
            <a:pPr marL="2438876">
              <a:lnSpc>
                <a:spcPts val="1616"/>
              </a:lnSpc>
              <a:tabLst>
                <a:tab pos="2920841" algn="l"/>
              </a:tabLst>
            </a:pP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3</a:t>
            </a:r>
            <a:r>
              <a:rPr sz="1463" spc="264" baseline="-14957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19" dirty="0">
                <a:latin typeface="Cambria Math"/>
                <a:cs typeface="Cambria Math"/>
              </a:rPr>
              <a:t>3,8</a:t>
            </a:r>
            <a:endParaRPr sz="1350">
              <a:latin typeface="Cambria Math"/>
              <a:cs typeface="Cambria Math"/>
            </a:endParaRPr>
          </a:p>
          <a:p>
            <a:pPr marL="2438876">
              <a:lnSpc>
                <a:spcPts val="1616"/>
              </a:lnSpc>
            </a:pP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8</a:t>
            </a:r>
            <a:r>
              <a:rPr sz="1463" spc="28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56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(7,4)</a:t>
            </a:r>
            <a:endParaRPr sz="13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1653" y="423466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80" y="2177415"/>
            <a:ext cx="3682746" cy="36324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1314" y="2002155"/>
            <a:ext cx="4314349" cy="2143375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952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89499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58"/>
              </a:spcBef>
            </a:pPr>
            <a:endParaRPr sz="1350">
              <a:latin typeface="Georgia"/>
              <a:cs typeface="Georgia"/>
            </a:endParaRPr>
          </a:p>
          <a:p>
            <a:pPr marL="1883093">
              <a:spcBef>
                <a:spcPts val="4"/>
              </a:spcBef>
            </a:pPr>
            <a:r>
              <a:rPr sz="1350" dirty="0">
                <a:latin typeface="Georgia"/>
                <a:cs typeface="Georgia"/>
              </a:rPr>
              <a:t>Step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2:</a:t>
            </a:r>
            <a:endParaRPr sz="1350">
              <a:latin typeface="Georgia"/>
              <a:cs typeface="Georgia"/>
            </a:endParaRPr>
          </a:p>
          <a:p>
            <a:pPr marL="1883093" marR="3810"/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closest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7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86"/>
              </a:spcBef>
            </a:pPr>
            <a:endParaRPr sz="1350">
              <a:latin typeface="Georgia"/>
              <a:cs typeface="Georgia"/>
            </a:endParaRPr>
          </a:p>
          <a:p>
            <a:pPr marL="1883093" marR="214789"/>
            <a:r>
              <a:rPr sz="1350" dirty="0">
                <a:latin typeface="Georgia"/>
                <a:cs typeface="Georgia"/>
              </a:rPr>
              <a:t>Using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Euclidean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distance,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we </a:t>
            </a:r>
            <a:r>
              <a:rPr sz="1350" dirty="0">
                <a:latin typeface="Georgia"/>
                <a:cs typeface="Georgia"/>
              </a:rPr>
              <a:t>form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following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1653" y="346889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12081" y="2177415"/>
            <a:ext cx="3682841" cy="3632835"/>
            <a:chOff x="6949440" y="1760220"/>
            <a:chExt cx="4910455" cy="4843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9440" y="1760220"/>
              <a:ext cx="4910328" cy="48432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25156" y="2334768"/>
              <a:ext cx="1577340" cy="2630805"/>
            </a:xfrm>
            <a:custGeom>
              <a:avLst/>
              <a:gdLst/>
              <a:ahLst/>
              <a:cxnLst/>
              <a:rect l="l" t="t" r="r" b="b"/>
              <a:pathLst>
                <a:path w="1577340" h="2630804">
                  <a:moveTo>
                    <a:pt x="0" y="1315212"/>
                  </a:moveTo>
                  <a:lnTo>
                    <a:pt x="811" y="1255013"/>
                  </a:lnTo>
                  <a:lnTo>
                    <a:pt x="3222" y="1195509"/>
                  </a:lnTo>
                  <a:lnTo>
                    <a:pt x="7198" y="1136757"/>
                  </a:lnTo>
                  <a:lnTo>
                    <a:pt x="12705" y="1078816"/>
                  </a:lnTo>
                  <a:lnTo>
                    <a:pt x="19706" y="1021743"/>
                  </a:lnTo>
                  <a:lnTo>
                    <a:pt x="28169" y="965596"/>
                  </a:lnTo>
                  <a:lnTo>
                    <a:pt x="38057" y="910434"/>
                  </a:lnTo>
                  <a:lnTo>
                    <a:pt x="49336" y="856315"/>
                  </a:lnTo>
                  <a:lnTo>
                    <a:pt x="61972" y="803296"/>
                  </a:lnTo>
                  <a:lnTo>
                    <a:pt x="75928" y="751436"/>
                  </a:lnTo>
                  <a:lnTo>
                    <a:pt x="91172" y="700793"/>
                  </a:lnTo>
                  <a:lnTo>
                    <a:pt x="107667" y="651425"/>
                  </a:lnTo>
                  <a:lnTo>
                    <a:pt x="125380" y="603389"/>
                  </a:lnTo>
                  <a:lnTo>
                    <a:pt x="144275" y="556745"/>
                  </a:lnTo>
                  <a:lnTo>
                    <a:pt x="164317" y="511550"/>
                  </a:lnTo>
                  <a:lnTo>
                    <a:pt x="185472" y="467861"/>
                  </a:lnTo>
                  <a:lnTo>
                    <a:pt x="207705" y="425738"/>
                  </a:lnTo>
                  <a:lnTo>
                    <a:pt x="230981" y="385238"/>
                  </a:lnTo>
                  <a:lnTo>
                    <a:pt x="255265" y="346419"/>
                  </a:lnTo>
                  <a:lnTo>
                    <a:pt x="280523" y="309340"/>
                  </a:lnTo>
                  <a:lnTo>
                    <a:pt x="306720" y="274058"/>
                  </a:lnTo>
                  <a:lnTo>
                    <a:pt x="333821" y="240632"/>
                  </a:lnTo>
                  <a:lnTo>
                    <a:pt x="361791" y="209119"/>
                  </a:lnTo>
                  <a:lnTo>
                    <a:pt x="390595" y="179578"/>
                  </a:lnTo>
                  <a:lnTo>
                    <a:pt x="420199" y="152066"/>
                  </a:lnTo>
                  <a:lnTo>
                    <a:pt x="450568" y="126642"/>
                  </a:lnTo>
                  <a:lnTo>
                    <a:pt x="481667" y="103364"/>
                  </a:lnTo>
                  <a:lnTo>
                    <a:pt x="513461" y="82289"/>
                  </a:lnTo>
                  <a:lnTo>
                    <a:pt x="578996" y="46984"/>
                  </a:lnTo>
                  <a:lnTo>
                    <a:pt x="646895" y="21191"/>
                  </a:lnTo>
                  <a:lnTo>
                    <a:pt x="716879" y="5375"/>
                  </a:lnTo>
                  <a:lnTo>
                    <a:pt x="788670" y="0"/>
                  </a:lnTo>
                  <a:lnTo>
                    <a:pt x="824773" y="1353"/>
                  </a:lnTo>
                  <a:lnTo>
                    <a:pt x="895696" y="12007"/>
                  </a:lnTo>
                  <a:lnTo>
                    <a:pt x="964672" y="32870"/>
                  </a:lnTo>
                  <a:lnTo>
                    <a:pt x="1031423" y="63477"/>
                  </a:lnTo>
                  <a:lnTo>
                    <a:pt x="1095672" y="103364"/>
                  </a:lnTo>
                  <a:lnTo>
                    <a:pt x="1126771" y="126642"/>
                  </a:lnTo>
                  <a:lnTo>
                    <a:pt x="1157140" y="152066"/>
                  </a:lnTo>
                  <a:lnTo>
                    <a:pt x="1186744" y="179578"/>
                  </a:lnTo>
                  <a:lnTo>
                    <a:pt x="1215548" y="209119"/>
                  </a:lnTo>
                  <a:lnTo>
                    <a:pt x="1243518" y="240632"/>
                  </a:lnTo>
                  <a:lnTo>
                    <a:pt x="1270619" y="274058"/>
                  </a:lnTo>
                  <a:lnTo>
                    <a:pt x="1296816" y="309340"/>
                  </a:lnTo>
                  <a:lnTo>
                    <a:pt x="1322074" y="346419"/>
                  </a:lnTo>
                  <a:lnTo>
                    <a:pt x="1346358" y="385238"/>
                  </a:lnTo>
                  <a:lnTo>
                    <a:pt x="1369634" y="425738"/>
                  </a:lnTo>
                  <a:lnTo>
                    <a:pt x="1391867" y="467861"/>
                  </a:lnTo>
                  <a:lnTo>
                    <a:pt x="1413022" y="511550"/>
                  </a:lnTo>
                  <a:lnTo>
                    <a:pt x="1433064" y="556745"/>
                  </a:lnTo>
                  <a:lnTo>
                    <a:pt x="1451959" y="603389"/>
                  </a:lnTo>
                  <a:lnTo>
                    <a:pt x="1469672" y="651425"/>
                  </a:lnTo>
                  <a:lnTo>
                    <a:pt x="1486167" y="700793"/>
                  </a:lnTo>
                  <a:lnTo>
                    <a:pt x="1501411" y="751436"/>
                  </a:lnTo>
                  <a:lnTo>
                    <a:pt x="1515367" y="803296"/>
                  </a:lnTo>
                  <a:lnTo>
                    <a:pt x="1528003" y="856315"/>
                  </a:lnTo>
                  <a:lnTo>
                    <a:pt x="1539282" y="910434"/>
                  </a:lnTo>
                  <a:lnTo>
                    <a:pt x="1549170" y="965596"/>
                  </a:lnTo>
                  <a:lnTo>
                    <a:pt x="1557633" y="1021743"/>
                  </a:lnTo>
                  <a:lnTo>
                    <a:pt x="1564634" y="1078816"/>
                  </a:lnTo>
                  <a:lnTo>
                    <a:pt x="1570141" y="1136757"/>
                  </a:lnTo>
                  <a:lnTo>
                    <a:pt x="1574117" y="1195509"/>
                  </a:lnTo>
                  <a:lnTo>
                    <a:pt x="1576528" y="1255013"/>
                  </a:lnTo>
                  <a:lnTo>
                    <a:pt x="1577340" y="1315212"/>
                  </a:lnTo>
                  <a:lnTo>
                    <a:pt x="1576528" y="1375410"/>
                  </a:lnTo>
                  <a:lnTo>
                    <a:pt x="1574117" y="1434914"/>
                  </a:lnTo>
                  <a:lnTo>
                    <a:pt x="1570141" y="1493666"/>
                  </a:lnTo>
                  <a:lnTo>
                    <a:pt x="1564634" y="1551607"/>
                  </a:lnTo>
                  <a:lnTo>
                    <a:pt x="1557633" y="1608680"/>
                  </a:lnTo>
                  <a:lnTo>
                    <a:pt x="1549170" y="1664827"/>
                  </a:lnTo>
                  <a:lnTo>
                    <a:pt x="1539282" y="1719989"/>
                  </a:lnTo>
                  <a:lnTo>
                    <a:pt x="1528003" y="1774108"/>
                  </a:lnTo>
                  <a:lnTo>
                    <a:pt x="1515367" y="1827127"/>
                  </a:lnTo>
                  <a:lnTo>
                    <a:pt x="1501411" y="1878987"/>
                  </a:lnTo>
                  <a:lnTo>
                    <a:pt x="1486167" y="1929630"/>
                  </a:lnTo>
                  <a:lnTo>
                    <a:pt x="1469672" y="1978998"/>
                  </a:lnTo>
                  <a:lnTo>
                    <a:pt x="1451959" y="2027034"/>
                  </a:lnTo>
                  <a:lnTo>
                    <a:pt x="1433064" y="2073678"/>
                  </a:lnTo>
                  <a:lnTo>
                    <a:pt x="1413022" y="2118873"/>
                  </a:lnTo>
                  <a:lnTo>
                    <a:pt x="1391867" y="2162562"/>
                  </a:lnTo>
                  <a:lnTo>
                    <a:pt x="1369634" y="2204685"/>
                  </a:lnTo>
                  <a:lnTo>
                    <a:pt x="1346358" y="2245185"/>
                  </a:lnTo>
                  <a:lnTo>
                    <a:pt x="1322074" y="2284004"/>
                  </a:lnTo>
                  <a:lnTo>
                    <a:pt x="1296816" y="2321083"/>
                  </a:lnTo>
                  <a:lnTo>
                    <a:pt x="1270619" y="2356365"/>
                  </a:lnTo>
                  <a:lnTo>
                    <a:pt x="1243518" y="2389791"/>
                  </a:lnTo>
                  <a:lnTo>
                    <a:pt x="1215548" y="2421304"/>
                  </a:lnTo>
                  <a:lnTo>
                    <a:pt x="1186744" y="2450846"/>
                  </a:lnTo>
                  <a:lnTo>
                    <a:pt x="1157140" y="2478357"/>
                  </a:lnTo>
                  <a:lnTo>
                    <a:pt x="1126771" y="2503781"/>
                  </a:lnTo>
                  <a:lnTo>
                    <a:pt x="1095672" y="2527059"/>
                  </a:lnTo>
                  <a:lnTo>
                    <a:pt x="1063878" y="2548134"/>
                  </a:lnTo>
                  <a:lnTo>
                    <a:pt x="998343" y="2583439"/>
                  </a:lnTo>
                  <a:lnTo>
                    <a:pt x="930444" y="2609232"/>
                  </a:lnTo>
                  <a:lnTo>
                    <a:pt x="860460" y="2625048"/>
                  </a:lnTo>
                  <a:lnTo>
                    <a:pt x="788670" y="2630424"/>
                  </a:lnTo>
                  <a:lnTo>
                    <a:pt x="752566" y="2629070"/>
                  </a:lnTo>
                  <a:lnTo>
                    <a:pt x="681643" y="2618416"/>
                  </a:lnTo>
                  <a:lnTo>
                    <a:pt x="612667" y="2597553"/>
                  </a:lnTo>
                  <a:lnTo>
                    <a:pt x="545916" y="2566946"/>
                  </a:lnTo>
                  <a:lnTo>
                    <a:pt x="481667" y="2527059"/>
                  </a:lnTo>
                  <a:lnTo>
                    <a:pt x="450568" y="2503781"/>
                  </a:lnTo>
                  <a:lnTo>
                    <a:pt x="420199" y="2478357"/>
                  </a:lnTo>
                  <a:lnTo>
                    <a:pt x="390595" y="2450846"/>
                  </a:lnTo>
                  <a:lnTo>
                    <a:pt x="361791" y="2421304"/>
                  </a:lnTo>
                  <a:lnTo>
                    <a:pt x="333821" y="2389791"/>
                  </a:lnTo>
                  <a:lnTo>
                    <a:pt x="306720" y="2356365"/>
                  </a:lnTo>
                  <a:lnTo>
                    <a:pt x="280523" y="2321083"/>
                  </a:lnTo>
                  <a:lnTo>
                    <a:pt x="255265" y="2284004"/>
                  </a:lnTo>
                  <a:lnTo>
                    <a:pt x="230981" y="2245185"/>
                  </a:lnTo>
                  <a:lnTo>
                    <a:pt x="207705" y="2204685"/>
                  </a:lnTo>
                  <a:lnTo>
                    <a:pt x="185472" y="2162562"/>
                  </a:lnTo>
                  <a:lnTo>
                    <a:pt x="164317" y="2118873"/>
                  </a:lnTo>
                  <a:lnTo>
                    <a:pt x="144275" y="2073678"/>
                  </a:lnTo>
                  <a:lnTo>
                    <a:pt x="125380" y="2027034"/>
                  </a:lnTo>
                  <a:lnTo>
                    <a:pt x="107667" y="1978998"/>
                  </a:lnTo>
                  <a:lnTo>
                    <a:pt x="91172" y="1929630"/>
                  </a:lnTo>
                  <a:lnTo>
                    <a:pt x="75928" y="1878987"/>
                  </a:lnTo>
                  <a:lnTo>
                    <a:pt x="61972" y="1827127"/>
                  </a:lnTo>
                  <a:lnTo>
                    <a:pt x="49336" y="1774108"/>
                  </a:lnTo>
                  <a:lnTo>
                    <a:pt x="38057" y="1719989"/>
                  </a:lnTo>
                  <a:lnTo>
                    <a:pt x="28169" y="1664827"/>
                  </a:lnTo>
                  <a:lnTo>
                    <a:pt x="19706" y="1608680"/>
                  </a:lnTo>
                  <a:lnTo>
                    <a:pt x="12705" y="1551607"/>
                  </a:lnTo>
                  <a:lnTo>
                    <a:pt x="7198" y="1493666"/>
                  </a:lnTo>
                  <a:lnTo>
                    <a:pt x="3222" y="1434914"/>
                  </a:lnTo>
                  <a:lnTo>
                    <a:pt x="811" y="1375410"/>
                  </a:lnTo>
                  <a:lnTo>
                    <a:pt x="0" y="1315212"/>
                  </a:lnTo>
                  <a:close/>
                </a:path>
              </a:pathLst>
            </a:custGeom>
            <a:ln w="15875">
              <a:solidFill>
                <a:srgbClr val="117D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9433560" y="3270504"/>
              <a:ext cx="1682750" cy="2632075"/>
            </a:xfrm>
            <a:custGeom>
              <a:avLst/>
              <a:gdLst/>
              <a:ahLst/>
              <a:cxnLst/>
              <a:rect l="l" t="t" r="r" b="b"/>
              <a:pathLst>
                <a:path w="1682750" h="2632075">
                  <a:moveTo>
                    <a:pt x="0" y="1315974"/>
                  </a:moveTo>
                  <a:lnTo>
                    <a:pt x="819" y="1257353"/>
                  </a:lnTo>
                  <a:lnTo>
                    <a:pt x="3256" y="1199389"/>
                  </a:lnTo>
                  <a:lnTo>
                    <a:pt x="7275" y="1142135"/>
                  </a:lnTo>
                  <a:lnTo>
                    <a:pt x="12842" y="1085645"/>
                  </a:lnTo>
                  <a:lnTo>
                    <a:pt x="19923" y="1029973"/>
                  </a:lnTo>
                  <a:lnTo>
                    <a:pt x="28484" y="975171"/>
                  </a:lnTo>
                  <a:lnTo>
                    <a:pt x="38491" y="921293"/>
                  </a:lnTo>
                  <a:lnTo>
                    <a:pt x="49909" y="868393"/>
                  </a:lnTo>
                  <a:lnTo>
                    <a:pt x="62705" y="816525"/>
                  </a:lnTo>
                  <a:lnTo>
                    <a:pt x="76843" y="765741"/>
                  </a:lnTo>
                  <a:lnTo>
                    <a:pt x="92291" y="716095"/>
                  </a:lnTo>
                  <a:lnTo>
                    <a:pt x="109013" y="667641"/>
                  </a:lnTo>
                  <a:lnTo>
                    <a:pt x="126975" y="620432"/>
                  </a:lnTo>
                  <a:lnTo>
                    <a:pt x="146143" y="574521"/>
                  </a:lnTo>
                  <a:lnTo>
                    <a:pt x="166484" y="529963"/>
                  </a:lnTo>
                  <a:lnTo>
                    <a:pt x="187962" y="486810"/>
                  </a:lnTo>
                  <a:lnTo>
                    <a:pt x="210544" y="445117"/>
                  </a:lnTo>
                  <a:lnTo>
                    <a:pt x="234195" y="404935"/>
                  </a:lnTo>
                  <a:lnTo>
                    <a:pt x="258882" y="366320"/>
                  </a:lnTo>
                  <a:lnTo>
                    <a:pt x="284569" y="329324"/>
                  </a:lnTo>
                  <a:lnTo>
                    <a:pt x="311223" y="294002"/>
                  </a:lnTo>
                  <a:lnTo>
                    <a:pt x="338809" y="260405"/>
                  </a:lnTo>
                  <a:lnTo>
                    <a:pt x="367294" y="228589"/>
                  </a:lnTo>
                  <a:lnTo>
                    <a:pt x="396643" y="198606"/>
                  </a:lnTo>
                  <a:lnTo>
                    <a:pt x="426822" y="170510"/>
                  </a:lnTo>
                  <a:lnTo>
                    <a:pt x="457797" y="144354"/>
                  </a:lnTo>
                  <a:lnTo>
                    <a:pt x="489533" y="120192"/>
                  </a:lnTo>
                  <a:lnTo>
                    <a:pt x="521996" y="98077"/>
                  </a:lnTo>
                  <a:lnTo>
                    <a:pt x="555152" y="78064"/>
                  </a:lnTo>
                  <a:lnTo>
                    <a:pt x="588967" y="60204"/>
                  </a:lnTo>
                  <a:lnTo>
                    <a:pt x="658437" y="31162"/>
                  </a:lnTo>
                  <a:lnTo>
                    <a:pt x="730132" y="11378"/>
                  </a:lnTo>
                  <a:lnTo>
                    <a:pt x="803778" y="1282"/>
                  </a:lnTo>
                  <a:lnTo>
                    <a:pt x="841248" y="0"/>
                  </a:lnTo>
                  <a:lnTo>
                    <a:pt x="878717" y="1282"/>
                  </a:lnTo>
                  <a:lnTo>
                    <a:pt x="952363" y="11378"/>
                  </a:lnTo>
                  <a:lnTo>
                    <a:pt x="1024058" y="31162"/>
                  </a:lnTo>
                  <a:lnTo>
                    <a:pt x="1093528" y="60204"/>
                  </a:lnTo>
                  <a:lnTo>
                    <a:pt x="1127343" y="78064"/>
                  </a:lnTo>
                  <a:lnTo>
                    <a:pt x="1160499" y="98077"/>
                  </a:lnTo>
                  <a:lnTo>
                    <a:pt x="1192962" y="120192"/>
                  </a:lnTo>
                  <a:lnTo>
                    <a:pt x="1224698" y="144354"/>
                  </a:lnTo>
                  <a:lnTo>
                    <a:pt x="1255673" y="170510"/>
                  </a:lnTo>
                  <a:lnTo>
                    <a:pt x="1285852" y="198606"/>
                  </a:lnTo>
                  <a:lnTo>
                    <a:pt x="1315201" y="228589"/>
                  </a:lnTo>
                  <a:lnTo>
                    <a:pt x="1343686" y="260405"/>
                  </a:lnTo>
                  <a:lnTo>
                    <a:pt x="1371272" y="294002"/>
                  </a:lnTo>
                  <a:lnTo>
                    <a:pt x="1397926" y="329324"/>
                  </a:lnTo>
                  <a:lnTo>
                    <a:pt x="1423613" y="366320"/>
                  </a:lnTo>
                  <a:lnTo>
                    <a:pt x="1448300" y="404935"/>
                  </a:lnTo>
                  <a:lnTo>
                    <a:pt x="1471951" y="445117"/>
                  </a:lnTo>
                  <a:lnTo>
                    <a:pt x="1494533" y="486810"/>
                  </a:lnTo>
                  <a:lnTo>
                    <a:pt x="1516011" y="529963"/>
                  </a:lnTo>
                  <a:lnTo>
                    <a:pt x="1536352" y="574521"/>
                  </a:lnTo>
                  <a:lnTo>
                    <a:pt x="1555520" y="620432"/>
                  </a:lnTo>
                  <a:lnTo>
                    <a:pt x="1573482" y="667641"/>
                  </a:lnTo>
                  <a:lnTo>
                    <a:pt x="1590204" y="716095"/>
                  </a:lnTo>
                  <a:lnTo>
                    <a:pt x="1605652" y="765741"/>
                  </a:lnTo>
                  <a:lnTo>
                    <a:pt x="1619790" y="816525"/>
                  </a:lnTo>
                  <a:lnTo>
                    <a:pt x="1632586" y="868393"/>
                  </a:lnTo>
                  <a:lnTo>
                    <a:pt x="1644004" y="921293"/>
                  </a:lnTo>
                  <a:lnTo>
                    <a:pt x="1654011" y="975171"/>
                  </a:lnTo>
                  <a:lnTo>
                    <a:pt x="1662572" y="1029973"/>
                  </a:lnTo>
                  <a:lnTo>
                    <a:pt x="1669653" y="1085645"/>
                  </a:lnTo>
                  <a:lnTo>
                    <a:pt x="1675220" y="1142135"/>
                  </a:lnTo>
                  <a:lnTo>
                    <a:pt x="1679239" y="1199389"/>
                  </a:lnTo>
                  <a:lnTo>
                    <a:pt x="1681676" y="1257353"/>
                  </a:lnTo>
                  <a:lnTo>
                    <a:pt x="1682496" y="1315974"/>
                  </a:lnTo>
                  <a:lnTo>
                    <a:pt x="1681676" y="1374594"/>
                  </a:lnTo>
                  <a:lnTo>
                    <a:pt x="1679239" y="1432558"/>
                  </a:lnTo>
                  <a:lnTo>
                    <a:pt x="1675220" y="1489812"/>
                  </a:lnTo>
                  <a:lnTo>
                    <a:pt x="1669653" y="1546302"/>
                  </a:lnTo>
                  <a:lnTo>
                    <a:pt x="1662572" y="1601974"/>
                  </a:lnTo>
                  <a:lnTo>
                    <a:pt x="1654011" y="1656776"/>
                  </a:lnTo>
                  <a:lnTo>
                    <a:pt x="1644004" y="1710654"/>
                  </a:lnTo>
                  <a:lnTo>
                    <a:pt x="1632586" y="1763554"/>
                  </a:lnTo>
                  <a:lnTo>
                    <a:pt x="1619790" y="1815422"/>
                  </a:lnTo>
                  <a:lnTo>
                    <a:pt x="1605652" y="1866206"/>
                  </a:lnTo>
                  <a:lnTo>
                    <a:pt x="1590204" y="1915852"/>
                  </a:lnTo>
                  <a:lnTo>
                    <a:pt x="1573482" y="1964306"/>
                  </a:lnTo>
                  <a:lnTo>
                    <a:pt x="1555520" y="2011515"/>
                  </a:lnTo>
                  <a:lnTo>
                    <a:pt x="1536352" y="2057426"/>
                  </a:lnTo>
                  <a:lnTo>
                    <a:pt x="1516011" y="2101984"/>
                  </a:lnTo>
                  <a:lnTo>
                    <a:pt x="1494533" y="2145137"/>
                  </a:lnTo>
                  <a:lnTo>
                    <a:pt x="1471951" y="2186830"/>
                  </a:lnTo>
                  <a:lnTo>
                    <a:pt x="1448300" y="2227012"/>
                  </a:lnTo>
                  <a:lnTo>
                    <a:pt x="1423613" y="2265627"/>
                  </a:lnTo>
                  <a:lnTo>
                    <a:pt x="1397926" y="2302623"/>
                  </a:lnTo>
                  <a:lnTo>
                    <a:pt x="1371272" y="2337945"/>
                  </a:lnTo>
                  <a:lnTo>
                    <a:pt x="1343686" y="2371542"/>
                  </a:lnTo>
                  <a:lnTo>
                    <a:pt x="1315201" y="2403358"/>
                  </a:lnTo>
                  <a:lnTo>
                    <a:pt x="1285852" y="2433341"/>
                  </a:lnTo>
                  <a:lnTo>
                    <a:pt x="1255673" y="2461437"/>
                  </a:lnTo>
                  <a:lnTo>
                    <a:pt x="1224698" y="2487593"/>
                  </a:lnTo>
                  <a:lnTo>
                    <a:pt x="1192962" y="2511755"/>
                  </a:lnTo>
                  <a:lnTo>
                    <a:pt x="1160499" y="2533870"/>
                  </a:lnTo>
                  <a:lnTo>
                    <a:pt x="1127343" y="2553883"/>
                  </a:lnTo>
                  <a:lnTo>
                    <a:pt x="1093528" y="2571743"/>
                  </a:lnTo>
                  <a:lnTo>
                    <a:pt x="1024058" y="2600785"/>
                  </a:lnTo>
                  <a:lnTo>
                    <a:pt x="952363" y="2620569"/>
                  </a:lnTo>
                  <a:lnTo>
                    <a:pt x="878717" y="2630665"/>
                  </a:lnTo>
                  <a:lnTo>
                    <a:pt x="841248" y="2631948"/>
                  </a:lnTo>
                  <a:lnTo>
                    <a:pt x="803778" y="2630665"/>
                  </a:lnTo>
                  <a:lnTo>
                    <a:pt x="730132" y="2620569"/>
                  </a:lnTo>
                  <a:lnTo>
                    <a:pt x="658437" y="2600785"/>
                  </a:lnTo>
                  <a:lnTo>
                    <a:pt x="588967" y="2571743"/>
                  </a:lnTo>
                  <a:lnTo>
                    <a:pt x="555152" y="2553883"/>
                  </a:lnTo>
                  <a:lnTo>
                    <a:pt x="521996" y="2533870"/>
                  </a:lnTo>
                  <a:lnTo>
                    <a:pt x="489533" y="2511755"/>
                  </a:lnTo>
                  <a:lnTo>
                    <a:pt x="457797" y="2487593"/>
                  </a:lnTo>
                  <a:lnTo>
                    <a:pt x="426822" y="2461437"/>
                  </a:lnTo>
                  <a:lnTo>
                    <a:pt x="396643" y="2433341"/>
                  </a:lnTo>
                  <a:lnTo>
                    <a:pt x="367294" y="2403358"/>
                  </a:lnTo>
                  <a:lnTo>
                    <a:pt x="338809" y="2371542"/>
                  </a:lnTo>
                  <a:lnTo>
                    <a:pt x="311223" y="2337945"/>
                  </a:lnTo>
                  <a:lnTo>
                    <a:pt x="284569" y="2302623"/>
                  </a:lnTo>
                  <a:lnTo>
                    <a:pt x="258882" y="2265627"/>
                  </a:lnTo>
                  <a:lnTo>
                    <a:pt x="234195" y="2227012"/>
                  </a:lnTo>
                  <a:lnTo>
                    <a:pt x="210544" y="2186830"/>
                  </a:lnTo>
                  <a:lnTo>
                    <a:pt x="187962" y="2145137"/>
                  </a:lnTo>
                  <a:lnTo>
                    <a:pt x="166484" y="2101984"/>
                  </a:lnTo>
                  <a:lnTo>
                    <a:pt x="146143" y="2057426"/>
                  </a:lnTo>
                  <a:lnTo>
                    <a:pt x="126975" y="2011515"/>
                  </a:lnTo>
                  <a:lnTo>
                    <a:pt x="109013" y="1964306"/>
                  </a:lnTo>
                  <a:lnTo>
                    <a:pt x="92291" y="1915852"/>
                  </a:lnTo>
                  <a:lnTo>
                    <a:pt x="76843" y="1866206"/>
                  </a:lnTo>
                  <a:lnTo>
                    <a:pt x="62705" y="1815422"/>
                  </a:lnTo>
                  <a:lnTo>
                    <a:pt x="49909" y="1763554"/>
                  </a:lnTo>
                  <a:lnTo>
                    <a:pt x="38491" y="1710654"/>
                  </a:lnTo>
                  <a:lnTo>
                    <a:pt x="28484" y="1656776"/>
                  </a:lnTo>
                  <a:lnTo>
                    <a:pt x="19923" y="1601974"/>
                  </a:lnTo>
                  <a:lnTo>
                    <a:pt x="12842" y="1546302"/>
                  </a:lnTo>
                  <a:lnTo>
                    <a:pt x="7275" y="1489812"/>
                  </a:lnTo>
                  <a:lnTo>
                    <a:pt x="3256" y="1432558"/>
                  </a:lnTo>
                  <a:lnTo>
                    <a:pt x="819" y="1374594"/>
                  </a:lnTo>
                  <a:lnTo>
                    <a:pt x="0" y="1315974"/>
                  </a:lnTo>
                  <a:close/>
                </a:path>
              </a:pathLst>
            </a:custGeom>
            <a:ln w="158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61314" y="2002155"/>
            <a:ext cx="4314349" cy="2766623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952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89499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05"/>
              </a:spcBef>
            </a:pPr>
            <a:endParaRPr sz="1350">
              <a:latin typeface="Georgia"/>
              <a:cs typeface="Georgia"/>
            </a:endParaRPr>
          </a:p>
          <a:p>
            <a:pPr marL="1883093"/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2:</a:t>
            </a:r>
            <a:endParaRPr sz="1350">
              <a:latin typeface="Georgia"/>
              <a:cs typeface="Georgia"/>
            </a:endParaRPr>
          </a:p>
          <a:p>
            <a:pPr marL="1883093"/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closest</a:t>
            </a:r>
            <a:endParaRPr sz="1350">
              <a:latin typeface="Georgia"/>
              <a:cs typeface="Georgia"/>
            </a:endParaRPr>
          </a:p>
          <a:p>
            <a:pPr marL="1883093"/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64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90"/>
              </a:spcBef>
            </a:pPr>
            <a:endParaRPr sz="1350">
              <a:latin typeface="Georgia"/>
              <a:cs typeface="Georgia"/>
            </a:endParaRPr>
          </a:p>
          <a:p>
            <a:pPr marL="1883093" marR="214789"/>
            <a:r>
              <a:rPr sz="1350" dirty="0">
                <a:latin typeface="Georgia"/>
                <a:cs typeface="Georgia"/>
              </a:rPr>
              <a:t>Using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Euclidean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distance,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we </a:t>
            </a:r>
            <a:r>
              <a:rPr sz="1350" dirty="0">
                <a:latin typeface="Georgia"/>
                <a:cs typeface="Georgia"/>
              </a:rPr>
              <a:t>form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following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94"/>
              </a:spcBef>
            </a:pPr>
            <a:endParaRPr sz="1350">
              <a:latin typeface="Georgia"/>
              <a:cs typeface="Georgia"/>
            </a:endParaRPr>
          </a:p>
          <a:p>
            <a:pPr marL="1883093"/>
            <a:r>
              <a:rPr sz="1350" dirty="0">
                <a:solidFill>
                  <a:srgbClr val="006FC0"/>
                </a:solidFill>
                <a:latin typeface="Arial MT"/>
                <a:cs typeface="Arial MT"/>
              </a:rPr>
              <a:t>C1={O1,</a:t>
            </a:r>
            <a:r>
              <a:rPr sz="1350" spc="-11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6FC0"/>
                </a:solidFill>
                <a:latin typeface="Arial MT"/>
                <a:cs typeface="Arial MT"/>
              </a:rPr>
              <a:t>O2, O3,</a:t>
            </a:r>
            <a:r>
              <a:rPr sz="1350" spc="-8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50" spc="-19" dirty="0">
                <a:solidFill>
                  <a:srgbClr val="006FC0"/>
                </a:solidFill>
                <a:latin typeface="Arial MT"/>
                <a:cs typeface="Arial MT"/>
              </a:rPr>
              <a:t>O4}</a:t>
            </a:r>
            <a:endParaRPr sz="1350">
              <a:latin typeface="Arial MT"/>
              <a:cs typeface="Arial MT"/>
            </a:endParaRPr>
          </a:p>
          <a:p>
            <a:pPr marL="1883093">
              <a:spcBef>
                <a:spcPts val="4"/>
              </a:spcBef>
            </a:pPr>
            <a:r>
              <a:rPr sz="1350" dirty="0">
                <a:solidFill>
                  <a:srgbClr val="C00000"/>
                </a:solidFill>
                <a:latin typeface="Arial MT"/>
                <a:cs typeface="Arial MT"/>
              </a:rPr>
              <a:t>C2={O5,</a:t>
            </a:r>
            <a:r>
              <a:rPr sz="1350" spc="-11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C00000"/>
                </a:solidFill>
                <a:latin typeface="Arial MT"/>
                <a:cs typeface="Arial MT"/>
              </a:rPr>
              <a:t>O6, O7,</a:t>
            </a:r>
            <a:r>
              <a:rPr sz="1350" spc="-8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C00000"/>
                </a:solidFill>
                <a:latin typeface="Arial MT"/>
                <a:cs typeface="Arial MT"/>
              </a:rPr>
              <a:t>O8, O9,</a:t>
            </a:r>
            <a:r>
              <a:rPr sz="1350" spc="-8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C00000"/>
                </a:solidFill>
                <a:latin typeface="Arial MT"/>
                <a:cs typeface="Arial MT"/>
              </a:rPr>
              <a:t>O10}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1653" y="366819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476845" y="3551205"/>
            <a:ext cx="13335" cy="207169"/>
          </a:xfrm>
          <a:custGeom>
            <a:avLst/>
            <a:gdLst/>
            <a:ahLst/>
            <a:cxnLst/>
            <a:rect l="l" t="t" r="r" b="b"/>
            <a:pathLst>
              <a:path w="17779" h="276225">
                <a:moveTo>
                  <a:pt x="17272" y="0"/>
                </a:moveTo>
                <a:lnTo>
                  <a:pt x="0" y="0"/>
                </a:lnTo>
                <a:lnTo>
                  <a:pt x="0" y="276098"/>
                </a:lnTo>
                <a:lnTo>
                  <a:pt x="17272" y="276098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957923" y="3551205"/>
            <a:ext cx="13335" cy="207169"/>
          </a:xfrm>
          <a:custGeom>
            <a:avLst/>
            <a:gdLst/>
            <a:ahLst/>
            <a:cxnLst/>
            <a:rect l="l" t="t" r="r" b="b"/>
            <a:pathLst>
              <a:path w="17779" h="276225">
                <a:moveTo>
                  <a:pt x="17272" y="0"/>
                </a:moveTo>
                <a:lnTo>
                  <a:pt x="0" y="0"/>
                </a:lnTo>
                <a:lnTo>
                  <a:pt x="0" y="276098"/>
                </a:lnTo>
                <a:lnTo>
                  <a:pt x="17272" y="276098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742264" y="2002155"/>
            <a:ext cx="7696200" cy="1986922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2857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91404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05"/>
              </a:spcBef>
            </a:pP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3:</a:t>
            </a: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Compute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absolute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error</a:t>
            </a:r>
            <a:r>
              <a:rPr sz="1350" spc="26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(for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set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objects </a:t>
            </a: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3</a:t>
            </a:r>
            <a:r>
              <a:rPr sz="1463" spc="185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8</a:t>
            </a:r>
            <a:r>
              <a:rPr sz="1350" spc="-19" dirty="0">
                <a:latin typeface="Georgia"/>
                <a:cs typeface="Georgia"/>
              </a:rPr>
              <a:t>)</a:t>
            </a:r>
            <a:endParaRPr sz="1350">
              <a:latin typeface="Georgia"/>
              <a:cs typeface="Georgia"/>
            </a:endParaRPr>
          </a:p>
          <a:p>
            <a:pPr marR="2217420" algn="ctr">
              <a:spcBef>
                <a:spcPts val="495"/>
              </a:spcBef>
            </a:pPr>
            <a:r>
              <a:rPr sz="975" spc="26" dirty="0">
                <a:latin typeface="Cambria Math"/>
                <a:cs typeface="Cambria Math"/>
              </a:rPr>
              <a:t>𝑘</a:t>
            </a:r>
            <a:endParaRPr sz="975">
              <a:latin typeface="Cambria Math"/>
              <a:cs typeface="Cambria Math"/>
            </a:endParaRPr>
          </a:p>
          <a:p>
            <a:pPr marL="2287429">
              <a:spcBef>
                <a:spcPts val="472"/>
              </a:spcBef>
            </a:pPr>
            <a:r>
              <a:rPr sz="1350" dirty="0">
                <a:latin typeface="Cambria Math"/>
                <a:cs typeface="Cambria Math"/>
              </a:rPr>
              <a:t>𝐸</a:t>
            </a:r>
            <a:r>
              <a:rPr sz="1350" spc="120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431" dirty="0">
                <a:latin typeface="Cambria Math"/>
                <a:cs typeface="Cambria Math"/>
              </a:rPr>
              <a:t>෍</a:t>
            </a:r>
            <a:r>
              <a:rPr sz="1350" spc="413" dirty="0">
                <a:latin typeface="Cambria Math"/>
                <a:cs typeface="Cambria Math"/>
              </a:rPr>
              <a:t> </a:t>
            </a:r>
            <a:r>
              <a:rPr sz="1350" spc="431" dirty="0">
                <a:latin typeface="Cambria Math"/>
                <a:cs typeface="Cambria Math"/>
              </a:rPr>
              <a:t>෍</a:t>
            </a:r>
            <a:r>
              <a:rPr sz="1350" spc="319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𝑝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𝑗</a:t>
            </a:r>
            <a:endParaRPr sz="1463" baseline="-14957">
              <a:latin typeface="Cambria Math"/>
              <a:cs typeface="Cambria Math"/>
            </a:endParaRPr>
          </a:p>
          <a:p>
            <a:pPr marR="1873568" algn="ctr">
              <a:spcBef>
                <a:spcPts val="472"/>
              </a:spcBef>
            </a:pPr>
            <a:r>
              <a:rPr sz="975" spc="53" dirty="0">
                <a:latin typeface="Cambria Math"/>
                <a:cs typeface="Cambria Math"/>
              </a:rPr>
              <a:t>𝑗=1</a:t>
            </a:r>
            <a:r>
              <a:rPr sz="975" spc="300" dirty="0">
                <a:latin typeface="Cambria Math"/>
                <a:cs typeface="Cambria Math"/>
              </a:rPr>
              <a:t> </a:t>
            </a:r>
            <a:r>
              <a:rPr sz="975" spc="45" dirty="0">
                <a:latin typeface="Cambria Math"/>
                <a:cs typeface="Cambria Math"/>
              </a:rPr>
              <a:t>𝑝∈𝑐</a:t>
            </a:r>
            <a:r>
              <a:rPr sz="1181" spc="67" baseline="-15873" dirty="0">
                <a:latin typeface="Cambria Math"/>
                <a:cs typeface="Cambria Math"/>
              </a:rPr>
              <a:t>𝑗</a:t>
            </a:r>
            <a:endParaRPr sz="1181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8296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322392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1"/>
                </a:lnTo>
                <a:lnTo>
                  <a:pt x="17144" y="207771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829842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155471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2829496" y="4154614"/>
            <a:ext cx="201168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427673" algn="l"/>
                <a:tab pos="1139666" algn="l"/>
              </a:tabLst>
            </a:pPr>
            <a:r>
              <a:rPr sz="1350" dirty="0">
                <a:latin typeface="Cambria Math"/>
                <a:cs typeface="Cambria Math"/>
              </a:rPr>
              <a:t>𝑬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𝑶</a:t>
            </a:r>
            <a:r>
              <a:rPr sz="1463" baseline="-14957" dirty="0">
                <a:latin typeface="Cambria Math"/>
                <a:cs typeface="Cambria Math"/>
              </a:rPr>
              <a:t>𝟏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𝟐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62529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5088160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1"/>
                </a:lnTo>
                <a:lnTo>
                  <a:pt x="17144" y="207771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669521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602084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/>
        </p:nvSpPr>
        <p:spPr>
          <a:xfrm>
            <a:off x="4863084" y="4154614"/>
            <a:ext cx="18435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970598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𝟑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𝟒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9542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/>
          <p:nvPr/>
        </p:nvSpPr>
        <p:spPr>
          <a:xfrm>
            <a:off x="312105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/>
          <p:nvPr/>
        </p:nvSpPr>
        <p:spPr>
          <a:xfrm>
            <a:off x="4728115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/>
          <p:nvPr/>
        </p:nvSpPr>
        <p:spPr>
          <a:xfrm>
            <a:off x="4053744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/>
          <p:nvPr/>
        </p:nvSpPr>
        <p:spPr>
          <a:xfrm>
            <a:off x="5659660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/>
          <p:nvPr/>
        </p:nvSpPr>
        <p:spPr>
          <a:xfrm>
            <a:off x="4985290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/>
          <p:nvPr/>
        </p:nvSpPr>
        <p:spPr>
          <a:xfrm>
            <a:off x="659234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/>
          <p:nvPr/>
        </p:nvSpPr>
        <p:spPr>
          <a:xfrm>
            <a:off x="591797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/>
          <p:nvPr/>
        </p:nvSpPr>
        <p:spPr>
          <a:xfrm>
            <a:off x="7525036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/>
          <p:nvPr/>
        </p:nvSpPr>
        <p:spPr>
          <a:xfrm>
            <a:off x="6850665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/>
          <p:nvPr/>
        </p:nvSpPr>
        <p:spPr>
          <a:xfrm>
            <a:off x="8532019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/>
          <p:nvPr/>
        </p:nvSpPr>
        <p:spPr>
          <a:xfrm>
            <a:off x="7782211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 txBox="1"/>
          <p:nvPr/>
        </p:nvSpPr>
        <p:spPr>
          <a:xfrm>
            <a:off x="2915603" y="4359212"/>
            <a:ext cx="5637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7150">
              <a:spcBef>
                <a:spcPts val="75"/>
              </a:spcBef>
              <a:tabLst>
                <a:tab pos="951071" algn="l"/>
                <a:tab pos="1883569" algn="l"/>
                <a:tab pos="2815114" algn="l"/>
                <a:tab pos="3748088" algn="l"/>
                <a:tab pos="4681061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12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𝟓</a:t>
            </a:r>
            <a:r>
              <a:rPr sz="1463" spc="185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𝟔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𝟕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𝟖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𝟗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𝟏𝟎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62254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695"/>
                </a:lnTo>
                <a:lnTo>
                  <a:pt x="17144" y="207695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/>
          <p:cNvSpPr/>
          <p:nvPr/>
        </p:nvSpPr>
        <p:spPr>
          <a:xfrm>
            <a:off x="2887885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695"/>
                </a:lnTo>
                <a:lnTo>
                  <a:pt x="17145" y="207695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/>
          <p:nvPr/>
        </p:nvSpPr>
        <p:spPr>
          <a:xfrm>
            <a:off x="5456206" y="4898327"/>
            <a:ext cx="12859" cy="207169"/>
          </a:xfrm>
          <a:custGeom>
            <a:avLst/>
            <a:gdLst/>
            <a:ahLst/>
            <a:cxnLst/>
            <a:rect l="l" t="t" r="r" b="b"/>
            <a:pathLst>
              <a:path w="17145" h="276225">
                <a:moveTo>
                  <a:pt x="17144" y="0"/>
                </a:moveTo>
                <a:lnTo>
                  <a:pt x="0" y="0"/>
                </a:lnTo>
                <a:lnTo>
                  <a:pt x="0" y="276174"/>
                </a:lnTo>
                <a:lnTo>
                  <a:pt x="17144" y="276174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3" name="object 33"/>
          <p:cNvSpPr/>
          <p:nvPr/>
        </p:nvSpPr>
        <p:spPr>
          <a:xfrm>
            <a:off x="3838860" y="4898327"/>
            <a:ext cx="12859" cy="207169"/>
          </a:xfrm>
          <a:custGeom>
            <a:avLst/>
            <a:gdLst/>
            <a:ahLst/>
            <a:cxnLst/>
            <a:rect l="l" t="t" r="r" b="b"/>
            <a:pathLst>
              <a:path w="17145" h="276225">
                <a:moveTo>
                  <a:pt x="17145" y="0"/>
                </a:moveTo>
                <a:lnTo>
                  <a:pt x="0" y="0"/>
                </a:lnTo>
                <a:lnTo>
                  <a:pt x="0" y="276174"/>
                </a:lnTo>
                <a:lnTo>
                  <a:pt x="17145" y="276174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/>
          <p:nvPr/>
        </p:nvSpPr>
        <p:spPr>
          <a:xfrm>
            <a:off x="4515517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695"/>
                </a:lnTo>
                <a:lnTo>
                  <a:pt x="17145" y="207695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5" name="object 35"/>
          <p:cNvSpPr/>
          <p:nvPr/>
        </p:nvSpPr>
        <p:spPr>
          <a:xfrm>
            <a:off x="3893725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695"/>
                </a:lnTo>
                <a:lnTo>
                  <a:pt x="17144" y="207695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6" name="object 36"/>
          <p:cNvSpPr/>
          <p:nvPr/>
        </p:nvSpPr>
        <p:spPr>
          <a:xfrm>
            <a:off x="5402485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695"/>
                </a:lnTo>
                <a:lnTo>
                  <a:pt x="17144" y="207695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7" name="object 37"/>
          <p:cNvSpPr/>
          <p:nvPr/>
        </p:nvSpPr>
        <p:spPr>
          <a:xfrm>
            <a:off x="4773835" y="4924235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695"/>
                </a:lnTo>
                <a:lnTo>
                  <a:pt x="17145" y="207695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8" name="object 38"/>
          <p:cNvSpPr txBox="1"/>
          <p:nvPr/>
        </p:nvSpPr>
        <p:spPr>
          <a:xfrm>
            <a:off x="2864167" y="4870399"/>
            <a:ext cx="254936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7150">
              <a:spcBef>
                <a:spcPts val="75"/>
              </a:spcBef>
              <a:tabLst>
                <a:tab pos="778193" algn="l"/>
                <a:tab pos="1062990" algn="l"/>
                <a:tab pos="1722596" algn="l"/>
              </a:tabLst>
            </a:pP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𝟏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26" dirty="0">
                <a:latin typeface="Cambria Math"/>
                <a:cs typeface="Cambria Math"/>
              </a:rPr>
              <a:t>𝑶</a:t>
            </a:r>
            <a:r>
              <a:rPr sz="1463" spc="-39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𝒙</a:t>
            </a:r>
            <a:r>
              <a:rPr sz="1463" baseline="-14957" dirty="0">
                <a:latin typeface="Cambria Math"/>
                <a:cs typeface="Cambria Math"/>
              </a:rPr>
              <a:t>𝟏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𝒙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𝒚</a:t>
            </a:r>
            <a:r>
              <a:rPr sz="1463" baseline="-14957" dirty="0">
                <a:latin typeface="Cambria Math"/>
                <a:cs typeface="Cambria Math"/>
              </a:rPr>
              <a:t>𝟏</a:t>
            </a:r>
            <a:r>
              <a:rPr sz="1463" spc="208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19" dirty="0">
                <a:latin typeface="Cambria Math"/>
                <a:cs typeface="Cambria Math"/>
              </a:rPr>
              <a:t>𝒚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97180" y="4870399"/>
            <a:ext cx="191404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.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.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.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.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Manhattan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Distance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1653" y="23833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476845" y="3551205"/>
            <a:ext cx="13335" cy="207169"/>
          </a:xfrm>
          <a:custGeom>
            <a:avLst/>
            <a:gdLst/>
            <a:ahLst/>
            <a:cxnLst/>
            <a:rect l="l" t="t" r="r" b="b"/>
            <a:pathLst>
              <a:path w="17779" h="276225">
                <a:moveTo>
                  <a:pt x="17272" y="0"/>
                </a:moveTo>
                <a:lnTo>
                  <a:pt x="0" y="0"/>
                </a:lnTo>
                <a:lnTo>
                  <a:pt x="0" y="276098"/>
                </a:lnTo>
                <a:lnTo>
                  <a:pt x="17272" y="276098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957923" y="3551205"/>
            <a:ext cx="13335" cy="207169"/>
          </a:xfrm>
          <a:custGeom>
            <a:avLst/>
            <a:gdLst/>
            <a:ahLst/>
            <a:cxnLst/>
            <a:rect l="l" t="t" r="r" b="b"/>
            <a:pathLst>
              <a:path w="17779" h="276225">
                <a:moveTo>
                  <a:pt x="17272" y="0"/>
                </a:moveTo>
                <a:lnTo>
                  <a:pt x="0" y="0"/>
                </a:lnTo>
                <a:lnTo>
                  <a:pt x="0" y="276098"/>
                </a:lnTo>
                <a:lnTo>
                  <a:pt x="17272" y="276098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742264" y="2002155"/>
            <a:ext cx="7696200" cy="1986922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2857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91404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05"/>
              </a:spcBef>
            </a:pP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3:</a:t>
            </a: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Compute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absolute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error</a:t>
            </a:r>
            <a:r>
              <a:rPr sz="1350" spc="26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(for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set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objects </a:t>
            </a: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3</a:t>
            </a:r>
            <a:r>
              <a:rPr sz="1463" spc="185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8</a:t>
            </a:r>
            <a:r>
              <a:rPr sz="1350" spc="-19" dirty="0">
                <a:latin typeface="Georgia"/>
                <a:cs typeface="Georgia"/>
              </a:rPr>
              <a:t>)</a:t>
            </a:r>
            <a:endParaRPr sz="1350">
              <a:latin typeface="Georgia"/>
              <a:cs typeface="Georgia"/>
            </a:endParaRPr>
          </a:p>
          <a:p>
            <a:pPr marR="2217420" algn="ctr">
              <a:spcBef>
                <a:spcPts val="495"/>
              </a:spcBef>
            </a:pPr>
            <a:r>
              <a:rPr sz="975" spc="26" dirty="0">
                <a:latin typeface="Cambria Math"/>
                <a:cs typeface="Cambria Math"/>
              </a:rPr>
              <a:t>𝑘</a:t>
            </a:r>
            <a:endParaRPr sz="975">
              <a:latin typeface="Cambria Math"/>
              <a:cs typeface="Cambria Math"/>
            </a:endParaRPr>
          </a:p>
          <a:p>
            <a:pPr marL="2287429">
              <a:spcBef>
                <a:spcPts val="472"/>
              </a:spcBef>
            </a:pPr>
            <a:r>
              <a:rPr sz="1350" dirty="0">
                <a:latin typeface="Cambria Math"/>
                <a:cs typeface="Cambria Math"/>
              </a:rPr>
              <a:t>𝐸</a:t>
            </a:r>
            <a:r>
              <a:rPr sz="1350" spc="120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431" dirty="0">
                <a:latin typeface="Cambria Math"/>
                <a:cs typeface="Cambria Math"/>
              </a:rPr>
              <a:t>෍</a:t>
            </a:r>
            <a:r>
              <a:rPr sz="1350" spc="413" dirty="0">
                <a:latin typeface="Cambria Math"/>
                <a:cs typeface="Cambria Math"/>
              </a:rPr>
              <a:t> </a:t>
            </a:r>
            <a:r>
              <a:rPr sz="1350" spc="431" dirty="0">
                <a:latin typeface="Cambria Math"/>
                <a:cs typeface="Cambria Math"/>
              </a:rPr>
              <a:t>෍</a:t>
            </a:r>
            <a:r>
              <a:rPr sz="1350" spc="319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𝑝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𝑗</a:t>
            </a:r>
            <a:endParaRPr sz="1463" baseline="-14957">
              <a:latin typeface="Cambria Math"/>
              <a:cs typeface="Cambria Math"/>
            </a:endParaRPr>
          </a:p>
          <a:p>
            <a:pPr marR="1873568" algn="ctr">
              <a:spcBef>
                <a:spcPts val="472"/>
              </a:spcBef>
            </a:pPr>
            <a:r>
              <a:rPr sz="975" spc="53" dirty="0">
                <a:latin typeface="Cambria Math"/>
                <a:cs typeface="Cambria Math"/>
              </a:rPr>
              <a:t>𝑗=1</a:t>
            </a:r>
            <a:r>
              <a:rPr sz="975" spc="300" dirty="0">
                <a:latin typeface="Cambria Math"/>
                <a:cs typeface="Cambria Math"/>
              </a:rPr>
              <a:t> </a:t>
            </a:r>
            <a:r>
              <a:rPr sz="975" spc="45" dirty="0">
                <a:latin typeface="Cambria Math"/>
                <a:cs typeface="Cambria Math"/>
              </a:rPr>
              <a:t>𝑝∈𝑐</a:t>
            </a:r>
            <a:r>
              <a:rPr sz="1181" spc="67" baseline="-15873" dirty="0">
                <a:latin typeface="Cambria Math"/>
                <a:cs typeface="Cambria Math"/>
              </a:rPr>
              <a:t>𝑗</a:t>
            </a:r>
            <a:endParaRPr sz="1181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8296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322392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1"/>
                </a:lnTo>
                <a:lnTo>
                  <a:pt x="17144" y="207771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829842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155471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2829496" y="4154614"/>
            <a:ext cx="201168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427673" algn="l"/>
                <a:tab pos="1139666" algn="l"/>
              </a:tabLst>
            </a:pPr>
            <a:r>
              <a:rPr sz="1350" dirty="0">
                <a:latin typeface="Cambria Math"/>
                <a:cs typeface="Cambria Math"/>
              </a:rPr>
              <a:t>𝑬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𝑶</a:t>
            </a:r>
            <a:r>
              <a:rPr sz="1463" baseline="-14957" dirty="0">
                <a:latin typeface="Cambria Math"/>
                <a:cs typeface="Cambria Math"/>
              </a:rPr>
              <a:t>𝟏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𝟐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62529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5088160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1"/>
                </a:lnTo>
                <a:lnTo>
                  <a:pt x="17144" y="207771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669521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6020847" y="4208240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1"/>
                </a:lnTo>
                <a:lnTo>
                  <a:pt x="17145" y="207771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/>
        </p:nvSpPr>
        <p:spPr>
          <a:xfrm>
            <a:off x="4863084" y="4154614"/>
            <a:ext cx="18435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970598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𝟑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𝟒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𝟑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9542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/>
          <p:nvPr/>
        </p:nvSpPr>
        <p:spPr>
          <a:xfrm>
            <a:off x="312105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/>
          <p:nvPr/>
        </p:nvSpPr>
        <p:spPr>
          <a:xfrm>
            <a:off x="4728115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/>
          <p:nvPr/>
        </p:nvSpPr>
        <p:spPr>
          <a:xfrm>
            <a:off x="4053744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/>
          <p:nvPr/>
        </p:nvSpPr>
        <p:spPr>
          <a:xfrm>
            <a:off x="5659660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4" y="0"/>
                </a:moveTo>
                <a:lnTo>
                  <a:pt x="0" y="0"/>
                </a:lnTo>
                <a:lnTo>
                  <a:pt x="0" y="207772"/>
                </a:lnTo>
                <a:lnTo>
                  <a:pt x="17144" y="207772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/>
          <p:nvPr/>
        </p:nvSpPr>
        <p:spPr>
          <a:xfrm>
            <a:off x="4985290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/>
          <p:nvPr/>
        </p:nvSpPr>
        <p:spPr>
          <a:xfrm>
            <a:off x="659234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/>
          <p:nvPr/>
        </p:nvSpPr>
        <p:spPr>
          <a:xfrm>
            <a:off x="5917977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/>
          <p:nvPr/>
        </p:nvSpPr>
        <p:spPr>
          <a:xfrm>
            <a:off x="7525036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/>
          <p:nvPr/>
        </p:nvSpPr>
        <p:spPr>
          <a:xfrm>
            <a:off x="6850665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/>
          <p:nvPr/>
        </p:nvSpPr>
        <p:spPr>
          <a:xfrm>
            <a:off x="8532019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/>
          <p:nvPr/>
        </p:nvSpPr>
        <p:spPr>
          <a:xfrm>
            <a:off x="7782211" y="4412838"/>
            <a:ext cx="12859" cy="15620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72"/>
                </a:lnTo>
                <a:lnTo>
                  <a:pt x="17145" y="207772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/>
          <p:nvPr/>
        </p:nvSpPr>
        <p:spPr>
          <a:xfrm>
            <a:off x="4257103" y="4912708"/>
            <a:ext cx="1136333" cy="159068"/>
          </a:xfrm>
          <a:custGeom>
            <a:avLst/>
            <a:gdLst/>
            <a:ahLst/>
            <a:cxnLst/>
            <a:rect l="l" t="t" r="r" b="b"/>
            <a:pathLst>
              <a:path w="1515109" h="212089">
                <a:moveTo>
                  <a:pt x="1447164" y="0"/>
                </a:moveTo>
                <a:lnTo>
                  <a:pt x="1444243" y="8636"/>
                </a:lnTo>
                <a:lnTo>
                  <a:pt x="1456457" y="13946"/>
                </a:lnTo>
                <a:lnTo>
                  <a:pt x="1466992" y="21304"/>
                </a:lnTo>
                <a:lnTo>
                  <a:pt x="1488406" y="55449"/>
                </a:lnTo>
                <a:lnTo>
                  <a:pt x="1495425" y="104902"/>
                </a:lnTo>
                <a:lnTo>
                  <a:pt x="1494639" y="123571"/>
                </a:lnTo>
                <a:lnTo>
                  <a:pt x="1482852" y="169291"/>
                </a:lnTo>
                <a:lnTo>
                  <a:pt x="1456598" y="197869"/>
                </a:lnTo>
                <a:lnTo>
                  <a:pt x="1444497" y="203212"/>
                </a:lnTo>
                <a:lnTo>
                  <a:pt x="1447164" y="211810"/>
                </a:lnTo>
                <a:lnTo>
                  <a:pt x="1487634" y="187746"/>
                </a:lnTo>
                <a:lnTo>
                  <a:pt x="1510363" y="143398"/>
                </a:lnTo>
                <a:lnTo>
                  <a:pt x="1514729" y="106045"/>
                </a:lnTo>
                <a:lnTo>
                  <a:pt x="1513647" y="86830"/>
                </a:lnTo>
                <a:lnTo>
                  <a:pt x="1497203" y="37211"/>
                </a:lnTo>
                <a:lnTo>
                  <a:pt x="1462520" y="5599"/>
                </a:lnTo>
                <a:lnTo>
                  <a:pt x="1447164" y="0"/>
                </a:lnTo>
                <a:close/>
              </a:path>
              <a:path w="1515109" h="212089">
                <a:moveTo>
                  <a:pt x="67563" y="0"/>
                </a:moveTo>
                <a:lnTo>
                  <a:pt x="27219" y="24181"/>
                </a:lnTo>
                <a:lnTo>
                  <a:pt x="4381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53" y="206273"/>
                </a:lnTo>
                <a:lnTo>
                  <a:pt x="67563" y="211810"/>
                </a:lnTo>
                <a:lnTo>
                  <a:pt x="70231" y="203212"/>
                </a:lnTo>
                <a:lnTo>
                  <a:pt x="58183" y="197869"/>
                </a:lnTo>
                <a:lnTo>
                  <a:pt x="47767" y="190433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6376" y="55449"/>
                </a:lnTo>
                <a:lnTo>
                  <a:pt x="47863" y="21304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/>
          <p:nvPr/>
        </p:nvSpPr>
        <p:spPr>
          <a:xfrm>
            <a:off x="5627561" y="4912708"/>
            <a:ext cx="1751171" cy="159068"/>
          </a:xfrm>
          <a:custGeom>
            <a:avLst/>
            <a:gdLst/>
            <a:ahLst/>
            <a:cxnLst/>
            <a:rect l="l" t="t" r="r" b="b"/>
            <a:pathLst>
              <a:path w="2334895" h="212089">
                <a:moveTo>
                  <a:pt x="2267077" y="0"/>
                </a:moveTo>
                <a:lnTo>
                  <a:pt x="2264155" y="8636"/>
                </a:lnTo>
                <a:lnTo>
                  <a:pt x="2276369" y="13946"/>
                </a:lnTo>
                <a:lnTo>
                  <a:pt x="2286904" y="21304"/>
                </a:lnTo>
                <a:lnTo>
                  <a:pt x="2308318" y="55449"/>
                </a:lnTo>
                <a:lnTo>
                  <a:pt x="2315336" y="104902"/>
                </a:lnTo>
                <a:lnTo>
                  <a:pt x="2314551" y="123571"/>
                </a:lnTo>
                <a:lnTo>
                  <a:pt x="2302763" y="169291"/>
                </a:lnTo>
                <a:lnTo>
                  <a:pt x="2276510" y="197869"/>
                </a:lnTo>
                <a:lnTo>
                  <a:pt x="2264409" y="203212"/>
                </a:lnTo>
                <a:lnTo>
                  <a:pt x="2267077" y="211810"/>
                </a:lnTo>
                <a:lnTo>
                  <a:pt x="2307546" y="187746"/>
                </a:lnTo>
                <a:lnTo>
                  <a:pt x="2330275" y="143398"/>
                </a:lnTo>
                <a:lnTo>
                  <a:pt x="2334640" y="106045"/>
                </a:lnTo>
                <a:lnTo>
                  <a:pt x="2333559" y="86830"/>
                </a:lnTo>
                <a:lnTo>
                  <a:pt x="2317114" y="37211"/>
                </a:lnTo>
                <a:lnTo>
                  <a:pt x="2282432" y="5599"/>
                </a:lnTo>
                <a:lnTo>
                  <a:pt x="2267077" y="0"/>
                </a:lnTo>
                <a:close/>
              </a:path>
              <a:path w="2334895" h="212089">
                <a:moveTo>
                  <a:pt x="67563" y="0"/>
                </a:moveTo>
                <a:lnTo>
                  <a:pt x="27219" y="24181"/>
                </a:lnTo>
                <a:lnTo>
                  <a:pt x="4381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53" y="206273"/>
                </a:lnTo>
                <a:lnTo>
                  <a:pt x="67563" y="211810"/>
                </a:lnTo>
                <a:lnTo>
                  <a:pt x="70230" y="203212"/>
                </a:lnTo>
                <a:lnTo>
                  <a:pt x="58183" y="197869"/>
                </a:lnTo>
                <a:lnTo>
                  <a:pt x="47767" y="190433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0089" y="86830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/>
          <p:cNvSpPr txBox="1"/>
          <p:nvPr/>
        </p:nvSpPr>
        <p:spPr>
          <a:xfrm>
            <a:off x="2877503" y="4359212"/>
            <a:ext cx="5684996" cy="12073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0">
              <a:spcBef>
                <a:spcPts val="75"/>
              </a:spcBef>
              <a:tabLst>
                <a:tab pos="989171" algn="l"/>
                <a:tab pos="1921669" algn="l"/>
                <a:tab pos="2853214" algn="l"/>
                <a:tab pos="3786188" algn="l"/>
                <a:tab pos="4719161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12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𝟓</a:t>
            </a:r>
            <a:r>
              <a:rPr sz="1463" spc="185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𝟔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𝟕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𝟖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𝟗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𝟏𝟎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𝟖</a:t>
            </a:r>
            <a:endParaRPr sz="1463" baseline="-14957">
              <a:latin typeface="Cambria Math"/>
              <a:cs typeface="Cambria Math"/>
            </a:endParaRPr>
          </a:p>
          <a:p>
            <a:pPr>
              <a:spcBef>
                <a:spcPts val="743"/>
              </a:spcBef>
            </a:pPr>
            <a:endParaRPr sz="1350">
              <a:latin typeface="Cambria Math"/>
              <a:cs typeface="Cambria Math"/>
            </a:endParaRPr>
          </a:p>
          <a:p>
            <a:pPr marR="204311" algn="ctr">
              <a:tabLst>
                <a:tab pos="406718" algn="l"/>
                <a:tab pos="1540669" algn="l"/>
                <a:tab pos="1777365" algn="l"/>
              </a:tabLst>
            </a:pPr>
            <a:r>
              <a:rPr sz="1350" dirty="0">
                <a:latin typeface="Cambria Math"/>
                <a:cs typeface="Cambria Math"/>
              </a:rPr>
              <a:t>𝑬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𝟑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 𝟒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𝟎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𝟐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+</a:t>
            </a:r>
            <a:r>
              <a:rPr sz="1350" dirty="0">
                <a:latin typeface="Cambria Math"/>
                <a:cs typeface="Cambria Math"/>
              </a:rPr>
              <a:t>	𝟑 +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𝟏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 𝟏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𝟎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 𝟐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𝟐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19"/>
              </a:spcBef>
            </a:pPr>
            <a:endParaRPr sz="1350">
              <a:latin typeface="Cambria Math"/>
              <a:cs typeface="Cambria Math"/>
            </a:endParaRPr>
          </a:p>
          <a:p>
            <a:pPr marR="133350" algn="ctr">
              <a:spcBef>
                <a:spcPts val="4"/>
              </a:spcBef>
            </a:pP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𝑬</a:t>
            </a:r>
            <a:r>
              <a:rPr spc="9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pc="86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C00000"/>
                </a:solidFill>
                <a:latin typeface="Cambria Math"/>
                <a:cs typeface="Cambria Math"/>
              </a:rPr>
              <a:t>𝟏𝟖</a:t>
            </a:r>
            <a:endParaRPr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6073" y="2157984"/>
            <a:ext cx="3641884" cy="3568541"/>
            <a:chOff x="6874764" y="1734311"/>
            <a:chExt cx="4855845" cy="4758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4764" y="1734311"/>
              <a:ext cx="4855464" cy="47579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56576" y="2211323"/>
              <a:ext cx="1577340" cy="2630805"/>
            </a:xfrm>
            <a:custGeom>
              <a:avLst/>
              <a:gdLst/>
              <a:ahLst/>
              <a:cxnLst/>
              <a:rect l="l" t="t" r="r" b="b"/>
              <a:pathLst>
                <a:path w="1577340" h="2630804">
                  <a:moveTo>
                    <a:pt x="0" y="1315212"/>
                  </a:moveTo>
                  <a:lnTo>
                    <a:pt x="811" y="1255013"/>
                  </a:lnTo>
                  <a:lnTo>
                    <a:pt x="3222" y="1195509"/>
                  </a:lnTo>
                  <a:lnTo>
                    <a:pt x="7198" y="1136757"/>
                  </a:lnTo>
                  <a:lnTo>
                    <a:pt x="12705" y="1078816"/>
                  </a:lnTo>
                  <a:lnTo>
                    <a:pt x="19706" y="1021743"/>
                  </a:lnTo>
                  <a:lnTo>
                    <a:pt x="28169" y="965596"/>
                  </a:lnTo>
                  <a:lnTo>
                    <a:pt x="38057" y="910434"/>
                  </a:lnTo>
                  <a:lnTo>
                    <a:pt x="49336" y="856315"/>
                  </a:lnTo>
                  <a:lnTo>
                    <a:pt x="61972" y="803296"/>
                  </a:lnTo>
                  <a:lnTo>
                    <a:pt x="75928" y="751436"/>
                  </a:lnTo>
                  <a:lnTo>
                    <a:pt x="91172" y="700793"/>
                  </a:lnTo>
                  <a:lnTo>
                    <a:pt x="107667" y="651425"/>
                  </a:lnTo>
                  <a:lnTo>
                    <a:pt x="125380" y="603389"/>
                  </a:lnTo>
                  <a:lnTo>
                    <a:pt x="144275" y="556745"/>
                  </a:lnTo>
                  <a:lnTo>
                    <a:pt x="164317" y="511550"/>
                  </a:lnTo>
                  <a:lnTo>
                    <a:pt x="185472" y="467861"/>
                  </a:lnTo>
                  <a:lnTo>
                    <a:pt x="207705" y="425738"/>
                  </a:lnTo>
                  <a:lnTo>
                    <a:pt x="230981" y="385238"/>
                  </a:lnTo>
                  <a:lnTo>
                    <a:pt x="255265" y="346419"/>
                  </a:lnTo>
                  <a:lnTo>
                    <a:pt x="280523" y="309340"/>
                  </a:lnTo>
                  <a:lnTo>
                    <a:pt x="306720" y="274058"/>
                  </a:lnTo>
                  <a:lnTo>
                    <a:pt x="333821" y="240632"/>
                  </a:lnTo>
                  <a:lnTo>
                    <a:pt x="361791" y="209119"/>
                  </a:lnTo>
                  <a:lnTo>
                    <a:pt x="390595" y="179578"/>
                  </a:lnTo>
                  <a:lnTo>
                    <a:pt x="420199" y="152066"/>
                  </a:lnTo>
                  <a:lnTo>
                    <a:pt x="450568" y="126642"/>
                  </a:lnTo>
                  <a:lnTo>
                    <a:pt x="481667" y="103364"/>
                  </a:lnTo>
                  <a:lnTo>
                    <a:pt x="513461" y="82289"/>
                  </a:lnTo>
                  <a:lnTo>
                    <a:pt x="578996" y="46984"/>
                  </a:lnTo>
                  <a:lnTo>
                    <a:pt x="646895" y="21191"/>
                  </a:lnTo>
                  <a:lnTo>
                    <a:pt x="716879" y="5375"/>
                  </a:lnTo>
                  <a:lnTo>
                    <a:pt x="788670" y="0"/>
                  </a:lnTo>
                  <a:lnTo>
                    <a:pt x="824773" y="1353"/>
                  </a:lnTo>
                  <a:lnTo>
                    <a:pt x="895696" y="12007"/>
                  </a:lnTo>
                  <a:lnTo>
                    <a:pt x="964672" y="32870"/>
                  </a:lnTo>
                  <a:lnTo>
                    <a:pt x="1031423" y="63477"/>
                  </a:lnTo>
                  <a:lnTo>
                    <a:pt x="1095672" y="103364"/>
                  </a:lnTo>
                  <a:lnTo>
                    <a:pt x="1126771" y="126642"/>
                  </a:lnTo>
                  <a:lnTo>
                    <a:pt x="1157140" y="152066"/>
                  </a:lnTo>
                  <a:lnTo>
                    <a:pt x="1186744" y="179578"/>
                  </a:lnTo>
                  <a:lnTo>
                    <a:pt x="1215548" y="209119"/>
                  </a:lnTo>
                  <a:lnTo>
                    <a:pt x="1243518" y="240632"/>
                  </a:lnTo>
                  <a:lnTo>
                    <a:pt x="1270619" y="274058"/>
                  </a:lnTo>
                  <a:lnTo>
                    <a:pt x="1296816" y="309340"/>
                  </a:lnTo>
                  <a:lnTo>
                    <a:pt x="1322074" y="346419"/>
                  </a:lnTo>
                  <a:lnTo>
                    <a:pt x="1346358" y="385238"/>
                  </a:lnTo>
                  <a:lnTo>
                    <a:pt x="1369634" y="425738"/>
                  </a:lnTo>
                  <a:lnTo>
                    <a:pt x="1391867" y="467861"/>
                  </a:lnTo>
                  <a:lnTo>
                    <a:pt x="1413022" y="511550"/>
                  </a:lnTo>
                  <a:lnTo>
                    <a:pt x="1433064" y="556745"/>
                  </a:lnTo>
                  <a:lnTo>
                    <a:pt x="1451959" y="603389"/>
                  </a:lnTo>
                  <a:lnTo>
                    <a:pt x="1469672" y="651425"/>
                  </a:lnTo>
                  <a:lnTo>
                    <a:pt x="1486167" y="700793"/>
                  </a:lnTo>
                  <a:lnTo>
                    <a:pt x="1501411" y="751436"/>
                  </a:lnTo>
                  <a:lnTo>
                    <a:pt x="1515367" y="803296"/>
                  </a:lnTo>
                  <a:lnTo>
                    <a:pt x="1528003" y="856315"/>
                  </a:lnTo>
                  <a:lnTo>
                    <a:pt x="1539282" y="910434"/>
                  </a:lnTo>
                  <a:lnTo>
                    <a:pt x="1549170" y="965596"/>
                  </a:lnTo>
                  <a:lnTo>
                    <a:pt x="1557633" y="1021743"/>
                  </a:lnTo>
                  <a:lnTo>
                    <a:pt x="1564634" y="1078816"/>
                  </a:lnTo>
                  <a:lnTo>
                    <a:pt x="1570141" y="1136757"/>
                  </a:lnTo>
                  <a:lnTo>
                    <a:pt x="1574117" y="1195509"/>
                  </a:lnTo>
                  <a:lnTo>
                    <a:pt x="1576528" y="1255013"/>
                  </a:lnTo>
                  <a:lnTo>
                    <a:pt x="1577340" y="1315212"/>
                  </a:lnTo>
                  <a:lnTo>
                    <a:pt x="1576528" y="1375410"/>
                  </a:lnTo>
                  <a:lnTo>
                    <a:pt x="1574117" y="1434914"/>
                  </a:lnTo>
                  <a:lnTo>
                    <a:pt x="1570141" y="1493666"/>
                  </a:lnTo>
                  <a:lnTo>
                    <a:pt x="1564634" y="1551607"/>
                  </a:lnTo>
                  <a:lnTo>
                    <a:pt x="1557633" y="1608680"/>
                  </a:lnTo>
                  <a:lnTo>
                    <a:pt x="1549170" y="1664827"/>
                  </a:lnTo>
                  <a:lnTo>
                    <a:pt x="1539282" y="1719989"/>
                  </a:lnTo>
                  <a:lnTo>
                    <a:pt x="1528003" y="1774108"/>
                  </a:lnTo>
                  <a:lnTo>
                    <a:pt x="1515367" y="1827127"/>
                  </a:lnTo>
                  <a:lnTo>
                    <a:pt x="1501411" y="1878987"/>
                  </a:lnTo>
                  <a:lnTo>
                    <a:pt x="1486167" y="1929630"/>
                  </a:lnTo>
                  <a:lnTo>
                    <a:pt x="1469672" y="1978998"/>
                  </a:lnTo>
                  <a:lnTo>
                    <a:pt x="1451959" y="2027034"/>
                  </a:lnTo>
                  <a:lnTo>
                    <a:pt x="1433064" y="2073678"/>
                  </a:lnTo>
                  <a:lnTo>
                    <a:pt x="1413022" y="2118873"/>
                  </a:lnTo>
                  <a:lnTo>
                    <a:pt x="1391867" y="2162562"/>
                  </a:lnTo>
                  <a:lnTo>
                    <a:pt x="1369634" y="2204685"/>
                  </a:lnTo>
                  <a:lnTo>
                    <a:pt x="1346358" y="2245185"/>
                  </a:lnTo>
                  <a:lnTo>
                    <a:pt x="1322074" y="2284004"/>
                  </a:lnTo>
                  <a:lnTo>
                    <a:pt x="1296816" y="2321083"/>
                  </a:lnTo>
                  <a:lnTo>
                    <a:pt x="1270619" y="2356365"/>
                  </a:lnTo>
                  <a:lnTo>
                    <a:pt x="1243518" y="2389791"/>
                  </a:lnTo>
                  <a:lnTo>
                    <a:pt x="1215548" y="2421304"/>
                  </a:lnTo>
                  <a:lnTo>
                    <a:pt x="1186744" y="2450846"/>
                  </a:lnTo>
                  <a:lnTo>
                    <a:pt x="1157140" y="2478357"/>
                  </a:lnTo>
                  <a:lnTo>
                    <a:pt x="1126771" y="2503781"/>
                  </a:lnTo>
                  <a:lnTo>
                    <a:pt x="1095672" y="2527059"/>
                  </a:lnTo>
                  <a:lnTo>
                    <a:pt x="1063878" y="2548134"/>
                  </a:lnTo>
                  <a:lnTo>
                    <a:pt x="998343" y="2583439"/>
                  </a:lnTo>
                  <a:lnTo>
                    <a:pt x="930444" y="2609232"/>
                  </a:lnTo>
                  <a:lnTo>
                    <a:pt x="860460" y="2625048"/>
                  </a:lnTo>
                  <a:lnTo>
                    <a:pt x="788670" y="2630424"/>
                  </a:lnTo>
                  <a:lnTo>
                    <a:pt x="752566" y="2629070"/>
                  </a:lnTo>
                  <a:lnTo>
                    <a:pt x="681643" y="2618416"/>
                  </a:lnTo>
                  <a:lnTo>
                    <a:pt x="612667" y="2597553"/>
                  </a:lnTo>
                  <a:lnTo>
                    <a:pt x="545916" y="2566946"/>
                  </a:lnTo>
                  <a:lnTo>
                    <a:pt x="481667" y="2527059"/>
                  </a:lnTo>
                  <a:lnTo>
                    <a:pt x="450568" y="2503781"/>
                  </a:lnTo>
                  <a:lnTo>
                    <a:pt x="420199" y="2478357"/>
                  </a:lnTo>
                  <a:lnTo>
                    <a:pt x="390595" y="2450845"/>
                  </a:lnTo>
                  <a:lnTo>
                    <a:pt x="361791" y="2421304"/>
                  </a:lnTo>
                  <a:lnTo>
                    <a:pt x="333821" y="2389791"/>
                  </a:lnTo>
                  <a:lnTo>
                    <a:pt x="306720" y="2356365"/>
                  </a:lnTo>
                  <a:lnTo>
                    <a:pt x="280523" y="2321083"/>
                  </a:lnTo>
                  <a:lnTo>
                    <a:pt x="255265" y="2284004"/>
                  </a:lnTo>
                  <a:lnTo>
                    <a:pt x="230981" y="2245185"/>
                  </a:lnTo>
                  <a:lnTo>
                    <a:pt x="207705" y="2204685"/>
                  </a:lnTo>
                  <a:lnTo>
                    <a:pt x="185472" y="2162562"/>
                  </a:lnTo>
                  <a:lnTo>
                    <a:pt x="164317" y="2118873"/>
                  </a:lnTo>
                  <a:lnTo>
                    <a:pt x="144275" y="2073678"/>
                  </a:lnTo>
                  <a:lnTo>
                    <a:pt x="125380" y="2027034"/>
                  </a:lnTo>
                  <a:lnTo>
                    <a:pt x="107667" y="1978998"/>
                  </a:lnTo>
                  <a:lnTo>
                    <a:pt x="91172" y="1929630"/>
                  </a:lnTo>
                  <a:lnTo>
                    <a:pt x="75928" y="1878987"/>
                  </a:lnTo>
                  <a:lnTo>
                    <a:pt x="61972" y="1827127"/>
                  </a:lnTo>
                  <a:lnTo>
                    <a:pt x="49336" y="1774108"/>
                  </a:lnTo>
                  <a:lnTo>
                    <a:pt x="38057" y="1719989"/>
                  </a:lnTo>
                  <a:lnTo>
                    <a:pt x="28169" y="1664827"/>
                  </a:lnTo>
                  <a:lnTo>
                    <a:pt x="19706" y="1608680"/>
                  </a:lnTo>
                  <a:lnTo>
                    <a:pt x="12705" y="1551607"/>
                  </a:lnTo>
                  <a:lnTo>
                    <a:pt x="7198" y="1493666"/>
                  </a:lnTo>
                  <a:lnTo>
                    <a:pt x="3222" y="1434914"/>
                  </a:lnTo>
                  <a:lnTo>
                    <a:pt x="811" y="1375410"/>
                  </a:lnTo>
                  <a:lnTo>
                    <a:pt x="0" y="1315212"/>
                  </a:lnTo>
                  <a:close/>
                </a:path>
              </a:pathLst>
            </a:custGeom>
            <a:ln w="15875">
              <a:solidFill>
                <a:srgbClr val="117D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9288780" y="3195827"/>
              <a:ext cx="1684020" cy="2632075"/>
            </a:xfrm>
            <a:custGeom>
              <a:avLst/>
              <a:gdLst/>
              <a:ahLst/>
              <a:cxnLst/>
              <a:rect l="l" t="t" r="r" b="b"/>
              <a:pathLst>
                <a:path w="1684020" h="2632075">
                  <a:moveTo>
                    <a:pt x="0" y="1315974"/>
                  </a:moveTo>
                  <a:lnTo>
                    <a:pt x="820" y="1257353"/>
                  </a:lnTo>
                  <a:lnTo>
                    <a:pt x="3258" y="1199389"/>
                  </a:lnTo>
                  <a:lnTo>
                    <a:pt x="7280" y="1142135"/>
                  </a:lnTo>
                  <a:lnTo>
                    <a:pt x="12851" y="1085645"/>
                  </a:lnTo>
                  <a:lnTo>
                    <a:pt x="19937" y="1029973"/>
                  </a:lnTo>
                  <a:lnTo>
                    <a:pt x="28504" y="975171"/>
                  </a:lnTo>
                  <a:lnTo>
                    <a:pt x="38518" y="921293"/>
                  </a:lnTo>
                  <a:lnTo>
                    <a:pt x="49945" y="868393"/>
                  </a:lnTo>
                  <a:lnTo>
                    <a:pt x="62750" y="816525"/>
                  </a:lnTo>
                  <a:lnTo>
                    <a:pt x="76899" y="765741"/>
                  </a:lnTo>
                  <a:lnTo>
                    <a:pt x="92358" y="716095"/>
                  </a:lnTo>
                  <a:lnTo>
                    <a:pt x="109093" y="667641"/>
                  </a:lnTo>
                  <a:lnTo>
                    <a:pt x="127069" y="620432"/>
                  </a:lnTo>
                  <a:lnTo>
                    <a:pt x="146253" y="574521"/>
                  </a:lnTo>
                  <a:lnTo>
                    <a:pt x="166609" y="529963"/>
                  </a:lnTo>
                  <a:lnTo>
                    <a:pt x="188105" y="486810"/>
                  </a:lnTo>
                  <a:lnTo>
                    <a:pt x="210705" y="445117"/>
                  </a:lnTo>
                  <a:lnTo>
                    <a:pt x="234376" y="404935"/>
                  </a:lnTo>
                  <a:lnTo>
                    <a:pt x="259083" y="366320"/>
                  </a:lnTo>
                  <a:lnTo>
                    <a:pt x="284792" y="329324"/>
                  </a:lnTo>
                  <a:lnTo>
                    <a:pt x="311468" y="294002"/>
                  </a:lnTo>
                  <a:lnTo>
                    <a:pt x="339079" y="260405"/>
                  </a:lnTo>
                  <a:lnTo>
                    <a:pt x="367589" y="228589"/>
                  </a:lnTo>
                  <a:lnTo>
                    <a:pt x="396964" y="198606"/>
                  </a:lnTo>
                  <a:lnTo>
                    <a:pt x="427170" y="170510"/>
                  </a:lnTo>
                  <a:lnTo>
                    <a:pt x="458173" y="144354"/>
                  </a:lnTo>
                  <a:lnTo>
                    <a:pt x="489938" y="120192"/>
                  </a:lnTo>
                  <a:lnTo>
                    <a:pt x="522432" y="98077"/>
                  </a:lnTo>
                  <a:lnTo>
                    <a:pt x="555620" y="78064"/>
                  </a:lnTo>
                  <a:lnTo>
                    <a:pt x="589468" y="60204"/>
                  </a:lnTo>
                  <a:lnTo>
                    <a:pt x="659007" y="31162"/>
                  </a:lnTo>
                  <a:lnTo>
                    <a:pt x="730776" y="11378"/>
                  </a:lnTo>
                  <a:lnTo>
                    <a:pt x="804500" y="1282"/>
                  </a:lnTo>
                  <a:lnTo>
                    <a:pt x="842010" y="0"/>
                  </a:lnTo>
                  <a:lnTo>
                    <a:pt x="879519" y="1282"/>
                  </a:lnTo>
                  <a:lnTo>
                    <a:pt x="953243" y="11378"/>
                  </a:lnTo>
                  <a:lnTo>
                    <a:pt x="1025012" y="31162"/>
                  </a:lnTo>
                  <a:lnTo>
                    <a:pt x="1094551" y="60204"/>
                  </a:lnTo>
                  <a:lnTo>
                    <a:pt x="1128399" y="78064"/>
                  </a:lnTo>
                  <a:lnTo>
                    <a:pt x="1161587" y="98077"/>
                  </a:lnTo>
                  <a:lnTo>
                    <a:pt x="1194081" y="120192"/>
                  </a:lnTo>
                  <a:lnTo>
                    <a:pt x="1225846" y="144354"/>
                  </a:lnTo>
                  <a:lnTo>
                    <a:pt x="1256849" y="170510"/>
                  </a:lnTo>
                  <a:lnTo>
                    <a:pt x="1287055" y="198606"/>
                  </a:lnTo>
                  <a:lnTo>
                    <a:pt x="1316430" y="228589"/>
                  </a:lnTo>
                  <a:lnTo>
                    <a:pt x="1344940" y="260405"/>
                  </a:lnTo>
                  <a:lnTo>
                    <a:pt x="1372551" y="294002"/>
                  </a:lnTo>
                  <a:lnTo>
                    <a:pt x="1399227" y="329324"/>
                  </a:lnTo>
                  <a:lnTo>
                    <a:pt x="1424936" y="366320"/>
                  </a:lnTo>
                  <a:lnTo>
                    <a:pt x="1449643" y="404935"/>
                  </a:lnTo>
                  <a:lnTo>
                    <a:pt x="1473314" y="445117"/>
                  </a:lnTo>
                  <a:lnTo>
                    <a:pt x="1495914" y="486810"/>
                  </a:lnTo>
                  <a:lnTo>
                    <a:pt x="1517410" y="529963"/>
                  </a:lnTo>
                  <a:lnTo>
                    <a:pt x="1537766" y="574521"/>
                  </a:lnTo>
                  <a:lnTo>
                    <a:pt x="1556950" y="620432"/>
                  </a:lnTo>
                  <a:lnTo>
                    <a:pt x="1574926" y="667641"/>
                  </a:lnTo>
                  <a:lnTo>
                    <a:pt x="1591661" y="716095"/>
                  </a:lnTo>
                  <a:lnTo>
                    <a:pt x="1607120" y="765741"/>
                  </a:lnTo>
                  <a:lnTo>
                    <a:pt x="1621269" y="816525"/>
                  </a:lnTo>
                  <a:lnTo>
                    <a:pt x="1634074" y="868393"/>
                  </a:lnTo>
                  <a:lnTo>
                    <a:pt x="1645501" y="921293"/>
                  </a:lnTo>
                  <a:lnTo>
                    <a:pt x="1655515" y="975171"/>
                  </a:lnTo>
                  <a:lnTo>
                    <a:pt x="1664082" y="1029973"/>
                  </a:lnTo>
                  <a:lnTo>
                    <a:pt x="1671168" y="1085645"/>
                  </a:lnTo>
                  <a:lnTo>
                    <a:pt x="1676739" y="1142135"/>
                  </a:lnTo>
                  <a:lnTo>
                    <a:pt x="1680761" y="1199389"/>
                  </a:lnTo>
                  <a:lnTo>
                    <a:pt x="1683199" y="1257353"/>
                  </a:lnTo>
                  <a:lnTo>
                    <a:pt x="1684020" y="1315974"/>
                  </a:lnTo>
                  <a:lnTo>
                    <a:pt x="1683199" y="1374594"/>
                  </a:lnTo>
                  <a:lnTo>
                    <a:pt x="1680761" y="1432558"/>
                  </a:lnTo>
                  <a:lnTo>
                    <a:pt x="1676739" y="1489812"/>
                  </a:lnTo>
                  <a:lnTo>
                    <a:pt x="1671168" y="1546302"/>
                  </a:lnTo>
                  <a:lnTo>
                    <a:pt x="1664082" y="1601974"/>
                  </a:lnTo>
                  <a:lnTo>
                    <a:pt x="1655515" y="1656776"/>
                  </a:lnTo>
                  <a:lnTo>
                    <a:pt x="1645501" y="1710654"/>
                  </a:lnTo>
                  <a:lnTo>
                    <a:pt x="1634074" y="1763554"/>
                  </a:lnTo>
                  <a:lnTo>
                    <a:pt x="1621269" y="1815422"/>
                  </a:lnTo>
                  <a:lnTo>
                    <a:pt x="1607120" y="1866206"/>
                  </a:lnTo>
                  <a:lnTo>
                    <a:pt x="1591661" y="1915852"/>
                  </a:lnTo>
                  <a:lnTo>
                    <a:pt x="1574926" y="1964306"/>
                  </a:lnTo>
                  <a:lnTo>
                    <a:pt x="1556950" y="2011515"/>
                  </a:lnTo>
                  <a:lnTo>
                    <a:pt x="1537766" y="2057426"/>
                  </a:lnTo>
                  <a:lnTo>
                    <a:pt x="1517410" y="2101984"/>
                  </a:lnTo>
                  <a:lnTo>
                    <a:pt x="1495914" y="2145137"/>
                  </a:lnTo>
                  <a:lnTo>
                    <a:pt x="1473314" y="2186830"/>
                  </a:lnTo>
                  <a:lnTo>
                    <a:pt x="1449643" y="2227012"/>
                  </a:lnTo>
                  <a:lnTo>
                    <a:pt x="1424936" y="2265627"/>
                  </a:lnTo>
                  <a:lnTo>
                    <a:pt x="1399227" y="2302623"/>
                  </a:lnTo>
                  <a:lnTo>
                    <a:pt x="1372551" y="2337945"/>
                  </a:lnTo>
                  <a:lnTo>
                    <a:pt x="1344940" y="2371542"/>
                  </a:lnTo>
                  <a:lnTo>
                    <a:pt x="1316430" y="2403358"/>
                  </a:lnTo>
                  <a:lnTo>
                    <a:pt x="1287055" y="2433341"/>
                  </a:lnTo>
                  <a:lnTo>
                    <a:pt x="1256849" y="2461437"/>
                  </a:lnTo>
                  <a:lnTo>
                    <a:pt x="1225846" y="2487593"/>
                  </a:lnTo>
                  <a:lnTo>
                    <a:pt x="1194081" y="2511755"/>
                  </a:lnTo>
                  <a:lnTo>
                    <a:pt x="1161587" y="2533870"/>
                  </a:lnTo>
                  <a:lnTo>
                    <a:pt x="1128399" y="2553883"/>
                  </a:lnTo>
                  <a:lnTo>
                    <a:pt x="1094551" y="2571743"/>
                  </a:lnTo>
                  <a:lnTo>
                    <a:pt x="1025012" y="2600785"/>
                  </a:lnTo>
                  <a:lnTo>
                    <a:pt x="953243" y="2620569"/>
                  </a:lnTo>
                  <a:lnTo>
                    <a:pt x="879519" y="2630665"/>
                  </a:lnTo>
                  <a:lnTo>
                    <a:pt x="842010" y="2631948"/>
                  </a:lnTo>
                  <a:lnTo>
                    <a:pt x="804500" y="2630665"/>
                  </a:lnTo>
                  <a:lnTo>
                    <a:pt x="730776" y="2620569"/>
                  </a:lnTo>
                  <a:lnTo>
                    <a:pt x="659007" y="2600785"/>
                  </a:lnTo>
                  <a:lnTo>
                    <a:pt x="589468" y="2571743"/>
                  </a:lnTo>
                  <a:lnTo>
                    <a:pt x="555620" y="2553883"/>
                  </a:lnTo>
                  <a:lnTo>
                    <a:pt x="522432" y="2533870"/>
                  </a:lnTo>
                  <a:lnTo>
                    <a:pt x="489938" y="2511755"/>
                  </a:lnTo>
                  <a:lnTo>
                    <a:pt x="458173" y="2487593"/>
                  </a:lnTo>
                  <a:lnTo>
                    <a:pt x="427170" y="2461437"/>
                  </a:lnTo>
                  <a:lnTo>
                    <a:pt x="396964" y="2433341"/>
                  </a:lnTo>
                  <a:lnTo>
                    <a:pt x="367589" y="2403358"/>
                  </a:lnTo>
                  <a:lnTo>
                    <a:pt x="339079" y="2371542"/>
                  </a:lnTo>
                  <a:lnTo>
                    <a:pt x="311468" y="2337945"/>
                  </a:lnTo>
                  <a:lnTo>
                    <a:pt x="284792" y="2302623"/>
                  </a:lnTo>
                  <a:lnTo>
                    <a:pt x="259083" y="2265627"/>
                  </a:lnTo>
                  <a:lnTo>
                    <a:pt x="234376" y="2227012"/>
                  </a:lnTo>
                  <a:lnTo>
                    <a:pt x="210705" y="2186830"/>
                  </a:lnTo>
                  <a:lnTo>
                    <a:pt x="188105" y="2145137"/>
                  </a:lnTo>
                  <a:lnTo>
                    <a:pt x="166609" y="2101984"/>
                  </a:lnTo>
                  <a:lnTo>
                    <a:pt x="146253" y="2057426"/>
                  </a:lnTo>
                  <a:lnTo>
                    <a:pt x="127069" y="2011515"/>
                  </a:lnTo>
                  <a:lnTo>
                    <a:pt x="109093" y="1964306"/>
                  </a:lnTo>
                  <a:lnTo>
                    <a:pt x="92358" y="1915852"/>
                  </a:lnTo>
                  <a:lnTo>
                    <a:pt x="76899" y="1866206"/>
                  </a:lnTo>
                  <a:lnTo>
                    <a:pt x="62750" y="1815422"/>
                  </a:lnTo>
                  <a:lnTo>
                    <a:pt x="49945" y="1763554"/>
                  </a:lnTo>
                  <a:lnTo>
                    <a:pt x="38518" y="1710654"/>
                  </a:lnTo>
                  <a:lnTo>
                    <a:pt x="28504" y="1656776"/>
                  </a:lnTo>
                  <a:lnTo>
                    <a:pt x="19937" y="1601974"/>
                  </a:lnTo>
                  <a:lnTo>
                    <a:pt x="12851" y="1546302"/>
                  </a:lnTo>
                  <a:lnTo>
                    <a:pt x="7280" y="1489812"/>
                  </a:lnTo>
                  <a:lnTo>
                    <a:pt x="3258" y="1432558"/>
                  </a:lnTo>
                  <a:lnTo>
                    <a:pt x="820" y="1374594"/>
                  </a:lnTo>
                  <a:lnTo>
                    <a:pt x="0" y="1315974"/>
                  </a:lnTo>
                  <a:close/>
                </a:path>
              </a:pathLst>
            </a:custGeom>
            <a:ln w="158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359833" y="31816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42264" y="2002155"/>
            <a:ext cx="4393883" cy="2325476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2857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91404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>
              <a:spcBef>
                <a:spcPts val="705"/>
              </a:spcBef>
            </a:pP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4:</a:t>
            </a: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random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9</a:t>
            </a:r>
            <a:endParaRPr sz="1463" baseline="-14957">
              <a:latin typeface="Cambria Math"/>
              <a:cs typeface="Cambria Math"/>
            </a:endParaRPr>
          </a:p>
          <a:p>
            <a:pPr marL="1902143"/>
            <a:r>
              <a:rPr sz="1350" dirty="0">
                <a:latin typeface="Georgia"/>
                <a:cs typeface="Georgia"/>
              </a:rPr>
              <a:t>Swap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7094" dirty="0">
                <a:latin typeface="Cambria Math"/>
                <a:cs typeface="Cambria Math"/>
              </a:rPr>
              <a:t>8</a:t>
            </a:r>
            <a:r>
              <a:rPr sz="1463" spc="203" baseline="-17094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7094" dirty="0">
                <a:latin typeface="Cambria Math"/>
                <a:cs typeface="Cambria Math"/>
              </a:rPr>
              <a:t>9</a:t>
            </a:r>
            <a:endParaRPr sz="1463" baseline="-17094">
              <a:latin typeface="Cambria Math"/>
              <a:cs typeface="Cambria Math"/>
            </a:endParaRPr>
          </a:p>
          <a:p>
            <a:pPr>
              <a:spcBef>
                <a:spcPts val="41"/>
              </a:spcBef>
            </a:pPr>
            <a:endParaRPr sz="1350">
              <a:latin typeface="Cambria Math"/>
              <a:cs typeface="Cambria Math"/>
            </a:endParaRPr>
          </a:p>
          <a:p>
            <a:pPr marL="1902143" marR="32385"/>
            <a:r>
              <a:rPr sz="1350" dirty="0">
                <a:latin typeface="Georgia"/>
                <a:cs typeface="Georgia"/>
              </a:rPr>
              <a:t>Compute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absolute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error</a:t>
            </a:r>
            <a:r>
              <a:rPr sz="1350" spc="251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(for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set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902143"/>
            <a:r>
              <a:rPr sz="1350" dirty="0">
                <a:latin typeface="Cambria Math"/>
                <a:cs typeface="Cambria Math"/>
              </a:rPr>
              <a:t>𝑂</a:t>
            </a:r>
            <a:r>
              <a:rPr sz="1463" baseline="-14957" dirty="0">
                <a:latin typeface="Cambria Math"/>
                <a:cs typeface="Cambria Math"/>
              </a:rPr>
              <a:t>3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𝑂</a:t>
            </a:r>
            <a:r>
              <a:rPr sz="1463" spc="-28" baseline="-14957" dirty="0">
                <a:latin typeface="Cambria Math"/>
                <a:cs typeface="Cambria Math"/>
              </a:rPr>
              <a:t>9</a:t>
            </a:r>
            <a:r>
              <a:rPr sz="1350" spc="-19" dirty="0">
                <a:latin typeface="Georgia"/>
                <a:cs typeface="Georgia"/>
              </a:rPr>
              <a:t>)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0567" y="33907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314" y="2002155"/>
            <a:ext cx="4131469" cy="573714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952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89499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675411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001042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2635187" y="2734818"/>
            <a:ext cx="53482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99098" algn="l"/>
              </a:tabLst>
            </a:pPr>
            <a:r>
              <a:rPr sz="1350" dirty="0">
                <a:latin typeface="Cambria Math"/>
                <a:cs typeface="Cambria Math"/>
              </a:rPr>
              <a:t>𝑬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0679" y="2815970"/>
            <a:ext cx="94298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975" spc="-38" dirty="0">
                <a:latin typeface="Cambria Math"/>
                <a:cs typeface="Cambria Math"/>
              </a:rPr>
              <a:t>𝟏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0695" y="2734818"/>
            <a:ext cx="31194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3492" y="2815970"/>
            <a:ext cx="94298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975" spc="-38" dirty="0">
                <a:latin typeface="Cambria Math"/>
                <a:cs typeface="Cambria Math"/>
              </a:rPr>
              <a:t>𝟑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06957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1" y="0"/>
                </a:moveTo>
                <a:lnTo>
                  <a:pt x="0" y="0"/>
                </a:lnTo>
                <a:lnTo>
                  <a:pt x="0" y="207772"/>
                </a:lnTo>
                <a:lnTo>
                  <a:pt x="17271" y="207772"/>
                </a:lnTo>
                <a:lnTo>
                  <a:pt x="17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3932586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5539645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4865275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1" y="0"/>
                </a:moveTo>
                <a:lnTo>
                  <a:pt x="0" y="0"/>
                </a:lnTo>
                <a:lnTo>
                  <a:pt x="0" y="207772"/>
                </a:lnTo>
                <a:lnTo>
                  <a:pt x="17271" y="207772"/>
                </a:lnTo>
                <a:lnTo>
                  <a:pt x="17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6472333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5797963" y="2788729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4083559" y="2815970"/>
            <a:ext cx="1958816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  <a:tabLst>
                <a:tab pos="420529" algn="l"/>
                <a:tab pos="942023" algn="l"/>
                <a:tab pos="1353503" algn="l"/>
                <a:tab pos="1873568" algn="l"/>
              </a:tabLst>
            </a:pPr>
            <a:r>
              <a:rPr sz="975" spc="-38" dirty="0">
                <a:latin typeface="Cambria Math"/>
                <a:cs typeface="Cambria Math"/>
              </a:rPr>
              <a:t>𝟐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𝟑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𝟑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𝟑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𝟒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7229" y="2734818"/>
            <a:ext cx="264271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474345" algn="l"/>
                <a:tab pos="940594" algn="l"/>
                <a:tab pos="1407319" algn="l"/>
                <a:tab pos="1873568" algn="l"/>
                <a:tab pos="2339816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r>
              <a:rPr sz="1350" dirty="0">
                <a:latin typeface="Cambria Math"/>
                <a:cs typeface="Cambria Math"/>
              </a:rPr>
              <a:t>	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r>
              <a:rPr sz="1350" dirty="0">
                <a:latin typeface="Cambria Math"/>
                <a:cs typeface="Cambria Math"/>
              </a:rPr>
              <a:t>	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r>
              <a:rPr sz="1350" dirty="0">
                <a:latin typeface="Cambria Math"/>
                <a:cs typeface="Cambria Math"/>
              </a:rPr>
              <a:t>	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r>
              <a:rPr sz="1350" dirty="0">
                <a:latin typeface="Cambria Math"/>
                <a:cs typeface="Cambria Math"/>
              </a:rPr>
              <a:t>	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r>
              <a:rPr sz="1350" dirty="0">
                <a:latin typeface="Cambria Math"/>
                <a:cs typeface="Cambria Math"/>
              </a:rPr>
              <a:t>	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72542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/>
          <p:nvPr/>
        </p:nvSpPr>
        <p:spPr>
          <a:xfrm>
            <a:off x="2898171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/>
          <p:nvPr/>
        </p:nvSpPr>
        <p:spPr>
          <a:xfrm>
            <a:off x="4505229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/>
          <p:nvPr/>
        </p:nvSpPr>
        <p:spPr>
          <a:xfrm>
            <a:off x="3830860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/>
          <p:nvPr/>
        </p:nvSpPr>
        <p:spPr>
          <a:xfrm>
            <a:off x="5436774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/>
          <p:nvPr/>
        </p:nvSpPr>
        <p:spPr>
          <a:xfrm>
            <a:off x="4762404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/>
          <p:nvPr/>
        </p:nvSpPr>
        <p:spPr>
          <a:xfrm>
            <a:off x="6369463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/>
          <p:nvPr/>
        </p:nvSpPr>
        <p:spPr>
          <a:xfrm>
            <a:off x="5695092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 txBox="1"/>
          <p:nvPr/>
        </p:nvSpPr>
        <p:spPr>
          <a:xfrm>
            <a:off x="2711768" y="2939415"/>
            <a:ext cx="368808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932021" algn="l"/>
                <a:tab pos="1864519" algn="l"/>
                <a:tab pos="2796064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12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𝟓</a:t>
            </a:r>
            <a:r>
              <a:rPr sz="1463" spc="185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𝟔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𝟕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4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𝟖</a:t>
            </a:r>
            <a:r>
              <a:rPr sz="1463" spc="197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02151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/>
          <p:nvPr/>
        </p:nvSpPr>
        <p:spPr>
          <a:xfrm>
            <a:off x="6627781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/>
          <p:nvPr/>
        </p:nvSpPr>
        <p:spPr>
          <a:xfrm>
            <a:off x="8309133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/>
          <p:cNvSpPr/>
          <p:nvPr/>
        </p:nvSpPr>
        <p:spPr>
          <a:xfrm>
            <a:off x="7559326" y="2993326"/>
            <a:ext cx="13335" cy="156209"/>
          </a:xfrm>
          <a:custGeom>
            <a:avLst/>
            <a:gdLst/>
            <a:ahLst/>
            <a:cxnLst/>
            <a:rect l="l" t="t" r="r" b="b"/>
            <a:pathLst>
              <a:path w="17779" h="208280">
                <a:moveTo>
                  <a:pt x="17272" y="0"/>
                </a:moveTo>
                <a:lnTo>
                  <a:pt x="0" y="0"/>
                </a:lnTo>
                <a:lnTo>
                  <a:pt x="0" y="207772"/>
                </a:lnTo>
                <a:lnTo>
                  <a:pt x="17272" y="20777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 txBox="1"/>
          <p:nvPr/>
        </p:nvSpPr>
        <p:spPr>
          <a:xfrm>
            <a:off x="6332030" y="2815971"/>
            <a:ext cx="1988820" cy="344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65"/>
              </a:lnSpc>
              <a:spcBef>
                <a:spcPts val="90"/>
              </a:spcBef>
            </a:pPr>
            <a:r>
              <a:rPr sz="975" spc="-38" dirty="0">
                <a:latin typeface="Cambria Math"/>
                <a:cs typeface="Cambria Math"/>
              </a:rPr>
              <a:t>𝟑</a:t>
            </a:r>
            <a:endParaRPr sz="975">
              <a:latin typeface="Cambria Math"/>
              <a:cs typeface="Cambria Math"/>
            </a:endParaRPr>
          </a:p>
          <a:p>
            <a:pPr marL="108585">
              <a:lnSpc>
                <a:spcPts val="1515"/>
              </a:lnSpc>
              <a:tabLst>
                <a:tab pos="1041559" algn="l"/>
              </a:tabLst>
            </a:pP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𝟗</a:t>
            </a:r>
            <a:r>
              <a:rPr sz="1463" spc="20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r>
              <a:rPr sz="1463" baseline="-14957" dirty="0">
                <a:latin typeface="Cambria Math"/>
                <a:cs typeface="Cambria Math"/>
              </a:rPr>
              <a:t>	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60" dirty="0">
                <a:latin typeface="Cambria Math"/>
                <a:cs typeface="Cambria Math"/>
              </a:rPr>
              <a:t> 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𝟏𝟎</a:t>
            </a:r>
            <a:r>
              <a:rPr sz="1463" spc="191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041266" y="3383851"/>
            <a:ext cx="1136333" cy="159068"/>
          </a:xfrm>
          <a:custGeom>
            <a:avLst/>
            <a:gdLst/>
            <a:ahLst/>
            <a:cxnLst/>
            <a:rect l="l" t="t" r="r" b="b"/>
            <a:pathLst>
              <a:path w="1515109" h="212089">
                <a:moveTo>
                  <a:pt x="1447165" y="0"/>
                </a:moveTo>
                <a:lnTo>
                  <a:pt x="1444244" y="8636"/>
                </a:lnTo>
                <a:lnTo>
                  <a:pt x="1456455" y="13946"/>
                </a:lnTo>
                <a:lnTo>
                  <a:pt x="1466977" y="21304"/>
                </a:lnTo>
                <a:lnTo>
                  <a:pt x="1488352" y="55429"/>
                </a:lnTo>
                <a:lnTo>
                  <a:pt x="1494612" y="86536"/>
                </a:lnTo>
                <a:lnTo>
                  <a:pt x="1494639" y="86723"/>
                </a:lnTo>
                <a:lnTo>
                  <a:pt x="1495425" y="104775"/>
                </a:lnTo>
                <a:lnTo>
                  <a:pt x="1494639" y="123517"/>
                </a:lnTo>
                <a:lnTo>
                  <a:pt x="1492281" y="140509"/>
                </a:lnTo>
                <a:lnTo>
                  <a:pt x="1475734" y="180911"/>
                </a:lnTo>
                <a:lnTo>
                  <a:pt x="1444498" y="203200"/>
                </a:lnTo>
                <a:lnTo>
                  <a:pt x="1447165" y="211709"/>
                </a:lnTo>
                <a:lnTo>
                  <a:pt x="1487634" y="187705"/>
                </a:lnTo>
                <a:lnTo>
                  <a:pt x="1510363" y="143335"/>
                </a:lnTo>
                <a:lnTo>
                  <a:pt x="1514728" y="105918"/>
                </a:lnTo>
                <a:lnTo>
                  <a:pt x="1513644" y="86723"/>
                </a:lnTo>
                <a:lnTo>
                  <a:pt x="1513633" y="86536"/>
                </a:lnTo>
                <a:lnTo>
                  <a:pt x="1497202" y="37084"/>
                </a:lnTo>
                <a:lnTo>
                  <a:pt x="1462520" y="5544"/>
                </a:lnTo>
                <a:lnTo>
                  <a:pt x="1447165" y="0"/>
                </a:lnTo>
                <a:close/>
              </a:path>
              <a:path w="1515109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 txBox="1"/>
          <p:nvPr/>
        </p:nvSpPr>
        <p:spPr>
          <a:xfrm>
            <a:off x="2679954" y="3331273"/>
            <a:ext cx="4508659" cy="91242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01078" algn="ctr">
              <a:lnSpc>
                <a:spcPts val="1613"/>
              </a:lnSpc>
              <a:spcBef>
                <a:spcPts val="75"/>
              </a:spcBef>
              <a:tabLst>
                <a:tab pos="1407795" algn="l"/>
                <a:tab pos="2540794" algn="l"/>
              </a:tabLst>
            </a:pPr>
            <a:r>
              <a:rPr sz="1350" dirty="0">
                <a:latin typeface="Cambria Math"/>
                <a:cs typeface="Cambria Math"/>
              </a:rPr>
              <a:t>𝑬</a:t>
            </a:r>
            <a:r>
              <a:rPr sz="1350" spc="68" dirty="0">
                <a:latin typeface="Cambria Math"/>
                <a:cs typeface="Cambria Math"/>
              </a:rPr>
              <a:t> </a:t>
            </a:r>
            <a:r>
              <a:rPr sz="1350" spc="-45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𝟑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𝟒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𝟎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 </a:t>
            </a:r>
            <a:r>
              <a:rPr sz="1350" spc="-38" dirty="0">
                <a:latin typeface="Cambria Math"/>
                <a:cs typeface="Cambria Math"/>
              </a:rPr>
              <a:t>𝟐</a:t>
            </a:r>
            <a:r>
              <a:rPr sz="1350" dirty="0">
                <a:latin typeface="Cambria Math"/>
                <a:cs typeface="Cambria Math"/>
              </a:rPr>
              <a:t>	+ (𝟓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𝟑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𝟑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𝟐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𝟎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+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𝟐)</a:t>
            </a:r>
            <a:endParaRPr sz="1350">
              <a:latin typeface="Cambria Math"/>
              <a:cs typeface="Cambria Math"/>
            </a:endParaRPr>
          </a:p>
          <a:p>
            <a:pPr marL="1000601" algn="ctr">
              <a:lnSpc>
                <a:spcPts val="2153"/>
              </a:lnSpc>
            </a:pP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𝑬</a:t>
            </a:r>
            <a:r>
              <a:rPr spc="9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pc="86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19" dirty="0">
                <a:solidFill>
                  <a:srgbClr val="C00000"/>
                </a:solidFill>
                <a:latin typeface="Cambria Math"/>
                <a:cs typeface="Cambria Math"/>
              </a:rPr>
              <a:t>𝟐𝟒</a:t>
            </a:r>
            <a:endParaRPr>
              <a:latin typeface="Cambria Math"/>
              <a:cs typeface="Cambria Math"/>
            </a:endParaRPr>
          </a:p>
          <a:p>
            <a:pPr marL="9525">
              <a:spcBef>
                <a:spcPts val="4"/>
              </a:spcBef>
            </a:pPr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5:</a:t>
            </a:r>
            <a:endParaRPr sz="1350">
              <a:latin typeface="Georgia"/>
              <a:cs typeface="Georgia"/>
            </a:endParaRPr>
          </a:p>
          <a:p>
            <a:pPr marL="9525"/>
            <a:r>
              <a:rPr sz="1350" dirty="0">
                <a:latin typeface="Georgia"/>
                <a:cs typeface="Georgia"/>
              </a:rPr>
              <a:t>Compute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cost</a:t>
            </a:r>
            <a:r>
              <a:rPr sz="1350" spc="-4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function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14779" y="4480655"/>
            <a:ext cx="862965" cy="159068"/>
          </a:xfrm>
          <a:custGeom>
            <a:avLst/>
            <a:gdLst/>
            <a:ahLst/>
            <a:cxnLst/>
            <a:rect l="l" t="t" r="r" b="b"/>
            <a:pathLst>
              <a:path w="1150620" h="212089">
                <a:moveTo>
                  <a:pt x="1082928" y="0"/>
                </a:moveTo>
                <a:lnTo>
                  <a:pt x="1079880" y="8636"/>
                </a:lnTo>
                <a:lnTo>
                  <a:pt x="1092148" y="13946"/>
                </a:lnTo>
                <a:lnTo>
                  <a:pt x="1102677" y="21304"/>
                </a:lnTo>
                <a:lnTo>
                  <a:pt x="1124096" y="55449"/>
                </a:lnTo>
                <a:lnTo>
                  <a:pt x="1131061" y="104902"/>
                </a:lnTo>
                <a:lnTo>
                  <a:pt x="1130278" y="123571"/>
                </a:lnTo>
                <a:lnTo>
                  <a:pt x="1118616" y="169291"/>
                </a:lnTo>
                <a:lnTo>
                  <a:pt x="1092309" y="197866"/>
                </a:lnTo>
                <a:lnTo>
                  <a:pt x="1080261" y="203200"/>
                </a:lnTo>
                <a:lnTo>
                  <a:pt x="1082928" y="211836"/>
                </a:lnTo>
                <a:lnTo>
                  <a:pt x="1123326" y="187779"/>
                </a:lnTo>
                <a:lnTo>
                  <a:pt x="1146048" y="143398"/>
                </a:lnTo>
                <a:lnTo>
                  <a:pt x="1150366" y="106045"/>
                </a:lnTo>
                <a:lnTo>
                  <a:pt x="1149303" y="86830"/>
                </a:lnTo>
                <a:lnTo>
                  <a:pt x="1149290" y="86592"/>
                </a:lnTo>
                <a:lnTo>
                  <a:pt x="1132967" y="37211"/>
                </a:lnTo>
                <a:lnTo>
                  <a:pt x="1098266" y="5599"/>
                </a:lnTo>
                <a:lnTo>
                  <a:pt x="1082928" y="0"/>
                </a:lnTo>
                <a:close/>
              </a:path>
              <a:path w="1150620" h="212089">
                <a:moveTo>
                  <a:pt x="67563" y="0"/>
                </a:moveTo>
                <a:lnTo>
                  <a:pt x="27094" y="24181"/>
                </a:lnTo>
                <a:lnTo>
                  <a:pt x="4365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35" y="206309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30" y="197866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6376" y="55449"/>
                </a:lnTo>
                <a:lnTo>
                  <a:pt x="47799" y="21304"/>
                </a:lnTo>
                <a:lnTo>
                  <a:pt x="70485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6" name="object 36"/>
          <p:cNvSpPr txBox="1"/>
          <p:nvPr/>
        </p:nvSpPr>
        <p:spPr>
          <a:xfrm>
            <a:off x="3208020" y="4428268"/>
            <a:ext cx="224170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𝑆</a:t>
            </a:r>
            <a:r>
              <a:rPr sz="1350" spc="9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1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𝐴𝑏𝑠𝑜𝑙𝑢𝑡𝑒</a:t>
            </a:r>
            <a:r>
              <a:rPr sz="1350" spc="26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𝐸𝑟𝑟𝑜𝑟</a:t>
            </a:r>
            <a:r>
              <a:rPr sz="1350" spc="27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𝑓𝑜𝑟𝑶</a:t>
            </a:r>
            <a:r>
              <a:rPr sz="1350" spc="344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58454" y="4509420"/>
            <a:ext cx="366713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  <a:tabLst>
                <a:tab pos="281464" algn="l"/>
              </a:tabLst>
            </a:pPr>
            <a:r>
              <a:rPr sz="975" spc="-38" dirty="0">
                <a:latin typeface="Cambria Math"/>
                <a:cs typeface="Cambria Math"/>
              </a:rPr>
              <a:t>𝟑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𝟖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75633" y="4480655"/>
            <a:ext cx="862965" cy="159068"/>
          </a:xfrm>
          <a:custGeom>
            <a:avLst/>
            <a:gdLst/>
            <a:ahLst/>
            <a:cxnLst/>
            <a:rect l="l" t="t" r="r" b="b"/>
            <a:pathLst>
              <a:path w="1150620" h="212089">
                <a:moveTo>
                  <a:pt x="1082928" y="0"/>
                </a:moveTo>
                <a:lnTo>
                  <a:pt x="1079880" y="8636"/>
                </a:lnTo>
                <a:lnTo>
                  <a:pt x="1092148" y="13946"/>
                </a:lnTo>
                <a:lnTo>
                  <a:pt x="1102677" y="21304"/>
                </a:lnTo>
                <a:lnTo>
                  <a:pt x="1124096" y="55449"/>
                </a:lnTo>
                <a:lnTo>
                  <a:pt x="1131061" y="104902"/>
                </a:lnTo>
                <a:lnTo>
                  <a:pt x="1130278" y="123571"/>
                </a:lnTo>
                <a:lnTo>
                  <a:pt x="1118615" y="169291"/>
                </a:lnTo>
                <a:lnTo>
                  <a:pt x="1092309" y="197866"/>
                </a:lnTo>
                <a:lnTo>
                  <a:pt x="1080261" y="203200"/>
                </a:lnTo>
                <a:lnTo>
                  <a:pt x="1082928" y="211836"/>
                </a:lnTo>
                <a:lnTo>
                  <a:pt x="1123326" y="187779"/>
                </a:lnTo>
                <a:lnTo>
                  <a:pt x="1146048" y="143398"/>
                </a:lnTo>
                <a:lnTo>
                  <a:pt x="1150365" y="106045"/>
                </a:lnTo>
                <a:lnTo>
                  <a:pt x="1149303" y="86830"/>
                </a:lnTo>
                <a:lnTo>
                  <a:pt x="1149290" y="86592"/>
                </a:lnTo>
                <a:lnTo>
                  <a:pt x="1132966" y="37211"/>
                </a:lnTo>
                <a:lnTo>
                  <a:pt x="1098266" y="5599"/>
                </a:lnTo>
                <a:lnTo>
                  <a:pt x="1082928" y="0"/>
                </a:lnTo>
                <a:close/>
              </a:path>
              <a:path w="1150620" h="212089">
                <a:moveTo>
                  <a:pt x="67563" y="0"/>
                </a:moveTo>
                <a:lnTo>
                  <a:pt x="27094" y="24181"/>
                </a:lnTo>
                <a:lnTo>
                  <a:pt x="4365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35" y="206309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30" y="197866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0089" y="86830"/>
                </a:lnTo>
                <a:lnTo>
                  <a:pt x="31876" y="42164"/>
                </a:lnTo>
                <a:lnTo>
                  <a:pt x="58291" y="13946"/>
                </a:lnTo>
                <a:lnTo>
                  <a:pt x="70484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9" name="object 39"/>
          <p:cNvSpPr txBox="1"/>
          <p:nvPr/>
        </p:nvSpPr>
        <p:spPr>
          <a:xfrm>
            <a:off x="5620226" y="4428268"/>
            <a:ext cx="209026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𝐴𝑏𝑠𝑜𝑙𝑢𝑡𝑒</a:t>
            </a:r>
            <a:r>
              <a:rPr sz="1350" spc="26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𝐸𝑟𝑟𝑜𝑟</a:t>
            </a:r>
            <a:r>
              <a:rPr sz="1350" spc="27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𝑓𝑜𝑟𝑶</a:t>
            </a:r>
            <a:r>
              <a:rPr sz="1350" spc="341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𝑶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19499" y="4509420"/>
            <a:ext cx="366713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  <a:tabLst>
                <a:tab pos="281464" algn="l"/>
              </a:tabLst>
            </a:pPr>
            <a:r>
              <a:rPr sz="975" spc="-38" dirty="0">
                <a:latin typeface="Cambria Math"/>
                <a:cs typeface="Cambria Math"/>
              </a:rPr>
              <a:t>𝟑</a:t>
            </a:r>
            <a:r>
              <a:rPr sz="975" dirty="0">
                <a:latin typeface="Cambria Math"/>
                <a:cs typeface="Cambria Math"/>
              </a:rPr>
              <a:t>	</a:t>
            </a:r>
            <a:r>
              <a:rPr sz="975" spc="-38" dirty="0">
                <a:latin typeface="Cambria Math"/>
                <a:cs typeface="Cambria Math"/>
              </a:rPr>
              <a:t>𝟗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33865" y="4632865"/>
            <a:ext cx="3495675" cy="83035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25980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𝑆</a:t>
            </a:r>
            <a:r>
              <a:rPr sz="1350" spc="79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18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− 24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4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−6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960"/>
              </a:spcBef>
            </a:pPr>
            <a:endParaRPr sz="1350">
              <a:latin typeface="Cambria Math"/>
              <a:cs typeface="Cambria Math"/>
            </a:endParaRPr>
          </a:p>
          <a:p>
            <a:pPr marL="38100"/>
            <a:r>
              <a:rPr dirty="0">
                <a:latin typeface="Georgia"/>
                <a:cs typeface="Georgia"/>
              </a:rPr>
              <a:t>As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𝑆</a:t>
            </a:r>
            <a:r>
              <a:rPr spc="10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&lt;</a:t>
            </a:r>
            <a:r>
              <a:rPr spc="79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0</a:t>
            </a:r>
            <a:r>
              <a:rPr dirty="0">
                <a:latin typeface="Georgia"/>
                <a:cs typeface="Georgia"/>
              </a:rPr>
              <a:t>,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we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swap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𝑶</a:t>
            </a:r>
            <a:r>
              <a:rPr sz="1969" baseline="-15873" dirty="0">
                <a:latin typeface="Cambria Math"/>
                <a:cs typeface="Cambria Math"/>
              </a:rPr>
              <a:t>𝟖</a:t>
            </a:r>
            <a:r>
              <a:rPr sz="1969" spc="298" baseline="-15873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with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spc="-19" dirty="0">
                <a:latin typeface="Cambria Math"/>
                <a:cs typeface="Cambria Math"/>
              </a:rPr>
              <a:t>𝑶</a:t>
            </a:r>
            <a:r>
              <a:rPr sz="1969" spc="-28" baseline="-15873" dirty="0">
                <a:latin typeface="Cambria Math"/>
                <a:cs typeface="Cambria Math"/>
              </a:rPr>
              <a:t>𝟗</a:t>
            </a:r>
            <a:endParaRPr sz="1969" baseline="-15873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1653" y="340105"/>
            <a:ext cx="6089492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13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13" dirty="0">
                <a:solidFill>
                  <a:schemeClr val="bg1"/>
                </a:solidFill>
              </a:rPr>
              <a:t>-</a:t>
            </a:r>
            <a:r>
              <a:rPr spc="41" dirty="0">
                <a:solidFill>
                  <a:schemeClr val="bg1"/>
                </a:solidFill>
              </a:rPr>
              <a:t>Medoids</a:t>
            </a:r>
            <a:r>
              <a:rPr spc="203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115" y="2377488"/>
            <a:ext cx="1147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38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6071" y="2377488"/>
            <a:ext cx="1147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38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7641" y="2377488"/>
            <a:ext cx="59055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8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1480" y="2657904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9259" y="265790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5214" y="265790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480" y="2938701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O2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259" y="2938701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5214" y="2938701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480" y="3219117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O3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259" y="3219117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5214" y="3219117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8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480" y="3499914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O4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9259" y="349991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5214" y="349991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7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480" y="3780330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O5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9259" y="3780330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5214" y="3780330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1480" y="4061127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O6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9259" y="4061127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5214" y="4061127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1480" y="4341543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O7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9259" y="4341543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7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5214" y="4341543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1480" y="4622340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O8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9259" y="4622340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7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35214" y="4622340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1480" y="4902794"/>
            <a:ext cx="22955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O9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9259" y="490279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8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35214" y="4902794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5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3473" y="5183515"/>
            <a:ext cx="3243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b="1" spc="-19" dirty="0">
                <a:solidFill>
                  <a:srgbClr val="FFFFFF"/>
                </a:solidFill>
                <a:latin typeface="Arial"/>
                <a:cs typeface="Arial"/>
              </a:rPr>
              <a:t>O10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9259" y="5183515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7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35214" y="5183515"/>
            <a:ext cx="9572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38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2264" y="2002155"/>
            <a:ext cx="4169569" cy="1986922"/>
          </a:xfrm>
          <a:prstGeom prst="rect">
            <a:avLst/>
          </a:prstGeom>
        </p:spPr>
        <p:txBody>
          <a:bodyPr vert="horz" wrap="square" lIns="0" tIns="80486" rIns="0" bIns="0" rtlCol="0">
            <a:spAutoFit/>
          </a:bodyPr>
          <a:lstStyle/>
          <a:p>
            <a:pPr marL="28575">
              <a:spcBef>
                <a:spcPts val="633"/>
              </a:spcBef>
            </a:pPr>
            <a:r>
              <a:rPr sz="1350" dirty="0">
                <a:latin typeface="Georgia"/>
                <a:cs typeface="Georgia"/>
              </a:rPr>
              <a:t>Data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</a:t>
            </a:r>
            <a:endParaRPr sz="1350">
              <a:latin typeface="Georgia"/>
              <a:cs typeface="Georgia"/>
            </a:endParaRPr>
          </a:p>
          <a:p>
            <a:pPr marL="1914049">
              <a:spcBef>
                <a:spcPts val="563"/>
              </a:spcBef>
            </a:pP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Aim: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Create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dirty="0">
                <a:solidFill>
                  <a:srgbClr val="C00000"/>
                </a:solidFill>
                <a:latin typeface="Georgia"/>
                <a:cs typeface="Georgia"/>
              </a:rPr>
              <a:t>two</a:t>
            </a:r>
            <a:r>
              <a:rPr sz="1350" b="1" i="1" spc="-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350" b="1" i="1" spc="-8" dirty="0">
                <a:solidFill>
                  <a:srgbClr val="C00000"/>
                </a:solidFill>
                <a:latin typeface="Georgia"/>
                <a:cs typeface="Georgia"/>
              </a:rPr>
              <a:t>Clusters</a:t>
            </a:r>
            <a:endParaRPr sz="1350">
              <a:latin typeface="Georgia"/>
              <a:cs typeface="Georgia"/>
            </a:endParaRPr>
          </a:p>
          <a:p>
            <a:pPr marL="1875949">
              <a:spcBef>
                <a:spcPts val="1271"/>
              </a:spcBef>
            </a:pPr>
            <a:r>
              <a:rPr sz="1350" dirty="0">
                <a:latin typeface="Georgia"/>
                <a:cs typeface="Georgia"/>
              </a:rPr>
              <a:t>Step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19" dirty="0">
                <a:latin typeface="Georgia"/>
                <a:cs typeface="Georgia"/>
              </a:rPr>
              <a:t>6:</a:t>
            </a:r>
            <a:endParaRPr sz="1350">
              <a:latin typeface="Georgia"/>
              <a:cs typeface="Georgia"/>
            </a:endParaRPr>
          </a:p>
          <a:p>
            <a:pPr marL="1875949"/>
            <a:r>
              <a:rPr sz="1350" dirty="0">
                <a:latin typeface="Georgia"/>
                <a:cs typeface="Georgia"/>
              </a:rPr>
              <a:t>New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medoids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are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dirty="0">
                <a:latin typeface="Cambria Math"/>
                <a:cs typeface="Cambria Math"/>
              </a:rPr>
              <a:t>𝑶</a:t>
            </a:r>
            <a:r>
              <a:rPr sz="1463" baseline="-14957" dirty="0">
                <a:latin typeface="Cambria Math"/>
                <a:cs typeface="Cambria Math"/>
              </a:rPr>
              <a:t>𝟑</a:t>
            </a:r>
            <a:r>
              <a:rPr sz="1463" spc="213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Georgia"/>
                <a:cs typeface="Georgia"/>
              </a:rPr>
              <a:t>with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𝑶</a:t>
            </a:r>
            <a:r>
              <a:rPr sz="1463" spc="-28" baseline="-14957" dirty="0">
                <a:latin typeface="Cambria Math"/>
                <a:cs typeface="Cambria Math"/>
              </a:rPr>
              <a:t>𝟗</a:t>
            </a:r>
            <a:endParaRPr sz="1463" baseline="-14957">
              <a:latin typeface="Cambria Math"/>
              <a:cs typeface="Cambria Math"/>
            </a:endParaRPr>
          </a:p>
          <a:p>
            <a:pPr>
              <a:spcBef>
                <a:spcPts val="41"/>
              </a:spcBef>
            </a:pPr>
            <a:endParaRPr sz="1350">
              <a:latin typeface="Cambria Math"/>
              <a:cs typeface="Cambria Math"/>
            </a:endParaRPr>
          </a:p>
          <a:p>
            <a:pPr marL="1875949"/>
            <a:r>
              <a:rPr sz="1350" dirty="0">
                <a:latin typeface="Georgia"/>
                <a:cs typeface="Georgia"/>
              </a:rPr>
              <a:t>Repeat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Step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spc="-38" dirty="0">
                <a:latin typeface="Georgia"/>
                <a:cs typeface="Georgia"/>
              </a:rPr>
              <a:t>2</a:t>
            </a:r>
            <a:endParaRPr sz="1350">
              <a:latin typeface="Georgia"/>
              <a:cs typeface="Georgia"/>
            </a:endParaRPr>
          </a:p>
          <a:p>
            <a:pPr marL="1875949" marR="101441"/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object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19" dirty="0">
                <a:latin typeface="Georgia"/>
                <a:cs typeface="Georgia"/>
              </a:rPr>
              <a:t> the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6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representative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271653" y="2326290"/>
          <a:ext cx="2143601" cy="3083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0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0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D8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5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857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4989194" y="1893950"/>
            <a:ext cx="3966210" cy="3960495"/>
            <a:chOff x="6652259" y="1382267"/>
            <a:chExt cx="5288280" cy="528066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2259" y="1382267"/>
              <a:ext cx="5288280" cy="52806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79791" y="2020823"/>
              <a:ext cx="1684020" cy="2816860"/>
            </a:xfrm>
            <a:custGeom>
              <a:avLst/>
              <a:gdLst/>
              <a:ahLst/>
              <a:cxnLst/>
              <a:rect l="l" t="t" r="r" b="b"/>
              <a:pathLst>
                <a:path w="1684020" h="2816860">
                  <a:moveTo>
                    <a:pt x="0" y="1408176"/>
                  </a:moveTo>
                  <a:lnTo>
                    <a:pt x="738" y="1348647"/>
                  </a:lnTo>
                  <a:lnTo>
                    <a:pt x="2934" y="1289749"/>
                  </a:lnTo>
                  <a:lnTo>
                    <a:pt x="6559" y="1231530"/>
                  </a:lnTo>
                  <a:lnTo>
                    <a:pt x="11583" y="1174039"/>
                  </a:lnTo>
                  <a:lnTo>
                    <a:pt x="17978" y="1117324"/>
                  </a:lnTo>
                  <a:lnTo>
                    <a:pt x="25713" y="1061435"/>
                  </a:lnTo>
                  <a:lnTo>
                    <a:pt x="34759" y="1006420"/>
                  </a:lnTo>
                  <a:lnTo>
                    <a:pt x="45088" y="952328"/>
                  </a:lnTo>
                  <a:lnTo>
                    <a:pt x="56671" y="899208"/>
                  </a:lnTo>
                  <a:lnTo>
                    <a:pt x="69477" y="847109"/>
                  </a:lnTo>
                  <a:lnTo>
                    <a:pt x="83479" y="796080"/>
                  </a:lnTo>
                  <a:lnTo>
                    <a:pt x="98645" y="746170"/>
                  </a:lnTo>
                  <a:lnTo>
                    <a:pt x="114949" y="697427"/>
                  </a:lnTo>
                  <a:lnTo>
                    <a:pt x="132359" y="649901"/>
                  </a:lnTo>
                  <a:lnTo>
                    <a:pt x="150847" y="603639"/>
                  </a:lnTo>
                  <a:lnTo>
                    <a:pt x="170385" y="558692"/>
                  </a:lnTo>
                  <a:lnTo>
                    <a:pt x="190941" y="515108"/>
                  </a:lnTo>
                  <a:lnTo>
                    <a:pt x="212488" y="472936"/>
                  </a:lnTo>
                  <a:lnTo>
                    <a:pt x="234996" y="432225"/>
                  </a:lnTo>
                  <a:lnTo>
                    <a:pt x="258436" y="393023"/>
                  </a:lnTo>
                  <a:lnTo>
                    <a:pt x="282779" y="355379"/>
                  </a:lnTo>
                  <a:lnTo>
                    <a:pt x="307995" y="319343"/>
                  </a:lnTo>
                  <a:lnTo>
                    <a:pt x="334056" y="284963"/>
                  </a:lnTo>
                  <a:lnTo>
                    <a:pt x="360932" y="252288"/>
                  </a:lnTo>
                  <a:lnTo>
                    <a:pt x="388593" y="221367"/>
                  </a:lnTo>
                  <a:lnTo>
                    <a:pt x="417011" y="192249"/>
                  </a:lnTo>
                  <a:lnTo>
                    <a:pt x="446157" y="164983"/>
                  </a:lnTo>
                  <a:lnTo>
                    <a:pt x="476000" y="139617"/>
                  </a:lnTo>
                  <a:lnTo>
                    <a:pt x="506513" y="116200"/>
                  </a:lnTo>
                  <a:lnTo>
                    <a:pt x="569429" y="75410"/>
                  </a:lnTo>
                  <a:lnTo>
                    <a:pt x="634670" y="43004"/>
                  </a:lnTo>
                  <a:lnTo>
                    <a:pt x="702003" y="19373"/>
                  </a:lnTo>
                  <a:lnTo>
                    <a:pt x="771194" y="4908"/>
                  </a:lnTo>
                  <a:lnTo>
                    <a:pt x="842009" y="0"/>
                  </a:lnTo>
                  <a:lnTo>
                    <a:pt x="877606" y="1235"/>
                  </a:lnTo>
                  <a:lnTo>
                    <a:pt x="947638" y="10971"/>
                  </a:lnTo>
                  <a:lnTo>
                    <a:pt x="1015929" y="30068"/>
                  </a:lnTo>
                  <a:lnTo>
                    <a:pt x="1082246" y="58135"/>
                  </a:lnTo>
                  <a:lnTo>
                    <a:pt x="1146353" y="94782"/>
                  </a:lnTo>
                  <a:lnTo>
                    <a:pt x="1208019" y="139617"/>
                  </a:lnTo>
                  <a:lnTo>
                    <a:pt x="1237862" y="164983"/>
                  </a:lnTo>
                  <a:lnTo>
                    <a:pt x="1267008" y="192249"/>
                  </a:lnTo>
                  <a:lnTo>
                    <a:pt x="1295426" y="221367"/>
                  </a:lnTo>
                  <a:lnTo>
                    <a:pt x="1323087" y="252288"/>
                  </a:lnTo>
                  <a:lnTo>
                    <a:pt x="1349963" y="284963"/>
                  </a:lnTo>
                  <a:lnTo>
                    <a:pt x="1376024" y="319343"/>
                  </a:lnTo>
                  <a:lnTo>
                    <a:pt x="1401240" y="355379"/>
                  </a:lnTo>
                  <a:lnTo>
                    <a:pt x="1425583" y="393023"/>
                  </a:lnTo>
                  <a:lnTo>
                    <a:pt x="1449023" y="432225"/>
                  </a:lnTo>
                  <a:lnTo>
                    <a:pt x="1471531" y="472936"/>
                  </a:lnTo>
                  <a:lnTo>
                    <a:pt x="1493078" y="515108"/>
                  </a:lnTo>
                  <a:lnTo>
                    <a:pt x="1513634" y="558692"/>
                  </a:lnTo>
                  <a:lnTo>
                    <a:pt x="1533172" y="603639"/>
                  </a:lnTo>
                  <a:lnTo>
                    <a:pt x="1551660" y="649901"/>
                  </a:lnTo>
                  <a:lnTo>
                    <a:pt x="1569070" y="697427"/>
                  </a:lnTo>
                  <a:lnTo>
                    <a:pt x="1585374" y="746170"/>
                  </a:lnTo>
                  <a:lnTo>
                    <a:pt x="1600540" y="796080"/>
                  </a:lnTo>
                  <a:lnTo>
                    <a:pt x="1614542" y="847109"/>
                  </a:lnTo>
                  <a:lnTo>
                    <a:pt x="1627348" y="899208"/>
                  </a:lnTo>
                  <a:lnTo>
                    <a:pt x="1638931" y="952328"/>
                  </a:lnTo>
                  <a:lnTo>
                    <a:pt x="1649260" y="1006420"/>
                  </a:lnTo>
                  <a:lnTo>
                    <a:pt x="1658306" y="1061435"/>
                  </a:lnTo>
                  <a:lnTo>
                    <a:pt x="1666041" y="1117324"/>
                  </a:lnTo>
                  <a:lnTo>
                    <a:pt x="1672436" y="1174039"/>
                  </a:lnTo>
                  <a:lnTo>
                    <a:pt x="1677460" y="1231530"/>
                  </a:lnTo>
                  <a:lnTo>
                    <a:pt x="1681085" y="1289749"/>
                  </a:lnTo>
                  <a:lnTo>
                    <a:pt x="1683281" y="1348647"/>
                  </a:lnTo>
                  <a:lnTo>
                    <a:pt x="1684019" y="1408176"/>
                  </a:lnTo>
                  <a:lnTo>
                    <a:pt x="1683281" y="1467704"/>
                  </a:lnTo>
                  <a:lnTo>
                    <a:pt x="1681085" y="1526602"/>
                  </a:lnTo>
                  <a:lnTo>
                    <a:pt x="1677460" y="1584821"/>
                  </a:lnTo>
                  <a:lnTo>
                    <a:pt x="1672436" y="1642312"/>
                  </a:lnTo>
                  <a:lnTo>
                    <a:pt x="1666041" y="1699027"/>
                  </a:lnTo>
                  <a:lnTo>
                    <a:pt x="1658306" y="1754916"/>
                  </a:lnTo>
                  <a:lnTo>
                    <a:pt x="1649260" y="1809931"/>
                  </a:lnTo>
                  <a:lnTo>
                    <a:pt x="1638931" y="1864023"/>
                  </a:lnTo>
                  <a:lnTo>
                    <a:pt x="1627348" y="1917143"/>
                  </a:lnTo>
                  <a:lnTo>
                    <a:pt x="1614542" y="1969242"/>
                  </a:lnTo>
                  <a:lnTo>
                    <a:pt x="1600540" y="2020271"/>
                  </a:lnTo>
                  <a:lnTo>
                    <a:pt x="1585374" y="2070181"/>
                  </a:lnTo>
                  <a:lnTo>
                    <a:pt x="1569070" y="2118924"/>
                  </a:lnTo>
                  <a:lnTo>
                    <a:pt x="1551660" y="2166450"/>
                  </a:lnTo>
                  <a:lnTo>
                    <a:pt x="1533172" y="2212712"/>
                  </a:lnTo>
                  <a:lnTo>
                    <a:pt x="1513634" y="2257659"/>
                  </a:lnTo>
                  <a:lnTo>
                    <a:pt x="1493078" y="2301243"/>
                  </a:lnTo>
                  <a:lnTo>
                    <a:pt x="1471531" y="2343415"/>
                  </a:lnTo>
                  <a:lnTo>
                    <a:pt x="1449023" y="2384126"/>
                  </a:lnTo>
                  <a:lnTo>
                    <a:pt x="1425583" y="2423328"/>
                  </a:lnTo>
                  <a:lnTo>
                    <a:pt x="1401240" y="2460972"/>
                  </a:lnTo>
                  <a:lnTo>
                    <a:pt x="1376024" y="2497008"/>
                  </a:lnTo>
                  <a:lnTo>
                    <a:pt x="1349963" y="2531388"/>
                  </a:lnTo>
                  <a:lnTo>
                    <a:pt x="1323087" y="2564063"/>
                  </a:lnTo>
                  <a:lnTo>
                    <a:pt x="1295426" y="2594984"/>
                  </a:lnTo>
                  <a:lnTo>
                    <a:pt x="1267008" y="2624102"/>
                  </a:lnTo>
                  <a:lnTo>
                    <a:pt x="1237862" y="2651368"/>
                  </a:lnTo>
                  <a:lnTo>
                    <a:pt x="1208019" y="2676734"/>
                  </a:lnTo>
                  <a:lnTo>
                    <a:pt x="1177506" y="2700151"/>
                  </a:lnTo>
                  <a:lnTo>
                    <a:pt x="1114590" y="2740941"/>
                  </a:lnTo>
                  <a:lnTo>
                    <a:pt x="1049349" y="2773347"/>
                  </a:lnTo>
                  <a:lnTo>
                    <a:pt x="982016" y="2796978"/>
                  </a:lnTo>
                  <a:lnTo>
                    <a:pt x="912825" y="2811443"/>
                  </a:lnTo>
                  <a:lnTo>
                    <a:pt x="842009" y="2816352"/>
                  </a:lnTo>
                  <a:lnTo>
                    <a:pt x="806413" y="2815116"/>
                  </a:lnTo>
                  <a:lnTo>
                    <a:pt x="736381" y="2805380"/>
                  </a:lnTo>
                  <a:lnTo>
                    <a:pt x="668090" y="2786283"/>
                  </a:lnTo>
                  <a:lnTo>
                    <a:pt x="601773" y="2758216"/>
                  </a:lnTo>
                  <a:lnTo>
                    <a:pt x="537666" y="2721569"/>
                  </a:lnTo>
                  <a:lnTo>
                    <a:pt x="476000" y="2676734"/>
                  </a:lnTo>
                  <a:lnTo>
                    <a:pt x="446157" y="2651368"/>
                  </a:lnTo>
                  <a:lnTo>
                    <a:pt x="417011" y="2624102"/>
                  </a:lnTo>
                  <a:lnTo>
                    <a:pt x="388593" y="2594984"/>
                  </a:lnTo>
                  <a:lnTo>
                    <a:pt x="360932" y="2564063"/>
                  </a:lnTo>
                  <a:lnTo>
                    <a:pt x="334056" y="2531388"/>
                  </a:lnTo>
                  <a:lnTo>
                    <a:pt x="307995" y="2497008"/>
                  </a:lnTo>
                  <a:lnTo>
                    <a:pt x="282779" y="2460972"/>
                  </a:lnTo>
                  <a:lnTo>
                    <a:pt x="258436" y="2423328"/>
                  </a:lnTo>
                  <a:lnTo>
                    <a:pt x="234996" y="2384126"/>
                  </a:lnTo>
                  <a:lnTo>
                    <a:pt x="212488" y="2343415"/>
                  </a:lnTo>
                  <a:lnTo>
                    <a:pt x="190941" y="2301243"/>
                  </a:lnTo>
                  <a:lnTo>
                    <a:pt x="170385" y="2257659"/>
                  </a:lnTo>
                  <a:lnTo>
                    <a:pt x="150847" y="2212712"/>
                  </a:lnTo>
                  <a:lnTo>
                    <a:pt x="132359" y="2166450"/>
                  </a:lnTo>
                  <a:lnTo>
                    <a:pt x="114949" y="2118924"/>
                  </a:lnTo>
                  <a:lnTo>
                    <a:pt x="98645" y="2070181"/>
                  </a:lnTo>
                  <a:lnTo>
                    <a:pt x="83479" y="2020271"/>
                  </a:lnTo>
                  <a:lnTo>
                    <a:pt x="69477" y="1969242"/>
                  </a:lnTo>
                  <a:lnTo>
                    <a:pt x="56671" y="1917143"/>
                  </a:lnTo>
                  <a:lnTo>
                    <a:pt x="45088" y="1864023"/>
                  </a:lnTo>
                  <a:lnTo>
                    <a:pt x="34759" y="1809931"/>
                  </a:lnTo>
                  <a:lnTo>
                    <a:pt x="25713" y="1754916"/>
                  </a:lnTo>
                  <a:lnTo>
                    <a:pt x="17978" y="1699027"/>
                  </a:lnTo>
                  <a:lnTo>
                    <a:pt x="11583" y="1642312"/>
                  </a:lnTo>
                  <a:lnTo>
                    <a:pt x="6559" y="1584821"/>
                  </a:lnTo>
                  <a:lnTo>
                    <a:pt x="2934" y="1526602"/>
                  </a:lnTo>
                  <a:lnTo>
                    <a:pt x="738" y="1467704"/>
                  </a:lnTo>
                  <a:lnTo>
                    <a:pt x="0" y="1408176"/>
                  </a:lnTo>
                  <a:close/>
                </a:path>
              </a:pathLst>
            </a:custGeom>
            <a:ln w="15875">
              <a:solidFill>
                <a:srgbClr val="117D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1" name="object 41"/>
            <p:cNvSpPr/>
            <p:nvPr/>
          </p:nvSpPr>
          <p:spPr>
            <a:xfrm>
              <a:off x="9163811" y="3029711"/>
              <a:ext cx="2299970" cy="2816860"/>
            </a:xfrm>
            <a:custGeom>
              <a:avLst/>
              <a:gdLst/>
              <a:ahLst/>
              <a:cxnLst/>
              <a:rect l="l" t="t" r="r" b="b"/>
              <a:pathLst>
                <a:path w="2299970" h="2816860">
                  <a:moveTo>
                    <a:pt x="0" y="1408176"/>
                  </a:moveTo>
                  <a:lnTo>
                    <a:pt x="793" y="1355381"/>
                  </a:lnTo>
                  <a:lnTo>
                    <a:pt x="3154" y="1303077"/>
                  </a:lnTo>
                  <a:lnTo>
                    <a:pt x="7055" y="1251298"/>
                  </a:lnTo>
                  <a:lnTo>
                    <a:pt x="12468" y="1200078"/>
                  </a:lnTo>
                  <a:lnTo>
                    <a:pt x="19366" y="1149450"/>
                  </a:lnTo>
                  <a:lnTo>
                    <a:pt x="27720" y="1099449"/>
                  </a:lnTo>
                  <a:lnTo>
                    <a:pt x="37503" y="1050109"/>
                  </a:lnTo>
                  <a:lnTo>
                    <a:pt x="48687" y="1001463"/>
                  </a:lnTo>
                  <a:lnTo>
                    <a:pt x="61245" y="953547"/>
                  </a:lnTo>
                  <a:lnTo>
                    <a:pt x="75148" y="906393"/>
                  </a:lnTo>
                  <a:lnTo>
                    <a:pt x="90368" y="860036"/>
                  </a:lnTo>
                  <a:lnTo>
                    <a:pt x="106878" y="814509"/>
                  </a:lnTo>
                  <a:lnTo>
                    <a:pt x="124650" y="769848"/>
                  </a:lnTo>
                  <a:lnTo>
                    <a:pt x="143657" y="726086"/>
                  </a:lnTo>
                  <a:lnTo>
                    <a:pt x="163870" y="683256"/>
                  </a:lnTo>
                  <a:lnTo>
                    <a:pt x="185261" y="641394"/>
                  </a:lnTo>
                  <a:lnTo>
                    <a:pt x="207803" y="600533"/>
                  </a:lnTo>
                  <a:lnTo>
                    <a:pt x="231469" y="560706"/>
                  </a:lnTo>
                  <a:lnTo>
                    <a:pt x="256229" y="521949"/>
                  </a:lnTo>
                  <a:lnTo>
                    <a:pt x="282057" y="484295"/>
                  </a:lnTo>
                  <a:lnTo>
                    <a:pt x="308924" y="447778"/>
                  </a:lnTo>
                  <a:lnTo>
                    <a:pt x="336804" y="412432"/>
                  </a:lnTo>
                  <a:lnTo>
                    <a:pt x="365667" y="378291"/>
                  </a:lnTo>
                  <a:lnTo>
                    <a:pt x="395486" y="345390"/>
                  </a:lnTo>
                  <a:lnTo>
                    <a:pt x="426234" y="313762"/>
                  </a:lnTo>
                  <a:lnTo>
                    <a:pt x="457882" y="283441"/>
                  </a:lnTo>
                  <a:lnTo>
                    <a:pt x="490403" y="254461"/>
                  </a:lnTo>
                  <a:lnTo>
                    <a:pt x="523769" y="226857"/>
                  </a:lnTo>
                  <a:lnTo>
                    <a:pt x="557953" y="200662"/>
                  </a:lnTo>
                  <a:lnTo>
                    <a:pt x="592925" y="175910"/>
                  </a:lnTo>
                  <a:lnTo>
                    <a:pt x="628660" y="152636"/>
                  </a:lnTo>
                  <a:lnTo>
                    <a:pt x="665128" y="130873"/>
                  </a:lnTo>
                  <a:lnTo>
                    <a:pt x="702302" y="110656"/>
                  </a:lnTo>
                  <a:lnTo>
                    <a:pt x="740154" y="92018"/>
                  </a:lnTo>
                  <a:lnTo>
                    <a:pt x="778656" y="74994"/>
                  </a:lnTo>
                  <a:lnTo>
                    <a:pt x="817781" y="59618"/>
                  </a:lnTo>
                  <a:lnTo>
                    <a:pt x="857501" y="45922"/>
                  </a:lnTo>
                  <a:lnTo>
                    <a:pt x="897788" y="33943"/>
                  </a:lnTo>
                  <a:lnTo>
                    <a:pt x="938614" y="23713"/>
                  </a:lnTo>
                  <a:lnTo>
                    <a:pt x="979951" y="15267"/>
                  </a:lnTo>
                  <a:lnTo>
                    <a:pt x="1021772" y="8638"/>
                  </a:lnTo>
                  <a:lnTo>
                    <a:pt x="1064048" y="3862"/>
                  </a:lnTo>
                  <a:lnTo>
                    <a:pt x="1106753" y="971"/>
                  </a:lnTo>
                  <a:lnTo>
                    <a:pt x="1149858" y="0"/>
                  </a:lnTo>
                  <a:lnTo>
                    <a:pt x="1192962" y="971"/>
                  </a:lnTo>
                  <a:lnTo>
                    <a:pt x="1235667" y="3862"/>
                  </a:lnTo>
                  <a:lnTo>
                    <a:pt x="1277943" y="8638"/>
                  </a:lnTo>
                  <a:lnTo>
                    <a:pt x="1319764" y="15267"/>
                  </a:lnTo>
                  <a:lnTo>
                    <a:pt x="1361101" y="23713"/>
                  </a:lnTo>
                  <a:lnTo>
                    <a:pt x="1401927" y="33943"/>
                  </a:lnTo>
                  <a:lnTo>
                    <a:pt x="1442214" y="45922"/>
                  </a:lnTo>
                  <a:lnTo>
                    <a:pt x="1481934" y="59618"/>
                  </a:lnTo>
                  <a:lnTo>
                    <a:pt x="1521059" y="74994"/>
                  </a:lnTo>
                  <a:lnTo>
                    <a:pt x="1559561" y="92018"/>
                  </a:lnTo>
                  <a:lnTo>
                    <a:pt x="1597413" y="110656"/>
                  </a:lnTo>
                  <a:lnTo>
                    <a:pt x="1634587" y="130873"/>
                  </a:lnTo>
                  <a:lnTo>
                    <a:pt x="1671055" y="152636"/>
                  </a:lnTo>
                  <a:lnTo>
                    <a:pt x="1706790" y="175910"/>
                  </a:lnTo>
                  <a:lnTo>
                    <a:pt x="1741762" y="200662"/>
                  </a:lnTo>
                  <a:lnTo>
                    <a:pt x="1775946" y="226857"/>
                  </a:lnTo>
                  <a:lnTo>
                    <a:pt x="1809312" y="254461"/>
                  </a:lnTo>
                  <a:lnTo>
                    <a:pt x="1841833" y="283441"/>
                  </a:lnTo>
                  <a:lnTo>
                    <a:pt x="1873481" y="313762"/>
                  </a:lnTo>
                  <a:lnTo>
                    <a:pt x="1904229" y="345390"/>
                  </a:lnTo>
                  <a:lnTo>
                    <a:pt x="1934048" y="378291"/>
                  </a:lnTo>
                  <a:lnTo>
                    <a:pt x="1962912" y="412432"/>
                  </a:lnTo>
                  <a:lnTo>
                    <a:pt x="1990791" y="447778"/>
                  </a:lnTo>
                  <a:lnTo>
                    <a:pt x="2017658" y="484295"/>
                  </a:lnTo>
                  <a:lnTo>
                    <a:pt x="2043486" y="521949"/>
                  </a:lnTo>
                  <a:lnTo>
                    <a:pt x="2068246" y="560706"/>
                  </a:lnTo>
                  <a:lnTo>
                    <a:pt x="2091912" y="600533"/>
                  </a:lnTo>
                  <a:lnTo>
                    <a:pt x="2114454" y="641394"/>
                  </a:lnTo>
                  <a:lnTo>
                    <a:pt x="2135845" y="683256"/>
                  </a:lnTo>
                  <a:lnTo>
                    <a:pt x="2156058" y="726086"/>
                  </a:lnTo>
                  <a:lnTo>
                    <a:pt x="2175065" y="769848"/>
                  </a:lnTo>
                  <a:lnTo>
                    <a:pt x="2192837" y="814509"/>
                  </a:lnTo>
                  <a:lnTo>
                    <a:pt x="2209347" y="860036"/>
                  </a:lnTo>
                  <a:lnTo>
                    <a:pt x="2224567" y="906393"/>
                  </a:lnTo>
                  <a:lnTo>
                    <a:pt x="2238470" y="953547"/>
                  </a:lnTo>
                  <a:lnTo>
                    <a:pt x="2251028" y="1001463"/>
                  </a:lnTo>
                  <a:lnTo>
                    <a:pt x="2262212" y="1050109"/>
                  </a:lnTo>
                  <a:lnTo>
                    <a:pt x="2271995" y="1099449"/>
                  </a:lnTo>
                  <a:lnTo>
                    <a:pt x="2280349" y="1149450"/>
                  </a:lnTo>
                  <a:lnTo>
                    <a:pt x="2287247" y="1200078"/>
                  </a:lnTo>
                  <a:lnTo>
                    <a:pt x="2292660" y="1251298"/>
                  </a:lnTo>
                  <a:lnTo>
                    <a:pt x="2296561" y="1303077"/>
                  </a:lnTo>
                  <a:lnTo>
                    <a:pt x="2298922" y="1355381"/>
                  </a:lnTo>
                  <a:lnTo>
                    <a:pt x="2299716" y="1408176"/>
                  </a:lnTo>
                  <a:lnTo>
                    <a:pt x="2298922" y="1460970"/>
                  </a:lnTo>
                  <a:lnTo>
                    <a:pt x="2296561" y="1513274"/>
                  </a:lnTo>
                  <a:lnTo>
                    <a:pt x="2292660" y="1565053"/>
                  </a:lnTo>
                  <a:lnTo>
                    <a:pt x="2287247" y="1616273"/>
                  </a:lnTo>
                  <a:lnTo>
                    <a:pt x="2280349" y="1666901"/>
                  </a:lnTo>
                  <a:lnTo>
                    <a:pt x="2271995" y="1716902"/>
                  </a:lnTo>
                  <a:lnTo>
                    <a:pt x="2262212" y="1766242"/>
                  </a:lnTo>
                  <a:lnTo>
                    <a:pt x="2251028" y="1814888"/>
                  </a:lnTo>
                  <a:lnTo>
                    <a:pt x="2238470" y="1862804"/>
                  </a:lnTo>
                  <a:lnTo>
                    <a:pt x="2224567" y="1909958"/>
                  </a:lnTo>
                  <a:lnTo>
                    <a:pt x="2209347" y="1956315"/>
                  </a:lnTo>
                  <a:lnTo>
                    <a:pt x="2192837" y="2001842"/>
                  </a:lnTo>
                  <a:lnTo>
                    <a:pt x="2175065" y="2046503"/>
                  </a:lnTo>
                  <a:lnTo>
                    <a:pt x="2156058" y="2090265"/>
                  </a:lnTo>
                  <a:lnTo>
                    <a:pt x="2135845" y="2133095"/>
                  </a:lnTo>
                  <a:lnTo>
                    <a:pt x="2114454" y="2174957"/>
                  </a:lnTo>
                  <a:lnTo>
                    <a:pt x="2091912" y="2215818"/>
                  </a:lnTo>
                  <a:lnTo>
                    <a:pt x="2068246" y="2255645"/>
                  </a:lnTo>
                  <a:lnTo>
                    <a:pt x="2043486" y="2294402"/>
                  </a:lnTo>
                  <a:lnTo>
                    <a:pt x="2017658" y="2332056"/>
                  </a:lnTo>
                  <a:lnTo>
                    <a:pt x="1990791" y="2368573"/>
                  </a:lnTo>
                  <a:lnTo>
                    <a:pt x="1962912" y="2403919"/>
                  </a:lnTo>
                  <a:lnTo>
                    <a:pt x="1934048" y="2438060"/>
                  </a:lnTo>
                  <a:lnTo>
                    <a:pt x="1904229" y="2470961"/>
                  </a:lnTo>
                  <a:lnTo>
                    <a:pt x="1873481" y="2502589"/>
                  </a:lnTo>
                  <a:lnTo>
                    <a:pt x="1841833" y="2532910"/>
                  </a:lnTo>
                  <a:lnTo>
                    <a:pt x="1809312" y="2561890"/>
                  </a:lnTo>
                  <a:lnTo>
                    <a:pt x="1775946" y="2589494"/>
                  </a:lnTo>
                  <a:lnTo>
                    <a:pt x="1741762" y="2615689"/>
                  </a:lnTo>
                  <a:lnTo>
                    <a:pt x="1706790" y="2640441"/>
                  </a:lnTo>
                  <a:lnTo>
                    <a:pt x="1671055" y="2663715"/>
                  </a:lnTo>
                  <a:lnTo>
                    <a:pt x="1634587" y="2685478"/>
                  </a:lnTo>
                  <a:lnTo>
                    <a:pt x="1597413" y="2705695"/>
                  </a:lnTo>
                  <a:lnTo>
                    <a:pt x="1559561" y="2724333"/>
                  </a:lnTo>
                  <a:lnTo>
                    <a:pt x="1521059" y="2741357"/>
                  </a:lnTo>
                  <a:lnTo>
                    <a:pt x="1481934" y="2756733"/>
                  </a:lnTo>
                  <a:lnTo>
                    <a:pt x="1442214" y="2770429"/>
                  </a:lnTo>
                  <a:lnTo>
                    <a:pt x="1401927" y="2782408"/>
                  </a:lnTo>
                  <a:lnTo>
                    <a:pt x="1361101" y="2792638"/>
                  </a:lnTo>
                  <a:lnTo>
                    <a:pt x="1319764" y="2801084"/>
                  </a:lnTo>
                  <a:lnTo>
                    <a:pt x="1277943" y="2807713"/>
                  </a:lnTo>
                  <a:lnTo>
                    <a:pt x="1235667" y="2812489"/>
                  </a:lnTo>
                  <a:lnTo>
                    <a:pt x="1192962" y="2815380"/>
                  </a:lnTo>
                  <a:lnTo>
                    <a:pt x="1149858" y="2816352"/>
                  </a:lnTo>
                  <a:lnTo>
                    <a:pt x="1106753" y="2815380"/>
                  </a:lnTo>
                  <a:lnTo>
                    <a:pt x="1064048" y="2812489"/>
                  </a:lnTo>
                  <a:lnTo>
                    <a:pt x="1021772" y="2807713"/>
                  </a:lnTo>
                  <a:lnTo>
                    <a:pt x="979951" y="2801084"/>
                  </a:lnTo>
                  <a:lnTo>
                    <a:pt x="938614" y="2792638"/>
                  </a:lnTo>
                  <a:lnTo>
                    <a:pt x="897788" y="2782408"/>
                  </a:lnTo>
                  <a:lnTo>
                    <a:pt x="857501" y="2770429"/>
                  </a:lnTo>
                  <a:lnTo>
                    <a:pt x="817781" y="2756733"/>
                  </a:lnTo>
                  <a:lnTo>
                    <a:pt x="778656" y="2741357"/>
                  </a:lnTo>
                  <a:lnTo>
                    <a:pt x="740154" y="2724333"/>
                  </a:lnTo>
                  <a:lnTo>
                    <a:pt x="702302" y="2705695"/>
                  </a:lnTo>
                  <a:lnTo>
                    <a:pt x="665128" y="2685478"/>
                  </a:lnTo>
                  <a:lnTo>
                    <a:pt x="628660" y="2663715"/>
                  </a:lnTo>
                  <a:lnTo>
                    <a:pt x="592925" y="2640441"/>
                  </a:lnTo>
                  <a:lnTo>
                    <a:pt x="557953" y="2615689"/>
                  </a:lnTo>
                  <a:lnTo>
                    <a:pt x="523769" y="2589494"/>
                  </a:lnTo>
                  <a:lnTo>
                    <a:pt x="490403" y="2561890"/>
                  </a:lnTo>
                  <a:lnTo>
                    <a:pt x="457882" y="2532910"/>
                  </a:lnTo>
                  <a:lnTo>
                    <a:pt x="426234" y="2502589"/>
                  </a:lnTo>
                  <a:lnTo>
                    <a:pt x="395486" y="2470961"/>
                  </a:lnTo>
                  <a:lnTo>
                    <a:pt x="365667" y="2438060"/>
                  </a:lnTo>
                  <a:lnTo>
                    <a:pt x="336804" y="2403919"/>
                  </a:lnTo>
                  <a:lnTo>
                    <a:pt x="308924" y="2368573"/>
                  </a:lnTo>
                  <a:lnTo>
                    <a:pt x="282057" y="2332056"/>
                  </a:lnTo>
                  <a:lnTo>
                    <a:pt x="256229" y="2294402"/>
                  </a:lnTo>
                  <a:lnTo>
                    <a:pt x="231469" y="2255645"/>
                  </a:lnTo>
                  <a:lnTo>
                    <a:pt x="207803" y="2215818"/>
                  </a:lnTo>
                  <a:lnTo>
                    <a:pt x="185261" y="2174957"/>
                  </a:lnTo>
                  <a:lnTo>
                    <a:pt x="163870" y="2133095"/>
                  </a:lnTo>
                  <a:lnTo>
                    <a:pt x="143657" y="2090265"/>
                  </a:lnTo>
                  <a:lnTo>
                    <a:pt x="124650" y="2046503"/>
                  </a:lnTo>
                  <a:lnTo>
                    <a:pt x="106878" y="2001842"/>
                  </a:lnTo>
                  <a:lnTo>
                    <a:pt x="90368" y="1956315"/>
                  </a:lnTo>
                  <a:lnTo>
                    <a:pt x="75148" y="1909958"/>
                  </a:lnTo>
                  <a:lnTo>
                    <a:pt x="61245" y="1862804"/>
                  </a:lnTo>
                  <a:lnTo>
                    <a:pt x="48687" y="1814888"/>
                  </a:lnTo>
                  <a:lnTo>
                    <a:pt x="37503" y="1766242"/>
                  </a:lnTo>
                  <a:lnTo>
                    <a:pt x="27720" y="1716902"/>
                  </a:lnTo>
                  <a:lnTo>
                    <a:pt x="19366" y="1666901"/>
                  </a:lnTo>
                  <a:lnTo>
                    <a:pt x="12468" y="1616273"/>
                  </a:lnTo>
                  <a:lnTo>
                    <a:pt x="7055" y="1565053"/>
                  </a:lnTo>
                  <a:lnTo>
                    <a:pt x="3154" y="1513274"/>
                  </a:lnTo>
                  <a:lnTo>
                    <a:pt x="793" y="1460970"/>
                  </a:lnTo>
                  <a:lnTo>
                    <a:pt x="0" y="1408176"/>
                  </a:lnTo>
                  <a:close/>
                </a:path>
              </a:pathLst>
            </a:custGeom>
            <a:ln w="158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25967" y="3272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45" dirty="0">
                <a:solidFill>
                  <a:schemeClr val="bg1"/>
                </a:solidFill>
              </a:rPr>
              <a:t>Medoids</a:t>
            </a:r>
            <a:r>
              <a:rPr spc="191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967" y="2168558"/>
            <a:ext cx="8208363" cy="2520883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pPr marL="169069" indent="-159544">
              <a:spcBef>
                <a:spcPts val="938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2800" dirty="0">
                <a:latin typeface="Georgia"/>
                <a:cs typeface="Georgia"/>
              </a:rPr>
              <a:t>Which</a:t>
            </a:r>
            <a:r>
              <a:rPr sz="2800" spc="-26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method</a:t>
            </a:r>
            <a:r>
              <a:rPr sz="2800" spc="-26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26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more</a:t>
            </a:r>
            <a:r>
              <a:rPr sz="2800" spc="-19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robust</a:t>
            </a:r>
            <a:r>
              <a:rPr sz="2800" spc="-38" dirty="0">
                <a:latin typeface="Georgia"/>
                <a:cs typeface="Georgia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Georgia"/>
                <a:cs typeface="Georgia"/>
              </a:rPr>
              <a:t>-Means</a:t>
            </a:r>
            <a:r>
              <a:rPr sz="2800" spc="-26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</a:t>
            </a:r>
            <a:r>
              <a:rPr sz="2800" spc="-23" dirty="0">
                <a:latin typeface="Georgia"/>
                <a:cs typeface="Georgia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8" dirty="0">
                <a:latin typeface="Georgia"/>
                <a:cs typeface="Georgia"/>
              </a:rPr>
              <a:t>Medoids?</a:t>
            </a:r>
            <a:endParaRPr sz="2800" dirty="0">
              <a:latin typeface="Georgia"/>
              <a:cs typeface="Georgia"/>
            </a:endParaRPr>
          </a:p>
          <a:p>
            <a:pPr marL="208598" marR="3810" lvl="1" indent="-103346">
              <a:lnSpc>
                <a:spcPts val="1620"/>
              </a:lnSpc>
              <a:spcBef>
                <a:spcPts val="926"/>
              </a:spcBef>
              <a:buFont typeface="Wingdings"/>
              <a:buChar char=""/>
              <a:tabLst>
                <a:tab pos="208598" algn="l"/>
                <a:tab pos="254794" algn="l"/>
              </a:tabLst>
            </a:pPr>
            <a:r>
              <a:rPr sz="200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spc="-19" dirty="0">
                <a:latin typeface="Georgia"/>
                <a:cs typeface="Georgia"/>
              </a:rPr>
              <a:t>k-</a:t>
            </a:r>
            <a:r>
              <a:rPr sz="2000" dirty="0">
                <a:latin typeface="Georgia"/>
                <a:cs typeface="Georgia"/>
              </a:rPr>
              <a:t>medoids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method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more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robust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than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k-</a:t>
            </a:r>
            <a:r>
              <a:rPr sz="2000" dirty="0">
                <a:latin typeface="Georgia"/>
                <a:cs typeface="Georgia"/>
              </a:rPr>
              <a:t>means</a:t>
            </a:r>
            <a:r>
              <a:rPr sz="2000" spc="-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</a:t>
            </a:r>
            <a:r>
              <a:rPr sz="2000" spc="-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presence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noise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-4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outliers, </a:t>
            </a:r>
            <a:r>
              <a:rPr sz="2000" dirty="0">
                <a:latin typeface="Georgia"/>
                <a:cs typeface="Georgia"/>
              </a:rPr>
              <a:t>because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medoid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less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influenced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by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outliers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other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extreme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values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than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-8" dirty="0">
                <a:latin typeface="Georgia"/>
                <a:cs typeface="Georgia"/>
              </a:rPr>
              <a:t> mean.</a:t>
            </a:r>
            <a:endParaRPr sz="2000" dirty="0">
              <a:latin typeface="Georgia"/>
              <a:cs typeface="Georgia"/>
            </a:endParaRPr>
          </a:p>
          <a:p>
            <a:pPr lvl="1">
              <a:spcBef>
                <a:spcPts val="1511"/>
              </a:spcBef>
              <a:buClr>
                <a:srgbClr val="1CACE3"/>
              </a:buClr>
              <a:buFont typeface="Wingdings"/>
              <a:buChar char=""/>
            </a:pPr>
            <a:endParaRPr sz="2000" dirty="0">
              <a:latin typeface="Georgia"/>
              <a:cs typeface="Georgia"/>
            </a:endParaRPr>
          </a:p>
          <a:p>
            <a:pPr marL="254794" lvl="1" indent="-149543"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2000" dirty="0">
                <a:latin typeface="Georgia"/>
                <a:cs typeface="Georgia"/>
              </a:rPr>
              <a:t>The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processing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Cambria Math"/>
                <a:cs typeface="Cambria Math"/>
              </a:rPr>
              <a:t>𝑘</a:t>
            </a:r>
            <a:r>
              <a:rPr sz="2000" dirty="0">
                <a:latin typeface="Georgia"/>
                <a:cs typeface="Georgia"/>
              </a:rPr>
              <a:t>-Medoids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more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costly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than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k-</a:t>
            </a:r>
            <a:r>
              <a:rPr sz="2000" dirty="0">
                <a:latin typeface="Georgia"/>
                <a:cs typeface="Georgia"/>
              </a:rPr>
              <a:t>means</a:t>
            </a:r>
            <a:r>
              <a:rPr sz="2000" spc="-4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method.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3366" y="197880"/>
            <a:ext cx="8218186" cy="965014"/>
          </a:xfrm>
          <a:prstGeom prst="rect">
            <a:avLst/>
          </a:prstGeom>
        </p:spPr>
        <p:txBody>
          <a:bodyPr vert="horz" wrap="square" lIns="0" tIns="286938" rIns="0" bIns="0" rtlCol="0" anchor="ctr">
            <a:spAutoFit/>
          </a:bodyPr>
          <a:lstStyle/>
          <a:p>
            <a:pPr marL="34876" algn="l">
              <a:spcBef>
                <a:spcPts val="100"/>
              </a:spcBef>
            </a:pPr>
            <a:r>
              <a:rPr sz="4394" spc="-10" dirty="0">
                <a:solidFill>
                  <a:schemeClr val="bg1"/>
                </a:solidFill>
                <a:cs typeface="Calibri"/>
              </a:rPr>
              <a:t>Properties</a:t>
            </a:r>
            <a:r>
              <a:rPr sz="4394" spc="-85" dirty="0">
                <a:solidFill>
                  <a:schemeClr val="bg1"/>
                </a:solidFill>
                <a:cs typeface="Calibri"/>
              </a:rPr>
              <a:t> </a:t>
            </a:r>
            <a:r>
              <a:rPr sz="4394" dirty="0">
                <a:solidFill>
                  <a:schemeClr val="bg1"/>
                </a:solidFill>
                <a:cs typeface="Calibri"/>
              </a:rPr>
              <a:t>of</a:t>
            </a:r>
            <a:r>
              <a:rPr sz="4394" spc="-85" dirty="0">
                <a:solidFill>
                  <a:schemeClr val="bg1"/>
                </a:solidFill>
                <a:cs typeface="Calibri"/>
              </a:rPr>
              <a:t> </a:t>
            </a:r>
            <a:r>
              <a:rPr sz="4394" spc="-504" dirty="0">
                <a:solidFill>
                  <a:schemeClr val="bg1"/>
                </a:solidFill>
                <a:cs typeface="Calibri"/>
              </a:rPr>
              <a:t>K-</a:t>
            </a:r>
            <a:r>
              <a:rPr sz="4394" spc="-904" dirty="0">
                <a:solidFill>
                  <a:schemeClr val="bg1"/>
                </a:solidFill>
                <a:cs typeface="Calibri"/>
              </a:rPr>
              <a:t>­</a:t>
            </a:r>
            <a:r>
              <a:rPr sz="4394" spc="-150" dirty="0">
                <a:solidFill>
                  <a:schemeClr val="bg1"/>
                </a:solidFill>
                <a:cs typeface="Calibri"/>
              </a:rPr>
              <a:t>‐means</a:t>
            </a:r>
            <a:r>
              <a:rPr sz="4394" spc="-85" dirty="0">
                <a:solidFill>
                  <a:schemeClr val="bg1"/>
                </a:solidFill>
                <a:cs typeface="Calibri"/>
              </a:rPr>
              <a:t> </a:t>
            </a:r>
            <a:r>
              <a:rPr sz="4394" b="1" spc="-10" dirty="0">
                <a:solidFill>
                  <a:schemeClr val="bg1"/>
                </a:solidFill>
                <a:cs typeface="Calibri"/>
              </a:rPr>
              <a:t>algorithm</a:t>
            </a:r>
            <a:endParaRPr sz="4394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113" y="1595126"/>
            <a:ext cx="7802204" cy="4220698"/>
          </a:xfrm>
          <a:prstGeom prst="rect">
            <a:avLst/>
          </a:prstGeom>
        </p:spPr>
        <p:txBody>
          <a:bodyPr vert="horz" wrap="square" lIns="0" tIns="63412" rIns="0" bIns="0" rtlCol="0">
            <a:spAutoFit/>
          </a:bodyPr>
          <a:lstStyle/>
          <a:p>
            <a:pPr marL="355102" marR="5073" indent="-342420">
              <a:lnSpc>
                <a:spcPts val="3495"/>
              </a:lnSpc>
              <a:spcBef>
                <a:spcPts val="499"/>
              </a:spcBef>
              <a:buFont typeface="Arial MT"/>
              <a:buChar char="•"/>
              <a:tabLst>
                <a:tab pos="355102" algn="l"/>
              </a:tabLst>
            </a:pPr>
            <a:r>
              <a:rPr sz="3196" spc="-10" dirty="0">
                <a:latin typeface="Calibri"/>
                <a:cs typeface="Calibri"/>
              </a:rPr>
              <a:t>Guaranteed</a:t>
            </a:r>
            <a:r>
              <a:rPr sz="3196" spc="-90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to</a:t>
            </a:r>
            <a:r>
              <a:rPr sz="3196" spc="-85" dirty="0">
                <a:latin typeface="Calibri"/>
                <a:cs typeface="Calibri"/>
              </a:rPr>
              <a:t> </a:t>
            </a:r>
            <a:r>
              <a:rPr sz="3196" spc="-10" dirty="0">
                <a:latin typeface="Calibri"/>
                <a:cs typeface="Calibri"/>
              </a:rPr>
              <a:t>converge</a:t>
            </a:r>
            <a:r>
              <a:rPr sz="3196" spc="-85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in</a:t>
            </a:r>
            <a:r>
              <a:rPr sz="3196" spc="-85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a</a:t>
            </a:r>
            <a:r>
              <a:rPr sz="3196" spc="-85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finite</a:t>
            </a:r>
            <a:r>
              <a:rPr sz="3196" spc="-85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number</a:t>
            </a:r>
            <a:r>
              <a:rPr sz="3196" spc="-90" dirty="0">
                <a:latin typeface="Calibri"/>
                <a:cs typeface="Calibri"/>
              </a:rPr>
              <a:t> </a:t>
            </a:r>
            <a:r>
              <a:rPr sz="3196" spc="-25" dirty="0">
                <a:latin typeface="Calibri"/>
                <a:cs typeface="Calibri"/>
              </a:rPr>
              <a:t>of </a:t>
            </a:r>
            <a:r>
              <a:rPr sz="3196" spc="-10" dirty="0">
                <a:latin typeface="Calibri"/>
                <a:cs typeface="Calibri"/>
              </a:rPr>
              <a:t>iterations</a:t>
            </a:r>
            <a:endParaRPr sz="3196" dirty="0">
              <a:latin typeface="Calibri"/>
              <a:cs typeface="Calibri"/>
            </a:endParaRPr>
          </a:p>
          <a:p>
            <a:pPr>
              <a:spcBef>
                <a:spcPts val="559"/>
              </a:spcBef>
              <a:buFont typeface="Arial MT"/>
              <a:buChar char="•"/>
            </a:pPr>
            <a:endParaRPr sz="3196" dirty="0">
              <a:latin typeface="Calibri"/>
              <a:cs typeface="Calibri"/>
            </a:endParaRPr>
          </a:p>
          <a:p>
            <a:pPr marL="354468" indent="-341786">
              <a:lnSpc>
                <a:spcPts val="3770"/>
              </a:lnSpc>
              <a:buFont typeface="Arial MT"/>
              <a:buChar char="•"/>
              <a:tabLst>
                <a:tab pos="354468" algn="l"/>
              </a:tabLst>
            </a:pPr>
            <a:r>
              <a:rPr sz="3196" dirty="0">
                <a:latin typeface="Calibri"/>
                <a:cs typeface="Calibri"/>
              </a:rPr>
              <a:t>Running</a:t>
            </a:r>
            <a:r>
              <a:rPr sz="3196" spc="-70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time</a:t>
            </a:r>
            <a:r>
              <a:rPr sz="3196" spc="-65" dirty="0">
                <a:latin typeface="Calibri"/>
                <a:cs typeface="Calibri"/>
              </a:rPr>
              <a:t> </a:t>
            </a:r>
            <a:r>
              <a:rPr sz="3196" dirty="0">
                <a:latin typeface="Calibri"/>
                <a:cs typeface="Calibri"/>
              </a:rPr>
              <a:t>per</a:t>
            </a:r>
            <a:r>
              <a:rPr sz="3196" spc="-70" dirty="0">
                <a:latin typeface="Calibri"/>
                <a:cs typeface="Calibri"/>
              </a:rPr>
              <a:t> </a:t>
            </a:r>
            <a:r>
              <a:rPr sz="3196" spc="-10" dirty="0">
                <a:latin typeface="Calibri"/>
                <a:cs typeface="Calibri"/>
              </a:rPr>
              <a:t>iteration:</a:t>
            </a:r>
            <a:endParaRPr sz="3196" dirty="0">
              <a:latin typeface="Calibri"/>
              <a:cs typeface="Calibri"/>
            </a:endParaRPr>
          </a:p>
          <a:p>
            <a:pPr marL="1381728" lvl="1" indent="-456560">
              <a:lnSpc>
                <a:spcPts val="2811"/>
              </a:lnSpc>
              <a:buAutoNum type="arabicPeriod"/>
              <a:tabLst>
                <a:tab pos="1381728" algn="l"/>
              </a:tabLst>
            </a:pPr>
            <a:r>
              <a:rPr sz="2397" dirty="0">
                <a:latin typeface="Arial MT"/>
                <a:cs typeface="Arial MT"/>
              </a:rPr>
              <a:t>Assign</a:t>
            </a:r>
            <a:r>
              <a:rPr sz="2397" spc="-6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data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points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to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closest</a:t>
            </a:r>
            <a:r>
              <a:rPr sz="2397" spc="-6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cluster</a:t>
            </a:r>
            <a:r>
              <a:rPr sz="2397" spc="-60" dirty="0">
                <a:latin typeface="Arial MT"/>
                <a:cs typeface="Arial MT"/>
              </a:rPr>
              <a:t> </a:t>
            </a:r>
            <a:r>
              <a:rPr sz="2397" spc="-10" dirty="0">
                <a:latin typeface="Arial MT"/>
                <a:cs typeface="Arial MT"/>
              </a:rPr>
              <a:t>center</a:t>
            </a:r>
            <a:endParaRPr sz="2397" dirty="0">
              <a:latin typeface="Arial MT"/>
              <a:cs typeface="Arial MT"/>
            </a:endParaRPr>
          </a:p>
          <a:p>
            <a:pPr marL="1381728">
              <a:spcBef>
                <a:spcPts val="1143"/>
              </a:spcBef>
            </a:pPr>
            <a:r>
              <a:rPr sz="2397" dirty="0">
                <a:solidFill>
                  <a:srgbClr val="FF0000"/>
                </a:solidFill>
                <a:latin typeface="Arial MT"/>
                <a:cs typeface="Arial MT"/>
              </a:rPr>
              <a:t>O(KN)</a:t>
            </a:r>
            <a:r>
              <a:rPr sz="2397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397" spc="-2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endParaRPr sz="2397" dirty="0">
              <a:latin typeface="Arial MT"/>
              <a:cs typeface="Arial MT"/>
            </a:endParaRPr>
          </a:p>
          <a:p>
            <a:pPr marL="1381728" marR="168039" lvl="1" indent="-456560">
              <a:lnSpc>
                <a:spcPct val="70300"/>
              </a:lnSpc>
              <a:spcBef>
                <a:spcPts val="2546"/>
              </a:spcBef>
              <a:buAutoNum type="arabicPeriod" startAt="2"/>
              <a:tabLst>
                <a:tab pos="1381728" algn="l"/>
              </a:tabLst>
            </a:pPr>
            <a:r>
              <a:rPr sz="2397" dirty="0">
                <a:latin typeface="Arial MT"/>
                <a:cs typeface="Arial MT"/>
              </a:rPr>
              <a:t>Change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the</a:t>
            </a:r>
            <a:r>
              <a:rPr sz="2397" spc="-5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cluster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center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to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the</a:t>
            </a:r>
            <a:r>
              <a:rPr sz="2397" spc="-5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average</a:t>
            </a:r>
            <a:r>
              <a:rPr sz="2397" spc="-5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of</a:t>
            </a:r>
            <a:r>
              <a:rPr sz="2397" spc="-55" dirty="0">
                <a:latin typeface="Arial MT"/>
                <a:cs typeface="Arial MT"/>
              </a:rPr>
              <a:t> </a:t>
            </a:r>
            <a:r>
              <a:rPr sz="2397" spc="-25" dirty="0">
                <a:latin typeface="Arial MT"/>
                <a:cs typeface="Arial MT"/>
              </a:rPr>
              <a:t>its </a:t>
            </a:r>
            <a:r>
              <a:rPr sz="2397" dirty="0">
                <a:latin typeface="Arial MT"/>
                <a:cs typeface="Arial MT"/>
              </a:rPr>
              <a:t>assigned</a:t>
            </a:r>
            <a:r>
              <a:rPr sz="2397" spc="-110" dirty="0">
                <a:latin typeface="Arial MT"/>
                <a:cs typeface="Arial MT"/>
              </a:rPr>
              <a:t> </a:t>
            </a:r>
            <a:r>
              <a:rPr sz="2397" spc="-10" dirty="0">
                <a:latin typeface="Arial MT"/>
                <a:cs typeface="Arial MT"/>
              </a:rPr>
              <a:t>points</a:t>
            </a:r>
            <a:endParaRPr sz="2397" dirty="0">
              <a:latin typeface="Arial MT"/>
              <a:cs typeface="Arial MT"/>
            </a:endParaRPr>
          </a:p>
          <a:p>
            <a:pPr marL="1381728">
              <a:spcBef>
                <a:spcPts val="1118"/>
              </a:spcBef>
            </a:pPr>
            <a:r>
              <a:rPr sz="2397" spc="-20" dirty="0">
                <a:solidFill>
                  <a:srgbClr val="FF0000"/>
                </a:solidFill>
                <a:latin typeface="Arial MT"/>
                <a:cs typeface="Arial MT"/>
              </a:rPr>
              <a:t>O(N)</a:t>
            </a:r>
            <a:endParaRPr sz="2397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21" y="324985"/>
            <a:ext cx="7486411" cy="573244"/>
          </a:xfrm>
          <a:prstGeom prst="rect">
            <a:avLst/>
          </a:prstGeom>
        </p:spPr>
        <p:txBody>
          <a:bodyPr vert="horz" wrap="square" lIns="0" tIns="12682" rIns="0" bIns="0" rtlCol="0" anchor="ctr">
            <a:spAutoFit/>
          </a:bodyPr>
          <a:lstStyle/>
          <a:p>
            <a:pPr marL="12682" algn="l"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Example: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K-</a:t>
            </a:r>
            <a:r>
              <a:rPr dirty="0">
                <a:solidFill>
                  <a:schemeClr val="bg1"/>
                </a:solidFill>
              </a:rPr>
              <a:t>Means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510" y="1531930"/>
            <a:ext cx="338620" cy="116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2 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263" y="1298358"/>
            <a:ext cx="1258727" cy="2092594"/>
            <a:chOff x="646159" y="1295399"/>
            <a:chExt cx="1260475" cy="2095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59" y="1708149"/>
              <a:ext cx="1260471" cy="1682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7526" y="1295399"/>
              <a:ext cx="648335" cy="400685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45151" y="1531930"/>
            <a:ext cx="2621449" cy="117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9"/>
              </a:lnSpc>
              <a:tabLst>
                <a:tab pos="2253630" algn="l"/>
              </a:tabLst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3</a:t>
            </a:r>
            <a:r>
              <a:rPr sz="899" dirty="0">
                <a:latin typeface="Calibri"/>
                <a:cs typeface="Calibri"/>
              </a:rPr>
              <a:t>	</a:t>
            </a: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245" dirty="0">
                <a:latin typeface="Calibri"/>
                <a:cs typeface="Calibri"/>
              </a:rPr>
              <a:t>=</a:t>
            </a:r>
            <a:r>
              <a:rPr sz="899" spc="20" dirty="0">
                <a:latin typeface="Calibri"/>
                <a:cs typeface="Calibri"/>
              </a:rPr>
              <a:t> </a:t>
            </a:r>
            <a:r>
              <a:rPr sz="899" spc="-25" dirty="0">
                <a:latin typeface="Calibri"/>
                <a:cs typeface="Calibri"/>
              </a:rPr>
              <a:t>10</a:t>
            </a:r>
            <a:endParaRPr sz="899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5904" y="1710536"/>
            <a:ext cx="1258723" cy="168041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05346" y="1209581"/>
            <a:ext cx="3982269" cy="4819307"/>
            <a:chOff x="2508826" y="1206499"/>
            <a:chExt cx="3987800" cy="4826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59" y="1708149"/>
              <a:ext cx="1260471" cy="16827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9265" y="4070031"/>
              <a:ext cx="1262521" cy="16840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7618" y="3999558"/>
              <a:ext cx="1368925" cy="17916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21526" y="1219199"/>
              <a:ext cx="3962400" cy="4800600"/>
            </a:xfrm>
            <a:custGeom>
              <a:avLst/>
              <a:gdLst/>
              <a:ahLst/>
              <a:cxnLst/>
              <a:rect l="l" t="t" r="r" b="b"/>
              <a:pathLst>
                <a:path w="3962400" h="4800600">
                  <a:moveTo>
                    <a:pt x="3962398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3962398" y="4800600"/>
                  </a:lnTo>
                  <a:lnTo>
                    <a:pt x="396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1526" y="1219199"/>
              <a:ext cx="3962400" cy="4800600"/>
            </a:xfrm>
            <a:custGeom>
              <a:avLst/>
              <a:gdLst/>
              <a:ahLst/>
              <a:cxnLst/>
              <a:rect l="l" t="t" r="r" b="b"/>
              <a:pathLst>
                <a:path w="3962400" h="4800600">
                  <a:moveTo>
                    <a:pt x="0" y="0"/>
                  </a:moveTo>
                  <a:lnTo>
                    <a:pt x="3962399" y="0"/>
                  </a:lnTo>
                  <a:lnTo>
                    <a:pt x="3962399" y="4800599"/>
                  </a:lnTo>
                  <a:lnTo>
                    <a:pt x="0" y="48005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96118" y="1538091"/>
            <a:ext cx="736212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74"/>
              </a:lnSpc>
            </a:pPr>
            <a:r>
              <a:rPr sz="899" dirty="0">
                <a:latin typeface="Arial MT"/>
                <a:cs typeface="Arial MT"/>
              </a:rPr>
              <a:t>Original</a:t>
            </a:r>
            <a:r>
              <a:rPr sz="899" spc="-35" dirty="0">
                <a:latin typeface="Arial MT"/>
                <a:cs typeface="Arial MT"/>
              </a:rPr>
              <a:t> </a:t>
            </a:r>
            <a:r>
              <a:rPr sz="899" spc="-10" dirty="0">
                <a:latin typeface="Arial MT"/>
                <a:cs typeface="Arial MT"/>
              </a:rPr>
              <a:t>image</a:t>
            </a:r>
            <a:endParaRPr sz="899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37185" y="1298358"/>
            <a:ext cx="1265702" cy="2091959"/>
            <a:chOff x="7046959" y="1295399"/>
            <a:chExt cx="1267460" cy="2094864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6959" y="1708149"/>
              <a:ext cx="1260471" cy="16816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45925" y="1295399"/>
              <a:ext cx="1068705" cy="400685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5500" y="4145236"/>
            <a:ext cx="1260770" cy="168168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77461" y="4004873"/>
            <a:ext cx="1348718" cy="17830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74774" y="1331332"/>
            <a:ext cx="483833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K=2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14508" y="1331332"/>
            <a:ext cx="899815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10" dirty="0">
                <a:latin typeface="Arial MT"/>
                <a:cs typeface="Arial MT"/>
              </a:rPr>
              <a:t>Original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82824" y="1483521"/>
            <a:ext cx="4090069" cy="451493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2796" b="1" dirty="0">
                <a:latin typeface="Arial"/>
                <a:cs typeface="Arial"/>
              </a:rPr>
              <a:t>Goal</a:t>
            </a:r>
            <a:r>
              <a:rPr sz="2796" b="1" spc="-85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of</a:t>
            </a:r>
            <a:r>
              <a:rPr sz="2796" b="1" spc="-80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Segmentation</a:t>
            </a:r>
            <a:r>
              <a:rPr sz="2796" b="1" spc="-85" dirty="0">
                <a:latin typeface="Arial"/>
                <a:cs typeface="Arial"/>
              </a:rPr>
              <a:t> </a:t>
            </a:r>
            <a:r>
              <a:rPr sz="2796" b="1" spc="-25" dirty="0">
                <a:latin typeface="Arial"/>
                <a:cs typeface="Arial"/>
              </a:rPr>
              <a:t>is</a:t>
            </a:r>
            <a:endParaRPr sz="2796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82824" y="1914722"/>
            <a:ext cx="3714670" cy="2150933"/>
          </a:xfrm>
          <a:prstGeom prst="rect">
            <a:avLst/>
          </a:prstGeom>
        </p:spPr>
        <p:txBody>
          <a:bodyPr vert="horz" wrap="square" lIns="0" tIns="13951" rIns="0" bIns="0" rtlCol="0">
            <a:spAutoFit/>
          </a:bodyPr>
          <a:lstStyle/>
          <a:p>
            <a:pPr marL="12682" marR="5073">
              <a:lnSpc>
                <a:spcPct val="99700"/>
              </a:lnSpc>
              <a:spcBef>
                <a:spcPts val="110"/>
              </a:spcBef>
            </a:pPr>
            <a:r>
              <a:rPr sz="2796" b="1" dirty="0">
                <a:latin typeface="Arial"/>
                <a:cs typeface="Arial"/>
              </a:rPr>
              <a:t>to</a:t>
            </a:r>
            <a:r>
              <a:rPr sz="2796" b="1" spc="-70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partition</a:t>
            </a:r>
            <a:r>
              <a:rPr sz="2796" b="1" spc="-65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an</a:t>
            </a:r>
            <a:r>
              <a:rPr sz="2796" b="1" spc="-65" dirty="0">
                <a:latin typeface="Arial"/>
                <a:cs typeface="Arial"/>
              </a:rPr>
              <a:t> </a:t>
            </a:r>
            <a:r>
              <a:rPr sz="2796" b="1" spc="-20" dirty="0">
                <a:latin typeface="Arial"/>
                <a:cs typeface="Arial"/>
              </a:rPr>
              <a:t>image </a:t>
            </a:r>
            <a:r>
              <a:rPr sz="2796" b="1" dirty="0">
                <a:latin typeface="Arial"/>
                <a:cs typeface="Arial"/>
              </a:rPr>
              <a:t>into</a:t>
            </a:r>
            <a:r>
              <a:rPr sz="2796" b="1" spc="-80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regions</a:t>
            </a:r>
            <a:r>
              <a:rPr sz="2796" b="1" spc="-75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each</a:t>
            </a:r>
            <a:r>
              <a:rPr sz="2796" b="1" spc="-80" dirty="0">
                <a:latin typeface="Arial"/>
                <a:cs typeface="Arial"/>
              </a:rPr>
              <a:t> </a:t>
            </a:r>
            <a:r>
              <a:rPr sz="2796" b="1" spc="-25" dirty="0">
                <a:latin typeface="Arial"/>
                <a:cs typeface="Arial"/>
              </a:rPr>
              <a:t>of </a:t>
            </a:r>
            <a:r>
              <a:rPr sz="2796" b="1" dirty="0">
                <a:latin typeface="Arial"/>
                <a:cs typeface="Arial"/>
              </a:rPr>
              <a:t>which</a:t>
            </a:r>
            <a:r>
              <a:rPr sz="2796" b="1" spc="-85" dirty="0">
                <a:latin typeface="Arial"/>
                <a:cs typeface="Arial"/>
              </a:rPr>
              <a:t> </a:t>
            </a:r>
            <a:r>
              <a:rPr sz="2796" b="1" dirty="0">
                <a:latin typeface="Arial"/>
                <a:cs typeface="Arial"/>
              </a:rPr>
              <a:t>has</a:t>
            </a:r>
            <a:r>
              <a:rPr sz="2796" b="1" spc="-85" dirty="0">
                <a:latin typeface="Arial"/>
                <a:cs typeface="Arial"/>
              </a:rPr>
              <a:t> </a:t>
            </a:r>
            <a:r>
              <a:rPr sz="2796" b="1" spc="-10" dirty="0">
                <a:latin typeface="Arial"/>
                <a:cs typeface="Arial"/>
              </a:rPr>
              <a:t>reasonably homogenous</a:t>
            </a:r>
            <a:r>
              <a:rPr sz="2796" b="1" spc="-130" dirty="0">
                <a:latin typeface="Arial"/>
                <a:cs typeface="Arial"/>
              </a:rPr>
              <a:t> </a:t>
            </a:r>
            <a:r>
              <a:rPr sz="2796" b="1" spc="-10" dirty="0">
                <a:latin typeface="Arial"/>
                <a:cs typeface="Arial"/>
              </a:rPr>
              <a:t>visual appearance.</a:t>
            </a:r>
            <a:endParaRPr sz="279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04" y="380946"/>
            <a:ext cx="7486411" cy="573244"/>
          </a:xfrm>
          <a:prstGeom prst="rect">
            <a:avLst/>
          </a:prstGeom>
        </p:spPr>
        <p:txBody>
          <a:bodyPr vert="horz" wrap="square" lIns="0" tIns="12682" rIns="0" bIns="0" rtlCol="0" anchor="ctr">
            <a:spAutoFit/>
          </a:bodyPr>
          <a:lstStyle/>
          <a:p>
            <a:pPr marL="12682"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+mj-lt"/>
              </a:rPr>
              <a:t>Example:</a:t>
            </a:r>
            <a:r>
              <a:rPr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pc="-10" dirty="0">
                <a:solidFill>
                  <a:schemeClr val="bg1"/>
                </a:solidFill>
                <a:latin typeface="+mj-lt"/>
              </a:rPr>
              <a:t>K-</a:t>
            </a:r>
            <a:r>
              <a:rPr dirty="0">
                <a:solidFill>
                  <a:schemeClr val="bg1"/>
                </a:solidFill>
                <a:latin typeface="+mj-lt"/>
              </a:rPr>
              <a:t>Means</a:t>
            </a:r>
            <a:r>
              <a:rPr spc="-15" dirty="0">
                <a:solidFill>
                  <a:schemeClr val="bg1"/>
                </a:solidFill>
                <a:latin typeface="+mj-lt"/>
              </a:rPr>
              <a:t> </a:t>
            </a:r>
            <a:r>
              <a:rPr dirty="0">
                <a:solidFill>
                  <a:schemeClr val="bg1"/>
                </a:solidFill>
                <a:latin typeface="+mj-lt"/>
              </a:rPr>
              <a:t>for</a:t>
            </a:r>
            <a:r>
              <a:rPr spc="-15" dirty="0">
                <a:solidFill>
                  <a:schemeClr val="bg1"/>
                </a:solidFill>
                <a:latin typeface="+mj-lt"/>
              </a:rPr>
              <a:t> </a:t>
            </a:r>
            <a:r>
              <a:rPr spc="-10" dirty="0">
                <a:solidFill>
                  <a:schemeClr val="bg1"/>
                </a:solidFill>
                <a:latin typeface="+mj-lt"/>
              </a:rPr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510" y="1531930"/>
            <a:ext cx="338620" cy="116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2 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263" y="1298358"/>
            <a:ext cx="1258727" cy="2092594"/>
            <a:chOff x="646159" y="1295399"/>
            <a:chExt cx="1260475" cy="2095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59" y="1708149"/>
              <a:ext cx="1260471" cy="1682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7526" y="1295399"/>
              <a:ext cx="648335" cy="400685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45151" y="1531930"/>
            <a:ext cx="338620" cy="117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3 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75904" y="1298358"/>
            <a:ext cx="1258727" cy="2092594"/>
            <a:chOff x="2779759" y="1295399"/>
            <a:chExt cx="1260475" cy="20955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9759" y="1708149"/>
              <a:ext cx="1260471" cy="16827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2567" y="1295399"/>
              <a:ext cx="648335" cy="400685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99445" y="1531930"/>
            <a:ext cx="367155" cy="117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245" dirty="0">
                <a:latin typeface="Calibri"/>
                <a:cs typeface="Calibri"/>
              </a:rPr>
              <a:t>=</a:t>
            </a:r>
            <a:r>
              <a:rPr sz="899" spc="20" dirty="0">
                <a:latin typeface="Calibri"/>
                <a:cs typeface="Calibri"/>
              </a:rPr>
              <a:t> </a:t>
            </a:r>
            <a:r>
              <a:rPr sz="899" spc="-25" dirty="0">
                <a:latin typeface="Calibri"/>
                <a:cs typeface="Calibri"/>
              </a:rPr>
              <a:t>10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80700" y="1710536"/>
            <a:ext cx="1367161" cy="4077387"/>
            <a:chOff x="4987618" y="1708149"/>
            <a:chExt cx="1369060" cy="40830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59" y="1708149"/>
              <a:ext cx="1260471" cy="16827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7618" y="3999558"/>
              <a:ext cx="1368925" cy="179164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296118" y="1538091"/>
            <a:ext cx="736212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74"/>
              </a:lnSpc>
            </a:pPr>
            <a:r>
              <a:rPr sz="899" dirty="0">
                <a:latin typeface="Arial MT"/>
                <a:cs typeface="Arial MT"/>
              </a:rPr>
              <a:t>Original</a:t>
            </a:r>
            <a:r>
              <a:rPr sz="899" spc="-35" dirty="0">
                <a:latin typeface="Arial MT"/>
                <a:cs typeface="Arial MT"/>
              </a:rPr>
              <a:t> </a:t>
            </a:r>
            <a:r>
              <a:rPr sz="899" spc="-10" dirty="0">
                <a:latin typeface="Arial MT"/>
                <a:cs typeface="Arial MT"/>
              </a:rPr>
              <a:t>image</a:t>
            </a:r>
            <a:endParaRPr sz="899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37185" y="1298358"/>
            <a:ext cx="1265702" cy="2091959"/>
            <a:chOff x="7046959" y="1295399"/>
            <a:chExt cx="1267460" cy="2094864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6959" y="1708149"/>
              <a:ext cx="1260471" cy="16816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45925" y="1295399"/>
              <a:ext cx="1068705" cy="400685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5500" y="4145236"/>
            <a:ext cx="1260770" cy="168168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75412" y="4069142"/>
            <a:ext cx="1260770" cy="16816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77461" y="4004873"/>
            <a:ext cx="1348718" cy="17830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74774" y="1331332"/>
            <a:ext cx="483833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K=2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6909" y="1331332"/>
            <a:ext cx="483833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K=3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62420" y="1368042"/>
            <a:ext cx="599877" cy="283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7"/>
              </a:lnSpc>
            </a:pPr>
            <a:r>
              <a:rPr sz="1997" spc="-20" dirty="0">
                <a:latin typeface="Arial MT"/>
                <a:cs typeface="Arial MT"/>
              </a:rPr>
              <a:t>K=10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14508" y="1331332"/>
            <a:ext cx="899815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10" dirty="0">
                <a:latin typeface="Arial MT"/>
                <a:cs typeface="Arial MT"/>
              </a:rPr>
              <a:t>Original</a:t>
            </a:r>
            <a:endParaRPr sz="1997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07704" y="1209581"/>
            <a:ext cx="2079911" cy="4819307"/>
            <a:chOff x="4413826" y="1206499"/>
            <a:chExt cx="2082800" cy="4826000"/>
          </a:xfrm>
        </p:grpSpPr>
        <p:sp>
          <p:nvSpPr>
            <p:cNvPr id="27" name="object 27"/>
            <p:cNvSpPr/>
            <p:nvPr/>
          </p:nvSpPr>
          <p:spPr>
            <a:xfrm>
              <a:off x="4426527" y="1219199"/>
              <a:ext cx="2057400" cy="4800600"/>
            </a:xfrm>
            <a:custGeom>
              <a:avLst/>
              <a:gdLst/>
              <a:ahLst/>
              <a:cxnLst/>
              <a:rect l="l" t="t" r="r" b="b"/>
              <a:pathLst>
                <a:path w="2057400" h="4800600">
                  <a:moveTo>
                    <a:pt x="2057400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2057400" y="4800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6526" y="1219199"/>
              <a:ext cx="2057400" cy="4800600"/>
            </a:xfrm>
            <a:custGeom>
              <a:avLst/>
              <a:gdLst/>
              <a:ahLst/>
              <a:cxnLst/>
              <a:rect l="l" t="t" r="r" b="b"/>
              <a:pathLst>
                <a:path w="2057400" h="4800600">
                  <a:moveTo>
                    <a:pt x="0" y="0"/>
                  </a:moveTo>
                  <a:lnTo>
                    <a:pt x="2057399" y="0"/>
                  </a:lnTo>
                  <a:lnTo>
                    <a:pt x="2057399" y="4800599"/>
                  </a:lnTo>
                  <a:lnTo>
                    <a:pt x="0" y="48005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034" y="354091"/>
            <a:ext cx="7486411" cy="566804"/>
          </a:xfrm>
          <a:prstGeom prst="rect">
            <a:avLst/>
          </a:prstGeom>
        </p:spPr>
        <p:txBody>
          <a:bodyPr vert="horz" wrap="square" lIns="0" tIns="12682" rIns="0" bIns="0" rtlCol="0" anchor="ctr">
            <a:spAutoFit/>
          </a:bodyPr>
          <a:lstStyle/>
          <a:p>
            <a:pPr marL="12682">
              <a:spcBef>
                <a:spcPts val="100"/>
              </a:spcBef>
            </a:pPr>
            <a:r>
              <a:rPr sz="3600" dirty="0">
                <a:solidFill>
                  <a:schemeClr val="bg1"/>
                </a:solidFill>
                <a:latin typeface="+mj-lt"/>
              </a:rPr>
              <a:t>Example:</a:t>
            </a:r>
            <a:r>
              <a:rPr sz="36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3600" spc="-10" dirty="0">
                <a:solidFill>
                  <a:schemeClr val="bg1"/>
                </a:solidFill>
                <a:latin typeface="+mj-lt"/>
              </a:rPr>
              <a:t>K-</a:t>
            </a:r>
            <a:r>
              <a:rPr sz="3600" dirty="0">
                <a:solidFill>
                  <a:schemeClr val="bg1"/>
                </a:solidFill>
                <a:latin typeface="+mj-lt"/>
              </a:rPr>
              <a:t>Means</a:t>
            </a:r>
            <a:r>
              <a:rPr sz="3600" spc="-15" dirty="0">
                <a:solidFill>
                  <a:schemeClr val="bg1"/>
                </a:solidFill>
                <a:latin typeface="+mj-lt"/>
              </a:rPr>
              <a:t> </a:t>
            </a:r>
            <a:r>
              <a:rPr sz="3600" dirty="0">
                <a:solidFill>
                  <a:schemeClr val="bg1"/>
                </a:solidFill>
                <a:latin typeface="+mj-lt"/>
              </a:rPr>
              <a:t>for</a:t>
            </a:r>
            <a:r>
              <a:rPr sz="3600" spc="-15" dirty="0">
                <a:solidFill>
                  <a:schemeClr val="bg1"/>
                </a:solidFill>
                <a:latin typeface="+mj-lt"/>
              </a:rPr>
              <a:t> </a:t>
            </a:r>
            <a:r>
              <a:rPr sz="3600" spc="-10" dirty="0">
                <a:solidFill>
                  <a:schemeClr val="bg1"/>
                </a:solidFill>
                <a:latin typeface="+mj-lt"/>
              </a:rPr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510" y="1531930"/>
            <a:ext cx="338620" cy="116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2 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263" y="1298358"/>
            <a:ext cx="1258727" cy="2092594"/>
            <a:chOff x="646159" y="1295399"/>
            <a:chExt cx="1260475" cy="2095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59" y="1708149"/>
              <a:ext cx="1260471" cy="1682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7526" y="1295399"/>
              <a:ext cx="648335" cy="400685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45151" y="1531930"/>
            <a:ext cx="338620" cy="117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140" dirty="0">
                <a:latin typeface="Calibri"/>
                <a:cs typeface="Calibri"/>
              </a:rPr>
              <a:t>=</a:t>
            </a:r>
            <a:r>
              <a:rPr sz="899" dirty="0">
                <a:latin typeface="Calibri"/>
                <a:cs typeface="Calibri"/>
              </a:rPr>
              <a:t> </a:t>
            </a:r>
            <a:r>
              <a:rPr sz="899" spc="70" dirty="0">
                <a:latin typeface="Calibri"/>
                <a:cs typeface="Calibri"/>
              </a:rPr>
              <a:t>3 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75904" y="1298358"/>
            <a:ext cx="1258727" cy="2092594"/>
            <a:chOff x="2779759" y="1295399"/>
            <a:chExt cx="1260475" cy="20955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9759" y="1708149"/>
              <a:ext cx="1260471" cy="16827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2567" y="1295399"/>
              <a:ext cx="648335" cy="400685"/>
            </a:xfrm>
            <a:custGeom>
              <a:avLst/>
              <a:gdLst/>
              <a:ahLst/>
              <a:cxnLst/>
              <a:rect l="l" t="t" r="r" b="b"/>
              <a:pathLst>
                <a:path w="648335" h="400685">
                  <a:moveTo>
                    <a:pt x="648158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648158" y="400109"/>
                  </a:lnTo>
                  <a:lnTo>
                    <a:pt x="6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99445" y="1531930"/>
            <a:ext cx="367155" cy="1179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9"/>
              </a:lnSpc>
            </a:pPr>
            <a:r>
              <a:rPr sz="899" i="1" spc="300" dirty="0">
                <a:latin typeface="Calibri"/>
                <a:cs typeface="Calibri"/>
              </a:rPr>
              <a:t>K</a:t>
            </a:r>
            <a:r>
              <a:rPr sz="899" i="1" spc="95" dirty="0">
                <a:latin typeface="Calibri"/>
                <a:cs typeface="Calibri"/>
              </a:rPr>
              <a:t> </a:t>
            </a:r>
            <a:r>
              <a:rPr sz="899" spc="245" dirty="0">
                <a:latin typeface="Calibri"/>
                <a:cs typeface="Calibri"/>
              </a:rPr>
              <a:t>=</a:t>
            </a:r>
            <a:r>
              <a:rPr sz="899" spc="20" dirty="0">
                <a:latin typeface="Calibri"/>
                <a:cs typeface="Calibri"/>
              </a:rPr>
              <a:t> </a:t>
            </a:r>
            <a:r>
              <a:rPr sz="899" spc="-25" dirty="0">
                <a:latin typeface="Calibri"/>
                <a:cs typeface="Calibri"/>
              </a:rPr>
              <a:t>10</a:t>
            </a:r>
            <a:endParaRPr sz="899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58733" y="1298358"/>
            <a:ext cx="1258727" cy="2092594"/>
            <a:chOff x="5065759" y="1295399"/>
            <a:chExt cx="1260475" cy="209550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59" y="1708149"/>
              <a:ext cx="1260471" cy="16827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78567" y="1295399"/>
              <a:ext cx="791210" cy="400685"/>
            </a:xfrm>
            <a:custGeom>
              <a:avLst/>
              <a:gdLst/>
              <a:ahLst/>
              <a:cxnLst/>
              <a:rect l="l" t="t" r="r" b="b"/>
              <a:pathLst>
                <a:path w="791210" h="400685">
                  <a:moveTo>
                    <a:pt x="790800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790800" y="400109"/>
                  </a:lnTo>
                  <a:lnTo>
                    <a:pt x="79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96118" y="1538091"/>
            <a:ext cx="736212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74"/>
              </a:lnSpc>
            </a:pPr>
            <a:r>
              <a:rPr sz="899" dirty="0">
                <a:latin typeface="Arial MT"/>
                <a:cs typeface="Arial MT"/>
              </a:rPr>
              <a:t>Original</a:t>
            </a:r>
            <a:r>
              <a:rPr sz="899" spc="-35" dirty="0">
                <a:latin typeface="Arial MT"/>
                <a:cs typeface="Arial MT"/>
              </a:rPr>
              <a:t> </a:t>
            </a:r>
            <a:r>
              <a:rPr sz="899" spc="-10" dirty="0">
                <a:latin typeface="Arial MT"/>
                <a:cs typeface="Arial MT"/>
              </a:rPr>
              <a:t>image</a:t>
            </a:r>
            <a:endParaRPr sz="899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37185" y="1298358"/>
            <a:ext cx="1265702" cy="2091959"/>
            <a:chOff x="7046959" y="1295399"/>
            <a:chExt cx="1267460" cy="2094864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6959" y="1708149"/>
              <a:ext cx="1260471" cy="16816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45925" y="1295399"/>
              <a:ext cx="1068705" cy="400685"/>
            </a:xfrm>
            <a:custGeom>
              <a:avLst/>
              <a:gdLst/>
              <a:ahLst/>
              <a:cxnLst/>
              <a:rect l="l" t="t" r="r" b="b"/>
              <a:pathLst>
                <a:path w="1068704" h="400685">
                  <a:moveTo>
                    <a:pt x="1068447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1068447" y="400109"/>
                  </a:lnTo>
                  <a:lnTo>
                    <a:pt x="1068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95501" y="4145237"/>
            <a:ext cx="1261263" cy="2099569"/>
            <a:chOff x="696466" y="4146231"/>
            <a:chExt cx="1263015" cy="210248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466" y="4146231"/>
              <a:ext cx="1262521" cy="16840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97526" y="5848288"/>
              <a:ext cx="555625" cy="400685"/>
            </a:xfrm>
            <a:custGeom>
              <a:avLst/>
              <a:gdLst/>
              <a:ahLst/>
              <a:cxnLst/>
              <a:rect l="l" t="t" r="r" b="b"/>
              <a:pathLst>
                <a:path w="555625" h="400685">
                  <a:moveTo>
                    <a:pt x="555359" y="0"/>
                  </a:moveTo>
                  <a:lnTo>
                    <a:pt x="0" y="0"/>
                  </a:lnTo>
                  <a:lnTo>
                    <a:pt x="0" y="400109"/>
                  </a:lnTo>
                  <a:lnTo>
                    <a:pt x="555359" y="400109"/>
                  </a:lnTo>
                  <a:lnTo>
                    <a:pt x="555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97"/>
            </a:p>
          </p:txBody>
        </p:sp>
      </p:grp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5412" y="4069142"/>
            <a:ext cx="1260770" cy="168168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80701" y="3998767"/>
            <a:ext cx="1367026" cy="178915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77461" y="4004873"/>
            <a:ext cx="1348718" cy="17830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074774" y="1331332"/>
            <a:ext cx="483833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K=2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6909" y="1331332"/>
            <a:ext cx="483833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K=3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9738" y="1331332"/>
            <a:ext cx="625242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0" dirty="0">
                <a:latin typeface="Arial MT"/>
                <a:cs typeface="Arial MT"/>
              </a:rPr>
              <a:t>K=10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14508" y="1331332"/>
            <a:ext cx="899815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10" dirty="0">
                <a:latin typeface="Arial MT"/>
                <a:cs typeface="Arial MT"/>
              </a:rPr>
              <a:t>Original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74774" y="5877907"/>
            <a:ext cx="392520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4%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66909" y="5877907"/>
            <a:ext cx="392520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8%</a:t>
            </a:r>
            <a:endParaRPr sz="199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49739" y="5877907"/>
            <a:ext cx="533294" cy="329742"/>
          </a:xfrm>
          <a:prstGeom prst="rect">
            <a:avLst/>
          </a:prstGeom>
        </p:spPr>
        <p:txBody>
          <a:bodyPr vert="horz" wrap="square" lIns="0" tIns="12682" rIns="0" bIns="0" rtlCol="0">
            <a:spAutoFit/>
          </a:bodyPr>
          <a:lstStyle/>
          <a:p>
            <a:pPr marL="12682">
              <a:spcBef>
                <a:spcPts val="100"/>
              </a:spcBef>
            </a:pPr>
            <a:r>
              <a:rPr sz="1997" spc="-25" dirty="0">
                <a:latin typeface="Arial MT"/>
                <a:cs typeface="Arial MT"/>
              </a:rPr>
              <a:t>17%</a:t>
            </a:r>
            <a:endParaRPr sz="199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FCC7-1F63-DF96-AEFD-5C81F18C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D219C0-A173-7289-4636-2084696C63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6813" y="408935"/>
            <a:ext cx="8208974" cy="50206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z="3200" spc="109" dirty="0">
                <a:solidFill>
                  <a:schemeClr val="bg1"/>
                </a:solidFill>
              </a:rPr>
              <a:t>-</a:t>
            </a:r>
            <a:r>
              <a:rPr lang="en-US" sz="3200" spc="45" dirty="0">
                <a:solidFill>
                  <a:schemeClr val="bg1"/>
                </a:solidFill>
              </a:rPr>
              <a:t>means Vs K-medoids Vs K-modes</a:t>
            </a:r>
            <a:endParaRPr sz="3200" spc="38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435592-355D-D34A-45BC-069BF6346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47512"/>
              </p:ext>
            </p:extLst>
          </p:nvPr>
        </p:nvGraphicFramePr>
        <p:xfrm>
          <a:off x="0" y="1600199"/>
          <a:ext cx="8978632" cy="467650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05064">
                  <a:extLst>
                    <a:ext uri="{9D8B030D-6E8A-4147-A177-3AD203B41FA5}">
                      <a16:colId xmlns:a16="http://schemas.microsoft.com/office/drawing/2014/main" val="3694822791"/>
                    </a:ext>
                  </a:extLst>
                </a:gridCol>
                <a:gridCol w="2247089">
                  <a:extLst>
                    <a:ext uri="{9D8B030D-6E8A-4147-A177-3AD203B41FA5}">
                      <a16:colId xmlns:a16="http://schemas.microsoft.com/office/drawing/2014/main" val="2410515647"/>
                    </a:ext>
                  </a:extLst>
                </a:gridCol>
                <a:gridCol w="2881821">
                  <a:extLst>
                    <a:ext uri="{9D8B030D-6E8A-4147-A177-3AD203B41FA5}">
                      <a16:colId xmlns:a16="http://schemas.microsoft.com/office/drawing/2014/main" val="4014479688"/>
                    </a:ext>
                  </a:extLst>
                </a:gridCol>
                <a:gridCol w="2244658">
                  <a:extLst>
                    <a:ext uri="{9D8B030D-6E8A-4147-A177-3AD203B41FA5}">
                      <a16:colId xmlns:a16="http://schemas.microsoft.com/office/drawing/2014/main" val="2220799142"/>
                    </a:ext>
                  </a:extLst>
                </a:gridCol>
              </a:tblGrid>
              <a:tr h="142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Aspect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K-means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K-medoids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K-modes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991146479"/>
                  </a:ext>
                </a:extLst>
              </a:tr>
              <a:tr h="57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Data type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Numeric/continuous</a:t>
                      </a:r>
                      <a:r>
                        <a:rPr lang="en-US" sz="1100"/>
                        <a:t> features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Any type for which a distance is defined (numeric, categorical, string, edit distance, etc.)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Categorical</a:t>
                      </a:r>
                      <a:r>
                        <a:rPr lang="en-US" sz="1100"/>
                        <a:t> features (discrete labels)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408645489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Cluster “center”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Centroid = mean</a:t>
                      </a:r>
                      <a:r>
                        <a:rPr lang="en-US" sz="1100"/>
                        <a:t> of points (not necessarily a real data point)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Medoid = actual data point</a:t>
                      </a:r>
                      <a:r>
                        <a:rPr lang="en-US" sz="1100"/>
                        <a:t> minimizing total distance to others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Mode = most frequent category</a:t>
                      </a:r>
                      <a:r>
                        <a:rPr lang="en-US" sz="1100"/>
                        <a:t> per feature (component-wise)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112503565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Dissimilarity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Typically </a:t>
                      </a:r>
                      <a:r>
                        <a:rPr lang="en-US" sz="1100" b="1"/>
                        <a:t>Euclidean</a:t>
                      </a:r>
                      <a:r>
                        <a:rPr lang="en-US" sz="1100"/>
                        <a:t> (squared distance)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Arbitrary</a:t>
                      </a:r>
                      <a:r>
                        <a:rPr lang="en-US" sz="1100"/>
                        <a:t> distance (Euclidean, Manhattan, DTW, edit distance…)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Matching/Hamming</a:t>
                      </a:r>
                      <a:r>
                        <a:rPr lang="en-US" sz="1100"/>
                        <a:t> dissimilarity (0 if equal, 1 if not)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402207838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Objective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Minimize </a:t>
                      </a:r>
                      <a:r>
                        <a:rPr lang="en-US" sz="1100" b="1"/>
                        <a:t>sum of squared distances</a:t>
                      </a:r>
                      <a:r>
                        <a:rPr lang="en-US" sz="1100"/>
                        <a:t> (intra-cluster variance)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Minimize </a:t>
                      </a:r>
                      <a:r>
                        <a:rPr lang="en-US" sz="1100" b="1"/>
                        <a:t>sum of distances to medoids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Minimize </a:t>
                      </a:r>
                      <a:r>
                        <a:rPr lang="en-US" sz="1100" b="1"/>
                        <a:t>sum of mismatches</a:t>
                      </a:r>
                      <a:r>
                        <a:rPr lang="en-US" sz="1100"/>
                        <a:t> to modes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979513865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Outliers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Sensitive</a:t>
                      </a:r>
                      <a:r>
                        <a:rPr lang="en-US" sz="1100"/>
                        <a:t> (means get pulled)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Robust(er)</a:t>
                      </a:r>
                      <a:r>
                        <a:rPr lang="en-US" sz="1100"/>
                        <a:t> (medoid is a real point, less pulled)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Robust to numeric outliers (not used); can be sensitive to rare categories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437337457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Shape assumption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Works best for </a:t>
                      </a:r>
                      <a:r>
                        <a:rPr lang="en-US" sz="1100" b="1"/>
                        <a:t>spherical</a:t>
                      </a:r>
                      <a:r>
                        <a:rPr lang="en-US" sz="1100"/>
                        <a:t>, similarly sized clusters after scaling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More flexible (depends on chosen distance)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Categorical analog of k-means; no geometric shape assumption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45212212"/>
                  </a:ext>
                </a:extLst>
              </a:tr>
              <a:tr h="677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Per-iteration cost (rough)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/>
                        <a:t>O(n·k·d)</a:t>
                      </a:r>
                      <a:r>
                        <a:rPr lang="pt-BR" sz="1100"/>
                        <a:t> + updates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Higher</a:t>
                      </a:r>
                      <a:r>
                        <a:rPr lang="en-US" sz="1100"/>
                        <a:t> than k-means; PAM ~ </a:t>
                      </a:r>
                      <a:r>
                        <a:rPr lang="en-US" sz="1100" b="1"/>
                        <a:t>O(k·(n−k)²)</a:t>
                      </a:r>
                      <a:r>
                        <a:rPr lang="en-US" sz="1100"/>
                        <a:t> (CLARA/CLARANS are faster approximations)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/>
                        <a:t>O(n·k·p)</a:t>
                      </a:r>
                      <a:r>
                        <a:rPr lang="pt-BR" sz="1100"/>
                        <a:t> (p = #categorical features)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414443124"/>
                  </a:ext>
                </a:extLst>
              </a:tr>
              <a:tr h="35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Initialization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Often </a:t>
                      </a:r>
                      <a:r>
                        <a:rPr lang="en-US" sz="1100" b="1"/>
                        <a:t>k-means++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Medoid heuristics or k-means++-style on distances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Random modes or </a:t>
                      </a:r>
                      <a:r>
                        <a:rPr lang="en-US" sz="1100" b="1"/>
                        <a:t>k-modes++</a:t>
                      </a:r>
                      <a:endParaRPr lang="en-US" sz="1100"/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2508928669"/>
                  </a:ext>
                </a:extLst>
              </a:tr>
              <a:tr h="463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Common variants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Mini-batch k-means, kernel k-means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PAM, CLARA, CLARANS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k-modes with frequency weights; </a:t>
                      </a:r>
                      <a:r>
                        <a:rPr lang="en-US" sz="1100" b="1" dirty="0"/>
                        <a:t>k-prototypes</a:t>
                      </a:r>
                      <a:r>
                        <a:rPr lang="en-US" sz="1100" dirty="0"/>
                        <a:t> (for mixed data)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110367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23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D87D-17A7-32BB-5CFC-F105C7FD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A1F523-6A10-D2BB-AD19-4569F171A5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1366" y="301825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When to use which!!!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A4AE3-DCF2-4865-8D20-7AF4E6D77B26}"/>
              </a:ext>
            </a:extLst>
          </p:cNvPr>
          <p:cNvSpPr txBox="1"/>
          <p:nvPr/>
        </p:nvSpPr>
        <p:spPr>
          <a:xfrm>
            <a:off x="111868" y="2204036"/>
            <a:ext cx="892026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/>
              <a:t>Use K-means</a:t>
            </a:r>
            <a:r>
              <a:rPr lang="en-US" sz="1400" dirty="0"/>
              <a:t> when features are numeric, scaled, and you expect roughly compact (spherical) clusters. Fast and simple; watch out for outliers and scaling.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/>
              <a:t>Use K-medoids</a:t>
            </a:r>
            <a:r>
              <a:rPr lang="en-US" sz="1400" dirty="0"/>
              <a:t> when you want robustness or need a </a:t>
            </a:r>
            <a:r>
              <a:rPr lang="en-US" sz="1400" b="1" dirty="0"/>
              <a:t>custom distance</a:t>
            </a:r>
            <a:r>
              <a:rPr lang="en-US" sz="1400" dirty="0"/>
              <a:t> (e.g., Manhattan, DTW for time series, edit distance for strings) and/or you want a </a:t>
            </a:r>
            <a:r>
              <a:rPr lang="en-US" sz="1400" b="1" dirty="0"/>
              <a:t>representative example</a:t>
            </a:r>
            <a:r>
              <a:rPr lang="en-US" sz="1400" dirty="0"/>
              <a:t> as the center.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/>
              <a:t>Use K-modes</a:t>
            </a:r>
            <a:r>
              <a:rPr lang="en-US" sz="1400" dirty="0"/>
              <a:t> when features are </a:t>
            </a:r>
            <a:r>
              <a:rPr lang="en-US" sz="1400" b="1" dirty="0"/>
              <a:t>purely categorical</a:t>
            </a:r>
            <a:r>
              <a:rPr lang="en-US" sz="1400" dirty="0"/>
              <a:t> (e.g., color = {red, blue}, brand = {A,B,…}).</a:t>
            </a:r>
            <a:br>
              <a:rPr lang="en-US" sz="1400" dirty="0"/>
            </a:br>
            <a:r>
              <a:rPr lang="en-US" sz="1400" dirty="0"/>
              <a:t>For </a:t>
            </a:r>
            <a:r>
              <a:rPr lang="en-US" sz="1400" b="1" dirty="0"/>
              <a:t>mixed numeric + categorical</a:t>
            </a:r>
            <a:r>
              <a:rPr lang="en-US" sz="1400" dirty="0"/>
              <a:t>, use </a:t>
            </a:r>
            <a:r>
              <a:rPr lang="en-US" sz="1400" b="1" dirty="0"/>
              <a:t>k-prototypes</a:t>
            </a:r>
            <a:r>
              <a:rPr lang="en-US" sz="1400" dirty="0"/>
              <a:t> (modes for categorical + means for numeric).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2000" b="1" dirty="0"/>
              <a:t>Practical tips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Always </a:t>
            </a:r>
            <a:r>
              <a:rPr lang="en-US" sz="1400" b="1" dirty="0"/>
              <a:t>standardize/normalize numeric features</a:t>
            </a:r>
            <a:r>
              <a:rPr lang="en-US" sz="1400" dirty="0"/>
              <a:t> before K-means/K-medoids (if using numeric distances).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Try several </a:t>
            </a:r>
            <a:r>
              <a:rPr lang="en-US" sz="1400" b="1" dirty="0"/>
              <a:t>k</a:t>
            </a:r>
            <a:r>
              <a:rPr lang="en-US" sz="1400" dirty="0"/>
              <a:t> and seeds; evaluate with internal indices (e.g., silhouette) and </a:t>
            </a:r>
            <a:r>
              <a:rPr lang="en-US" sz="1400" b="1" dirty="0"/>
              <a:t>stability checks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For large n with K-medoids, prefer </a:t>
            </a:r>
            <a:r>
              <a:rPr lang="en-US" sz="1400" b="1" dirty="0"/>
              <a:t>CLARA/CLARANS</a:t>
            </a:r>
            <a:r>
              <a:rPr lang="en-US" sz="1400" dirty="0"/>
              <a:t> (sampling/heuristic) to keep runtime manageable.</a:t>
            </a:r>
          </a:p>
        </p:txBody>
      </p:sp>
    </p:spTree>
    <p:extLst>
      <p:ext uri="{BB962C8B-B14F-4D97-AF65-F5344CB8AC3E}">
        <p14:creationId xmlns:p14="http://schemas.microsoft.com/office/powerpoint/2010/main" val="2324008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5346" y="103086"/>
            <a:ext cx="8218186" cy="1028319"/>
          </a:xfrm>
          <a:prstGeom prst="rect">
            <a:avLst/>
          </a:prstGeom>
        </p:spPr>
        <p:txBody>
          <a:bodyPr vert="horz" wrap="square" lIns="0" tIns="347814" rIns="0" bIns="0" rtlCol="0" anchor="ctr">
            <a:spAutoFit/>
          </a:bodyPr>
          <a:lstStyle/>
          <a:p>
            <a:pPr marL="773615" algn="l"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Example: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Vector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quantization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217" y="1679335"/>
            <a:ext cx="2433052" cy="2429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0571" y="1679335"/>
            <a:ext cx="2433052" cy="2429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9924" y="1679335"/>
            <a:ext cx="2433052" cy="2429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382" y="4289834"/>
            <a:ext cx="7714694" cy="1405503"/>
          </a:xfrm>
          <a:prstGeom prst="rect">
            <a:avLst/>
          </a:prstGeom>
        </p:spPr>
        <p:txBody>
          <a:bodyPr vert="horz" wrap="square" lIns="0" tIns="6975" rIns="0" bIns="0" rtlCol="0">
            <a:spAutoFit/>
          </a:bodyPr>
          <a:lstStyle/>
          <a:p>
            <a:pPr marL="12682" marR="5073" algn="just">
              <a:lnSpc>
                <a:spcPct val="103899"/>
              </a:lnSpc>
              <a:spcBef>
                <a:spcPts val="55"/>
              </a:spcBef>
            </a:pPr>
            <a:r>
              <a:rPr sz="1100" spc="254" dirty="0">
                <a:solidFill>
                  <a:srgbClr val="0072BC"/>
                </a:solidFill>
                <a:latin typeface="Georgia"/>
                <a:cs typeface="Georgia"/>
              </a:rPr>
              <a:t>FIGURE</a:t>
            </a:r>
            <a:r>
              <a:rPr sz="1100" spc="444" dirty="0">
                <a:solidFill>
                  <a:srgbClr val="0072BC"/>
                </a:solidFill>
                <a:latin typeface="Georgia"/>
                <a:cs typeface="Georgia"/>
              </a:rPr>
              <a:t> </a:t>
            </a:r>
            <a:r>
              <a:rPr sz="1100" spc="114" dirty="0">
                <a:solidFill>
                  <a:srgbClr val="0072BC"/>
                </a:solidFill>
                <a:latin typeface="Georgia"/>
                <a:cs typeface="Georgia"/>
              </a:rPr>
              <a:t>14.9.</a:t>
            </a:r>
            <a:r>
              <a:rPr sz="1100" spc="340" dirty="0">
                <a:solidFill>
                  <a:srgbClr val="0072BC"/>
                </a:solidFill>
                <a:latin typeface="Georgia"/>
                <a:cs typeface="Georgia"/>
              </a:rPr>
              <a:t> </a:t>
            </a:r>
            <a:r>
              <a:rPr sz="1100" i="1" spc="175" dirty="0">
                <a:solidFill>
                  <a:srgbClr val="231F20"/>
                </a:solidFill>
                <a:latin typeface="Calibri"/>
                <a:cs typeface="Calibri"/>
              </a:rPr>
              <a:t>Sir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90" dirty="0">
                <a:solidFill>
                  <a:srgbClr val="231F20"/>
                </a:solidFill>
                <a:latin typeface="Calibri"/>
                <a:cs typeface="Calibri"/>
              </a:rPr>
              <a:t>Ronald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20" dirty="0">
                <a:solidFill>
                  <a:srgbClr val="231F20"/>
                </a:solidFill>
                <a:latin typeface="Calibri"/>
                <a:cs typeface="Calibri"/>
              </a:rPr>
              <a:t>A.</a:t>
            </a:r>
            <a:r>
              <a:rPr sz="1100" i="1" spc="38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25" dirty="0">
                <a:solidFill>
                  <a:srgbClr val="231F20"/>
                </a:solidFill>
                <a:latin typeface="Calibri"/>
                <a:cs typeface="Calibri"/>
              </a:rPr>
              <a:t>Fisher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(</a:t>
            </a:r>
            <a:r>
              <a:rPr sz="1100" spc="60" dirty="0">
                <a:solidFill>
                  <a:srgbClr val="231F20"/>
                </a:solidFill>
                <a:latin typeface="Calibri"/>
                <a:cs typeface="Calibri"/>
              </a:rPr>
              <a:t>1890</a:t>
            </a:r>
            <a:r>
              <a:rPr sz="1100" spc="11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Lucida Sans Unicode"/>
                <a:cs typeface="Lucida Sans Unicode"/>
              </a:rPr>
              <a:t>−</a:t>
            </a:r>
            <a:r>
              <a:rPr sz="1100" spc="-3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Calibri"/>
                <a:cs typeface="Calibri"/>
              </a:rPr>
              <a:t>1962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)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0" dirty="0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5" dirty="0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sz="1100" i="1" spc="38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sz="1100" i="1" spc="384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38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founders</a:t>
            </a:r>
            <a:r>
              <a:rPr sz="1100" i="1" spc="3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sz="1100" i="1" spc="30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31F20"/>
                </a:solidFill>
                <a:latin typeface="Calibri"/>
                <a:cs typeface="Calibri"/>
              </a:rPr>
              <a:t>modern</a:t>
            </a:r>
            <a:r>
              <a:rPr sz="1100" i="1" spc="30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0" dirty="0">
                <a:solidFill>
                  <a:srgbClr val="231F20"/>
                </a:solidFill>
                <a:latin typeface="Calibri"/>
                <a:cs typeface="Calibri"/>
              </a:rPr>
              <a:t>day</a:t>
            </a:r>
            <a:r>
              <a:rPr sz="1100" i="1" spc="30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0" dirty="0">
                <a:solidFill>
                  <a:srgbClr val="231F20"/>
                </a:solidFill>
                <a:latin typeface="Calibri"/>
                <a:cs typeface="Calibri"/>
              </a:rPr>
              <a:t>statistics,</a:t>
            </a:r>
            <a:r>
              <a:rPr sz="1100" i="1" spc="30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5" dirty="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sz="1100" i="1" spc="30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whom</a:t>
            </a:r>
            <a:r>
              <a:rPr sz="1100" i="1" spc="30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sz="1100" i="1" spc="30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231F20"/>
                </a:solidFill>
                <a:latin typeface="Calibri"/>
                <a:cs typeface="Calibri"/>
              </a:rPr>
              <a:t>owe</a:t>
            </a:r>
            <a:r>
              <a:rPr sz="1100" i="1" spc="30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maximum-</a:t>
            </a:r>
            <a:r>
              <a:rPr sz="1100" i="1" spc="45" dirty="0">
                <a:solidFill>
                  <a:srgbClr val="231F20"/>
                </a:solidFill>
                <a:latin typeface="Calibri"/>
                <a:cs typeface="Calibri"/>
              </a:rPr>
              <a:t>likelihood,</a:t>
            </a:r>
            <a:r>
              <a:rPr sz="1100" i="1" spc="2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su</a:t>
            </a:r>
            <a:r>
              <a:rPr sz="1100" spc="75" dirty="0">
                <a:solidFill>
                  <a:srgbClr val="231F20"/>
                </a:solidFill>
                <a:latin typeface="Calibri"/>
                <a:cs typeface="Calibri"/>
              </a:rPr>
              <a:t>ffi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ciency,</a:t>
            </a:r>
            <a:r>
              <a:rPr sz="1100" i="1" spc="30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85" dirty="0">
                <a:solidFill>
                  <a:srgbClr val="231F20"/>
                </a:solidFill>
                <a:latin typeface="Calibri"/>
                <a:cs typeface="Calibri"/>
              </a:rPr>
              <a:t>many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5" dirty="0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31F20"/>
                </a:solidFill>
                <a:latin typeface="Calibri"/>
                <a:cs typeface="Calibri"/>
              </a:rPr>
              <a:t>fundamental</a:t>
            </a:r>
            <a:r>
              <a:rPr sz="1100" i="1" spc="9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concepts.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image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9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5" dirty="0">
                <a:solidFill>
                  <a:srgbClr val="231F20"/>
                </a:solidFill>
                <a:latin typeface="Calibri"/>
                <a:cs typeface="Calibri"/>
              </a:rPr>
              <a:t>left</a:t>
            </a:r>
            <a:r>
              <a:rPr sz="1100" i="1" spc="9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05" dirty="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sz="1100" i="1" spc="9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sz="1100" i="1" spc="9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31F20"/>
                </a:solidFill>
                <a:latin typeface="Calibri"/>
                <a:cs typeface="Calibri"/>
              </a:rPr>
              <a:t>1024</a:t>
            </a:r>
            <a:r>
              <a:rPr sz="1100" spc="35" dirty="0">
                <a:solidFill>
                  <a:srgbClr val="231F20"/>
                </a:solidFill>
                <a:latin typeface="Lucida Sans Unicode"/>
                <a:cs typeface="Lucida Sans Unicode"/>
              </a:rPr>
              <a:t>×</a:t>
            </a:r>
            <a:r>
              <a:rPr sz="1100" spc="35" dirty="0">
                <a:solidFill>
                  <a:srgbClr val="231F20"/>
                </a:solidFill>
                <a:latin typeface="Calibri"/>
                <a:cs typeface="Calibri"/>
              </a:rPr>
              <a:t>1024</a:t>
            </a:r>
            <a:r>
              <a:rPr sz="1100" spc="9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grayscale</a:t>
            </a:r>
            <a:r>
              <a:rPr sz="1100" i="1" spc="1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image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5" dirty="0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Calibri"/>
                <a:cs typeface="Calibri"/>
              </a:rPr>
              <a:t>8</a:t>
            </a:r>
            <a:r>
              <a:rPr sz="1100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bits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per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0" dirty="0">
                <a:solidFill>
                  <a:srgbClr val="231F20"/>
                </a:solidFill>
                <a:latin typeface="Calibri"/>
                <a:cs typeface="Calibri"/>
              </a:rPr>
              <a:t>pixel.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0" dirty="0">
                <a:solidFill>
                  <a:srgbClr val="231F20"/>
                </a:solidFill>
                <a:latin typeface="Calibri"/>
                <a:cs typeface="Calibri"/>
              </a:rPr>
              <a:t>center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image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05" dirty="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5" dirty="0">
                <a:solidFill>
                  <a:srgbClr val="231F20"/>
                </a:solidFill>
                <a:latin typeface="Calibri"/>
                <a:cs typeface="Calibri"/>
              </a:rPr>
              <a:t>result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sz="1100" i="1" spc="22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Calibri"/>
                <a:cs typeface="Calibri"/>
              </a:rPr>
              <a:t>2</a:t>
            </a:r>
            <a:r>
              <a:rPr sz="1100" spc="-2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Lucida Sans Unicode"/>
                <a:cs typeface="Lucida Sans Unicode"/>
              </a:rPr>
              <a:t>×</a:t>
            </a:r>
            <a:r>
              <a:rPr sz="1100" spc="-17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Calibri"/>
                <a:cs typeface="Calibri"/>
              </a:rPr>
              <a:t>2</a:t>
            </a:r>
            <a:r>
              <a:rPr sz="1100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31F20"/>
                </a:solidFill>
                <a:latin typeface="Calibri"/>
                <a:cs typeface="Calibri"/>
              </a:rPr>
              <a:t>block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210" dirty="0">
                <a:solidFill>
                  <a:srgbClr val="231F20"/>
                </a:solidFill>
                <a:latin typeface="Calibri"/>
                <a:cs typeface="Calibri"/>
              </a:rPr>
              <a:t>VQ,</a:t>
            </a:r>
            <a:r>
              <a:rPr sz="1100" i="1" spc="229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5" dirty="0">
                <a:solidFill>
                  <a:srgbClr val="231F20"/>
                </a:solidFill>
                <a:latin typeface="Calibri"/>
                <a:cs typeface="Calibri"/>
              </a:rPr>
              <a:t>using</a:t>
            </a:r>
            <a:r>
              <a:rPr sz="1100" i="1" spc="1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Calibri"/>
                <a:cs typeface="Calibri"/>
              </a:rPr>
              <a:t>200</a:t>
            </a:r>
            <a:r>
              <a:rPr sz="1100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231F20"/>
                </a:solidFill>
                <a:latin typeface="Calibri"/>
                <a:cs typeface="Calibri"/>
              </a:rPr>
              <a:t>code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31F20"/>
                </a:solidFill>
                <a:latin typeface="Calibri"/>
                <a:cs typeface="Calibri"/>
              </a:rPr>
              <a:t>vectors,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compression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rate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15" dirty="0">
                <a:solidFill>
                  <a:srgbClr val="231F20"/>
                </a:solidFill>
                <a:latin typeface="Calibri"/>
                <a:cs typeface="Calibri"/>
              </a:rPr>
              <a:t>1</a:t>
            </a:r>
            <a:r>
              <a:rPr sz="1100" spc="15" dirty="0">
                <a:solidFill>
                  <a:srgbClr val="231F20"/>
                </a:solidFill>
                <a:latin typeface="Arial MT"/>
                <a:cs typeface="Arial MT"/>
              </a:rPr>
              <a:t>.</a:t>
            </a:r>
            <a:r>
              <a:rPr sz="1100" spc="15" dirty="0">
                <a:solidFill>
                  <a:srgbClr val="231F20"/>
                </a:solidFill>
                <a:latin typeface="Calibri"/>
                <a:cs typeface="Calibri"/>
              </a:rPr>
              <a:t>9</a:t>
            </a:r>
            <a:r>
              <a:rPr sz="1100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bits/pixel.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155" dirty="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right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image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5" dirty="0">
                <a:solidFill>
                  <a:srgbClr val="231F20"/>
                </a:solidFill>
                <a:latin typeface="Calibri"/>
                <a:cs typeface="Calibri"/>
              </a:rPr>
              <a:t>uses</a:t>
            </a:r>
            <a:r>
              <a:rPr sz="1100" i="1" spc="3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only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5" dirty="0">
                <a:solidFill>
                  <a:srgbClr val="231F20"/>
                </a:solidFill>
                <a:latin typeface="Calibri"/>
                <a:cs typeface="Calibri"/>
              </a:rPr>
              <a:t>four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231F20"/>
                </a:solidFill>
                <a:latin typeface="Calibri"/>
                <a:cs typeface="Calibri"/>
              </a:rPr>
              <a:t>code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31F20"/>
                </a:solidFill>
                <a:latin typeface="Calibri"/>
                <a:cs typeface="Calibri"/>
              </a:rPr>
              <a:t>vectors,</a:t>
            </a:r>
            <a:r>
              <a:rPr sz="1100" i="1" spc="25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40" dirty="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31F20"/>
                </a:solidFill>
                <a:latin typeface="Calibri"/>
                <a:cs typeface="Calibri"/>
              </a:rPr>
              <a:t>compression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rate</a:t>
            </a:r>
            <a:r>
              <a:rPr sz="1100" i="1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sz="1100" i="1" spc="24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31F20"/>
                </a:solidFill>
                <a:latin typeface="Calibri"/>
                <a:cs typeface="Calibri"/>
              </a:rPr>
              <a:t>0</a:t>
            </a:r>
            <a:r>
              <a:rPr sz="1100" spc="20" dirty="0">
                <a:solidFill>
                  <a:srgbClr val="231F20"/>
                </a:solidFill>
                <a:latin typeface="Arial MT"/>
                <a:cs typeface="Arial MT"/>
              </a:rPr>
              <a:t>.</a:t>
            </a:r>
            <a:r>
              <a:rPr sz="1100" spc="20" dirty="0">
                <a:solidFill>
                  <a:srgbClr val="231F20"/>
                </a:solidFill>
                <a:latin typeface="Calibri"/>
                <a:cs typeface="Calibri"/>
              </a:rPr>
              <a:t>50</a:t>
            </a:r>
            <a:r>
              <a:rPr sz="1100" spc="24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1100" i="1" spc="70" dirty="0">
                <a:solidFill>
                  <a:srgbClr val="231F20"/>
                </a:solidFill>
                <a:latin typeface="Calibri"/>
                <a:cs typeface="Calibri"/>
              </a:rPr>
              <a:t>bits/pixel</a:t>
            </a:r>
            <a:endParaRPr sz="1100" dirty="0">
              <a:latin typeface="Calibri"/>
              <a:cs typeface="Calibri"/>
            </a:endParaRPr>
          </a:p>
          <a:p>
            <a:pPr>
              <a:spcBef>
                <a:spcPts val="1358"/>
              </a:spcBef>
            </a:pPr>
            <a:endParaRPr sz="1100" dirty="0">
              <a:latin typeface="Calibri"/>
              <a:cs typeface="Calibri"/>
            </a:endParaRPr>
          </a:p>
          <a:p>
            <a:pPr marL="4510432"/>
            <a:r>
              <a:rPr sz="1100" dirty="0">
                <a:latin typeface="Arial MT"/>
                <a:cs typeface="Arial MT"/>
              </a:rPr>
              <a:t>[Figure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Hastie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et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al.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book]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D7647-7035-1959-032A-4C191F3B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83A04B-468B-0A73-12E1-8DBBEC6418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5346" y="103086"/>
            <a:ext cx="8218186" cy="1028319"/>
          </a:xfrm>
          <a:prstGeom prst="rect">
            <a:avLst/>
          </a:prstGeom>
        </p:spPr>
        <p:txBody>
          <a:bodyPr vert="horz" wrap="square" lIns="0" tIns="347814" rIns="0" bIns="0" rtlCol="0" anchor="ctr">
            <a:spAutoFit/>
          </a:bodyPr>
          <a:lstStyle/>
          <a:p>
            <a:pPr marL="773615" algn="l"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</a:rPr>
              <a:t>What is Vector Quantization?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452EA8-8E86-F196-001C-D2634E657974}"/>
              </a:ext>
            </a:extLst>
          </p:cNvPr>
          <p:cNvSpPr txBox="1">
            <a:spLocks/>
          </p:cNvSpPr>
          <p:nvPr/>
        </p:nvSpPr>
        <p:spPr>
          <a:xfrm>
            <a:off x="886700" y="3117262"/>
            <a:ext cx="7861666" cy="2667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4500" b="0" i="0" kern="120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n-lt"/>
              </a:rPr>
              <a:t>Technique that maps a large set of vectors into a smaller set of representative vectors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n-lt"/>
              </a:rPr>
              <a:t>These representative vectors are called codebook vectors (or prototypes)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n-lt"/>
              </a:rPr>
              <a:t>Purpose: reduce data complexity and storage while preserving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n-lt"/>
              </a:rPr>
              <a:t>Widely used in compression, clustering, and pattern recognition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31B83-6410-F190-0C1D-C3F0C407082C}"/>
              </a:ext>
            </a:extLst>
          </p:cNvPr>
          <p:cNvSpPr txBox="1"/>
          <p:nvPr/>
        </p:nvSpPr>
        <p:spPr>
          <a:xfrm>
            <a:off x="1248833" y="1708835"/>
            <a:ext cx="66463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volini" panose="020B0604020202020204" pitchFamily="34" charset="0"/>
                <a:cs typeface="Cavolini" panose="020B0604020202020204" pitchFamily="34" charset="0"/>
              </a:rPr>
              <a:t>Vector Quantization = Clustering for compression</a:t>
            </a:r>
          </a:p>
        </p:txBody>
      </p:sp>
    </p:spTree>
    <p:extLst>
      <p:ext uri="{BB962C8B-B14F-4D97-AF65-F5344CB8AC3E}">
        <p14:creationId xmlns:p14="http://schemas.microsoft.com/office/powerpoint/2010/main" val="977117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B5BF-C55A-4949-8DD2-CE68726A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C08F63-3540-AC87-2C6E-AA3BAC011B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5346" y="103086"/>
            <a:ext cx="8218186" cy="1028319"/>
          </a:xfrm>
          <a:prstGeom prst="rect">
            <a:avLst/>
          </a:prstGeom>
        </p:spPr>
        <p:txBody>
          <a:bodyPr vert="horz" wrap="square" lIns="0" tIns="347814" rIns="0" bIns="0" rtlCol="0" anchor="ctr">
            <a:spAutoFit/>
          </a:bodyPr>
          <a:lstStyle/>
          <a:p>
            <a:pPr marL="773615" algn="l"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</a:rPr>
              <a:t>How It Works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515B55-7CC5-98F6-A3F1-3E66B3AEDEF0}"/>
              </a:ext>
            </a:extLst>
          </p:cNvPr>
          <p:cNvSpPr txBox="1">
            <a:spLocks/>
          </p:cNvSpPr>
          <p:nvPr/>
        </p:nvSpPr>
        <p:spPr>
          <a:xfrm>
            <a:off x="632700" y="1773537"/>
            <a:ext cx="8113366" cy="2667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4500" b="0" i="0" kern="120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1. Training phase: Cluster data (e.g., with K-Means) to create codebook vectors</a:t>
            </a:r>
          </a:p>
          <a:p>
            <a:pPr marL="0" indent="0">
              <a:buNone/>
            </a:pPr>
            <a:r>
              <a:rPr lang="en-US" sz="2000" dirty="0"/>
              <a:t>2. Encoding: Replace each data point with nearest code vector’s index</a:t>
            </a:r>
          </a:p>
          <a:p>
            <a:pPr marL="0" indent="0">
              <a:buNone/>
            </a:pPr>
            <a:r>
              <a:rPr lang="en-US" sz="2000" dirty="0"/>
              <a:t>3. Decoding: Reconstruct data by replacing index with its code vector</a:t>
            </a:r>
          </a:p>
          <a:p>
            <a:pPr marL="0" indent="0">
              <a:buNone/>
            </a:pPr>
            <a:r>
              <a:rPr lang="en-US" sz="2000" dirty="0"/>
              <a:t>4.Compact representation with some information loss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8E1D5-88E1-D1A6-0302-9F229241C5E2}"/>
              </a:ext>
            </a:extLst>
          </p:cNvPr>
          <p:cNvSpPr txBox="1"/>
          <p:nvPr/>
        </p:nvSpPr>
        <p:spPr>
          <a:xfrm>
            <a:off x="975116" y="4110338"/>
            <a:ext cx="71937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- VQ is essentially K-Means clustering repurposed for compression</a:t>
            </a:r>
          </a:p>
          <a:p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- Cluster centers = codebook vectors</a:t>
            </a:r>
          </a:p>
          <a:p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- Each data vector is quantized to nearest codebook vector</a:t>
            </a:r>
          </a:p>
        </p:txBody>
      </p:sp>
    </p:spTree>
    <p:extLst>
      <p:ext uri="{BB962C8B-B14F-4D97-AF65-F5344CB8AC3E}">
        <p14:creationId xmlns:p14="http://schemas.microsoft.com/office/powerpoint/2010/main" val="3515207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28D1-5F4F-B11C-B4F2-22444EF8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EC6702-15E8-05CB-9F69-34965BD2E5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5346" y="103086"/>
            <a:ext cx="8218186" cy="1028319"/>
          </a:xfrm>
          <a:prstGeom prst="rect">
            <a:avLst/>
          </a:prstGeom>
        </p:spPr>
        <p:txBody>
          <a:bodyPr vert="horz" wrap="square" lIns="0" tIns="347814" rIns="0" bIns="0" rtlCol="0" anchor="ctr">
            <a:spAutoFit/>
          </a:bodyPr>
          <a:lstStyle/>
          <a:p>
            <a:pPr marL="773615" algn="l"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</a:rPr>
              <a:t>Application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47AE42-8F5F-B187-D234-419CF7723A22}"/>
              </a:ext>
            </a:extLst>
          </p:cNvPr>
          <p:cNvSpPr txBox="1">
            <a:spLocks/>
          </p:cNvSpPr>
          <p:nvPr/>
        </p:nvSpPr>
        <p:spPr>
          <a:xfrm>
            <a:off x="776633" y="1888068"/>
            <a:ext cx="8113366" cy="1608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4500" b="0" i="0" kern="120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Imagine millions of 2D points</a:t>
            </a:r>
          </a:p>
          <a:p>
            <a:r>
              <a:rPr lang="en-US" sz="2000" dirty="0"/>
              <a:t>Instead of storing all, cluster into 100 regions</a:t>
            </a:r>
          </a:p>
          <a:p>
            <a:r>
              <a:rPr lang="en-US" sz="2000" dirty="0"/>
              <a:t>Each region is represented by its centroid (a code vector)</a:t>
            </a:r>
          </a:p>
          <a:p>
            <a:r>
              <a:rPr lang="en-US" sz="2000" dirty="0"/>
              <a:t>Store 100 centroids + assignments instead of all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6D7A0-FB55-EB9C-80FC-8F9008F789E8}"/>
              </a:ext>
            </a:extLst>
          </p:cNvPr>
          <p:cNvSpPr txBox="1">
            <a:spLocks/>
          </p:cNvSpPr>
          <p:nvPr/>
        </p:nvSpPr>
        <p:spPr>
          <a:xfrm>
            <a:off x="776633" y="3945467"/>
            <a:ext cx="8229600" cy="20150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4500" b="0" i="0" kern="120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sz="2000" dirty="0"/>
              <a:t>- Image compression (reduce pixel values into representative colors)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- Speech coding (audio frames represented with codebook sounds)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- Pattern recognition (simplify feature spaces)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- Neural networks (product quantization in ANN search)</a:t>
            </a:r>
          </a:p>
        </p:txBody>
      </p:sp>
    </p:spTree>
    <p:extLst>
      <p:ext uri="{BB962C8B-B14F-4D97-AF65-F5344CB8AC3E}">
        <p14:creationId xmlns:p14="http://schemas.microsoft.com/office/powerpoint/2010/main" val="501325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E70D-BF45-C62E-989C-A68BD28B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9AD19-9F37-9062-20F2-0398C0AD7A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5346" y="103086"/>
            <a:ext cx="8218186" cy="1028319"/>
          </a:xfrm>
          <a:prstGeom prst="rect">
            <a:avLst/>
          </a:prstGeom>
        </p:spPr>
        <p:txBody>
          <a:bodyPr vert="horz" wrap="square" lIns="0" tIns="347814" rIns="0" bIns="0" rtlCol="0" anchor="ctr">
            <a:spAutoFit/>
          </a:bodyPr>
          <a:lstStyle/>
          <a:p>
            <a:pPr marL="773615">
              <a:spcBef>
                <a:spcPts val="100"/>
              </a:spcBef>
            </a:pPr>
            <a:r>
              <a:rPr lang="en-US" spc="-10" dirty="0">
                <a:solidFill>
                  <a:schemeClr val="bg1"/>
                </a:solidFill>
              </a:rPr>
              <a:t>On Class EXERCISE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D382A-283E-7DE9-ADEF-62C67EC09A74}"/>
              </a:ext>
            </a:extLst>
          </p:cNvPr>
          <p:cNvSpPr txBox="1"/>
          <p:nvPr/>
        </p:nvSpPr>
        <p:spPr>
          <a:xfrm>
            <a:off x="1710267" y="3105834"/>
            <a:ext cx="5723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colab.research.google.com</a:t>
            </a:r>
            <a:r>
              <a:rPr lang="en-US" dirty="0">
                <a:hlinkClick r:id="rId2"/>
              </a:rPr>
              <a:t>/drive/1o-NvOvMF10W6u3FNGegx-dUKeXmYr3sg?usp=sharing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23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CB96C09-6346-A91E-C5F2-827E54345EE3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Thank You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D78D4-97B6-F989-CC08-19CEAFAF6537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91890-EFE8-4C45-FC37-66D139C08713}"/>
              </a:ext>
            </a:extLst>
          </p:cNvPr>
          <p:cNvSpPr txBox="1"/>
          <p:nvPr/>
        </p:nvSpPr>
        <p:spPr>
          <a:xfrm>
            <a:off x="304800" y="1838354"/>
            <a:ext cx="624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Reference:</a:t>
            </a:r>
            <a:endParaRPr lang="en-US" sz="16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5DDF62-93E7-C815-6FA0-28D0D81668BF}"/>
              </a:ext>
            </a:extLst>
          </p:cNvPr>
          <p:cNvSpPr txBox="1">
            <a:spLocks/>
          </p:cNvSpPr>
          <p:nvPr/>
        </p:nvSpPr>
        <p:spPr>
          <a:xfrm>
            <a:off x="381550" y="2828058"/>
            <a:ext cx="7086049" cy="60094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2200" b="0" i="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l">
              <a:spcBef>
                <a:spcPts val="525"/>
              </a:spcBef>
            </a:pPr>
            <a:r>
              <a:rPr lang="en-US" sz="1600" dirty="0">
                <a:solidFill>
                  <a:schemeClr val="tx1"/>
                </a:solidFill>
              </a:rPr>
              <a:t>Credits: </a:t>
            </a:r>
            <a:r>
              <a:rPr lang="en-US" sz="1600" spc="-20" dirty="0" err="1">
                <a:solidFill>
                  <a:schemeClr val="tx1"/>
                </a:solidFill>
              </a:rPr>
              <a:t>Dr.R.R.Rajalaxmi</a:t>
            </a:r>
            <a:r>
              <a:rPr lang="en-US" sz="1600" spc="-20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Professor/CSE </a:t>
            </a:r>
            <a:r>
              <a:rPr lang="en-US" sz="1600" dirty="0" err="1">
                <a:solidFill>
                  <a:schemeClr val="tx1"/>
                </a:solidFill>
              </a:rPr>
              <a:t>Kongu</a:t>
            </a:r>
            <a:r>
              <a:rPr lang="en-US" sz="1600" spc="-8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Engineering</a:t>
            </a:r>
            <a:r>
              <a:rPr lang="en-US" sz="1600" spc="-100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College </a:t>
            </a:r>
            <a:r>
              <a:rPr lang="en-US" sz="1600" spc="-10" dirty="0" err="1">
                <a:solidFill>
                  <a:schemeClr val="tx1"/>
                </a:solidFill>
              </a:rPr>
              <a:t>Perundurai</a:t>
            </a:r>
            <a:br>
              <a:rPr lang="en-US" sz="1600" spc="-1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  <a:latin typeface="Georgia"/>
                <a:cs typeface="Georgia"/>
              </a:rPr>
              <a:t>Ms.</a:t>
            </a:r>
            <a:r>
              <a:rPr lang="en-US" sz="1600" spc="-19" dirty="0">
                <a:solidFill>
                  <a:schemeClr val="tx1"/>
                </a:solidFill>
                <a:latin typeface="Georgia"/>
                <a:cs typeface="Georg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Georgia"/>
                <a:cs typeface="Georgia"/>
              </a:rPr>
              <a:t>Rashmi</a:t>
            </a:r>
            <a:r>
              <a:rPr lang="en-US" sz="1600" spc="-8" dirty="0">
                <a:solidFill>
                  <a:schemeClr val="tx1"/>
                </a:solidFill>
                <a:latin typeface="Georgia"/>
                <a:cs typeface="Georgia"/>
              </a:rPr>
              <a:t> </a:t>
            </a:r>
            <a:r>
              <a:rPr lang="en-US" sz="1600" spc="-15" dirty="0">
                <a:solidFill>
                  <a:schemeClr val="tx1"/>
                </a:solidFill>
                <a:latin typeface="Georgia"/>
                <a:cs typeface="Georgia"/>
              </a:rPr>
              <a:t>Bhat, Assistant prof, </a:t>
            </a:r>
            <a:r>
              <a:rPr lang="en-US" sz="1600" spc="-15" dirty="0" err="1">
                <a:solidFill>
                  <a:schemeClr val="tx1"/>
                </a:solidFill>
                <a:latin typeface="Georgia"/>
                <a:cs typeface="Georgia"/>
              </a:rPr>
              <a:t>Slideshare</a:t>
            </a:r>
            <a:endParaRPr lang="en-US" sz="1600" spc="-15" dirty="0">
              <a:solidFill>
                <a:schemeClr val="tx1"/>
              </a:solidFill>
              <a:latin typeface="Georgia"/>
              <a:cs typeface="Georgia"/>
            </a:endParaRPr>
          </a:p>
          <a:p>
            <a:pPr marL="635" algn="l">
              <a:spcBef>
                <a:spcPts val="525"/>
              </a:spcBef>
            </a:pPr>
            <a:r>
              <a:rPr lang="en-US" sz="1600" dirty="0">
                <a:solidFill>
                  <a:schemeClr val="tx1"/>
                </a:solidFill>
              </a:rPr>
              <a:t>David</a:t>
            </a:r>
            <a:r>
              <a:rPr lang="en-US" sz="1600" spc="-135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Sontag </a:t>
            </a:r>
            <a:r>
              <a:rPr lang="en-US" sz="1600" dirty="0">
                <a:solidFill>
                  <a:schemeClr val="tx1"/>
                </a:solidFill>
              </a:rPr>
              <a:t>New</a:t>
            </a:r>
            <a:r>
              <a:rPr lang="en-US" sz="1600" spc="-85" dirty="0">
                <a:solidFill>
                  <a:schemeClr val="tx1"/>
                </a:solidFill>
              </a:rPr>
              <a:t> </a:t>
            </a:r>
            <a:r>
              <a:rPr lang="en-US" sz="1600" spc="-30" dirty="0">
                <a:solidFill>
                  <a:schemeClr val="tx1"/>
                </a:solidFill>
              </a:rPr>
              <a:t>York</a:t>
            </a:r>
            <a:r>
              <a:rPr lang="en-US" sz="1600" spc="-85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University</a:t>
            </a:r>
            <a:br>
              <a:rPr lang="en-US" sz="1600" spc="-10" dirty="0">
                <a:solidFill>
                  <a:schemeClr val="tx1"/>
                </a:solidFill>
              </a:rPr>
            </a:br>
            <a:r>
              <a:rPr lang="en-US" sz="1600" spc="-80" dirty="0">
                <a:solidFill>
                  <a:schemeClr val="tx1"/>
                </a:solidFill>
                <a:latin typeface="Cambria"/>
                <a:cs typeface="Cambria"/>
              </a:rPr>
              <a:t>Dr.</a:t>
            </a:r>
            <a:r>
              <a:rPr lang="en-US" sz="1600" spc="-6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85" dirty="0">
                <a:solidFill>
                  <a:schemeClr val="tx1"/>
                </a:solidFill>
                <a:latin typeface="Cambria"/>
                <a:cs typeface="Cambria"/>
              </a:rPr>
              <a:t>T.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0" dirty="0" err="1">
                <a:solidFill>
                  <a:schemeClr val="tx1"/>
                </a:solidFill>
                <a:latin typeface="Cambria"/>
                <a:cs typeface="Cambria"/>
              </a:rPr>
              <a:t>Veeramakali,</a:t>
            </a:r>
            <a:r>
              <a:rPr lang="en-US" sz="1600" dirty="0" err="1">
                <a:solidFill>
                  <a:schemeClr val="tx1"/>
                </a:solidFill>
                <a:latin typeface="Cambria"/>
                <a:cs typeface="Cambria"/>
              </a:rPr>
              <a:t>Assoc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.</a:t>
            </a:r>
            <a:r>
              <a:rPr lang="en-US" sz="1600" spc="-4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Prof.</a:t>
            </a:r>
            <a:r>
              <a:rPr lang="en-US" sz="1600" spc="-4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/</a:t>
            </a:r>
            <a:r>
              <a:rPr lang="en-US" sz="1600" spc="-4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DSBS,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SRM</a:t>
            </a:r>
            <a:r>
              <a:rPr lang="en-US" sz="1600" spc="-5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Institute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of</a:t>
            </a:r>
            <a:r>
              <a:rPr lang="en-US" sz="1600" spc="-5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Science</a:t>
            </a:r>
            <a:r>
              <a:rPr lang="en-US" sz="1600" spc="-4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&amp;</a:t>
            </a:r>
            <a:r>
              <a:rPr lang="en-US" sz="1600" spc="-6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Technology </a:t>
            </a:r>
            <a:r>
              <a:rPr lang="en-US" sz="1600" spc="-25" dirty="0" err="1">
                <a:solidFill>
                  <a:schemeClr val="tx1"/>
                </a:solidFill>
                <a:latin typeface="Cambria"/>
                <a:cs typeface="Cambria"/>
              </a:rPr>
              <a:t>Kattankulathur</a:t>
            </a:r>
            <a:r>
              <a:rPr lang="en-US" sz="1600" spc="-25" dirty="0">
                <a:solidFill>
                  <a:schemeClr val="tx1"/>
                </a:solidFill>
                <a:latin typeface="Cambria"/>
                <a:cs typeface="Cambria"/>
              </a:rPr>
              <a:t>,</a:t>
            </a:r>
            <a:r>
              <a:rPr lang="en-US" sz="1600" spc="9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Chennai-</a:t>
            </a: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603203.</a:t>
            </a:r>
            <a:b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</a:br>
            <a:br>
              <a:rPr lang="en-US" sz="1600" spc="-10" dirty="0">
                <a:solidFill>
                  <a:schemeClr val="tx1"/>
                </a:solidFill>
              </a:rPr>
            </a:br>
            <a:endParaRPr lang="en-US" sz="1600" dirty="0">
              <a:solidFill>
                <a:schemeClr val="tx1"/>
              </a:solidFill>
            </a:endParaRPr>
          </a:p>
          <a:p>
            <a:pPr marL="635" algn="l">
              <a:spcBef>
                <a:spcPts val="525"/>
              </a:spcBef>
            </a:pPr>
            <a:endParaRPr lang="en-US" sz="1600" dirty="0">
              <a:solidFill>
                <a:schemeClr val="tx1"/>
              </a:solidFill>
              <a:latin typeface="Georgia"/>
              <a:cs typeface="Georgia"/>
            </a:endParaRPr>
          </a:p>
          <a:p>
            <a:pPr marL="635" algn="l">
              <a:spcBef>
                <a:spcPts val="525"/>
              </a:spcBef>
            </a:pP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.</a:t>
            </a:r>
            <a:endParaRPr lang="en-US" sz="1600" dirty="0">
              <a:solidFill>
                <a:schemeClr val="tx1"/>
              </a:solidFill>
              <a:latin typeface="Cambria"/>
              <a:cs typeface="Cambria"/>
            </a:endParaRPr>
          </a:p>
          <a:p>
            <a:pPr marL="647700" marR="640715" algn="l">
              <a:lnSpc>
                <a:spcPct val="114599"/>
              </a:lnSpc>
              <a:spcBef>
                <a:spcPts val="95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algn="l"/>
            <a:endParaRPr lang="en-US" sz="1600" dirty="0">
              <a:solidFill>
                <a:schemeClr val="tx1"/>
              </a:solidFill>
            </a:endParaRPr>
          </a:p>
          <a:p>
            <a:pPr algn="l"/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26915-4C02-0032-FA06-AA1D6F48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2809</Words>
  <Application>Microsoft Office PowerPoint</Application>
  <PresentationFormat>On-screen Show (4:3)</PresentationFormat>
  <Paragraphs>697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7" baseType="lpstr">
      <vt:lpstr>Aptos</vt:lpstr>
      <vt:lpstr>Arial</vt:lpstr>
      <vt:lpstr>Arial MT</vt:lpstr>
      <vt:lpstr>Arial Narrow</vt:lpstr>
      <vt:lpstr>Calibri</vt:lpstr>
      <vt:lpstr>Calibri Light</vt:lpstr>
      <vt:lpstr>Cambria</vt:lpstr>
      <vt:lpstr>Cambria Math</vt:lpstr>
      <vt:lpstr>Cavolini</vt:lpstr>
      <vt:lpstr>Franklin Gothic Book</vt:lpstr>
      <vt:lpstr>Franklin Gothic Medium</vt:lpstr>
      <vt:lpstr>Georgia</vt:lpstr>
      <vt:lpstr>Hiragino Sans W4</vt:lpstr>
      <vt:lpstr>Lucida Sans Unicode</vt:lpstr>
      <vt:lpstr>Times New Roman</vt:lpstr>
      <vt:lpstr>Wingdings</vt:lpstr>
      <vt:lpstr>NAU</vt:lpstr>
      <vt:lpstr>PowerPoint Presentation</vt:lpstr>
      <vt:lpstr>𝑘-means Clustering</vt:lpstr>
      <vt:lpstr>Distance/Similarity Measures for Categorical Data</vt:lpstr>
      <vt:lpstr>K-Modes Algorithm</vt:lpstr>
      <vt:lpstr>K-Modes Algorithm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𝑘-Medoids Clustering</vt:lpstr>
      <vt:lpstr>Properties of K-­‐means algorithm</vt:lpstr>
      <vt:lpstr>Example: K-Means for Segmentation</vt:lpstr>
      <vt:lpstr>Example: K-Means for Segmentation</vt:lpstr>
      <vt:lpstr>Example: K-Means for Segmentation</vt:lpstr>
      <vt:lpstr>𝑘-means Vs K-medoids Vs K-modes</vt:lpstr>
      <vt:lpstr>When to use which!!!</vt:lpstr>
      <vt:lpstr>Example: Vector quantization</vt:lpstr>
      <vt:lpstr>What is Vector Quantization?</vt:lpstr>
      <vt:lpstr>How It Works</vt:lpstr>
      <vt:lpstr>Application</vt:lpstr>
      <vt:lpstr>On Class EXERCISE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Fariha Hossain</cp:lastModifiedBy>
  <cp:revision>20</cp:revision>
  <dcterms:created xsi:type="dcterms:W3CDTF">2013-01-27T09:14:16Z</dcterms:created>
  <dcterms:modified xsi:type="dcterms:W3CDTF">2026-01-26T18:07:19Z</dcterms:modified>
  <cp:category/>
</cp:coreProperties>
</file>