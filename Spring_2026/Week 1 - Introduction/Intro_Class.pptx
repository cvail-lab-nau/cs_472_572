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72" r:id="rId4"/>
    <p:sldId id="264" r:id="rId5"/>
    <p:sldId id="265" r:id="rId6"/>
    <p:sldId id="258" r:id="rId7"/>
    <p:sldId id="266" r:id="rId8"/>
    <p:sldId id="261" r:id="rId9"/>
    <p:sldId id="267" r:id="rId10"/>
    <p:sldId id="268" r:id="rId11"/>
    <p:sldId id="269" r:id="rId12"/>
    <p:sldId id="270" r:id="rId13"/>
    <p:sldId id="271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35"/>
  </p:normalViewPr>
  <p:slideViewPr>
    <p:cSldViewPr snapToGrid="0" snapToObjects="1">
      <p:cViewPr varScale="1">
        <p:scale>
          <a:sx n="98" d="100"/>
          <a:sy n="98" d="100"/>
        </p:scale>
        <p:origin x="212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B06713-0B9B-4245-9B9A-F2BAE21BF65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5286DA-00B9-4ED5-ADCC-54B17F0066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Introduces advanced topics in machine learning, with emphasis on unsupervised and self-supervised methods  </a:t>
          </a:r>
        </a:p>
      </dgm:t>
    </dgm:pt>
    <dgm:pt modelId="{1554441D-FDAF-480C-A362-C25254020025}" type="parTrans" cxnId="{41E094FB-80CF-44D7-A5BA-3E0E480FB5D3}">
      <dgm:prSet/>
      <dgm:spPr/>
      <dgm:t>
        <a:bodyPr/>
        <a:lstStyle/>
        <a:p>
          <a:endParaRPr lang="en-US"/>
        </a:p>
      </dgm:t>
    </dgm:pt>
    <dgm:pt modelId="{789EB7C4-B029-435C-A92B-E3EE8356964F}" type="sibTrans" cxnId="{41E094FB-80CF-44D7-A5BA-3E0E480FB5D3}">
      <dgm:prSet/>
      <dgm:spPr/>
      <dgm:t>
        <a:bodyPr/>
        <a:lstStyle/>
        <a:p>
          <a:endParaRPr lang="en-US"/>
        </a:p>
      </dgm:t>
    </dgm:pt>
    <dgm:pt modelId="{0183EA36-19FC-42EE-85EB-D54109B12C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Explores key techniques: clustering, dimensionality reduction, and modern representation learning  </a:t>
          </a:r>
        </a:p>
      </dgm:t>
    </dgm:pt>
    <dgm:pt modelId="{ECE4F926-8DA3-435A-B84C-B5ACE2279E56}" type="parTrans" cxnId="{5B454B55-B689-46FA-91B6-3EF5351ADC40}">
      <dgm:prSet/>
      <dgm:spPr/>
      <dgm:t>
        <a:bodyPr/>
        <a:lstStyle/>
        <a:p>
          <a:endParaRPr lang="en-US"/>
        </a:p>
      </dgm:t>
    </dgm:pt>
    <dgm:pt modelId="{E8E76E7E-169C-45F3-8923-9B242FF66686}" type="sibTrans" cxnId="{5B454B55-B689-46FA-91B6-3EF5351ADC40}">
      <dgm:prSet/>
      <dgm:spPr/>
      <dgm:t>
        <a:bodyPr/>
        <a:lstStyle/>
        <a:p>
          <a:endParaRPr lang="en-US"/>
        </a:p>
      </dgm:t>
    </dgm:pt>
    <dgm:pt modelId="{588B5D53-EDBD-4413-820F-343115F678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Focuses on discovering structure in unlabeled data  </a:t>
          </a:r>
        </a:p>
      </dgm:t>
    </dgm:pt>
    <dgm:pt modelId="{8EC9A638-328A-4131-A2E7-3355931687D6}" type="parTrans" cxnId="{27457C40-CE0F-4C64-BD6A-FBD0058EDC11}">
      <dgm:prSet/>
      <dgm:spPr/>
      <dgm:t>
        <a:bodyPr/>
        <a:lstStyle/>
        <a:p>
          <a:endParaRPr lang="en-US"/>
        </a:p>
      </dgm:t>
    </dgm:pt>
    <dgm:pt modelId="{C9A74142-6708-490C-9693-4DF8D7DEAD13}" type="sibTrans" cxnId="{27457C40-CE0F-4C64-BD6A-FBD0058EDC11}">
      <dgm:prSet/>
      <dgm:spPr/>
      <dgm:t>
        <a:bodyPr/>
        <a:lstStyle/>
        <a:p>
          <a:endParaRPr lang="en-US"/>
        </a:p>
      </dgm:t>
    </dgm:pt>
    <dgm:pt modelId="{5C331A0E-DEA1-49FC-BCD6-0DD6833FA3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Applies methods across diverse domains: computer vision, natural language processing (NLP), healthcare, and finance</a:t>
          </a:r>
        </a:p>
      </dgm:t>
    </dgm:pt>
    <dgm:pt modelId="{68441E9F-DE21-419F-AF6B-AC5B8DC82EA3}" type="parTrans" cxnId="{223B970C-D6C8-4D5D-B6F2-A4B5955FD07A}">
      <dgm:prSet/>
      <dgm:spPr/>
      <dgm:t>
        <a:bodyPr/>
        <a:lstStyle/>
        <a:p>
          <a:endParaRPr lang="en-US"/>
        </a:p>
      </dgm:t>
    </dgm:pt>
    <dgm:pt modelId="{CCACCA3D-B139-4BAF-BD6D-85741753892F}" type="sibTrans" cxnId="{223B970C-D6C8-4D5D-B6F2-A4B5955FD07A}">
      <dgm:prSet/>
      <dgm:spPr/>
      <dgm:t>
        <a:bodyPr/>
        <a:lstStyle/>
        <a:p>
          <a:endParaRPr lang="en-US"/>
        </a:p>
      </dgm:t>
    </dgm:pt>
    <dgm:pt modelId="{DFC27AB1-62DD-4B13-A96C-4002786B9154}" type="pres">
      <dgm:prSet presAssocID="{D7B06713-0B9B-4245-9B9A-F2BAE21BF658}" presName="root" presStyleCnt="0">
        <dgm:presLayoutVars>
          <dgm:dir/>
          <dgm:resizeHandles val="exact"/>
        </dgm:presLayoutVars>
      </dgm:prSet>
      <dgm:spPr/>
    </dgm:pt>
    <dgm:pt modelId="{2285CB6A-A41D-4A8C-AE26-387844C366AD}" type="pres">
      <dgm:prSet presAssocID="{ED5286DA-00B9-4ED5-ADCC-54B17F00669B}" presName="compNode" presStyleCnt="0"/>
      <dgm:spPr/>
    </dgm:pt>
    <dgm:pt modelId="{36DECEB4-B9AF-40EC-BBE6-2C63F65E338E}" type="pres">
      <dgm:prSet presAssocID="{ED5286DA-00B9-4ED5-ADCC-54B17F00669B}" presName="bgRect" presStyleLbl="bgShp" presStyleIdx="0" presStyleCnt="4"/>
      <dgm:spPr/>
    </dgm:pt>
    <dgm:pt modelId="{2C714CBA-A316-483D-BF3A-9CE151B0FD56}" type="pres">
      <dgm:prSet presAssocID="{ED5286DA-00B9-4ED5-ADCC-54B17F0066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DE379F5-BF2A-4185-BA7F-272958D182AE}" type="pres">
      <dgm:prSet presAssocID="{ED5286DA-00B9-4ED5-ADCC-54B17F00669B}" presName="spaceRect" presStyleCnt="0"/>
      <dgm:spPr/>
    </dgm:pt>
    <dgm:pt modelId="{CF7C4A71-2999-4068-BC9D-973D94989769}" type="pres">
      <dgm:prSet presAssocID="{ED5286DA-00B9-4ED5-ADCC-54B17F00669B}" presName="parTx" presStyleLbl="revTx" presStyleIdx="0" presStyleCnt="4">
        <dgm:presLayoutVars>
          <dgm:chMax val="0"/>
          <dgm:chPref val="0"/>
        </dgm:presLayoutVars>
      </dgm:prSet>
      <dgm:spPr/>
    </dgm:pt>
    <dgm:pt modelId="{BE34E328-E88E-4481-9977-A2BB6BBD3F86}" type="pres">
      <dgm:prSet presAssocID="{789EB7C4-B029-435C-A92B-E3EE8356964F}" presName="sibTrans" presStyleCnt="0"/>
      <dgm:spPr/>
    </dgm:pt>
    <dgm:pt modelId="{1DD1D2F4-90BD-4B9D-98AC-6F22A8DB4A7C}" type="pres">
      <dgm:prSet presAssocID="{0183EA36-19FC-42EE-85EB-D54109B12CC4}" presName="compNode" presStyleCnt="0"/>
      <dgm:spPr/>
    </dgm:pt>
    <dgm:pt modelId="{AC94B14A-B6F3-46F0-88A6-06630696BE3B}" type="pres">
      <dgm:prSet presAssocID="{0183EA36-19FC-42EE-85EB-D54109B12CC4}" presName="bgRect" presStyleLbl="bgShp" presStyleIdx="1" presStyleCnt="4"/>
      <dgm:spPr/>
    </dgm:pt>
    <dgm:pt modelId="{9631F3E3-55B9-4CEB-9F4C-A6F0CE619009}" type="pres">
      <dgm:prSet presAssocID="{0183EA36-19FC-42EE-85EB-D54109B12CC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31D8A349-80F6-4E68-AF16-29C12FD84E0F}" type="pres">
      <dgm:prSet presAssocID="{0183EA36-19FC-42EE-85EB-D54109B12CC4}" presName="spaceRect" presStyleCnt="0"/>
      <dgm:spPr/>
    </dgm:pt>
    <dgm:pt modelId="{6E1BEDFA-176B-4B40-BCF3-BCA7FD1615FE}" type="pres">
      <dgm:prSet presAssocID="{0183EA36-19FC-42EE-85EB-D54109B12CC4}" presName="parTx" presStyleLbl="revTx" presStyleIdx="1" presStyleCnt="4">
        <dgm:presLayoutVars>
          <dgm:chMax val="0"/>
          <dgm:chPref val="0"/>
        </dgm:presLayoutVars>
      </dgm:prSet>
      <dgm:spPr/>
    </dgm:pt>
    <dgm:pt modelId="{57DC65D1-531F-4C0C-9846-DC139F312437}" type="pres">
      <dgm:prSet presAssocID="{E8E76E7E-169C-45F3-8923-9B242FF66686}" presName="sibTrans" presStyleCnt="0"/>
      <dgm:spPr/>
    </dgm:pt>
    <dgm:pt modelId="{4B4D8FCD-4FFD-438D-8AAA-DA6669D4929E}" type="pres">
      <dgm:prSet presAssocID="{588B5D53-EDBD-4413-820F-343115F67808}" presName="compNode" presStyleCnt="0"/>
      <dgm:spPr/>
    </dgm:pt>
    <dgm:pt modelId="{54229A77-D24B-463D-ADF4-C27F30A338A2}" type="pres">
      <dgm:prSet presAssocID="{588B5D53-EDBD-4413-820F-343115F67808}" presName="bgRect" presStyleLbl="bgShp" presStyleIdx="2" presStyleCnt="4"/>
      <dgm:spPr/>
    </dgm:pt>
    <dgm:pt modelId="{2AB0ADD1-7240-4797-94B3-626BA040C846}" type="pres">
      <dgm:prSet presAssocID="{588B5D53-EDBD-4413-820F-343115F6780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5430B4B-6CEA-44D4-9105-5BC8B2D74041}" type="pres">
      <dgm:prSet presAssocID="{588B5D53-EDBD-4413-820F-343115F67808}" presName="spaceRect" presStyleCnt="0"/>
      <dgm:spPr/>
    </dgm:pt>
    <dgm:pt modelId="{5C73A37E-4E1C-488B-B2C8-D9AAA8EA6AF7}" type="pres">
      <dgm:prSet presAssocID="{588B5D53-EDBD-4413-820F-343115F67808}" presName="parTx" presStyleLbl="revTx" presStyleIdx="2" presStyleCnt="4">
        <dgm:presLayoutVars>
          <dgm:chMax val="0"/>
          <dgm:chPref val="0"/>
        </dgm:presLayoutVars>
      </dgm:prSet>
      <dgm:spPr/>
    </dgm:pt>
    <dgm:pt modelId="{8B9E4B43-1B09-4B89-8B59-E13E1AB5939C}" type="pres">
      <dgm:prSet presAssocID="{C9A74142-6708-490C-9693-4DF8D7DEAD13}" presName="sibTrans" presStyleCnt="0"/>
      <dgm:spPr/>
    </dgm:pt>
    <dgm:pt modelId="{2694C617-635F-4F1D-8176-8DF135839BB4}" type="pres">
      <dgm:prSet presAssocID="{5C331A0E-DEA1-49FC-BCD6-0DD6833FA3DC}" presName="compNode" presStyleCnt="0"/>
      <dgm:spPr/>
    </dgm:pt>
    <dgm:pt modelId="{FCE6F2D6-BAD1-4B3A-9675-EE8A67DDA070}" type="pres">
      <dgm:prSet presAssocID="{5C331A0E-DEA1-49FC-BCD6-0DD6833FA3DC}" presName="bgRect" presStyleLbl="bgShp" presStyleIdx="3" presStyleCnt="4"/>
      <dgm:spPr/>
    </dgm:pt>
    <dgm:pt modelId="{91DE2FD0-A828-42D6-B115-747E79D7109B}" type="pres">
      <dgm:prSet presAssocID="{5C331A0E-DEA1-49FC-BCD6-0DD6833FA3D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8599E7A-BA88-416C-83BB-68008847A381}" type="pres">
      <dgm:prSet presAssocID="{5C331A0E-DEA1-49FC-BCD6-0DD6833FA3DC}" presName="spaceRect" presStyleCnt="0"/>
      <dgm:spPr/>
    </dgm:pt>
    <dgm:pt modelId="{55FE6957-5F4A-4A31-AC1A-F7C3ADD22B31}" type="pres">
      <dgm:prSet presAssocID="{5C331A0E-DEA1-49FC-BCD6-0DD6833FA3D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23B970C-D6C8-4D5D-B6F2-A4B5955FD07A}" srcId="{D7B06713-0B9B-4245-9B9A-F2BAE21BF658}" destId="{5C331A0E-DEA1-49FC-BCD6-0DD6833FA3DC}" srcOrd="3" destOrd="0" parTransId="{68441E9F-DE21-419F-AF6B-AC5B8DC82EA3}" sibTransId="{CCACCA3D-B139-4BAF-BD6D-85741753892F}"/>
    <dgm:cxn modelId="{03E46A1D-36F6-48CF-A578-F6188D0532F8}" type="presOf" srcId="{588B5D53-EDBD-4413-820F-343115F67808}" destId="{5C73A37E-4E1C-488B-B2C8-D9AAA8EA6AF7}" srcOrd="0" destOrd="0" presId="urn:microsoft.com/office/officeart/2018/2/layout/IconVerticalSolidList"/>
    <dgm:cxn modelId="{8684E921-7B17-4556-B89C-E747B0ECD432}" type="presOf" srcId="{5C331A0E-DEA1-49FC-BCD6-0DD6833FA3DC}" destId="{55FE6957-5F4A-4A31-AC1A-F7C3ADD22B31}" srcOrd="0" destOrd="0" presId="urn:microsoft.com/office/officeart/2018/2/layout/IconVerticalSolidList"/>
    <dgm:cxn modelId="{83E1643F-9493-40B0-8BCD-CD343716020B}" type="presOf" srcId="{0183EA36-19FC-42EE-85EB-D54109B12CC4}" destId="{6E1BEDFA-176B-4B40-BCF3-BCA7FD1615FE}" srcOrd="0" destOrd="0" presId="urn:microsoft.com/office/officeart/2018/2/layout/IconVerticalSolidList"/>
    <dgm:cxn modelId="{27457C40-CE0F-4C64-BD6A-FBD0058EDC11}" srcId="{D7B06713-0B9B-4245-9B9A-F2BAE21BF658}" destId="{588B5D53-EDBD-4413-820F-343115F67808}" srcOrd="2" destOrd="0" parTransId="{8EC9A638-328A-4131-A2E7-3355931687D6}" sibTransId="{C9A74142-6708-490C-9693-4DF8D7DEAD13}"/>
    <dgm:cxn modelId="{3C7BB163-E527-4E36-9935-9FE117A466C4}" type="presOf" srcId="{D7B06713-0B9B-4245-9B9A-F2BAE21BF658}" destId="{DFC27AB1-62DD-4B13-A96C-4002786B9154}" srcOrd="0" destOrd="0" presId="urn:microsoft.com/office/officeart/2018/2/layout/IconVerticalSolidList"/>
    <dgm:cxn modelId="{5B454B55-B689-46FA-91B6-3EF5351ADC40}" srcId="{D7B06713-0B9B-4245-9B9A-F2BAE21BF658}" destId="{0183EA36-19FC-42EE-85EB-D54109B12CC4}" srcOrd="1" destOrd="0" parTransId="{ECE4F926-8DA3-435A-B84C-B5ACE2279E56}" sibTransId="{E8E76E7E-169C-45F3-8923-9B242FF66686}"/>
    <dgm:cxn modelId="{65A79ADE-9611-4EDD-958B-1722D7AE3368}" type="presOf" srcId="{ED5286DA-00B9-4ED5-ADCC-54B17F00669B}" destId="{CF7C4A71-2999-4068-BC9D-973D94989769}" srcOrd="0" destOrd="0" presId="urn:microsoft.com/office/officeart/2018/2/layout/IconVerticalSolidList"/>
    <dgm:cxn modelId="{41E094FB-80CF-44D7-A5BA-3E0E480FB5D3}" srcId="{D7B06713-0B9B-4245-9B9A-F2BAE21BF658}" destId="{ED5286DA-00B9-4ED5-ADCC-54B17F00669B}" srcOrd="0" destOrd="0" parTransId="{1554441D-FDAF-480C-A362-C25254020025}" sibTransId="{789EB7C4-B029-435C-A92B-E3EE8356964F}"/>
    <dgm:cxn modelId="{73370DA0-61FC-41BD-BB44-0F4F0BFE7FD6}" type="presParOf" srcId="{DFC27AB1-62DD-4B13-A96C-4002786B9154}" destId="{2285CB6A-A41D-4A8C-AE26-387844C366AD}" srcOrd="0" destOrd="0" presId="urn:microsoft.com/office/officeart/2018/2/layout/IconVerticalSolidList"/>
    <dgm:cxn modelId="{81BDCD80-41B3-423C-86AA-0417D26F0F50}" type="presParOf" srcId="{2285CB6A-A41D-4A8C-AE26-387844C366AD}" destId="{36DECEB4-B9AF-40EC-BBE6-2C63F65E338E}" srcOrd="0" destOrd="0" presId="urn:microsoft.com/office/officeart/2018/2/layout/IconVerticalSolidList"/>
    <dgm:cxn modelId="{2C5394B0-12BC-484B-9752-F55498A54A7B}" type="presParOf" srcId="{2285CB6A-A41D-4A8C-AE26-387844C366AD}" destId="{2C714CBA-A316-483D-BF3A-9CE151B0FD56}" srcOrd="1" destOrd="0" presId="urn:microsoft.com/office/officeart/2018/2/layout/IconVerticalSolidList"/>
    <dgm:cxn modelId="{9E6B1CB7-79E3-4CFE-8232-36B5BBA16FAE}" type="presParOf" srcId="{2285CB6A-A41D-4A8C-AE26-387844C366AD}" destId="{7DE379F5-BF2A-4185-BA7F-272958D182AE}" srcOrd="2" destOrd="0" presId="urn:microsoft.com/office/officeart/2018/2/layout/IconVerticalSolidList"/>
    <dgm:cxn modelId="{7333F575-B770-40B6-BF9F-FA7462C04A9B}" type="presParOf" srcId="{2285CB6A-A41D-4A8C-AE26-387844C366AD}" destId="{CF7C4A71-2999-4068-BC9D-973D94989769}" srcOrd="3" destOrd="0" presId="urn:microsoft.com/office/officeart/2018/2/layout/IconVerticalSolidList"/>
    <dgm:cxn modelId="{2BC3547A-9B42-4DD6-8136-99AD642C37DD}" type="presParOf" srcId="{DFC27AB1-62DD-4B13-A96C-4002786B9154}" destId="{BE34E328-E88E-4481-9977-A2BB6BBD3F86}" srcOrd="1" destOrd="0" presId="urn:microsoft.com/office/officeart/2018/2/layout/IconVerticalSolidList"/>
    <dgm:cxn modelId="{854B8845-4B85-4E2D-B634-18EC052EDEB5}" type="presParOf" srcId="{DFC27AB1-62DD-4B13-A96C-4002786B9154}" destId="{1DD1D2F4-90BD-4B9D-98AC-6F22A8DB4A7C}" srcOrd="2" destOrd="0" presId="urn:microsoft.com/office/officeart/2018/2/layout/IconVerticalSolidList"/>
    <dgm:cxn modelId="{1203095C-FC83-4D1F-9E14-E5E49C4C35B2}" type="presParOf" srcId="{1DD1D2F4-90BD-4B9D-98AC-6F22A8DB4A7C}" destId="{AC94B14A-B6F3-46F0-88A6-06630696BE3B}" srcOrd="0" destOrd="0" presId="urn:microsoft.com/office/officeart/2018/2/layout/IconVerticalSolidList"/>
    <dgm:cxn modelId="{C4E56A36-6BFF-4DD6-9671-98AC80A20D4D}" type="presParOf" srcId="{1DD1D2F4-90BD-4B9D-98AC-6F22A8DB4A7C}" destId="{9631F3E3-55B9-4CEB-9F4C-A6F0CE619009}" srcOrd="1" destOrd="0" presId="urn:microsoft.com/office/officeart/2018/2/layout/IconVerticalSolidList"/>
    <dgm:cxn modelId="{119A3BA0-3B2E-4E4D-BB86-753CD36DDBDC}" type="presParOf" srcId="{1DD1D2F4-90BD-4B9D-98AC-6F22A8DB4A7C}" destId="{31D8A349-80F6-4E68-AF16-29C12FD84E0F}" srcOrd="2" destOrd="0" presId="urn:microsoft.com/office/officeart/2018/2/layout/IconVerticalSolidList"/>
    <dgm:cxn modelId="{B80B9E5E-543D-440F-B78D-01079B89F6F4}" type="presParOf" srcId="{1DD1D2F4-90BD-4B9D-98AC-6F22A8DB4A7C}" destId="{6E1BEDFA-176B-4B40-BCF3-BCA7FD1615FE}" srcOrd="3" destOrd="0" presId="urn:microsoft.com/office/officeart/2018/2/layout/IconVerticalSolidList"/>
    <dgm:cxn modelId="{944EE9DD-1615-4993-AE7E-96E13A5017FF}" type="presParOf" srcId="{DFC27AB1-62DD-4B13-A96C-4002786B9154}" destId="{57DC65D1-531F-4C0C-9846-DC139F312437}" srcOrd="3" destOrd="0" presId="urn:microsoft.com/office/officeart/2018/2/layout/IconVerticalSolidList"/>
    <dgm:cxn modelId="{1C053479-F472-4E8E-B6D5-5DDC5B02D242}" type="presParOf" srcId="{DFC27AB1-62DD-4B13-A96C-4002786B9154}" destId="{4B4D8FCD-4FFD-438D-8AAA-DA6669D4929E}" srcOrd="4" destOrd="0" presId="urn:microsoft.com/office/officeart/2018/2/layout/IconVerticalSolidList"/>
    <dgm:cxn modelId="{67F63C0E-C676-4581-ABB9-B39806D2DE0C}" type="presParOf" srcId="{4B4D8FCD-4FFD-438D-8AAA-DA6669D4929E}" destId="{54229A77-D24B-463D-ADF4-C27F30A338A2}" srcOrd="0" destOrd="0" presId="urn:microsoft.com/office/officeart/2018/2/layout/IconVerticalSolidList"/>
    <dgm:cxn modelId="{B9F10A47-30EE-4CA8-AB02-53CB51FA6776}" type="presParOf" srcId="{4B4D8FCD-4FFD-438D-8AAA-DA6669D4929E}" destId="{2AB0ADD1-7240-4797-94B3-626BA040C846}" srcOrd="1" destOrd="0" presId="urn:microsoft.com/office/officeart/2018/2/layout/IconVerticalSolidList"/>
    <dgm:cxn modelId="{4CBEF92F-0CC1-43C4-BE2C-A049F54EBE83}" type="presParOf" srcId="{4B4D8FCD-4FFD-438D-8AAA-DA6669D4929E}" destId="{D5430B4B-6CEA-44D4-9105-5BC8B2D74041}" srcOrd="2" destOrd="0" presId="urn:microsoft.com/office/officeart/2018/2/layout/IconVerticalSolidList"/>
    <dgm:cxn modelId="{0176D66F-5C4B-4EEF-A924-D05B4D8DE505}" type="presParOf" srcId="{4B4D8FCD-4FFD-438D-8AAA-DA6669D4929E}" destId="{5C73A37E-4E1C-488B-B2C8-D9AAA8EA6AF7}" srcOrd="3" destOrd="0" presId="urn:microsoft.com/office/officeart/2018/2/layout/IconVerticalSolidList"/>
    <dgm:cxn modelId="{4ABBEFE6-ABDC-4B28-9A05-D3923CEACA42}" type="presParOf" srcId="{DFC27AB1-62DD-4B13-A96C-4002786B9154}" destId="{8B9E4B43-1B09-4B89-8B59-E13E1AB5939C}" srcOrd="5" destOrd="0" presId="urn:microsoft.com/office/officeart/2018/2/layout/IconVerticalSolidList"/>
    <dgm:cxn modelId="{A2ECBF7C-2EFA-4F0E-AF05-F194045C229F}" type="presParOf" srcId="{DFC27AB1-62DD-4B13-A96C-4002786B9154}" destId="{2694C617-635F-4F1D-8176-8DF135839BB4}" srcOrd="6" destOrd="0" presId="urn:microsoft.com/office/officeart/2018/2/layout/IconVerticalSolidList"/>
    <dgm:cxn modelId="{8E4D25B1-485A-484C-9C96-F0873F0694F5}" type="presParOf" srcId="{2694C617-635F-4F1D-8176-8DF135839BB4}" destId="{FCE6F2D6-BAD1-4B3A-9675-EE8A67DDA070}" srcOrd="0" destOrd="0" presId="urn:microsoft.com/office/officeart/2018/2/layout/IconVerticalSolidList"/>
    <dgm:cxn modelId="{1D38BEA8-ACF0-4BB3-A7F6-706F55E7E62B}" type="presParOf" srcId="{2694C617-635F-4F1D-8176-8DF135839BB4}" destId="{91DE2FD0-A828-42D6-B115-747E79D7109B}" srcOrd="1" destOrd="0" presId="urn:microsoft.com/office/officeart/2018/2/layout/IconVerticalSolidList"/>
    <dgm:cxn modelId="{0CD4A440-C1C8-47DA-B3C8-5FE1B82EC980}" type="presParOf" srcId="{2694C617-635F-4F1D-8176-8DF135839BB4}" destId="{18599E7A-BA88-416C-83BB-68008847A381}" srcOrd="2" destOrd="0" presId="urn:microsoft.com/office/officeart/2018/2/layout/IconVerticalSolidList"/>
    <dgm:cxn modelId="{449827DA-C7F7-4572-8D10-310862EF879F}" type="presParOf" srcId="{2694C617-635F-4F1D-8176-8DF135839BB4}" destId="{55FE6957-5F4A-4A31-AC1A-F7C3ADD22B3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93DA42-1262-43BD-B1B9-085E72FC973D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48F9088-917D-4C33-B83D-A6B503C38B49}">
      <dgm:prSet/>
      <dgm:spPr/>
      <dgm:t>
        <a:bodyPr/>
        <a:lstStyle/>
        <a:p>
          <a:r>
            <a:rPr lang="en-US"/>
            <a:t>• Finds patterns in unlabeled data</a:t>
          </a:r>
        </a:p>
      </dgm:t>
    </dgm:pt>
    <dgm:pt modelId="{138CC1BA-2276-4529-B17C-53F3E9496B55}" type="parTrans" cxnId="{E8B41192-EFF8-49DD-86F7-7D1CDEF06438}">
      <dgm:prSet/>
      <dgm:spPr/>
      <dgm:t>
        <a:bodyPr/>
        <a:lstStyle/>
        <a:p>
          <a:endParaRPr lang="en-US"/>
        </a:p>
      </dgm:t>
    </dgm:pt>
    <dgm:pt modelId="{CFF9E38C-9923-4650-BF98-4F5FD4F25EA4}" type="sibTrans" cxnId="{E8B41192-EFF8-49DD-86F7-7D1CDEF06438}">
      <dgm:prSet/>
      <dgm:spPr/>
      <dgm:t>
        <a:bodyPr/>
        <a:lstStyle/>
        <a:p>
          <a:endParaRPr lang="en-US"/>
        </a:p>
      </dgm:t>
    </dgm:pt>
    <dgm:pt modelId="{CFD8D69A-2BE9-4C9D-A3D5-6A922F6678D4}">
      <dgm:prSet/>
      <dgm:spPr/>
      <dgm:t>
        <a:bodyPr/>
        <a:lstStyle/>
        <a:p>
          <a:r>
            <a:rPr lang="en-US" dirty="0"/>
            <a:t>• Reveals natural groupings or clusters</a:t>
          </a:r>
        </a:p>
      </dgm:t>
    </dgm:pt>
    <dgm:pt modelId="{1CBAA5B7-3F82-4FF5-A08E-36E123637C41}" type="parTrans" cxnId="{494C6814-BC2C-449D-A8B3-1E3C98FF6F53}">
      <dgm:prSet/>
      <dgm:spPr/>
      <dgm:t>
        <a:bodyPr/>
        <a:lstStyle/>
        <a:p>
          <a:endParaRPr lang="en-US"/>
        </a:p>
      </dgm:t>
    </dgm:pt>
    <dgm:pt modelId="{B85AFA88-00A5-4307-8D1A-6A0844FE5D04}" type="sibTrans" cxnId="{494C6814-BC2C-449D-A8B3-1E3C98FF6F53}">
      <dgm:prSet/>
      <dgm:spPr/>
      <dgm:t>
        <a:bodyPr/>
        <a:lstStyle/>
        <a:p>
          <a:endParaRPr lang="en-US"/>
        </a:p>
      </dgm:t>
    </dgm:pt>
    <dgm:pt modelId="{711487F1-D03F-41B6-B128-D9458BAA99EC}">
      <dgm:prSet/>
      <dgm:spPr/>
      <dgm:t>
        <a:bodyPr/>
        <a:lstStyle/>
        <a:p>
          <a:r>
            <a:rPr lang="en-US"/>
            <a:t>• Provides insights without costly labeling</a:t>
          </a:r>
        </a:p>
      </dgm:t>
    </dgm:pt>
    <dgm:pt modelId="{52C19CBF-E96D-469A-B56E-464DA57420F1}" type="parTrans" cxnId="{5C562476-69B8-430F-BC41-B9F451D3FA6E}">
      <dgm:prSet/>
      <dgm:spPr/>
      <dgm:t>
        <a:bodyPr/>
        <a:lstStyle/>
        <a:p>
          <a:endParaRPr lang="en-US"/>
        </a:p>
      </dgm:t>
    </dgm:pt>
    <dgm:pt modelId="{60D2F744-D31C-415F-9E2E-D436E5204425}" type="sibTrans" cxnId="{5C562476-69B8-430F-BC41-B9F451D3FA6E}">
      <dgm:prSet/>
      <dgm:spPr/>
      <dgm:t>
        <a:bodyPr/>
        <a:lstStyle/>
        <a:p>
          <a:endParaRPr lang="en-US"/>
        </a:p>
      </dgm:t>
    </dgm:pt>
    <dgm:pt modelId="{31002F73-67CC-114B-951C-D88BB4A5A964}" type="pres">
      <dgm:prSet presAssocID="{0793DA42-1262-43BD-B1B9-085E72FC973D}" presName="linear" presStyleCnt="0">
        <dgm:presLayoutVars>
          <dgm:animLvl val="lvl"/>
          <dgm:resizeHandles val="exact"/>
        </dgm:presLayoutVars>
      </dgm:prSet>
      <dgm:spPr/>
    </dgm:pt>
    <dgm:pt modelId="{68FA47D5-5D78-0542-AE28-06791169593E}" type="pres">
      <dgm:prSet presAssocID="{448F9088-917D-4C33-B83D-A6B503C38B4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D654DDE-22E7-0347-8087-2DC51990443A}" type="pres">
      <dgm:prSet presAssocID="{CFF9E38C-9923-4650-BF98-4F5FD4F25EA4}" presName="spacer" presStyleCnt="0"/>
      <dgm:spPr/>
    </dgm:pt>
    <dgm:pt modelId="{C85D7F3F-1565-484C-8DA9-DADD59FB2218}" type="pres">
      <dgm:prSet presAssocID="{CFD8D69A-2BE9-4C9D-A3D5-6A922F6678D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60FEBB5-8159-C642-810F-179150224FB7}" type="pres">
      <dgm:prSet presAssocID="{B85AFA88-00A5-4307-8D1A-6A0844FE5D04}" presName="spacer" presStyleCnt="0"/>
      <dgm:spPr/>
    </dgm:pt>
    <dgm:pt modelId="{6514E654-F902-8545-A500-8443B8443F44}" type="pres">
      <dgm:prSet presAssocID="{711487F1-D03F-41B6-B128-D9458BAA99E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94C6814-BC2C-449D-A8B3-1E3C98FF6F53}" srcId="{0793DA42-1262-43BD-B1B9-085E72FC973D}" destId="{CFD8D69A-2BE9-4C9D-A3D5-6A922F6678D4}" srcOrd="1" destOrd="0" parTransId="{1CBAA5B7-3F82-4FF5-A08E-36E123637C41}" sibTransId="{B85AFA88-00A5-4307-8D1A-6A0844FE5D04}"/>
    <dgm:cxn modelId="{4929384A-491E-B948-98CF-8959363AEC3B}" type="presOf" srcId="{711487F1-D03F-41B6-B128-D9458BAA99EC}" destId="{6514E654-F902-8545-A500-8443B8443F44}" srcOrd="0" destOrd="0" presId="urn:microsoft.com/office/officeart/2005/8/layout/vList2"/>
    <dgm:cxn modelId="{5C562476-69B8-430F-BC41-B9F451D3FA6E}" srcId="{0793DA42-1262-43BD-B1B9-085E72FC973D}" destId="{711487F1-D03F-41B6-B128-D9458BAA99EC}" srcOrd="2" destOrd="0" parTransId="{52C19CBF-E96D-469A-B56E-464DA57420F1}" sibTransId="{60D2F744-D31C-415F-9E2E-D436E5204425}"/>
    <dgm:cxn modelId="{E8B41192-EFF8-49DD-86F7-7D1CDEF06438}" srcId="{0793DA42-1262-43BD-B1B9-085E72FC973D}" destId="{448F9088-917D-4C33-B83D-A6B503C38B49}" srcOrd="0" destOrd="0" parTransId="{138CC1BA-2276-4529-B17C-53F3E9496B55}" sibTransId="{CFF9E38C-9923-4650-BF98-4F5FD4F25EA4}"/>
    <dgm:cxn modelId="{2639F7BD-E8A9-1F4F-B07C-40723B68475B}" type="presOf" srcId="{0793DA42-1262-43BD-B1B9-085E72FC973D}" destId="{31002F73-67CC-114B-951C-D88BB4A5A964}" srcOrd="0" destOrd="0" presId="urn:microsoft.com/office/officeart/2005/8/layout/vList2"/>
    <dgm:cxn modelId="{B7F3F0CE-035C-8445-9C86-36AE213A7881}" type="presOf" srcId="{448F9088-917D-4C33-B83D-A6B503C38B49}" destId="{68FA47D5-5D78-0542-AE28-06791169593E}" srcOrd="0" destOrd="0" presId="urn:microsoft.com/office/officeart/2005/8/layout/vList2"/>
    <dgm:cxn modelId="{218FFCD3-AB3B-7543-A258-28473C193D96}" type="presOf" srcId="{CFD8D69A-2BE9-4C9D-A3D5-6A922F6678D4}" destId="{C85D7F3F-1565-484C-8DA9-DADD59FB2218}" srcOrd="0" destOrd="0" presId="urn:microsoft.com/office/officeart/2005/8/layout/vList2"/>
    <dgm:cxn modelId="{580E16F3-37C4-5146-8197-8CBE4DCBF29D}" type="presParOf" srcId="{31002F73-67CC-114B-951C-D88BB4A5A964}" destId="{68FA47D5-5D78-0542-AE28-06791169593E}" srcOrd="0" destOrd="0" presId="urn:microsoft.com/office/officeart/2005/8/layout/vList2"/>
    <dgm:cxn modelId="{EA4CFAB4-34BD-5C4C-A340-946DC4C4C260}" type="presParOf" srcId="{31002F73-67CC-114B-951C-D88BB4A5A964}" destId="{3D654DDE-22E7-0347-8087-2DC51990443A}" srcOrd="1" destOrd="0" presId="urn:microsoft.com/office/officeart/2005/8/layout/vList2"/>
    <dgm:cxn modelId="{3E0FF726-53E3-B840-B4D7-E09B20144537}" type="presParOf" srcId="{31002F73-67CC-114B-951C-D88BB4A5A964}" destId="{C85D7F3F-1565-484C-8DA9-DADD59FB2218}" srcOrd="2" destOrd="0" presId="urn:microsoft.com/office/officeart/2005/8/layout/vList2"/>
    <dgm:cxn modelId="{091B16EC-8669-8440-8736-BD403EF1B54C}" type="presParOf" srcId="{31002F73-67CC-114B-951C-D88BB4A5A964}" destId="{460FEBB5-8159-C642-810F-179150224FB7}" srcOrd="3" destOrd="0" presId="urn:microsoft.com/office/officeart/2005/8/layout/vList2"/>
    <dgm:cxn modelId="{4CAC312B-395D-ED43-B956-034AD262B398}" type="presParOf" srcId="{31002F73-67CC-114B-951C-D88BB4A5A964}" destId="{6514E654-F902-8545-A500-8443B8443F4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ECEB4-B9AF-40EC-BBE6-2C63F65E338E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14CBA-A316-483D-BF3A-9CE151B0FD56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7C4A71-2999-4068-BC9D-973D94989769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Introduces advanced topics in machine learning, with emphasis on unsupervised and self-supervised methods  </a:t>
          </a:r>
        </a:p>
      </dsp:txBody>
      <dsp:txXfrm>
        <a:off x="1099610" y="1878"/>
        <a:ext cx="7129989" cy="952043"/>
      </dsp:txXfrm>
    </dsp:sp>
    <dsp:sp modelId="{AC94B14A-B6F3-46F0-88A6-06630696BE3B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31F3E3-55B9-4CEB-9F4C-A6F0CE619009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BEDFA-176B-4B40-BCF3-BCA7FD1615FE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Explores key techniques: clustering, dimensionality reduction, and modern representation learning  </a:t>
          </a:r>
        </a:p>
      </dsp:txBody>
      <dsp:txXfrm>
        <a:off x="1099610" y="1191932"/>
        <a:ext cx="7129989" cy="952043"/>
      </dsp:txXfrm>
    </dsp:sp>
    <dsp:sp modelId="{54229A77-D24B-463D-ADF4-C27F30A338A2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B0ADD1-7240-4797-94B3-626BA040C846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3A37E-4E1C-488B-B2C8-D9AAA8EA6AF7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Focuses on discovering structure in unlabeled data  </a:t>
          </a:r>
        </a:p>
      </dsp:txBody>
      <dsp:txXfrm>
        <a:off x="1099610" y="2381986"/>
        <a:ext cx="7129989" cy="952043"/>
      </dsp:txXfrm>
    </dsp:sp>
    <dsp:sp modelId="{FCE6F2D6-BAD1-4B3A-9675-EE8A67DDA070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E2FD0-A828-42D6-B115-747E79D7109B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E6957-5F4A-4A31-AC1A-F7C3ADD22B31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Applies methods across diverse domains: computer vision, natural language processing (NLP), healthcare, and finance</a:t>
          </a:r>
        </a:p>
      </dsp:txBody>
      <dsp:txXfrm>
        <a:off x="1099610" y="3572041"/>
        <a:ext cx="7129989" cy="9520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A47D5-5D78-0542-AE28-06791169593E}">
      <dsp:nvSpPr>
        <dsp:cNvPr id="0" name=""/>
        <dsp:cNvSpPr/>
      </dsp:nvSpPr>
      <dsp:spPr>
        <a:xfrm>
          <a:off x="0" y="44203"/>
          <a:ext cx="4083287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Finds patterns in unlabeled data</a:t>
          </a:r>
        </a:p>
      </dsp:txBody>
      <dsp:txXfrm>
        <a:off x="54373" y="98576"/>
        <a:ext cx="3974541" cy="1005094"/>
      </dsp:txXfrm>
    </dsp:sp>
    <dsp:sp modelId="{C85D7F3F-1565-484C-8DA9-DADD59FB2218}">
      <dsp:nvSpPr>
        <dsp:cNvPr id="0" name=""/>
        <dsp:cNvSpPr/>
      </dsp:nvSpPr>
      <dsp:spPr>
        <a:xfrm>
          <a:off x="0" y="1238683"/>
          <a:ext cx="4083287" cy="11138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• Reveals natural groupings or clusters</a:t>
          </a:r>
        </a:p>
      </dsp:txBody>
      <dsp:txXfrm>
        <a:off x="54373" y="1293056"/>
        <a:ext cx="3974541" cy="1005094"/>
      </dsp:txXfrm>
    </dsp:sp>
    <dsp:sp modelId="{6514E654-F902-8545-A500-8443B8443F44}">
      <dsp:nvSpPr>
        <dsp:cNvPr id="0" name=""/>
        <dsp:cNvSpPr/>
      </dsp:nvSpPr>
      <dsp:spPr>
        <a:xfrm>
          <a:off x="0" y="2433163"/>
          <a:ext cx="4083287" cy="11138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Provides insights without costly labeling</a:t>
          </a:r>
        </a:p>
      </dsp:txBody>
      <dsp:txXfrm>
        <a:off x="54373" y="2487536"/>
        <a:ext cx="3974541" cy="1005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F9636B-809F-2140-9ABB-FED362148E3A}"/>
              </a:ext>
            </a:extLst>
          </p:cNvPr>
          <p:cNvSpPr/>
          <p:nvPr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Welcome</a:t>
            </a:r>
          </a:p>
        </p:txBody>
      </p:sp>
      <p:sp>
        <p:nvSpPr>
          <p:cNvPr id="30" name="Shape 68">
            <a:extLst>
              <a:ext uri="{FF2B5EF4-FFF2-40B4-BE49-F238E27FC236}">
                <a16:creationId xmlns:a16="http://schemas.microsoft.com/office/drawing/2014/main" id="{B5EE25DB-2A8F-704E-9FF7-9771B5D83101}"/>
              </a:ext>
            </a:extLst>
          </p:cNvPr>
          <p:cNvSpPr txBox="1"/>
          <p:nvPr/>
        </p:nvSpPr>
        <p:spPr>
          <a:xfrm>
            <a:off x="4435351" y="1513294"/>
            <a:ext cx="4430250" cy="129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6BAED58-4C1F-A14A-A44E-084F6FEC7936}"/>
              </a:ext>
            </a:extLst>
          </p:cNvPr>
          <p:cNvSpPr txBox="1"/>
          <p:nvPr/>
        </p:nvSpPr>
        <p:spPr>
          <a:xfrm>
            <a:off x="4903309" y="1756322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88408-9045-BC39-17C3-679FA4304137}"/>
              </a:ext>
            </a:extLst>
          </p:cNvPr>
          <p:cNvSpPr txBox="1"/>
          <p:nvPr/>
        </p:nvSpPr>
        <p:spPr>
          <a:xfrm>
            <a:off x="1311151" y="1799270"/>
            <a:ext cx="6248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CS 472/572</a:t>
            </a:r>
          </a:p>
          <a:p>
            <a:pPr algn="ctr"/>
            <a:r>
              <a:rPr lang="en-US" sz="4400" b="1" dirty="0"/>
              <a:t>  Unsupervised Machine Learning</a:t>
            </a:r>
            <a:endParaRPr lang="en-US" sz="16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AF5713D-B244-5594-9CF6-D3BAD5B0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6351" y="4208904"/>
            <a:ext cx="6858000" cy="1752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 Spring</a:t>
            </a:r>
            <a:r>
              <a:rPr dirty="0">
                <a:solidFill>
                  <a:schemeClr val="tx1"/>
                </a:solidFill>
              </a:rPr>
              <a:t> 2025</a:t>
            </a:r>
          </a:p>
          <a:p>
            <a:r>
              <a:rPr dirty="0">
                <a:solidFill>
                  <a:schemeClr val="tx1"/>
                </a:solidFill>
              </a:rPr>
              <a:t>Instructor: Dr. Khondker Fariha Hossain</a:t>
            </a:r>
          </a:p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E0BA2A-FF20-6CCE-9B7C-3B9E47537101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588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DB8F-E668-BE6C-4294-3D5F8140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6CFF31-D18D-DA71-C84B-7BDC192CA452}"/>
              </a:ext>
            </a:extLst>
          </p:cNvPr>
          <p:cNvSpPr/>
          <p:nvPr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Course Purpose</a:t>
            </a:r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0" name="Shape 68">
            <a:extLst>
              <a:ext uri="{FF2B5EF4-FFF2-40B4-BE49-F238E27FC236}">
                <a16:creationId xmlns:a16="http://schemas.microsoft.com/office/drawing/2014/main" id="{C3A0B4E5-A8E3-18AA-09B5-5D53B625504C}"/>
              </a:ext>
            </a:extLst>
          </p:cNvPr>
          <p:cNvSpPr txBox="1"/>
          <p:nvPr/>
        </p:nvSpPr>
        <p:spPr>
          <a:xfrm>
            <a:off x="4435351" y="1513294"/>
            <a:ext cx="4430250" cy="129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E0D94E4E-A1D1-6E78-3683-44AB6C81B884}"/>
              </a:ext>
            </a:extLst>
          </p:cNvPr>
          <p:cNvSpPr txBox="1"/>
          <p:nvPr/>
        </p:nvSpPr>
        <p:spPr>
          <a:xfrm>
            <a:off x="4903309" y="1756322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5DCAD3-E8AD-B9D7-FA10-FF683E353F69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Wingdings" pitchFamily="2" charset="2"/>
              <a:buChar char="Ø"/>
            </a:pPr>
            <a:r>
              <a:rPr lang="en-US">
                <a:solidFill>
                  <a:schemeClr val="tx1"/>
                </a:solidFill>
              </a:rPr>
              <a:t>Introduces </a:t>
            </a:r>
            <a:r>
              <a:rPr lang="en-US" b="1">
                <a:solidFill>
                  <a:schemeClr val="tx1"/>
                </a:solidFill>
              </a:rPr>
              <a:t>advanced topics in machine learning</a:t>
            </a:r>
            <a:r>
              <a:rPr lang="en-US">
                <a:solidFill>
                  <a:schemeClr val="tx1"/>
                </a:solidFill>
              </a:rPr>
              <a:t> with emphasis on </a:t>
            </a:r>
            <a:r>
              <a:rPr lang="en-US" b="1">
                <a:solidFill>
                  <a:schemeClr val="tx1"/>
                </a:solidFill>
              </a:rPr>
              <a:t>unsupervised</a:t>
            </a:r>
            <a:r>
              <a:rPr lang="en-US">
                <a:solidFill>
                  <a:schemeClr val="tx1"/>
                </a:solidFill>
              </a:rPr>
              <a:t> and </a:t>
            </a:r>
            <a:r>
              <a:rPr lang="en-US" b="1">
                <a:solidFill>
                  <a:schemeClr val="tx1"/>
                </a:solidFill>
              </a:rPr>
              <a:t>self-supervised</a:t>
            </a:r>
            <a:r>
              <a:rPr lang="en-US">
                <a:solidFill>
                  <a:schemeClr val="tx1"/>
                </a:solidFill>
              </a:rPr>
              <a:t> methods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>
                <a:solidFill>
                  <a:schemeClr val="tx1"/>
                </a:solidFill>
              </a:rPr>
              <a:t>Explores key techniques:</a:t>
            </a: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 b="1">
                <a:solidFill>
                  <a:schemeClr val="tx1"/>
                </a:solidFill>
              </a:rPr>
              <a:t>Clustering</a:t>
            </a:r>
            <a:endParaRPr lang="en-US">
              <a:solidFill>
                <a:schemeClr val="tx1"/>
              </a:solidFill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 b="1">
                <a:solidFill>
                  <a:schemeClr val="tx1"/>
                </a:solidFill>
              </a:rPr>
              <a:t>Dimensionality reduction</a:t>
            </a:r>
            <a:endParaRPr lang="en-US">
              <a:solidFill>
                <a:schemeClr val="tx1"/>
              </a:solidFill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 b="1">
                <a:solidFill>
                  <a:schemeClr val="tx1"/>
                </a:solidFill>
              </a:rPr>
              <a:t>Modern representation learning</a:t>
            </a:r>
            <a:endParaRPr lang="en-US">
              <a:solidFill>
                <a:schemeClr val="tx1"/>
              </a:solidFill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>
                <a:solidFill>
                  <a:schemeClr val="tx1"/>
                </a:solidFill>
              </a:rPr>
              <a:t>Focuses on </a:t>
            </a:r>
            <a:r>
              <a:rPr lang="en-US" b="1">
                <a:solidFill>
                  <a:schemeClr val="tx1"/>
                </a:solidFill>
              </a:rPr>
              <a:t>discovering structure in unlabeled data</a:t>
            </a:r>
            <a:endParaRPr lang="en-US">
              <a:solidFill>
                <a:schemeClr val="tx1"/>
              </a:solidFill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>
                <a:solidFill>
                  <a:schemeClr val="tx1"/>
                </a:solidFill>
              </a:rPr>
              <a:t>Applies methods across diverse domains:</a:t>
            </a: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>
                <a:solidFill>
                  <a:schemeClr val="tx1"/>
                </a:solidFill>
              </a:rPr>
              <a:t>Computer vision</a:t>
            </a: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>
                <a:solidFill>
                  <a:schemeClr val="tx1"/>
                </a:solidFill>
              </a:rPr>
              <a:t>Natural language processing (NLP)</a:t>
            </a: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>
                <a:solidFill>
                  <a:schemeClr val="tx1"/>
                </a:solidFill>
              </a:rPr>
              <a:t>Healthcare</a:t>
            </a: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>
                <a:solidFill>
                  <a:schemeClr val="tx1"/>
                </a:solidFill>
              </a:rPr>
              <a:t>Finance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720E6-ED38-AB62-C676-3721A45B1522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0578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82895-9A61-9ED1-1702-ECE1CEC6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5E1AE7F-C1D8-4CF8-1C0E-F2C8E3CF3292}"/>
              </a:ext>
            </a:extLst>
          </p:cNvPr>
          <p:cNvSpPr/>
          <p:nvPr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/>
              <a:t>Course Purpose</a:t>
            </a:r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0" name="Shape 68">
            <a:extLst>
              <a:ext uri="{FF2B5EF4-FFF2-40B4-BE49-F238E27FC236}">
                <a16:creationId xmlns:a16="http://schemas.microsoft.com/office/drawing/2014/main" id="{93A440FF-DA6E-B9B3-D81E-A0509D99D502}"/>
              </a:ext>
            </a:extLst>
          </p:cNvPr>
          <p:cNvSpPr txBox="1"/>
          <p:nvPr/>
        </p:nvSpPr>
        <p:spPr>
          <a:xfrm>
            <a:off x="4435351" y="1513294"/>
            <a:ext cx="4430250" cy="129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044C942F-AA23-5369-515F-6234B4783384}"/>
              </a:ext>
            </a:extLst>
          </p:cNvPr>
          <p:cNvSpPr txBox="1"/>
          <p:nvPr/>
        </p:nvSpPr>
        <p:spPr>
          <a:xfrm>
            <a:off x="4903309" y="1756322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7AB23-9A4C-85A2-EF15-596CB4A3404C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9AC8446E-ED13-DC47-EA7B-7CACFD544E1B}"/>
              </a:ext>
            </a:extLst>
          </p:cNvPr>
          <p:cNvGraphicFramePr/>
          <p:nvPr/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8168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059C6-BD1C-CF7E-C736-C707CFB85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0A583E9-2E8C-21A7-55B3-427BE7870AD1}"/>
              </a:ext>
            </a:extLst>
          </p:cNvPr>
          <p:cNvSpPr/>
          <p:nvPr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Assessment Breakdown</a:t>
            </a:r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0" name="Shape 68">
            <a:extLst>
              <a:ext uri="{FF2B5EF4-FFF2-40B4-BE49-F238E27FC236}">
                <a16:creationId xmlns:a16="http://schemas.microsoft.com/office/drawing/2014/main" id="{A9CD7189-D923-9296-CD92-EC8FAB95C0AE}"/>
              </a:ext>
            </a:extLst>
          </p:cNvPr>
          <p:cNvSpPr txBox="1"/>
          <p:nvPr/>
        </p:nvSpPr>
        <p:spPr>
          <a:xfrm>
            <a:off x="4435351" y="1513294"/>
            <a:ext cx="4430250" cy="129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9A520A8-6E43-744A-7FB6-CAEFA0243C41}"/>
              </a:ext>
            </a:extLst>
          </p:cNvPr>
          <p:cNvSpPr txBox="1"/>
          <p:nvPr/>
        </p:nvSpPr>
        <p:spPr>
          <a:xfrm>
            <a:off x="4903309" y="1756322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3EF05E-D776-0CFA-F382-D2842E965319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E39CD12-9658-F41E-53BF-816D6F0523BF}"/>
              </a:ext>
            </a:extLst>
          </p:cNvPr>
          <p:cNvSpPr txBox="1">
            <a:spLocks/>
          </p:cNvSpPr>
          <p:nvPr/>
        </p:nvSpPr>
        <p:spPr>
          <a:xfrm>
            <a:off x="479815" y="2282525"/>
            <a:ext cx="8229600" cy="306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• Participation &amp; Quizzes – 10%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• Midterm Exam – 20%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• Group Presentation on SOTA Papers – 30%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• Semester-Long Final Project – 40%</a:t>
            </a:r>
          </a:p>
        </p:txBody>
      </p:sp>
    </p:spTree>
    <p:extLst>
      <p:ext uri="{BB962C8B-B14F-4D97-AF65-F5344CB8AC3E}">
        <p14:creationId xmlns:p14="http://schemas.microsoft.com/office/powerpoint/2010/main" val="167195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71614-EB41-883F-BAA3-7E78E777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800B16-CDE9-0CEB-328C-763CB5C2F88B}"/>
              </a:ext>
            </a:extLst>
          </p:cNvPr>
          <p:cNvSpPr/>
          <p:nvPr/>
        </p:nvSpPr>
        <p:spPr>
          <a:xfrm>
            <a:off x="358485" y="1122363"/>
            <a:ext cx="3017520" cy="3204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Tentative Weekly Schedule Overview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FA185-684D-D9E1-7A19-B88273F55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291" y="0"/>
            <a:ext cx="5503456" cy="6081168"/>
          </a:xfrm>
          <a:prstGeom prst="rect">
            <a:avLst/>
          </a:prstGeom>
        </p:spPr>
      </p:pic>
      <p:sp>
        <p:nvSpPr>
          <p:cNvPr id="30" name="Shape 68">
            <a:extLst>
              <a:ext uri="{FF2B5EF4-FFF2-40B4-BE49-F238E27FC236}">
                <a16:creationId xmlns:a16="http://schemas.microsoft.com/office/drawing/2014/main" id="{18270623-6D5D-7D02-135A-809046188588}"/>
              </a:ext>
            </a:extLst>
          </p:cNvPr>
          <p:cNvSpPr txBox="1"/>
          <p:nvPr/>
        </p:nvSpPr>
        <p:spPr>
          <a:xfrm>
            <a:off x="4435351" y="1513294"/>
            <a:ext cx="4430250" cy="129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D08D189B-7E50-FD56-F770-25C83A70B65B}"/>
              </a:ext>
            </a:extLst>
          </p:cNvPr>
          <p:cNvSpPr txBox="1"/>
          <p:nvPr/>
        </p:nvSpPr>
        <p:spPr>
          <a:xfrm>
            <a:off x="4903309" y="1756322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C9F771-8A12-0529-7D13-9075F91559EA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5100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Student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By the end of this course, students will be able to: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1700" dirty="0"/>
              <a:t>• Explain core concepts of unsupervised and self-supervised learning</a:t>
            </a:r>
          </a:p>
          <a:p>
            <a:pPr marL="0" indent="0">
              <a:buNone/>
            </a:pPr>
            <a:r>
              <a:rPr lang="en-US" sz="1700" dirty="0"/>
              <a:t>• Analyze problems and select appropriate algorithms</a:t>
            </a:r>
          </a:p>
          <a:p>
            <a:pPr marL="0" indent="0">
              <a:buNone/>
            </a:pPr>
            <a:r>
              <a:rPr lang="en-US" sz="1700" dirty="0"/>
              <a:t>• Apply clustering and dimensionality reduction methods to data</a:t>
            </a:r>
          </a:p>
          <a:p>
            <a:pPr marL="0" indent="0">
              <a:buNone/>
            </a:pPr>
            <a:r>
              <a:rPr lang="en-US" sz="1700" dirty="0"/>
              <a:t>• Evaluate algorithms using metrics and validation techniques</a:t>
            </a:r>
          </a:p>
          <a:p>
            <a:pPr marL="0" indent="0">
              <a:buNone/>
            </a:pPr>
            <a:r>
              <a:rPr lang="en-US" sz="1700" dirty="0"/>
              <a:t>• Critically review and present state-of-the-art research</a:t>
            </a:r>
          </a:p>
          <a:p>
            <a:pPr marL="0" indent="0">
              <a:buNone/>
            </a:pPr>
            <a:r>
              <a:rPr lang="en-US" sz="1700" dirty="0"/>
              <a:t>• Design and execute a semester-long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888F9-1808-25A4-BBD8-C375D72AA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3EBC0AA-F60A-65BA-9B01-6988F0322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1254AA-31A1-57F4-60DE-87615CA14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0C93A3-05B0-28B1-3605-FB553FFE8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1ECEB9-7835-EB6B-374F-B1E32DCDD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18E916-FDC0-F57E-1F66-1B60D36DB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95A11-271E-EB18-0AE6-3B8E0078A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Course Expectations &amp;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D1968-58C1-55B0-D065-5366EBC67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486" y="2160153"/>
            <a:ext cx="779518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• Active participation and engagement in class</a:t>
            </a:r>
          </a:p>
          <a:p>
            <a:pPr marL="0" indent="0">
              <a:buNone/>
            </a:pPr>
            <a:r>
              <a:rPr lang="en-US" sz="2400" dirty="0"/>
              <a:t>• Academic integrity is mandatory: plagiarism or cheating will not be tolerated.</a:t>
            </a:r>
          </a:p>
          <a:p>
            <a:pPr marL="0" indent="0">
              <a:buNone/>
            </a:pPr>
            <a:r>
              <a:rPr lang="en-US" sz="2400" dirty="0"/>
              <a:t>• Professional communication (email, presentations)</a:t>
            </a:r>
          </a:p>
          <a:p>
            <a:pPr marL="0" indent="0">
              <a:buNone/>
            </a:pPr>
            <a:r>
              <a:rPr lang="en-US" sz="2400" dirty="0"/>
              <a:t>• Respectful and inclusive classroom environment</a:t>
            </a:r>
          </a:p>
          <a:p>
            <a:pPr marL="0" indent="0">
              <a:buNone/>
            </a:pPr>
            <a:r>
              <a:rPr lang="en-US" sz="2400" dirty="0"/>
              <a:t>• PROJECTS must be submitted on time (no late work)</a:t>
            </a:r>
          </a:p>
        </p:txBody>
      </p:sp>
    </p:spTree>
    <p:extLst>
      <p:ext uri="{BB962C8B-B14F-4D97-AF65-F5344CB8AC3E}">
        <p14:creationId xmlns:p14="http://schemas.microsoft.com/office/powerpoint/2010/main" val="368976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4" name="Rectangle 615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9" name="Freeform: Shape 615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5CA9BBB5-932E-6B68-4051-42F56EAB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Unsupervised Learning is Important?</a:t>
            </a:r>
          </a:p>
        </p:txBody>
      </p:sp>
      <p:pic>
        <p:nvPicPr>
          <p:cNvPr id="6146" name="Picture 2" descr="Process Behaviour Anomaly Detection Using eBPF and Unsupervised-Learning  Autoencoders">
            <a:extLst>
              <a:ext uri="{FF2B5EF4-FFF2-40B4-BE49-F238E27FC236}">
                <a16:creationId xmlns:a16="http://schemas.microsoft.com/office/drawing/2014/main" id="{09BE4D15-FE80-BB33-9C9E-47747F5A8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76821" y="1586434"/>
            <a:ext cx="5419311" cy="368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D0CC6-E586-8B0B-D878-0324C1D4D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C39F8-04EC-6333-AD91-5EBA9C15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698" y="1138036"/>
            <a:ext cx="4198652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Discover Hidden Structure in Data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B15DC8B-7923-AA67-0ECA-375630F16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5658" y="1852526"/>
            <a:ext cx="3704956" cy="3591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03" name="Straight Connector 4102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4053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Content Placeholder 2">
            <a:extLst>
              <a:ext uri="{FF2B5EF4-FFF2-40B4-BE49-F238E27FC236}">
                <a16:creationId xmlns:a16="http://schemas.microsoft.com/office/drawing/2014/main" id="{BE9AD5B1-3504-6F23-3030-AF1310F44F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2773806"/>
              </p:ext>
            </p:extLst>
          </p:nvPr>
        </p:nvGraphicFramePr>
        <p:xfrm>
          <a:off x="4316698" y="2551176"/>
          <a:ext cx="4083287" cy="3591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5515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E278C5-A095-C1AC-C675-EDE179BC8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2393AB-D780-155A-6F47-CEB8864EC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334896"/>
            <a:ext cx="4425612" cy="164297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dirty="0"/>
              <a:t>Simplify Data with 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C7A99-F6A7-03E4-B3B3-0765A038A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70" y="2988022"/>
            <a:ext cx="3986392" cy="189211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dirty="0"/>
              <a:t>• Reduces complexity of high-dimensional data</a:t>
            </a:r>
          </a:p>
          <a:p>
            <a:pPr marL="0" indent="0">
              <a:buNone/>
            </a:pPr>
            <a:r>
              <a:rPr lang="en-US" sz="1700" dirty="0"/>
              <a:t>• Improves visualization and interpretation</a:t>
            </a:r>
          </a:p>
          <a:p>
            <a:pPr marL="0" indent="0">
              <a:buNone/>
            </a:pPr>
            <a:r>
              <a:rPr lang="en-US" sz="1700" dirty="0"/>
              <a:t>• Enables efficient storage and computation</a:t>
            </a:r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22" name="Picture 2" descr="Unsupervised machine learning · ProgrammerHumor.io">
            <a:extLst>
              <a:ext uri="{FF2B5EF4-FFF2-40B4-BE49-F238E27FC236}">
                <a16:creationId xmlns:a16="http://schemas.microsoft.com/office/drawing/2014/main" id="{C7CC8C50-BFE9-08E7-6961-6DB75E49A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46132" y="897797"/>
            <a:ext cx="3886201" cy="4827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2603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2D7C5-0DF2-E335-AA7F-9B3EFE6E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D25DE70-043E-0BA6-225F-96C17571F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9352D4-95D1-4203-CC90-AA9EB15FF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10B9CE-0BBD-C531-A320-721D46CF6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4509D8-28E2-7437-A3A3-AFF91D846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B71B3A-9E9E-B911-8C6C-3CC88E522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2D7A9-D81B-B748-8060-6745AD0A5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 fontScale="90000"/>
          </a:bodyPr>
          <a:lstStyle/>
          <a:p>
            <a:r>
              <a:rPr lang="en-US" sz="3600">
                <a:solidFill>
                  <a:schemeClr val="bg1"/>
                </a:solidFill>
              </a:rPr>
              <a:t>Foundation for Self-Supervised Learning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02CB4-7BAD-6D5B-2B8C-C5A806D0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87" y="2625820"/>
            <a:ext cx="3053847" cy="2640447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• Builds on unsupervised principles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Learns representations without labels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Critical for pretraining large models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D5BF53B-8DAE-F602-BD88-4D31F6AB4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020" y="2219420"/>
            <a:ext cx="5085169" cy="3275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914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0F6BA-1A2C-5311-1D89-33FB93334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BBB4E-B031-8433-1F59-6A5F47CBF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Supervised Vs Unsupervised Vs Self-Supervised Learning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348732E-BA86-4F12-D946-4EA860A58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907771"/>
              </p:ext>
            </p:extLst>
          </p:nvPr>
        </p:nvGraphicFramePr>
        <p:xfrm>
          <a:off x="288308" y="2219951"/>
          <a:ext cx="8627092" cy="407586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94959">
                  <a:extLst>
                    <a:ext uri="{9D8B030D-6E8A-4147-A177-3AD203B41FA5}">
                      <a16:colId xmlns:a16="http://schemas.microsoft.com/office/drawing/2014/main" val="2644557802"/>
                    </a:ext>
                  </a:extLst>
                </a:gridCol>
                <a:gridCol w="2328333">
                  <a:extLst>
                    <a:ext uri="{9D8B030D-6E8A-4147-A177-3AD203B41FA5}">
                      <a16:colId xmlns:a16="http://schemas.microsoft.com/office/drawing/2014/main" val="1592479723"/>
                    </a:ext>
                  </a:extLst>
                </a:gridCol>
                <a:gridCol w="2421467">
                  <a:extLst>
                    <a:ext uri="{9D8B030D-6E8A-4147-A177-3AD203B41FA5}">
                      <a16:colId xmlns:a16="http://schemas.microsoft.com/office/drawing/2014/main" val="223883118"/>
                    </a:ext>
                  </a:extLst>
                </a:gridCol>
                <a:gridCol w="2582333">
                  <a:extLst>
                    <a:ext uri="{9D8B030D-6E8A-4147-A177-3AD203B41FA5}">
                      <a16:colId xmlns:a16="http://schemas.microsoft.com/office/drawing/2014/main" val="780156170"/>
                    </a:ext>
                  </a:extLst>
                </a:gridCol>
              </a:tblGrid>
              <a:tr h="3208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Aspect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Supervised Learning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Unsupervised Learning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Self-Supervised Learning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927520"/>
                  </a:ext>
                </a:extLst>
              </a:tr>
              <a:tr h="524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Data Requirement</a:t>
                      </a:r>
                      <a:endParaRPr lang="en-US" sz="1000"/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Requires </a:t>
                      </a:r>
                      <a:r>
                        <a:rPr lang="en-US" sz="1000" b="1"/>
                        <a:t>labeled data</a:t>
                      </a:r>
                      <a:r>
                        <a:rPr lang="en-US" sz="1000"/>
                        <a:t> (input-output pairs)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Works on </a:t>
                      </a:r>
                      <a:r>
                        <a:rPr lang="en-US" sz="1000" b="1"/>
                        <a:t>unlabeled data</a:t>
                      </a:r>
                      <a:endParaRPr lang="en-US" sz="1000"/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Uses </a:t>
                      </a:r>
                      <a:r>
                        <a:rPr lang="en-US" sz="1000" b="1" dirty="0"/>
                        <a:t>unlabeled data</a:t>
                      </a:r>
                      <a:r>
                        <a:rPr lang="en-US" sz="1000" dirty="0"/>
                        <a:t>, generates labels/signals automatically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564582"/>
                  </a:ext>
                </a:extLst>
              </a:tr>
              <a:tr h="524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Goal</a:t>
                      </a:r>
                      <a:endParaRPr lang="en-US" sz="1000"/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Learn mapping from inputs → outputs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Discover structure, patterns, or groupings in data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Learn </a:t>
                      </a:r>
                      <a:r>
                        <a:rPr lang="en-US" sz="1000" b="1" dirty="0"/>
                        <a:t>representations</a:t>
                      </a:r>
                      <a:r>
                        <a:rPr lang="en-US" sz="1000" dirty="0"/>
                        <a:t> useful for downstream tasks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252807"/>
                  </a:ext>
                </a:extLst>
              </a:tr>
              <a:tr h="727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Examples of Tasks</a:t>
                      </a:r>
                      <a:endParaRPr lang="en-US" sz="1000"/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Classification, regression (e.g., predicting price, spam detection)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Clustering, dimensionality reduction, anomaly detection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Pretraining language/vision models (BERT, </a:t>
                      </a:r>
                      <a:r>
                        <a:rPr lang="en-US" sz="1000" dirty="0" err="1"/>
                        <a:t>SimCLR</a:t>
                      </a:r>
                      <a:r>
                        <a:rPr lang="en-US" sz="1000" dirty="0"/>
                        <a:t>, MAE)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762972"/>
                  </a:ext>
                </a:extLst>
              </a:tr>
              <a:tr h="524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Advantages</a:t>
                      </a:r>
                      <a:endParaRPr lang="en-US" sz="1000"/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High accuracy when labels are available; interpretable outputs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No labeling needed; discovers hidden structures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Scales to massive datasets; enables transfer learning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797379"/>
                  </a:ext>
                </a:extLst>
              </a:tr>
              <a:tr h="727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Limitations</a:t>
                      </a:r>
                      <a:endParaRPr lang="en-US" sz="1000"/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Labeling is expensive, time-consuming, and domain-dependent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Hard to evaluate results; may find spurious patterns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Requires large datasets &amp; compute; evaluation can be indirect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584458"/>
                  </a:ext>
                </a:extLst>
              </a:tr>
              <a:tr h="727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Use Cases</a:t>
                      </a:r>
                      <a:endParaRPr lang="en-US" sz="1000"/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Medical diagnosis (labeled data), speech recognition, fraud detection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Market segmentation, document clustering, anomaly detection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Foundation models, NLP embeddings, vision pretraining</a:t>
                      </a:r>
                    </a:p>
                  </a:txBody>
                  <a:tcPr marL="53987" marR="53987" marT="26994" marB="26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3988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05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70705-FCF3-037F-FBD6-A065EBB09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B490B-0ABA-2CE9-3559-DBA925E59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Applicable Across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74B26-1FDB-A2F5-CD4F-48462E27E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567" y="1885279"/>
            <a:ext cx="4398434" cy="4144169"/>
          </a:xfrm>
        </p:spPr>
        <p:txBody>
          <a:bodyPr anchor="ctr">
            <a:normAutofit fontScale="3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4900" u="sng" dirty="0"/>
              <a:t>1.Cost-Effective: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4300" dirty="0"/>
              <a:t>• Removes need for expensive manual labeling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4300" dirty="0"/>
              <a:t>• Scales easily to large datasets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4300" dirty="0"/>
              <a:t>• Essential in domains with limited annotations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4900" u="sng" dirty="0"/>
              <a:t>2. Supports Knowledge Discovery: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4300" dirty="0"/>
              <a:t>• Explores data without pre-defined categories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4300" dirty="0"/>
              <a:t>• Useful in exploratory analysis and science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4300" dirty="0"/>
              <a:t>• Drives hypothesis generation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4900" u="sng" dirty="0"/>
              <a:t>3. Enhances Other Learning Methods: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4300" dirty="0"/>
              <a:t>• Extracts features to boost supervised learning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4300" dirty="0"/>
              <a:t>• Provides embeddings for transfer learning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4300" dirty="0"/>
              <a:t>• Improves hybrid model performance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</p:txBody>
      </p:sp>
      <p:pic>
        <p:nvPicPr>
          <p:cNvPr id="8194" name="Picture 2" descr="How to Make Money from AI, MIDJOURNEY Graphic by Sofiamastery · Creative  Fabrica">
            <a:extLst>
              <a:ext uri="{FF2B5EF4-FFF2-40B4-BE49-F238E27FC236}">
                <a16:creationId xmlns:a16="http://schemas.microsoft.com/office/drawing/2014/main" id="{6541EFF0-FD2D-C22A-3532-DD1D3671B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187" y="2466994"/>
            <a:ext cx="3973627" cy="2980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136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08367-03C0-5E1E-CF52-5B7A8E673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979E79D9-DF90-4421-A9CD-0E7F73A3E4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04"/>
          <a:stretch>
            <a:fillRect/>
          </a:stretch>
        </p:blipFill>
        <p:spPr bwMode="auto">
          <a:xfrm>
            <a:off x="982133" y="1228572"/>
            <a:ext cx="6417734" cy="55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EE4520-7FB0-6681-9852-102E3090EA39}"/>
              </a:ext>
            </a:extLst>
          </p:cNvPr>
          <p:cNvSpPr txBox="1"/>
          <p:nvPr/>
        </p:nvSpPr>
        <p:spPr>
          <a:xfrm>
            <a:off x="3577167" y="1963436"/>
            <a:ext cx="2548467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CS 472/572: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781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597</Words>
  <Application>Microsoft Office PowerPoint</Application>
  <PresentationFormat>On-screen Show (4:3)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Hiragino Sans W4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Student Learning Outcomes</vt:lpstr>
      <vt:lpstr>Course Expectations &amp; Policies</vt:lpstr>
      <vt:lpstr>Why Unsupervised Learning is Important?</vt:lpstr>
      <vt:lpstr>Discover Hidden Structure in Data</vt:lpstr>
      <vt:lpstr>Simplify Data with Dimensionality Reduction</vt:lpstr>
      <vt:lpstr>Foundation for Self-Supervised Learning</vt:lpstr>
      <vt:lpstr>Supervised Vs Unsupervised Vs Self-Supervised Learning</vt:lpstr>
      <vt:lpstr>Applicable Across Domains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Fariha Hossain</cp:lastModifiedBy>
  <cp:revision>6</cp:revision>
  <dcterms:created xsi:type="dcterms:W3CDTF">2013-01-27T09:14:16Z</dcterms:created>
  <dcterms:modified xsi:type="dcterms:W3CDTF">2026-01-14T16:40:17Z</dcterms:modified>
  <cp:category/>
</cp:coreProperties>
</file>