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Raleway"/>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609DDEE-9C5B-4FC1-B7C0-3D8DFB29F44B}">
  <a:tblStyle styleId="{F609DDEE-9C5B-4FC1-B7C0-3D8DFB29F44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aleway-bold.fntdata"/><Relationship Id="rId16" Type="http://schemas.openxmlformats.org/officeDocument/2006/relationships/font" Target="fonts/Raleway-regular.fntdata"/><Relationship Id="rId5" Type="http://schemas.openxmlformats.org/officeDocument/2006/relationships/slideMaster" Target="slideMasters/slideMaster1.xml"/><Relationship Id="rId19" Type="http://schemas.openxmlformats.org/officeDocument/2006/relationships/font" Target="fonts/Raleway-boldItalic.fntdata"/><Relationship Id="rId6" Type="http://schemas.openxmlformats.org/officeDocument/2006/relationships/notesMaster" Target="notesMasters/notesMaster1.xml"/><Relationship Id="rId18" Type="http://schemas.openxmlformats.org/officeDocument/2006/relationships/font" Target="fonts/Raleway-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e78c00e725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e78c00e725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project looks at Earth-like planetary data and uses density-based clustering to group planets based on their atmospheric composition.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We’re trying to see which planets have similar mixes of gases like oxygen, carbon dioxide, and methane.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Once we group them, we can compare planets to each other and identify which ones are most similar to Earth.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end goal is to help highlight planets that </a:t>
            </a:r>
            <a:r>
              <a:rPr i="1" lang="en">
                <a:solidFill>
                  <a:schemeClr val="dk1"/>
                </a:solidFill>
              </a:rPr>
              <a:t>might</a:t>
            </a:r>
            <a:r>
              <a:rPr lang="en">
                <a:solidFill>
                  <a:schemeClr val="dk1"/>
                </a:solidFill>
              </a:rPr>
              <a:t> have conditions suitable for life based on how similar their atmosphere is to Earth’s.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78c00e72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e78c00e72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At this point, the implementation is fully completed.</a:t>
            </a:r>
            <a:endParaRPr/>
          </a:p>
          <a:p>
            <a:pPr indent="0" lvl="0" marL="0" rtl="0" algn="l">
              <a:lnSpc>
                <a:spcPct val="115000"/>
              </a:lnSpc>
              <a:spcBef>
                <a:spcPts val="1200"/>
              </a:spcBef>
              <a:spcAft>
                <a:spcPts val="0"/>
              </a:spcAft>
              <a:buClr>
                <a:schemeClr val="dk1"/>
              </a:buClr>
              <a:buSzPts val="1100"/>
              <a:buFont typeface="Arial"/>
              <a:buNone/>
            </a:pPr>
            <a:r>
              <a:rPr lang="en"/>
              <a:t>We successfully implemented both DBSCAN and HDBSCAN clustering on our dataset.</a:t>
            </a:r>
            <a:endParaRPr/>
          </a:p>
          <a:p>
            <a:pPr indent="0" lvl="0" marL="0" rtl="0" algn="l">
              <a:lnSpc>
                <a:spcPct val="115000"/>
              </a:lnSpc>
              <a:spcBef>
                <a:spcPts val="1200"/>
              </a:spcBef>
              <a:spcAft>
                <a:spcPts val="0"/>
              </a:spcAft>
              <a:buClr>
                <a:schemeClr val="dk1"/>
              </a:buClr>
              <a:buSzPts val="1100"/>
              <a:buFont typeface="Arial"/>
              <a:buNone/>
            </a:pPr>
            <a:r>
              <a:rPr lang="en"/>
              <a:t>We also generated full visual outputs along with the raw cluster data so we can properly analyze and compare the results.</a:t>
            </a:r>
            <a:endParaRPr/>
          </a:p>
          <a:p>
            <a:pPr indent="0" lvl="0" marL="0" rtl="0" algn="l">
              <a:lnSpc>
                <a:spcPct val="115000"/>
              </a:lnSpc>
              <a:spcBef>
                <a:spcPts val="1200"/>
              </a:spcBef>
              <a:spcAft>
                <a:spcPts val="0"/>
              </a:spcAft>
              <a:buClr>
                <a:schemeClr val="dk1"/>
              </a:buClr>
              <a:buSzPts val="1100"/>
              <a:buFont typeface="Arial"/>
              <a:buNone/>
            </a:pPr>
            <a:r>
              <a:rPr lang="en"/>
              <a:t>When comparing the two, HDBSCAN clearly performed better overall in terms of forming meaningful clusters.</a:t>
            </a:r>
            <a:endParaRPr/>
          </a:p>
          <a:p>
            <a:pPr indent="0" lvl="0" marL="0" rtl="0" algn="l">
              <a:lnSpc>
                <a:spcPct val="115000"/>
              </a:lnSpc>
              <a:spcBef>
                <a:spcPts val="1200"/>
              </a:spcBef>
              <a:spcAft>
                <a:spcPts val="0"/>
              </a:spcAft>
              <a:buNone/>
            </a:pPr>
            <a:r>
              <a:rPr lang="en"/>
              <a:t>One important note is that we had to manually assign Earth to a cluster because DBSCAN and HDBSCAN often labeled it as noise due to how strict the clustering can be with outliers.</a:t>
            </a:r>
            <a:endParaRPr/>
          </a:p>
          <a:p>
            <a:pPr indent="0" lvl="0" marL="0" rtl="0" algn="l">
              <a:lnSpc>
                <a:spcPct val="115000"/>
              </a:lnSpc>
              <a:spcBef>
                <a:spcPts val="1200"/>
              </a:spcBef>
              <a:spcAft>
                <a:spcPts val="0"/>
              </a:spcAft>
              <a:buClr>
                <a:schemeClr val="dk1"/>
              </a:buClr>
              <a:buSzPts val="1100"/>
              <a:buFont typeface="Arial"/>
              <a:buNone/>
            </a:pPr>
            <a:r>
              <a:rPr lang="en"/>
              <a:t>*Explain code is HDBSCAN algo and assigning earth to nearest cluster*</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78c00e725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78c00e725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For preprocessing, we used data from NASA’s Exoplanet Archive, specifically the PSG and INARA dataset.</a:t>
            </a:r>
            <a:endParaRPr/>
          </a:p>
          <a:p>
            <a:pPr indent="0" lvl="0" marL="0" rtl="0" algn="l">
              <a:lnSpc>
                <a:spcPct val="115000"/>
              </a:lnSpc>
              <a:spcBef>
                <a:spcPts val="1200"/>
              </a:spcBef>
              <a:spcAft>
                <a:spcPts val="0"/>
              </a:spcAft>
              <a:buClr>
                <a:schemeClr val="dk1"/>
              </a:buClr>
              <a:buSzPts val="1100"/>
              <a:buFont typeface="Arial"/>
              <a:buNone/>
            </a:pPr>
            <a:r>
              <a:rPr lang="en"/>
              <a:t>We took the first 1,000 entries and split them into two datasets for our experiments.</a:t>
            </a:r>
            <a:endParaRPr/>
          </a:p>
          <a:p>
            <a:pPr indent="0" lvl="0" marL="0" rtl="0" algn="l">
              <a:lnSpc>
                <a:spcPct val="115000"/>
              </a:lnSpc>
              <a:spcBef>
                <a:spcPts val="1200"/>
              </a:spcBef>
              <a:spcAft>
                <a:spcPts val="0"/>
              </a:spcAft>
              <a:buClr>
                <a:schemeClr val="dk1"/>
              </a:buClr>
              <a:buSzPts val="1100"/>
              <a:buFont typeface="Arial"/>
              <a:buNone/>
            </a:pPr>
            <a:r>
              <a:rPr lang="en"/>
              <a:t>The original dataset had 28 features, but we reduced it down to 12 key atmospheric dimensions that were most relevant for clustering.</a:t>
            </a:r>
            <a:endParaRPr/>
          </a:p>
          <a:p>
            <a:pPr indent="0" lvl="0" marL="0" rtl="0" algn="l">
              <a:lnSpc>
                <a:spcPct val="115000"/>
              </a:lnSpc>
              <a:spcBef>
                <a:spcPts val="1200"/>
              </a:spcBef>
              <a:spcAft>
                <a:spcPts val="0"/>
              </a:spcAft>
              <a:buClr>
                <a:schemeClr val="dk1"/>
              </a:buClr>
              <a:buSzPts val="1100"/>
              <a:buFont typeface="Arial"/>
              <a:buNone/>
            </a:pPr>
            <a:r>
              <a:rPr lang="en"/>
              <a:t>All features were then scaled so that no single gas dominated the clustering due to differences in magnitude.</a:t>
            </a:r>
            <a:endParaRPr/>
          </a:p>
          <a:p>
            <a:pPr indent="0" lvl="0" marL="0" rtl="0" algn="l">
              <a:lnSpc>
                <a:spcPct val="115000"/>
              </a:lnSpc>
              <a:spcBef>
                <a:spcPts val="1200"/>
              </a:spcBef>
              <a:spcAft>
                <a:spcPts val="0"/>
              </a:spcAft>
              <a:buNone/>
            </a:pPr>
            <a:r>
              <a:rPr lang="en"/>
              <a:t>Finally, we added an approximate Earth reference point so we could compare how similar other planets are to Earth.</a:t>
            </a:r>
            <a:endParaRPr/>
          </a:p>
          <a:p>
            <a:pPr indent="0" lvl="0" marL="0" rtl="0" algn="l">
              <a:lnSpc>
                <a:spcPct val="115000"/>
              </a:lnSpc>
              <a:spcBef>
                <a:spcPts val="1200"/>
              </a:spcBef>
              <a:spcAft>
                <a:spcPts val="0"/>
              </a:spcAft>
              <a:buNone/>
            </a:pPr>
            <a:r>
              <a:rPr lang="en"/>
              <a:t>*Data at bottom is earth data that we added*</a:t>
            </a:r>
            <a:endParaRPr/>
          </a:p>
          <a:p>
            <a:pPr indent="0" lvl="0" marL="0" rtl="0" algn="l">
              <a:lnSpc>
                <a:spcPct val="115000"/>
              </a:lnSpc>
              <a:spcBef>
                <a:spcPts val="1200"/>
              </a:spcBef>
              <a:spcAft>
                <a:spcPts val="0"/>
              </a:spcAft>
              <a:buClr>
                <a:schemeClr val="dk1"/>
              </a:buClr>
              <a:buSzPts val="1100"/>
              <a:buFont typeface="Arial"/>
              <a:buNone/>
            </a:pPr>
            <a:r>
              <a:rPr lang="en"/>
              <a:t>*Explain code is isolating the features we want to use and adding earth to the dataset*</a:t>
            </a:r>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78c00e725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e78c00e725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 overlap here between Earths clustered points</a:t>
            </a:r>
            <a:endParaRPr/>
          </a:p>
          <a:p>
            <a:pPr indent="0" lvl="0" marL="0" rtl="0" algn="l">
              <a:spcBef>
                <a:spcPts val="0"/>
              </a:spcBef>
              <a:spcAft>
                <a:spcPts val="0"/>
              </a:spcAft>
              <a:buNone/>
            </a:pPr>
            <a:r>
              <a:rPr lang="en"/>
              <a:t>DBSCAN clustered 41 points into 19 clusters</a:t>
            </a:r>
            <a:endParaRPr/>
          </a:p>
          <a:p>
            <a:pPr indent="0" lvl="0" marL="0" rtl="0" algn="l">
              <a:spcBef>
                <a:spcPts val="0"/>
              </a:spcBef>
              <a:spcAft>
                <a:spcPts val="0"/>
              </a:spcAft>
              <a:buNone/>
            </a:pPr>
            <a:r>
              <a:rPr lang="en"/>
              <a:t>HDBSCAN clustered 98 points into 12 clusters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500 POINTS</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78c00e725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78c00e725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code assigns earth to whatever its nearest cluster is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These are all the clusters that Earth was assigned as the most similar to</a:t>
            </a:r>
            <a:endParaRPr/>
          </a:p>
          <a:p>
            <a:pPr indent="0" lvl="0" marL="0" rtl="0" algn="l">
              <a:spcBef>
                <a:spcPts val="0"/>
              </a:spcBef>
              <a:spcAft>
                <a:spcPts val="0"/>
              </a:spcAft>
              <a:buNone/>
            </a:pPr>
            <a:r>
              <a:rPr lang="en"/>
              <a:t>H2O (Water): Around 1%</a:t>
            </a:r>
            <a:endParaRPr/>
          </a:p>
          <a:p>
            <a:pPr indent="0" lvl="0" marL="0" rtl="0" algn="l">
              <a:spcBef>
                <a:spcPts val="0"/>
              </a:spcBef>
              <a:spcAft>
                <a:spcPts val="0"/>
              </a:spcAft>
              <a:buNone/>
            </a:pPr>
            <a:r>
              <a:rPr lang="en"/>
              <a:t>CO2 (Carbon Dioxide): Around 20% and 40%</a:t>
            </a:r>
            <a:endParaRPr/>
          </a:p>
          <a:p>
            <a:pPr indent="0" lvl="0" marL="0" rtl="0" algn="l">
              <a:spcBef>
                <a:spcPts val="0"/>
              </a:spcBef>
              <a:spcAft>
                <a:spcPts val="0"/>
              </a:spcAft>
              <a:buNone/>
            </a:pPr>
            <a:r>
              <a:rPr lang="en"/>
              <a:t>O2 (Oxygen): Around 35% and 20%</a:t>
            </a:r>
            <a:endParaRPr/>
          </a:p>
          <a:p>
            <a:pPr indent="0" lvl="0" marL="0" rtl="0" algn="l">
              <a:spcBef>
                <a:spcPts val="0"/>
              </a:spcBef>
              <a:spcAft>
                <a:spcPts val="0"/>
              </a:spcAft>
              <a:buNone/>
            </a:pPr>
            <a:r>
              <a:rPr lang="en"/>
              <a:t>N2 (Nitrogen): Around 30 and 40%</a:t>
            </a:r>
            <a:endParaRPr/>
          </a:p>
          <a:p>
            <a:pPr indent="0" lvl="0" marL="0" rtl="0" algn="l">
              <a:spcBef>
                <a:spcPts val="0"/>
              </a:spcBef>
              <a:spcAft>
                <a:spcPts val="0"/>
              </a:spcAft>
              <a:buNone/>
            </a:pPr>
            <a:r>
              <a:rPr lang="en"/>
              <a:t>CH4 (Methane): Around 3%</a:t>
            </a:r>
            <a:endParaRPr/>
          </a:p>
          <a:p>
            <a:pPr indent="0" lvl="0" marL="0" rtl="0" algn="l">
              <a:spcBef>
                <a:spcPts val="0"/>
              </a:spcBef>
              <a:spcAft>
                <a:spcPts val="0"/>
              </a:spcAft>
              <a:buNone/>
            </a:pPr>
            <a:r>
              <a:rPr lang="en"/>
              <a:t>N2O (Nitrus Oxide): A bit all over the place below 1%</a:t>
            </a:r>
            <a:endParaRPr/>
          </a:p>
          <a:p>
            <a:pPr indent="0" lvl="0" marL="0" rtl="0" algn="l">
              <a:spcBef>
                <a:spcPts val="0"/>
              </a:spcBef>
              <a:spcAft>
                <a:spcPts val="0"/>
              </a:spcAft>
              <a:buNone/>
            </a:pPr>
            <a:r>
              <a:rPr lang="en"/>
              <a:t>CO (Carbon Monoxide): </a:t>
            </a:r>
            <a:r>
              <a:rPr lang="en">
                <a:solidFill>
                  <a:schemeClr val="dk1"/>
                </a:solidFill>
              </a:rPr>
              <a:t>A bit all over the place below 1%</a:t>
            </a:r>
            <a:endParaRPr>
              <a:solidFill>
                <a:schemeClr val="dk1"/>
              </a:solidFill>
            </a:endParaRPr>
          </a:p>
          <a:p>
            <a:pPr indent="0" lvl="0" marL="0" rtl="0" algn="l">
              <a:spcBef>
                <a:spcPts val="0"/>
              </a:spcBef>
              <a:spcAft>
                <a:spcPts val="0"/>
              </a:spcAft>
              <a:buNone/>
            </a:pPr>
            <a:r>
              <a:rPr lang="en">
                <a:solidFill>
                  <a:schemeClr val="dk1"/>
                </a:solidFill>
              </a:rPr>
              <a:t>O3 (Ozone)</a:t>
            </a:r>
            <a:endParaRPr>
              <a:solidFill>
                <a:schemeClr val="dk1"/>
              </a:solidFill>
            </a:endParaRPr>
          </a:p>
          <a:p>
            <a:pPr indent="0" lvl="0" marL="0" rtl="0" algn="l">
              <a:spcBef>
                <a:spcPts val="0"/>
              </a:spcBef>
              <a:spcAft>
                <a:spcPts val="0"/>
              </a:spcAft>
              <a:buNone/>
            </a:pPr>
            <a:r>
              <a:rPr lang="en">
                <a:solidFill>
                  <a:schemeClr val="dk1"/>
                </a:solidFill>
              </a:rPr>
              <a:t>SO2 (Sulfur Dioxide)</a:t>
            </a:r>
            <a:endParaRPr>
              <a:solidFill>
                <a:schemeClr val="dk1"/>
              </a:solidFill>
            </a:endParaRPr>
          </a:p>
          <a:p>
            <a:pPr indent="0" lvl="0" marL="0" rtl="0" algn="l">
              <a:spcBef>
                <a:spcPts val="0"/>
              </a:spcBef>
              <a:spcAft>
                <a:spcPts val="0"/>
              </a:spcAft>
              <a:buNone/>
            </a:pPr>
            <a:r>
              <a:rPr lang="en">
                <a:solidFill>
                  <a:schemeClr val="dk1"/>
                </a:solidFill>
              </a:rPr>
              <a:t>NH3 (Ammonia) </a:t>
            </a:r>
            <a:endParaRPr>
              <a:solidFill>
                <a:schemeClr val="dk1"/>
              </a:solidFill>
            </a:endParaRPr>
          </a:p>
          <a:p>
            <a:pPr indent="0" lvl="0" marL="0" rtl="0" algn="l">
              <a:spcBef>
                <a:spcPts val="0"/>
              </a:spcBef>
              <a:spcAft>
                <a:spcPts val="0"/>
              </a:spcAft>
              <a:buNone/>
            </a:pPr>
            <a:r>
              <a:rPr lang="en">
                <a:solidFill>
                  <a:schemeClr val="dk1"/>
                </a:solidFill>
              </a:rPr>
              <a:t>C2H6 (Ethane)</a:t>
            </a:r>
            <a:br>
              <a:rPr lang="en">
                <a:solidFill>
                  <a:schemeClr val="dk1"/>
                </a:solidFill>
              </a:rPr>
            </a:br>
            <a:r>
              <a:rPr lang="en">
                <a:solidFill>
                  <a:schemeClr val="dk1"/>
                </a:solidFill>
              </a:rPr>
              <a:t>NO2 (Nitrogen Dioxide)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78c00e72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78c00e72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Carbon Monoxide vs Ammonia</a:t>
            </a:r>
            <a:endParaRPr/>
          </a:p>
          <a:p>
            <a:pPr indent="0" lvl="0" marL="0" rtl="0" algn="l">
              <a:spcBef>
                <a:spcPts val="0"/>
              </a:spcBef>
              <a:spcAft>
                <a:spcPts val="0"/>
              </a:spcAft>
              <a:buNone/>
            </a:pPr>
            <a:r>
              <a:rPr lang="en"/>
              <a:t>Clusters are all over the place, no real correlation between these data points and the clusters they were put in. This leads us to believing that the amounts of these is not meaningful towards the </a:t>
            </a:r>
            <a:r>
              <a:rPr lang="en"/>
              <a:t>clustering</a:t>
            </a:r>
            <a:r>
              <a:rPr lang="en"/>
              <a:t>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Water vs Oxygen</a:t>
            </a:r>
            <a:endParaRPr/>
          </a:p>
          <a:p>
            <a:pPr indent="0" lvl="0" marL="0" rtl="0" algn="l">
              <a:spcBef>
                <a:spcPts val="0"/>
              </a:spcBef>
              <a:spcAft>
                <a:spcPts val="0"/>
              </a:spcAft>
              <a:buNone/>
            </a:pPr>
            <a:r>
              <a:rPr lang="en"/>
              <a:t>Clusters are slightly more organized with included points around eachother more consistently than before. Still not perfect though. This is a great example of earth falling in line with its determined cluster though, which leads us to believe that the amounts of Water and Oxygen is very meaningful to finding similar planets to earth.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Carbon Dioxide vs Nitrogen</a:t>
            </a:r>
            <a:endParaRPr/>
          </a:p>
          <a:p>
            <a:pPr indent="0" lvl="0" marL="0" rtl="0" algn="l">
              <a:spcBef>
                <a:spcPts val="0"/>
              </a:spcBef>
              <a:spcAft>
                <a:spcPts val="0"/>
              </a:spcAft>
              <a:buNone/>
            </a:pPr>
            <a:r>
              <a:rPr lang="en"/>
              <a:t>This is an example of clusters forming very good shapes between two different dimensions which lead to the conclusion that Carbon Dioxide and Nitrogen are also meaningful. However earth is very </a:t>
            </a:r>
            <a:r>
              <a:rPr lang="en"/>
              <a:t>separated</a:t>
            </a:r>
            <a:r>
              <a:rPr lang="en"/>
              <a:t> from its chosen cluster which leads to some questions on how correct these percentages are to a similar earth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All HDBSCAN </a:t>
            </a:r>
            <a:r>
              <a:rPr lang="en"/>
              <a:t>clusters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78c00e725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78c00e725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Points 1 leads to all other dimensions being lower on average</a:t>
            </a:r>
            <a:endParaRPr/>
          </a:p>
          <a:p>
            <a:pPr indent="0" lvl="0" marL="0" rtl="0" algn="l">
              <a:spcBef>
                <a:spcPts val="0"/>
              </a:spcBef>
              <a:spcAft>
                <a:spcPts val="0"/>
              </a:spcAft>
              <a:buNone/>
            </a:pPr>
            <a:r>
              <a:rPr lang="en"/>
              <a:t>Point 2 doesnt fully make up for point 1, most other dimensions likely to be lower than most other points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Low Rate compounds are: </a:t>
            </a:r>
            <a:r>
              <a:rPr lang="en">
                <a:solidFill>
                  <a:schemeClr val="dk1"/>
                </a:solidFill>
              </a:rPr>
              <a:t>Nitrus Oxide, Carbon Monoxide, Ozone, Sulfur Dioxide, Ammonia, Ethane, and Nitrogen Dioxide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HDBSCAN does better at making clusters with different shapes</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78c00e725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e78c00e725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exoplanetarchive.ipac.caltech.edu/docs/contributed_data.html" TargetMode="Externa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github.com/Joseph-Laity/CS472-572-Final-Project" TargetMode="External"/><Relationship Id="rId4" Type="http://schemas.openxmlformats.org/officeDocument/2006/relationships/hyperlink" Target="https://joseph-laity.github.io/CS472-572-Final-Projec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Density Based Clustering of Earth-like Planetary Data</a:t>
            </a:r>
            <a:endParaRPr/>
          </a:p>
        </p:txBody>
      </p:sp>
      <p:sp>
        <p:nvSpPr>
          <p:cNvPr id="59" name="Google Shape;59;p13"/>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Final Presentation CS 472 and 572:</a:t>
            </a:r>
            <a:endParaRPr/>
          </a:p>
          <a:p>
            <a:pPr indent="0" lvl="0" marL="0" rtl="0" algn="l">
              <a:spcBef>
                <a:spcPts val="0"/>
              </a:spcBef>
              <a:spcAft>
                <a:spcPts val="0"/>
              </a:spcAft>
              <a:buNone/>
            </a:pPr>
            <a:r>
              <a:rPr lang="en"/>
              <a:t>Brady Wisniewski and Joseph Laity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we are trying to do</a:t>
            </a:r>
            <a:endParaRPr/>
          </a:p>
        </p:txBody>
      </p:sp>
      <p:sp>
        <p:nvSpPr>
          <p:cNvPr id="65" name="Google Shape;65;p14"/>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 density based clustering on an Earth-like dataset</a:t>
            </a:r>
            <a:endParaRPr/>
          </a:p>
          <a:p>
            <a:pPr indent="0" lvl="0" marL="0" rtl="0" algn="l">
              <a:spcBef>
                <a:spcPts val="1200"/>
              </a:spcBef>
              <a:spcAft>
                <a:spcPts val="0"/>
              </a:spcAft>
              <a:buNone/>
            </a:pPr>
            <a:r>
              <a:rPr lang="en"/>
              <a:t>Find similarities between atmospheric makeup within that dataset</a:t>
            </a:r>
            <a:endParaRPr/>
          </a:p>
          <a:p>
            <a:pPr indent="0" lvl="0" marL="0" rtl="0" algn="l">
              <a:spcBef>
                <a:spcPts val="1200"/>
              </a:spcBef>
              <a:spcAft>
                <a:spcPts val="0"/>
              </a:spcAft>
              <a:buNone/>
            </a:pPr>
            <a:r>
              <a:rPr lang="en"/>
              <a:t>Use that to help differentiate within Earth-like planets</a:t>
            </a:r>
            <a:endParaRPr/>
          </a:p>
          <a:p>
            <a:pPr indent="0" lvl="0" marL="0" rtl="0" algn="l">
              <a:spcBef>
                <a:spcPts val="1200"/>
              </a:spcBef>
              <a:spcAft>
                <a:spcPts val="1200"/>
              </a:spcAft>
              <a:buNone/>
            </a:pPr>
            <a:r>
              <a:rPr lang="en"/>
              <a:t>Help inform where is most likely to support life on discovered exoplanets</a:t>
            </a:r>
            <a:endParaRPr/>
          </a:p>
        </p:txBody>
      </p:sp>
      <p:pic>
        <p:nvPicPr>
          <p:cNvPr descr="a globe with a white background and a few clouds (Provided by Tenor)" id="66" name="Google Shape;66;p14"/>
          <p:cNvPicPr preferRelativeResize="0"/>
          <p:nvPr/>
        </p:nvPicPr>
        <p:blipFill>
          <a:blip r:embed="rId3">
            <a:alphaModFix/>
          </a:blip>
          <a:stretch>
            <a:fillRect/>
          </a:stretch>
        </p:blipFill>
        <p:spPr>
          <a:xfrm>
            <a:off x="4995200" y="922300"/>
            <a:ext cx="3520775" cy="35105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Implementation Update</a:t>
            </a:r>
            <a:endParaRPr/>
          </a:p>
        </p:txBody>
      </p:sp>
      <p:sp>
        <p:nvSpPr>
          <p:cNvPr id="72" name="Google Shape;72;p1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Implementation is fully completed</a:t>
            </a:r>
            <a:endParaRPr/>
          </a:p>
          <a:p>
            <a:pPr indent="0" lvl="0" marL="0" rtl="0" algn="l">
              <a:spcBef>
                <a:spcPts val="1200"/>
              </a:spcBef>
              <a:spcAft>
                <a:spcPts val="0"/>
              </a:spcAft>
              <a:buNone/>
            </a:pPr>
            <a:r>
              <a:rPr lang="en"/>
              <a:t>Both DBSCAN and HDBSCAN are implemented</a:t>
            </a:r>
            <a:endParaRPr/>
          </a:p>
          <a:p>
            <a:pPr indent="0" lvl="0" marL="0" rtl="0" algn="l">
              <a:spcBef>
                <a:spcPts val="1200"/>
              </a:spcBef>
              <a:spcAft>
                <a:spcPts val="0"/>
              </a:spcAft>
              <a:buNone/>
            </a:pPr>
            <a:r>
              <a:rPr lang="en"/>
              <a:t>Complete output of both visuals and raw data to help analyze results</a:t>
            </a:r>
            <a:endParaRPr/>
          </a:p>
          <a:p>
            <a:pPr indent="0" lvl="0" marL="0" rtl="0" algn="l">
              <a:spcBef>
                <a:spcPts val="1200"/>
              </a:spcBef>
              <a:spcAft>
                <a:spcPts val="0"/>
              </a:spcAft>
              <a:buNone/>
            </a:pPr>
            <a:r>
              <a:rPr lang="en"/>
              <a:t>HDBSCAN a clear “winner”</a:t>
            </a:r>
            <a:endParaRPr/>
          </a:p>
          <a:p>
            <a:pPr indent="0" lvl="0" marL="0" rtl="0" algn="l">
              <a:spcBef>
                <a:spcPts val="1200"/>
              </a:spcBef>
              <a:spcAft>
                <a:spcPts val="1200"/>
              </a:spcAft>
              <a:buNone/>
            </a:pPr>
            <a:r>
              <a:rPr lang="en"/>
              <a:t>Had to force include Earth due to high noise </a:t>
            </a:r>
            <a:r>
              <a:rPr lang="en"/>
              <a:t>labeling</a:t>
            </a:r>
            <a:endParaRPr/>
          </a:p>
        </p:txBody>
      </p:sp>
      <p:pic>
        <p:nvPicPr>
          <p:cNvPr id="73" name="Google Shape;73;p15"/>
          <p:cNvPicPr preferRelativeResize="0"/>
          <p:nvPr/>
        </p:nvPicPr>
        <p:blipFill>
          <a:blip r:embed="rId3">
            <a:alphaModFix/>
          </a:blip>
          <a:stretch>
            <a:fillRect/>
          </a:stretch>
        </p:blipFill>
        <p:spPr>
          <a:xfrm>
            <a:off x="5088700" y="427475"/>
            <a:ext cx="3482750" cy="42885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Preprocessing</a:t>
            </a:r>
            <a:endParaRPr/>
          </a:p>
        </p:txBody>
      </p:sp>
      <p:sp>
        <p:nvSpPr>
          <p:cNvPr id="79" name="Google Shape;79;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lang="en"/>
              <a:t>Data gathered from the NASA expolanet archive from the PSG/INARA dataset </a:t>
            </a:r>
            <a:r>
              <a:rPr lang="en" u="sng">
                <a:solidFill>
                  <a:schemeClr val="accent5"/>
                </a:solidFill>
                <a:hlinkClick r:id="rId3">
                  <a:extLst>
                    <a:ext uri="{A12FA001-AC4F-418D-AE19-62706E023703}">
                      <ahyp:hlinkClr val="tx"/>
                    </a:ext>
                  </a:extLst>
                </a:hlinkClick>
              </a:rPr>
              <a:t>https://exoplanetarchive.ipac.caltech.edu/docs/contributed_data.html</a:t>
            </a:r>
            <a:r>
              <a:rPr lang="en"/>
              <a:t> </a:t>
            </a:r>
            <a:endParaRPr/>
          </a:p>
          <a:p>
            <a:pPr indent="0" lvl="0" marL="0" rtl="0" algn="l">
              <a:spcBef>
                <a:spcPts val="1200"/>
              </a:spcBef>
              <a:spcAft>
                <a:spcPts val="0"/>
              </a:spcAft>
              <a:buNone/>
            </a:pPr>
            <a:r>
              <a:rPr lang="en"/>
              <a:t>Seperated the First 1000 entries into two datasets</a:t>
            </a:r>
            <a:endParaRPr/>
          </a:p>
          <a:p>
            <a:pPr indent="0" lvl="0" marL="0" rtl="0" algn="l">
              <a:spcBef>
                <a:spcPts val="1200"/>
              </a:spcBef>
              <a:spcAft>
                <a:spcPts val="0"/>
              </a:spcAft>
              <a:buNone/>
            </a:pPr>
            <a:r>
              <a:rPr lang="en"/>
              <a:t>Cut down from 28 to 12 used dimensions</a:t>
            </a:r>
            <a:endParaRPr/>
          </a:p>
          <a:p>
            <a:pPr indent="0" lvl="0" marL="0" rtl="0" algn="l">
              <a:spcBef>
                <a:spcPts val="1200"/>
              </a:spcBef>
              <a:spcAft>
                <a:spcPts val="0"/>
              </a:spcAft>
              <a:buNone/>
            </a:pPr>
            <a:r>
              <a:rPr lang="en"/>
              <a:t>All features scaled</a:t>
            </a:r>
            <a:endParaRPr/>
          </a:p>
          <a:p>
            <a:pPr indent="0" lvl="0" marL="0" rtl="0" algn="l">
              <a:spcBef>
                <a:spcPts val="1200"/>
              </a:spcBef>
              <a:spcAft>
                <a:spcPts val="1200"/>
              </a:spcAft>
              <a:buNone/>
            </a:pPr>
            <a:r>
              <a:rPr lang="en"/>
              <a:t>Added an approximate version of Earth to the dataset</a:t>
            </a:r>
            <a:endParaRPr/>
          </a:p>
        </p:txBody>
      </p:sp>
      <p:graphicFrame>
        <p:nvGraphicFramePr>
          <p:cNvPr id="80" name="Google Shape;80;p16"/>
          <p:cNvGraphicFramePr/>
          <p:nvPr/>
        </p:nvGraphicFramePr>
        <p:xfrm>
          <a:off x="0" y="4091271"/>
          <a:ext cx="3000000" cy="3000000"/>
        </p:xfrm>
        <a:graphic>
          <a:graphicData uri="http://schemas.openxmlformats.org/drawingml/2006/table">
            <a:tbl>
              <a:tblPr>
                <a:noFill/>
                <a:tableStyleId>{F609DDEE-9C5B-4FC1-B7C0-3D8DFB29F44B}</a:tableStyleId>
              </a:tblPr>
              <a:tblGrid>
                <a:gridCol w="762000"/>
                <a:gridCol w="762000"/>
                <a:gridCol w="762000"/>
                <a:gridCol w="762000"/>
                <a:gridCol w="762000"/>
                <a:gridCol w="762000"/>
                <a:gridCol w="762000"/>
                <a:gridCol w="762000"/>
                <a:gridCol w="762000"/>
                <a:gridCol w="762000"/>
                <a:gridCol w="762000"/>
                <a:gridCol w="762000"/>
              </a:tblGrid>
              <a:tr h="381000">
                <a:tc>
                  <a:txBody>
                    <a:bodyPr/>
                    <a:lstStyle/>
                    <a:p>
                      <a:pPr indent="0" lvl="0" marL="0" rtl="0" algn="l">
                        <a:spcBef>
                          <a:spcPts val="0"/>
                        </a:spcBef>
                        <a:spcAft>
                          <a:spcPts val="0"/>
                        </a:spcAft>
                        <a:buNone/>
                      </a:pPr>
                      <a:r>
                        <a:rPr lang="en"/>
                        <a:t>H2O</a:t>
                      </a:r>
                      <a:endParaRPr/>
                    </a:p>
                  </a:txBody>
                  <a:tcPr marT="91425" marB="91425" marR="91425" marL="91425"/>
                </a:tc>
                <a:tc>
                  <a:txBody>
                    <a:bodyPr/>
                    <a:lstStyle/>
                    <a:p>
                      <a:pPr indent="0" lvl="0" marL="0" rtl="0" algn="l">
                        <a:spcBef>
                          <a:spcPts val="0"/>
                        </a:spcBef>
                        <a:spcAft>
                          <a:spcPts val="0"/>
                        </a:spcAft>
                        <a:buNone/>
                      </a:pPr>
                      <a:r>
                        <a:rPr lang="en"/>
                        <a:t>CO2</a:t>
                      </a:r>
                      <a:endParaRPr/>
                    </a:p>
                  </a:txBody>
                  <a:tcPr marT="91425" marB="91425" marR="91425" marL="91425"/>
                </a:tc>
                <a:tc>
                  <a:txBody>
                    <a:bodyPr/>
                    <a:lstStyle/>
                    <a:p>
                      <a:pPr indent="0" lvl="0" marL="0" rtl="0" algn="l">
                        <a:spcBef>
                          <a:spcPts val="0"/>
                        </a:spcBef>
                        <a:spcAft>
                          <a:spcPts val="0"/>
                        </a:spcAft>
                        <a:buNone/>
                      </a:pPr>
                      <a:r>
                        <a:rPr lang="en"/>
                        <a:t>O2</a:t>
                      </a:r>
                      <a:endParaRPr/>
                    </a:p>
                  </a:txBody>
                  <a:tcPr marT="91425" marB="91425" marR="91425" marL="91425"/>
                </a:tc>
                <a:tc>
                  <a:txBody>
                    <a:bodyPr/>
                    <a:lstStyle/>
                    <a:p>
                      <a:pPr indent="0" lvl="0" marL="0" rtl="0" algn="l">
                        <a:spcBef>
                          <a:spcPts val="0"/>
                        </a:spcBef>
                        <a:spcAft>
                          <a:spcPts val="0"/>
                        </a:spcAft>
                        <a:buNone/>
                      </a:pPr>
                      <a:r>
                        <a:rPr lang="en"/>
                        <a:t>N2</a:t>
                      </a:r>
                      <a:endParaRPr/>
                    </a:p>
                  </a:txBody>
                  <a:tcPr marT="91425" marB="91425" marR="91425" marL="91425"/>
                </a:tc>
                <a:tc>
                  <a:txBody>
                    <a:bodyPr/>
                    <a:lstStyle/>
                    <a:p>
                      <a:pPr indent="0" lvl="0" marL="0" rtl="0" algn="l">
                        <a:spcBef>
                          <a:spcPts val="0"/>
                        </a:spcBef>
                        <a:spcAft>
                          <a:spcPts val="0"/>
                        </a:spcAft>
                        <a:buNone/>
                      </a:pPr>
                      <a:r>
                        <a:rPr lang="en"/>
                        <a:t>CH4</a:t>
                      </a:r>
                      <a:endParaRPr/>
                    </a:p>
                  </a:txBody>
                  <a:tcPr marT="91425" marB="91425" marR="91425" marL="91425"/>
                </a:tc>
                <a:tc>
                  <a:txBody>
                    <a:bodyPr/>
                    <a:lstStyle/>
                    <a:p>
                      <a:pPr indent="0" lvl="0" marL="0" rtl="0" algn="l">
                        <a:spcBef>
                          <a:spcPts val="0"/>
                        </a:spcBef>
                        <a:spcAft>
                          <a:spcPts val="0"/>
                        </a:spcAft>
                        <a:buNone/>
                      </a:pPr>
                      <a:r>
                        <a:rPr lang="en"/>
                        <a:t>N2O</a:t>
                      </a:r>
                      <a:endParaRPr/>
                    </a:p>
                  </a:txBody>
                  <a:tcPr marT="91425" marB="91425" marR="91425" marL="91425"/>
                </a:tc>
                <a:tc>
                  <a:txBody>
                    <a:bodyPr/>
                    <a:lstStyle/>
                    <a:p>
                      <a:pPr indent="0" lvl="0" marL="0" rtl="0" algn="l">
                        <a:spcBef>
                          <a:spcPts val="0"/>
                        </a:spcBef>
                        <a:spcAft>
                          <a:spcPts val="0"/>
                        </a:spcAft>
                        <a:buNone/>
                      </a:pPr>
                      <a:r>
                        <a:rPr lang="en"/>
                        <a:t>CO</a:t>
                      </a:r>
                      <a:endParaRPr/>
                    </a:p>
                  </a:txBody>
                  <a:tcPr marT="91425" marB="91425" marR="91425" marL="91425"/>
                </a:tc>
                <a:tc>
                  <a:txBody>
                    <a:bodyPr/>
                    <a:lstStyle/>
                    <a:p>
                      <a:pPr indent="0" lvl="0" marL="0" rtl="0" algn="l">
                        <a:spcBef>
                          <a:spcPts val="0"/>
                        </a:spcBef>
                        <a:spcAft>
                          <a:spcPts val="0"/>
                        </a:spcAft>
                        <a:buNone/>
                      </a:pPr>
                      <a:r>
                        <a:rPr lang="en"/>
                        <a:t>O3</a:t>
                      </a:r>
                      <a:endParaRPr/>
                    </a:p>
                  </a:txBody>
                  <a:tcPr marT="91425" marB="91425" marR="91425" marL="91425"/>
                </a:tc>
                <a:tc>
                  <a:txBody>
                    <a:bodyPr/>
                    <a:lstStyle/>
                    <a:p>
                      <a:pPr indent="0" lvl="0" marL="0" rtl="0" algn="l">
                        <a:spcBef>
                          <a:spcPts val="0"/>
                        </a:spcBef>
                        <a:spcAft>
                          <a:spcPts val="0"/>
                        </a:spcAft>
                        <a:buNone/>
                      </a:pPr>
                      <a:r>
                        <a:rPr lang="en"/>
                        <a:t>SO2</a:t>
                      </a:r>
                      <a:endParaRPr/>
                    </a:p>
                  </a:txBody>
                  <a:tcPr marT="91425" marB="91425" marR="91425" marL="91425"/>
                </a:tc>
                <a:tc>
                  <a:txBody>
                    <a:bodyPr/>
                    <a:lstStyle/>
                    <a:p>
                      <a:pPr indent="0" lvl="0" marL="0" rtl="0" algn="l">
                        <a:spcBef>
                          <a:spcPts val="0"/>
                        </a:spcBef>
                        <a:spcAft>
                          <a:spcPts val="0"/>
                        </a:spcAft>
                        <a:buNone/>
                      </a:pPr>
                      <a:r>
                        <a:rPr lang="en"/>
                        <a:t>NH3</a:t>
                      </a:r>
                      <a:endParaRPr/>
                    </a:p>
                  </a:txBody>
                  <a:tcPr marT="91425" marB="91425" marR="91425" marL="91425"/>
                </a:tc>
                <a:tc>
                  <a:txBody>
                    <a:bodyPr/>
                    <a:lstStyle/>
                    <a:p>
                      <a:pPr indent="0" lvl="0" marL="0" rtl="0" algn="l">
                        <a:spcBef>
                          <a:spcPts val="0"/>
                        </a:spcBef>
                        <a:spcAft>
                          <a:spcPts val="0"/>
                        </a:spcAft>
                        <a:buNone/>
                      </a:pPr>
                      <a:r>
                        <a:rPr lang="en"/>
                        <a:t>C2H6</a:t>
                      </a:r>
                      <a:endParaRPr/>
                    </a:p>
                  </a:txBody>
                  <a:tcPr marT="91425" marB="91425" marR="91425" marL="91425"/>
                </a:tc>
                <a:tc>
                  <a:txBody>
                    <a:bodyPr/>
                    <a:lstStyle/>
                    <a:p>
                      <a:pPr indent="0" lvl="0" marL="0" rtl="0" algn="l">
                        <a:spcBef>
                          <a:spcPts val="0"/>
                        </a:spcBef>
                        <a:spcAft>
                          <a:spcPts val="0"/>
                        </a:spcAft>
                        <a:buNone/>
                      </a:pPr>
                      <a:r>
                        <a:rPr lang="en"/>
                        <a:t>NO2</a:t>
                      </a:r>
                      <a:endParaRPr/>
                    </a:p>
                  </a:txBody>
                  <a:tcPr marT="91425" marB="91425" marR="91425" marL="91425"/>
                </a:tc>
              </a:tr>
              <a:tr h="381000">
                <a:tc>
                  <a:txBody>
                    <a:bodyPr/>
                    <a:lstStyle/>
                    <a:p>
                      <a:pPr indent="0" lvl="0" marL="0" rtl="0" algn="l">
                        <a:spcBef>
                          <a:spcPts val="0"/>
                        </a:spcBef>
                        <a:spcAft>
                          <a:spcPts val="0"/>
                        </a:spcAft>
                        <a:buNone/>
                      </a:pPr>
                      <a:r>
                        <a:rPr lang="en" sz="800"/>
                        <a:t>.010000</a:t>
                      </a:r>
                      <a:endParaRPr sz="800"/>
                    </a:p>
                  </a:txBody>
                  <a:tcPr marT="91425" marB="91425" marR="91425" marL="91425"/>
                </a:tc>
                <a:tc>
                  <a:txBody>
                    <a:bodyPr/>
                    <a:lstStyle/>
                    <a:p>
                      <a:pPr indent="0" lvl="0" marL="0" rtl="0" algn="l">
                        <a:spcBef>
                          <a:spcPts val="0"/>
                        </a:spcBef>
                        <a:spcAft>
                          <a:spcPts val="0"/>
                        </a:spcAft>
                        <a:buNone/>
                      </a:pPr>
                      <a:r>
                        <a:rPr lang="en" sz="800"/>
                        <a:t>.000420</a:t>
                      </a:r>
                      <a:endParaRPr sz="800"/>
                    </a:p>
                  </a:txBody>
                  <a:tcPr marT="91425" marB="91425" marR="91425" marL="91425"/>
                </a:tc>
                <a:tc>
                  <a:txBody>
                    <a:bodyPr/>
                    <a:lstStyle/>
                    <a:p>
                      <a:pPr indent="0" lvl="0" marL="0" rtl="0" algn="l">
                        <a:spcBef>
                          <a:spcPts val="0"/>
                        </a:spcBef>
                        <a:spcAft>
                          <a:spcPts val="0"/>
                        </a:spcAft>
                        <a:buNone/>
                      </a:pPr>
                      <a:r>
                        <a:rPr lang="en" sz="800"/>
                        <a:t>.207000</a:t>
                      </a:r>
                      <a:endParaRPr sz="800"/>
                    </a:p>
                  </a:txBody>
                  <a:tcPr marT="91425" marB="91425" marR="91425" marL="91425"/>
                </a:tc>
                <a:tc>
                  <a:txBody>
                    <a:bodyPr/>
                    <a:lstStyle/>
                    <a:p>
                      <a:pPr indent="0" lvl="0" marL="0" rtl="0" algn="l">
                        <a:spcBef>
                          <a:spcPts val="0"/>
                        </a:spcBef>
                        <a:spcAft>
                          <a:spcPts val="0"/>
                        </a:spcAft>
                        <a:buNone/>
                      </a:pPr>
                      <a:r>
                        <a:rPr lang="en" sz="800"/>
                        <a:t>.772000</a:t>
                      </a:r>
                      <a:endParaRPr sz="800"/>
                    </a:p>
                  </a:txBody>
                  <a:tcPr marT="91425" marB="91425" marR="91425" marL="91425"/>
                </a:tc>
                <a:tc>
                  <a:txBody>
                    <a:bodyPr/>
                    <a:lstStyle/>
                    <a:p>
                      <a:pPr indent="0" lvl="0" marL="0" rtl="0" algn="l">
                        <a:spcBef>
                          <a:spcPts val="0"/>
                        </a:spcBef>
                        <a:spcAft>
                          <a:spcPts val="0"/>
                        </a:spcAft>
                        <a:buNone/>
                      </a:pPr>
                      <a:r>
                        <a:rPr lang="en" sz="800"/>
                        <a:t>.0000019</a:t>
                      </a:r>
                      <a:endParaRPr sz="800"/>
                    </a:p>
                  </a:txBody>
                  <a:tcPr marT="91425" marB="91425" marR="91425" marL="91425"/>
                </a:tc>
                <a:tc>
                  <a:txBody>
                    <a:bodyPr/>
                    <a:lstStyle/>
                    <a:p>
                      <a:pPr indent="0" lvl="0" marL="0" rtl="0" algn="l">
                        <a:spcBef>
                          <a:spcPts val="0"/>
                        </a:spcBef>
                        <a:spcAft>
                          <a:spcPts val="0"/>
                        </a:spcAft>
                        <a:buNone/>
                      </a:pPr>
                      <a:r>
                        <a:rPr lang="en" sz="800"/>
                        <a:t>.0000003</a:t>
                      </a:r>
                      <a:endParaRPr sz="800"/>
                    </a:p>
                  </a:txBody>
                  <a:tcPr marT="91425" marB="91425" marR="91425" marL="91425"/>
                </a:tc>
                <a:tc>
                  <a:txBody>
                    <a:bodyPr/>
                    <a:lstStyle/>
                    <a:p>
                      <a:pPr indent="0" lvl="0" marL="0" rtl="0" algn="l">
                        <a:spcBef>
                          <a:spcPts val="0"/>
                        </a:spcBef>
                        <a:spcAft>
                          <a:spcPts val="0"/>
                        </a:spcAft>
                        <a:buNone/>
                      </a:pPr>
                      <a:r>
                        <a:rPr lang="en" sz="800"/>
                        <a:t>.0000001</a:t>
                      </a:r>
                      <a:endParaRPr sz="800"/>
                    </a:p>
                  </a:txBody>
                  <a:tcPr marT="91425" marB="91425" marR="91425" marL="91425"/>
                </a:tc>
                <a:tc>
                  <a:txBody>
                    <a:bodyPr/>
                    <a:lstStyle/>
                    <a:p>
                      <a:pPr indent="0" lvl="0" marL="0" rtl="0" algn="l">
                        <a:spcBef>
                          <a:spcPts val="0"/>
                        </a:spcBef>
                        <a:spcAft>
                          <a:spcPts val="0"/>
                        </a:spcAft>
                        <a:buNone/>
                      </a:pPr>
                      <a:r>
                        <a:rPr lang="en" sz="800"/>
                        <a:t>.00000007</a:t>
                      </a:r>
                      <a:endParaRPr sz="800"/>
                    </a:p>
                  </a:txBody>
                  <a:tcPr marT="91425" marB="91425" marR="91425" marL="91425"/>
                </a:tc>
                <a:tc>
                  <a:txBody>
                    <a:bodyPr/>
                    <a:lstStyle/>
                    <a:p>
                      <a:pPr indent="0" lvl="0" marL="0" rtl="0" algn="l">
                        <a:spcBef>
                          <a:spcPts val="0"/>
                        </a:spcBef>
                        <a:spcAft>
                          <a:spcPts val="0"/>
                        </a:spcAft>
                        <a:buNone/>
                      </a:pPr>
                      <a:r>
                        <a:rPr lang="en" sz="800"/>
                        <a:t>.00000001</a:t>
                      </a:r>
                      <a:endParaRPr sz="800"/>
                    </a:p>
                  </a:txBody>
                  <a:tcPr marT="91425" marB="91425" marR="91425" marL="91425"/>
                </a:tc>
                <a:tc>
                  <a:txBody>
                    <a:bodyPr/>
                    <a:lstStyle/>
                    <a:p>
                      <a:pPr indent="0" lvl="0" marL="0" rtl="0" algn="l">
                        <a:spcBef>
                          <a:spcPts val="0"/>
                        </a:spcBef>
                        <a:spcAft>
                          <a:spcPts val="0"/>
                        </a:spcAft>
                        <a:buNone/>
                      </a:pPr>
                      <a:r>
                        <a:rPr lang="en" sz="800"/>
                        <a:t>.000000001</a:t>
                      </a:r>
                      <a:endParaRPr sz="800"/>
                    </a:p>
                  </a:txBody>
                  <a:tcPr marT="91425" marB="91425" marR="91425" marL="91425"/>
                </a:tc>
                <a:tc>
                  <a:txBody>
                    <a:bodyPr/>
                    <a:lstStyle/>
                    <a:p>
                      <a:pPr indent="0" lvl="0" marL="0" rtl="0" algn="l">
                        <a:spcBef>
                          <a:spcPts val="0"/>
                        </a:spcBef>
                        <a:spcAft>
                          <a:spcPts val="0"/>
                        </a:spcAft>
                        <a:buNone/>
                      </a:pPr>
                      <a:r>
                        <a:rPr lang="en" sz="800"/>
                        <a:t>.000000002</a:t>
                      </a:r>
                      <a:endParaRPr sz="800"/>
                    </a:p>
                  </a:txBody>
                  <a:tcPr marT="91425" marB="91425" marR="91425" marL="91425"/>
                </a:tc>
                <a:tc>
                  <a:txBody>
                    <a:bodyPr/>
                    <a:lstStyle/>
                    <a:p>
                      <a:pPr indent="0" lvl="0" marL="0" rtl="0" algn="l">
                        <a:spcBef>
                          <a:spcPts val="0"/>
                        </a:spcBef>
                        <a:spcAft>
                          <a:spcPts val="0"/>
                        </a:spcAft>
                        <a:buNone/>
                      </a:pPr>
                      <a:r>
                        <a:rPr lang="en" sz="800"/>
                        <a:t>.00000002</a:t>
                      </a:r>
                      <a:endParaRPr sz="800"/>
                    </a:p>
                  </a:txBody>
                  <a:tcPr marT="91425" marB="91425" marR="91425" marL="91425"/>
                </a:tc>
              </a:tr>
            </a:tbl>
          </a:graphicData>
        </a:graphic>
      </p:graphicFrame>
      <p:pic>
        <p:nvPicPr>
          <p:cNvPr id="81" name="Google Shape;81;p16"/>
          <p:cNvPicPr preferRelativeResize="0"/>
          <p:nvPr/>
        </p:nvPicPr>
        <p:blipFill>
          <a:blip r:embed="rId4">
            <a:alphaModFix/>
          </a:blip>
          <a:stretch>
            <a:fillRect/>
          </a:stretch>
        </p:blipFill>
        <p:spPr>
          <a:xfrm>
            <a:off x="5206850" y="1946065"/>
            <a:ext cx="3803275" cy="1477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Initial Results</a:t>
            </a:r>
            <a:endParaRPr/>
          </a:p>
        </p:txBody>
      </p:sp>
      <p:sp>
        <p:nvSpPr>
          <p:cNvPr id="87" name="Google Shape;87;p17"/>
          <p:cNvSpPr txBox="1"/>
          <p:nvPr>
            <p:ph idx="1" type="body"/>
          </p:nvPr>
        </p:nvSpPr>
        <p:spPr>
          <a:xfrm>
            <a:off x="311700" y="1152475"/>
            <a:ext cx="3999900" cy="3760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DBSCAN:</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Earth clustered with 4 other exoplanets</a:t>
            </a:r>
            <a:endParaRPr/>
          </a:p>
        </p:txBody>
      </p:sp>
      <p:sp>
        <p:nvSpPr>
          <p:cNvPr id="88" name="Google Shape;88;p17"/>
          <p:cNvSpPr txBox="1"/>
          <p:nvPr>
            <p:ph idx="2" type="body"/>
          </p:nvPr>
        </p:nvSpPr>
        <p:spPr>
          <a:xfrm>
            <a:off x="4832400" y="1152475"/>
            <a:ext cx="3999900" cy="3760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HDBSCAN:</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Earth clustered with 7 other exoplanets</a:t>
            </a:r>
            <a:endParaRPr/>
          </a:p>
        </p:txBody>
      </p:sp>
      <p:pic>
        <p:nvPicPr>
          <p:cNvPr id="89" name="Google Shape;89;p17"/>
          <p:cNvPicPr preferRelativeResize="0"/>
          <p:nvPr/>
        </p:nvPicPr>
        <p:blipFill>
          <a:blip r:embed="rId3">
            <a:alphaModFix/>
          </a:blip>
          <a:stretch>
            <a:fillRect/>
          </a:stretch>
        </p:blipFill>
        <p:spPr>
          <a:xfrm>
            <a:off x="4832400" y="1580650"/>
            <a:ext cx="3589524" cy="2692150"/>
          </a:xfrm>
          <a:prstGeom prst="rect">
            <a:avLst/>
          </a:prstGeom>
          <a:noFill/>
          <a:ln>
            <a:noFill/>
          </a:ln>
        </p:spPr>
      </p:pic>
      <p:pic>
        <p:nvPicPr>
          <p:cNvPr id="90" name="Google Shape;90;p17"/>
          <p:cNvPicPr preferRelativeResize="0"/>
          <p:nvPr/>
        </p:nvPicPr>
        <p:blipFill>
          <a:blip r:embed="rId4">
            <a:alphaModFix/>
          </a:blip>
          <a:stretch>
            <a:fillRect/>
          </a:stretch>
        </p:blipFill>
        <p:spPr>
          <a:xfrm>
            <a:off x="311700" y="1580650"/>
            <a:ext cx="3589526" cy="269214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Insights</a:t>
            </a:r>
            <a:endParaRPr/>
          </a:p>
        </p:txBody>
      </p:sp>
      <p:sp>
        <p:nvSpPr>
          <p:cNvPr id="96" name="Google Shape;96;p18"/>
          <p:cNvSpPr txBox="1"/>
          <p:nvPr>
            <p:ph idx="1" type="body"/>
          </p:nvPr>
        </p:nvSpPr>
        <p:spPr>
          <a:xfrm>
            <a:off x="311700" y="1644231"/>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HDBSCAN:</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DBSCAN:</a:t>
            </a:r>
            <a:endParaRPr/>
          </a:p>
        </p:txBody>
      </p:sp>
      <p:pic>
        <p:nvPicPr>
          <p:cNvPr id="97" name="Google Shape;97;p18"/>
          <p:cNvPicPr preferRelativeResize="0"/>
          <p:nvPr/>
        </p:nvPicPr>
        <p:blipFill>
          <a:blip r:embed="rId3">
            <a:alphaModFix/>
          </a:blip>
          <a:stretch>
            <a:fillRect/>
          </a:stretch>
        </p:blipFill>
        <p:spPr>
          <a:xfrm>
            <a:off x="311700" y="2024657"/>
            <a:ext cx="7977549" cy="1515900"/>
          </a:xfrm>
          <a:prstGeom prst="rect">
            <a:avLst/>
          </a:prstGeom>
          <a:noFill/>
          <a:ln>
            <a:noFill/>
          </a:ln>
        </p:spPr>
      </p:pic>
      <p:pic>
        <p:nvPicPr>
          <p:cNvPr id="98" name="Google Shape;98;p18"/>
          <p:cNvPicPr preferRelativeResize="0"/>
          <p:nvPr/>
        </p:nvPicPr>
        <p:blipFill>
          <a:blip r:embed="rId4">
            <a:alphaModFix/>
          </a:blip>
          <a:stretch>
            <a:fillRect/>
          </a:stretch>
        </p:blipFill>
        <p:spPr>
          <a:xfrm>
            <a:off x="311700" y="3954931"/>
            <a:ext cx="7977549" cy="964652"/>
          </a:xfrm>
          <a:prstGeom prst="rect">
            <a:avLst/>
          </a:prstGeom>
          <a:noFill/>
          <a:ln>
            <a:noFill/>
          </a:ln>
        </p:spPr>
      </p:pic>
      <p:pic>
        <p:nvPicPr>
          <p:cNvPr id="99" name="Google Shape;99;p18"/>
          <p:cNvPicPr preferRelativeResize="0"/>
          <p:nvPr/>
        </p:nvPicPr>
        <p:blipFill>
          <a:blip r:embed="rId5">
            <a:alphaModFix/>
          </a:blip>
          <a:stretch>
            <a:fillRect/>
          </a:stretch>
        </p:blipFill>
        <p:spPr>
          <a:xfrm>
            <a:off x="6249275" y="0"/>
            <a:ext cx="2894724" cy="1937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Meaningful vs not Meaningful Data</a:t>
            </a:r>
            <a:endParaRPr/>
          </a:p>
        </p:txBody>
      </p:sp>
      <p:sp>
        <p:nvSpPr>
          <p:cNvPr id="105" name="Google Shape;10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6" name="Google Shape;106;p19" title="hdbscan_CO_vs_NH3.png"/>
          <p:cNvPicPr preferRelativeResize="0"/>
          <p:nvPr/>
        </p:nvPicPr>
        <p:blipFill>
          <a:blip r:embed="rId3">
            <a:alphaModFix/>
          </a:blip>
          <a:stretch>
            <a:fillRect/>
          </a:stretch>
        </p:blipFill>
        <p:spPr>
          <a:xfrm>
            <a:off x="0" y="1773250"/>
            <a:ext cx="3122074" cy="2341549"/>
          </a:xfrm>
          <a:prstGeom prst="rect">
            <a:avLst/>
          </a:prstGeom>
          <a:noFill/>
          <a:ln>
            <a:noFill/>
          </a:ln>
        </p:spPr>
      </p:pic>
      <p:pic>
        <p:nvPicPr>
          <p:cNvPr id="107" name="Google Shape;107;p19" title="hdbscan_H2O_vs_O2.png"/>
          <p:cNvPicPr preferRelativeResize="0"/>
          <p:nvPr/>
        </p:nvPicPr>
        <p:blipFill>
          <a:blip r:embed="rId4">
            <a:alphaModFix/>
          </a:blip>
          <a:stretch>
            <a:fillRect/>
          </a:stretch>
        </p:blipFill>
        <p:spPr>
          <a:xfrm>
            <a:off x="3001146" y="1773250"/>
            <a:ext cx="3122076" cy="2341557"/>
          </a:xfrm>
          <a:prstGeom prst="rect">
            <a:avLst/>
          </a:prstGeom>
          <a:noFill/>
          <a:ln>
            <a:noFill/>
          </a:ln>
        </p:spPr>
      </p:pic>
      <p:pic>
        <p:nvPicPr>
          <p:cNvPr id="108" name="Google Shape;108;p19" title="hdbscan_CO2_vs_N2.png"/>
          <p:cNvPicPr preferRelativeResize="0"/>
          <p:nvPr/>
        </p:nvPicPr>
        <p:blipFill>
          <a:blip r:embed="rId5">
            <a:alphaModFix/>
          </a:blip>
          <a:stretch>
            <a:fillRect/>
          </a:stretch>
        </p:blipFill>
        <p:spPr>
          <a:xfrm>
            <a:off x="5978107" y="1773250"/>
            <a:ext cx="3122076" cy="23415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Significance</a:t>
            </a:r>
            <a:endParaRPr/>
          </a:p>
        </p:txBody>
      </p:sp>
      <p:sp>
        <p:nvSpPr>
          <p:cNvPr id="114" name="Google Shape;11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Earth's</a:t>
            </a:r>
            <a:r>
              <a:rPr lang="en"/>
              <a:t> Nitrogen rate higher than any exoplanet in the dataset</a:t>
            </a:r>
            <a:endParaRPr/>
          </a:p>
          <a:p>
            <a:pPr indent="0" lvl="0" marL="0" rtl="0" algn="l">
              <a:spcBef>
                <a:spcPts val="1200"/>
              </a:spcBef>
              <a:spcAft>
                <a:spcPts val="0"/>
              </a:spcAft>
              <a:buNone/>
            </a:pPr>
            <a:r>
              <a:rPr lang="en"/>
              <a:t>Earth's Carbon Dioxide rate in the bottom 5% of the dataset</a:t>
            </a:r>
            <a:endParaRPr/>
          </a:p>
          <a:p>
            <a:pPr indent="0" lvl="0" marL="0" rtl="0" algn="l">
              <a:spcBef>
                <a:spcPts val="1200"/>
              </a:spcBef>
              <a:spcAft>
                <a:spcPts val="0"/>
              </a:spcAft>
              <a:buNone/>
            </a:pPr>
            <a:r>
              <a:rPr lang="en"/>
              <a:t>Water, Oxygen, and Ozone rates very similar to Earth within cluster</a:t>
            </a:r>
            <a:endParaRPr/>
          </a:p>
          <a:p>
            <a:pPr indent="0" lvl="0" marL="0" rtl="0" algn="l">
              <a:spcBef>
                <a:spcPts val="1200"/>
              </a:spcBef>
              <a:spcAft>
                <a:spcPts val="0"/>
              </a:spcAft>
              <a:buNone/>
            </a:pPr>
            <a:r>
              <a:rPr lang="en"/>
              <a:t>Despite scaling, lower rate </a:t>
            </a:r>
            <a:r>
              <a:rPr lang="en"/>
              <a:t>compounds</a:t>
            </a:r>
            <a:r>
              <a:rPr lang="en"/>
              <a:t> have little effect on clustering process</a:t>
            </a:r>
            <a:endParaRPr/>
          </a:p>
          <a:p>
            <a:pPr indent="0" lvl="0" marL="0" rtl="0" algn="l">
              <a:spcBef>
                <a:spcPts val="1200"/>
              </a:spcBef>
              <a:spcAft>
                <a:spcPts val="0"/>
              </a:spcAft>
              <a:buNone/>
            </a:pPr>
            <a:r>
              <a:rPr lang="en"/>
              <a:t>Due to high density of the dataset many points we’re labled as noise in order to create meaningfully distinct clusters</a:t>
            </a:r>
            <a:endParaRPr/>
          </a:p>
          <a:p>
            <a:pPr indent="0" lvl="0" marL="0" rtl="0" algn="l">
              <a:spcBef>
                <a:spcPts val="1200"/>
              </a:spcBef>
              <a:spcAft>
                <a:spcPts val="1200"/>
              </a:spcAft>
              <a:buNone/>
            </a:pPr>
            <a:r>
              <a:rPr lang="en"/>
              <a:t>DBSCAN struggles compared to HDBSCAN due to the high amounts of noise</a:t>
            </a:r>
            <a:endParaRPr/>
          </a:p>
        </p:txBody>
      </p:sp>
      <p:pic>
        <p:nvPicPr>
          <p:cNvPr descr="Curvature of planet earth. Aerial shot. Blue sky and clouds (Provided by Getty Images)" id="115" name="Google Shape;115;p20"/>
          <p:cNvPicPr preferRelativeResize="0"/>
          <p:nvPr/>
        </p:nvPicPr>
        <p:blipFill rotWithShape="1">
          <a:blip r:embed="rId3">
            <a:alphaModFix/>
          </a:blip>
          <a:srcRect b="20556" l="0" r="0" t="42265"/>
          <a:stretch/>
        </p:blipFill>
        <p:spPr>
          <a:xfrm>
            <a:off x="0" y="4364675"/>
            <a:ext cx="9144003" cy="7788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490250" y="526350"/>
            <a:ext cx="8065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Links</a:t>
            </a:r>
            <a:endParaRPr/>
          </a:p>
          <a:p>
            <a:pPr indent="0" lvl="0" marL="0" rtl="0" algn="l">
              <a:spcBef>
                <a:spcPts val="0"/>
              </a:spcBef>
              <a:spcAft>
                <a:spcPts val="0"/>
              </a:spcAft>
              <a:buNone/>
            </a:pPr>
            <a:r>
              <a:rPr lang="en" sz="2100"/>
              <a:t>GitHub: </a:t>
            </a:r>
            <a:r>
              <a:rPr lang="en" sz="2100" u="sng">
                <a:solidFill>
                  <a:schemeClr val="hlink"/>
                </a:solidFill>
                <a:hlinkClick r:id="rId3"/>
              </a:rPr>
              <a:t>https://github.com/Joseph-Laity/CS472-572-Final-Project</a:t>
            </a:r>
            <a:r>
              <a:rPr lang="en" sz="2100"/>
              <a:t> </a:t>
            </a:r>
            <a:r>
              <a:rPr lang="en" sz="2100"/>
              <a:t> </a:t>
            </a:r>
            <a:endParaRPr sz="2100"/>
          </a:p>
          <a:p>
            <a:pPr indent="0" lvl="0" marL="0" rtl="0" algn="l">
              <a:spcBef>
                <a:spcPts val="0"/>
              </a:spcBef>
              <a:spcAft>
                <a:spcPts val="0"/>
              </a:spcAft>
              <a:buNone/>
            </a:pPr>
            <a:r>
              <a:rPr lang="en" sz="2100"/>
              <a:t>Website:</a:t>
            </a:r>
            <a:endParaRPr sz="2100"/>
          </a:p>
          <a:p>
            <a:pPr indent="0" lvl="0" marL="0" rtl="0" algn="l">
              <a:spcBef>
                <a:spcPts val="0"/>
              </a:spcBef>
              <a:spcAft>
                <a:spcPts val="0"/>
              </a:spcAft>
              <a:buNone/>
            </a:pPr>
            <a:r>
              <a:rPr lang="en" sz="2100" u="sng">
                <a:solidFill>
                  <a:schemeClr val="hlink"/>
                </a:solidFill>
                <a:hlinkClick r:id="rId4"/>
              </a:rPr>
              <a:t>https://joseph-laity.github.io/CS472-572-Final-Project/</a:t>
            </a:r>
            <a:r>
              <a:rPr lang="en" sz="2100"/>
              <a:t> </a:t>
            </a:r>
            <a:endParaRPr sz="2100"/>
          </a:p>
          <a:p>
            <a:pPr indent="0" lvl="0" marL="0" rtl="0" algn="l">
              <a:spcBef>
                <a:spcPts val="0"/>
              </a:spcBef>
              <a:spcAft>
                <a:spcPts val="0"/>
              </a:spcAft>
              <a:buNone/>
            </a:pPr>
            <a:r>
              <a:t/>
            </a:r>
            <a:endParaRPr sz="2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