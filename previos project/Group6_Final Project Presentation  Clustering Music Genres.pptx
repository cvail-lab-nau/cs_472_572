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Lexend Deca" pitchFamily="2" charset="77"/>
      <p:regular r:id="rId13"/>
      <p:bold r:id="rId14"/>
    </p:embeddedFont>
    <p:embeddedFont>
      <p:font typeface="Lexend Deca Medium" pitchFamily="2" charset="77"/>
      <p:regular r:id="rId15"/>
      <p:bold r:id="rId16"/>
    </p:embeddedFont>
    <p:embeddedFont>
      <p:font typeface="Metrophobic" pitchFamily="2" charset="77"/>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2"/>
  </p:normalViewPr>
  <p:slideViewPr>
    <p:cSldViewPr snapToGrid="0" snapToObjects="1">
      <p:cViewPr varScale="1">
        <p:scale>
          <a:sx n="132" d="100"/>
          <a:sy n="132" d="100"/>
        </p:scale>
        <p:origin x="3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Hey everyone, my name is Noelia and this is Ethan and today we're presenting our final project on clustering music genres. Essentially we tried to get an algorithm to figure out what genre a song is just from its audio data without ever telling it what genres exist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1a27d4059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1a27d4059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So the question we started with was, can you take a song, look at things like how fast it is, how loud it is, how danceable it is, and have an algorithm sort it into a genre on its own with no labels or hints. We used a Spotify dataset with about 32,000 songs across 6 genres and we ran 6 different algorithms to see which one could do that the best.</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1d64e80a0f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1d64e80a0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dataset came in pretty clean, we only had 5 missing rows out of 32,000. We kept 9 audio features and dropped everything like track name and artist name since those aren't numbers the algorithms can use. The distributions on the right show what each feature looks like for example speechiness and instrumentalness are both really skewed toward zero which just means most songs in the dataset aren't heavy rap or purely instrumental.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1a27d40596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1a27d4059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ran 6 algorithms total. K-Means is the most basic and was our baseline. K-Means++ is essentially the same thing but picks smarter starting points so it usually does a little better. K-Medoids was similar but instead of using an average as the cluster center it uses an actual real song from the dataset. DBSCAN grouped songs by how densely packed they are and flags anything that doesn't fit as noise. GMM gives each song a probability of being in each cluster instead of just picking one. And hierarchical clustering built a family tree of how genres relate to each other. The code on the right shows how we ran K-Means and measured it.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1d64e80a0f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1d64e80a0f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our actual results. K-Means and K-Means++ both got 0.1384 which made them the best overall. DBSCAN completely fell apart meaning it found 46 clusters and labeled over half the songs as noise, which makes sense because music genres blend into each other and aren't dense enough for density-based clustering. The elbow curve on the right is how we picked K=8. We also have two open questions that came out of this, we're curious whether K=6 would actually perform better since that matches the exact number of genres in the dataset, and whether combining energy and loudness since they're so highly correlated would give us cleaner clusters.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dc18b3018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dc18b301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image shows all 6 algorithms plotted side by side with songs colored by their actual genre. You can see the difference in how K-Means, K-Means++, and K-Medoids all show similar structure. The DBSCAN panel is the most telling one, </a:t>
            </a:r>
            <a:r>
              <a:rPr lang="en" b="1"/>
              <a:t>all those grey dots are songs it couldn't assign to any cluster</a:t>
            </a:r>
            <a:r>
              <a:rPr lang="en"/>
              <a:t>, which visually confirms exactly what the silhouette scores showed.</a:t>
            </a:r>
            <a:br>
              <a:rPr lang="en"/>
            </a:br>
            <a:br>
              <a:rPr lang="en"/>
            </a:br>
            <a:r>
              <a:rPr lang="en"/>
              <a:t>(really focus on the grey)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1d64e80a0f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1d64e80a0f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scatter plot on the left shows all 32,000 songs in 2D where each color is a different cluster. There's a lot of overlap which makes sense because genres like pop and EDM share a lot of similar audio features so the algorithm naturally puts them close together. The heatmap on the right shows what each cluster actually sounds like in terms of its audio features. The thing that stands out the most is cluster 5 where it had a tempo of 169 which is way faster than every other cluster sitting around 110 to 125.</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1d64e80a0f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1d64e80a0f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the bonus, our original proposal was just K-Means, then we expanded to 6 algorithms after feedback. On top of that we also looked at how all the audio features relate to each other before doing any clustering. We made a correlation matrix and plotted the distribution of every feature. That actually helped us explain why things worked the way they did,  like seeing that energy and loudness are strongly correlated at 0.68 helped us understand why high energy genres end up in the same clusters, and why DBSCAN struggled since the data isn't spread out in the way that algorithm needs..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dbc557c0c8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dbc557c0c8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correlation matrix we referenced earlier. Each box shows how two features relate to each other where the darker red it is the more they move together, and the darker blue the more they move in opposite directions. The biggest one we noticed was energy and loudness at 0.68, meaning louder songs almost always have higher energy too. On the other side acousticness and energy are at -0.54, so acoustic songs tend to be low energy which makes sense. Seeing these relationships beforehand helped us understand why the clusters overlap because  if two genres share similar energy and loudness levels the algorithm is going to put them close together no matter what.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11d64e80a0f_0_28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11d64e80a0f_0_28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2321700" y="1104000"/>
            <a:ext cx="6102300" cy="2172300"/>
          </a:xfrm>
          <a:prstGeom prst="rect">
            <a:avLst/>
          </a:prstGeom>
        </p:spPr>
        <p:txBody>
          <a:bodyPr spcFirstLastPara="1" wrap="square" lIns="91425" tIns="0" rIns="91425" bIns="0" anchor="b"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321700" y="3313225"/>
            <a:ext cx="4764300" cy="482100"/>
          </a:xfrm>
          <a:prstGeom prst="rect">
            <a:avLst/>
          </a:prstGeom>
        </p:spPr>
        <p:txBody>
          <a:bodyPr spcFirstLastPara="1" wrap="square" lIns="91425" tIns="0" rIns="91425" bIns="0" anchor="t" anchorCtr="0">
            <a:noAutofit/>
          </a:bodyPr>
          <a:lstStyle>
            <a:lvl1pPr lvl="0">
              <a:lnSpc>
                <a:spcPct val="100000"/>
              </a:lnSpc>
              <a:spcBef>
                <a:spcPts val="0"/>
              </a:spcBef>
              <a:spcAft>
                <a:spcPts val="0"/>
              </a:spcAft>
              <a:buSzPts val="2800"/>
              <a:buNone/>
              <a:defRPr sz="19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2567450" y="3246946"/>
            <a:ext cx="4170300" cy="616200"/>
          </a:xfrm>
          <a:prstGeom prst="rect">
            <a:avLst/>
          </a:prstGeom>
        </p:spPr>
        <p:txBody>
          <a:bodyPr spcFirstLastPara="1" wrap="square" lIns="91425" tIns="0" rIns="91425" bIns="0" anchor="t" anchorCtr="0">
            <a:noAutofit/>
          </a:bodyPr>
          <a:lstStyle>
            <a:lvl1pPr lvl="0">
              <a:spcBef>
                <a:spcPts val="0"/>
              </a:spcBef>
              <a:spcAft>
                <a:spcPts val="0"/>
              </a:spcAft>
              <a:buSzPts val="3600"/>
              <a:buNone/>
              <a:defRPr sz="3600">
                <a:solidFill>
                  <a:schemeClr val="l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2567450" y="1167600"/>
            <a:ext cx="2154900" cy="1735500"/>
          </a:xfrm>
          <a:prstGeom prst="rect">
            <a:avLst/>
          </a:prstGeom>
        </p:spPr>
        <p:txBody>
          <a:bodyPr spcFirstLastPara="1" wrap="square" lIns="91425" tIns="0" rIns="91425" bIns="0" anchor="b" anchorCtr="0">
            <a:noAutofit/>
          </a:bodyPr>
          <a:lstStyle>
            <a:lvl1pPr lvl="0"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 name="Google Shape;18;p3"/>
          <p:cNvSpPr txBox="1">
            <a:spLocks noGrp="1"/>
          </p:cNvSpPr>
          <p:nvPr>
            <p:ph type="subTitle" idx="1"/>
          </p:nvPr>
        </p:nvSpPr>
        <p:spPr>
          <a:xfrm>
            <a:off x="2567450" y="3960200"/>
            <a:ext cx="4170300" cy="288900"/>
          </a:xfrm>
          <a:prstGeom prst="rect">
            <a:avLst/>
          </a:prstGeom>
        </p:spPr>
        <p:txBody>
          <a:bodyPr spcFirstLastPara="1" wrap="square" lIns="91425" tIns="0" rIns="91425" bIns="0" anchor="b"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4"/>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1650550" y="1152475"/>
            <a:ext cx="6773400" cy="3416400"/>
          </a:xfrm>
          <a:prstGeom prst="rect">
            <a:avLst/>
          </a:prstGeom>
        </p:spPr>
        <p:txBody>
          <a:bodyPr spcFirstLastPara="1" wrap="square" lIns="91425" tIns="0" rIns="91425" bIns="0"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ubTitle" idx="1"/>
          </p:nvPr>
        </p:nvSpPr>
        <p:spPr>
          <a:xfrm>
            <a:off x="1588576" y="3421225"/>
            <a:ext cx="3163500" cy="1023600"/>
          </a:xfrm>
          <a:prstGeom prst="rect">
            <a:avLst/>
          </a:prstGeom>
        </p:spPr>
        <p:txBody>
          <a:bodyPr spcFirstLastPara="1" wrap="square" lIns="91425" tIns="0" rIns="91425" bIns="0" anchor="t" anchorCtr="0">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
        <p:nvSpPr>
          <p:cNvPr id="28" name="Google Shape;28;p5"/>
          <p:cNvSpPr txBox="1">
            <a:spLocks noGrp="1"/>
          </p:cNvSpPr>
          <p:nvPr>
            <p:ph type="subTitle" idx="2"/>
          </p:nvPr>
        </p:nvSpPr>
        <p:spPr>
          <a:xfrm>
            <a:off x="4857907" y="3421225"/>
            <a:ext cx="3163500" cy="1023600"/>
          </a:xfrm>
          <a:prstGeom prst="rect">
            <a:avLst/>
          </a:prstGeom>
        </p:spPr>
        <p:txBody>
          <a:bodyPr spcFirstLastPara="1" wrap="square" lIns="91425" tIns="0" rIns="91425" bIns="0"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9" name="Google Shape;29;p5"/>
          <p:cNvSpPr txBox="1">
            <a:spLocks noGrp="1"/>
          </p:cNvSpPr>
          <p:nvPr>
            <p:ph type="subTitle" idx="3"/>
          </p:nvPr>
        </p:nvSpPr>
        <p:spPr>
          <a:xfrm>
            <a:off x="2380426" y="2833825"/>
            <a:ext cx="1579800" cy="352800"/>
          </a:xfrm>
          <a:prstGeom prst="rect">
            <a:avLst/>
          </a:prstGeom>
        </p:spPr>
        <p:txBody>
          <a:bodyPr spcFirstLastPara="1" wrap="square" lIns="91425" tIns="0" rIns="91425" bIns="0" anchor="t" anchorCtr="0">
            <a:noAutofit/>
          </a:bodyPr>
          <a:lstStyle>
            <a:lvl1pPr lvl="0" algn="ctr"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30" name="Google Shape;30;p5"/>
          <p:cNvSpPr txBox="1">
            <a:spLocks noGrp="1"/>
          </p:cNvSpPr>
          <p:nvPr>
            <p:ph type="subTitle" idx="4"/>
          </p:nvPr>
        </p:nvSpPr>
        <p:spPr>
          <a:xfrm>
            <a:off x="5649757" y="2833825"/>
            <a:ext cx="1579800" cy="352800"/>
          </a:xfrm>
          <a:prstGeom prst="rect">
            <a:avLst/>
          </a:prstGeom>
        </p:spPr>
        <p:txBody>
          <a:bodyPr spcFirstLastPara="1" wrap="square" lIns="91425" tIns="0" rIns="91425" bIns="0" anchor="t" anchorCtr="0">
            <a:noAutofit/>
          </a:bodyPr>
          <a:lstStyle>
            <a:lvl1pPr lvl="0" algn="ctr"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31" name="Google Shape;31;p5"/>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6"/>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body" idx="1"/>
          </p:nvPr>
        </p:nvSpPr>
        <p:spPr>
          <a:xfrm>
            <a:off x="4068900" y="1479850"/>
            <a:ext cx="4355100" cy="2550900"/>
          </a:xfrm>
          <a:prstGeom prst="rect">
            <a:avLst/>
          </a:prstGeom>
        </p:spPr>
        <p:txBody>
          <a:bodyPr spcFirstLastPara="1" wrap="square" lIns="91425" tIns="0" rIns="91425" bIns="0"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40" name="Google Shape;40;p7"/>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8"/>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8"/>
          <p:cNvSpPr txBox="1">
            <a:spLocks noGrp="1"/>
          </p:cNvSpPr>
          <p:nvPr>
            <p:ph type="title"/>
          </p:nvPr>
        </p:nvSpPr>
        <p:spPr>
          <a:xfrm>
            <a:off x="2336200" y="941150"/>
            <a:ext cx="5928000" cy="2906700"/>
          </a:xfrm>
          <a:prstGeom prst="rect">
            <a:avLst/>
          </a:prstGeom>
        </p:spPr>
        <p:txBody>
          <a:bodyPr spcFirstLastPara="1" wrap="square" lIns="91425" tIns="0" rIns="91425" bIns="0" anchor="ctr" anchorCtr="0">
            <a:noAutofit/>
          </a:bodyPr>
          <a:lstStyle>
            <a:lvl1pPr lvl="0">
              <a:spcBef>
                <a:spcPts val="0"/>
              </a:spcBef>
              <a:spcAft>
                <a:spcPts val="0"/>
              </a:spcAft>
              <a:buSzPts val="48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5071250" y="1478163"/>
            <a:ext cx="3352800" cy="1275900"/>
          </a:xfrm>
          <a:prstGeom prst="rect">
            <a:avLst/>
          </a:prstGeom>
        </p:spPr>
        <p:txBody>
          <a:bodyPr spcFirstLastPara="1" wrap="square" lIns="91425" tIns="0" rIns="91425" bIns="0" anchor="b"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5071250" y="2841588"/>
            <a:ext cx="3352800" cy="1076700"/>
          </a:xfrm>
          <a:prstGeom prst="rect">
            <a:avLst/>
          </a:prstGeom>
        </p:spPr>
        <p:txBody>
          <a:bodyPr spcFirstLastPara="1" wrap="square" lIns="91425" tIns="0" rIns="91425" bIns="0"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0"/>
            <a:ext cx="9144000" cy="5143500"/>
          </a:xfrm>
          <a:prstGeom prst="rect">
            <a:avLst/>
          </a:prstGeom>
          <a:solidFill>
            <a:srgbClr val="FF6A92">
              <a:alpha val="3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5587500" y="1205970"/>
            <a:ext cx="2659500" cy="1066500"/>
          </a:xfrm>
          <a:prstGeom prst="rect">
            <a:avLst/>
          </a:prstGeom>
        </p:spPr>
        <p:txBody>
          <a:bodyPr spcFirstLastPara="1" wrap="square" lIns="91425" tIns="0" rIns="91425" bIns="0" anchor="ctr" anchorCtr="0">
            <a:noAutofit/>
          </a:bodyPr>
          <a:lstStyle>
            <a:lvl1pPr marL="457200" lvl="0" indent="-228600" algn="ctr">
              <a:lnSpc>
                <a:spcPct val="100000"/>
              </a:lnSpc>
              <a:spcBef>
                <a:spcPts val="0"/>
              </a:spcBef>
              <a:spcAft>
                <a:spcPts val="0"/>
              </a:spcAft>
              <a:buSzPts val="2300"/>
              <a:buFont typeface="Lexend Deca Medium"/>
              <a:buNone/>
              <a:defRPr sz="2300">
                <a:latin typeface="Lexend Deca Medium"/>
                <a:ea typeface="Lexend Deca Medium"/>
                <a:cs typeface="Lexend Deca Medium"/>
                <a:sym typeface="Lexend Deca Medium"/>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1"/>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1"/>
          <p:cNvSpPr txBox="1">
            <a:spLocks noGrp="1"/>
          </p:cNvSpPr>
          <p:nvPr>
            <p:ph type="title" hasCustomPrompt="1"/>
          </p:nvPr>
        </p:nvSpPr>
        <p:spPr>
          <a:xfrm>
            <a:off x="2402125" y="1330163"/>
            <a:ext cx="5728500" cy="1641000"/>
          </a:xfrm>
          <a:prstGeom prst="rect">
            <a:avLst/>
          </a:prstGeom>
        </p:spPr>
        <p:txBody>
          <a:bodyPr spcFirstLastPara="1" wrap="square" lIns="91425" tIns="0" rIns="91425" bIns="0" anchor="b" anchorCtr="0">
            <a:noAutofit/>
          </a:bodyPr>
          <a:lstStyle>
            <a:lvl1pPr lvl="0">
              <a:spcBef>
                <a:spcPts val="0"/>
              </a:spcBef>
              <a:spcAft>
                <a:spcPts val="0"/>
              </a:spcAft>
              <a:buSzPts val="12000"/>
              <a:buNone/>
              <a:defRPr sz="10800">
                <a:solidFill>
                  <a:schemeClr val="l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 name="Google Shape;57;p11"/>
          <p:cNvSpPr txBox="1">
            <a:spLocks noGrp="1"/>
          </p:cNvSpPr>
          <p:nvPr>
            <p:ph type="subTitle" idx="1"/>
          </p:nvPr>
        </p:nvSpPr>
        <p:spPr>
          <a:xfrm>
            <a:off x="2402125" y="3100638"/>
            <a:ext cx="4850100" cy="279600"/>
          </a:xfrm>
          <a:prstGeom prst="rect">
            <a:avLst/>
          </a:prstGeom>
        </p:spPr>
        <p:txBody>
          <a:bodyPr spcFirstLastPara="1" wrap="square" lIns="91425" tIns="0" rIns="91425" bIns="0" anchor="b"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ITLE_ONLY_1">
    <p:spTree>
      <p:nvGrpSpPr>
        <p:cNvPr id="1" name="Shape 59"/>
        <p:cNvGrpSpPr/>
        <p:nvPr/>
      </p:nvGrpSpPr>
      <p:grpSpPr>
        <a:xfrm>
          <a:off x="0" y="0"/>
          <a:ext cx="0" cy="0"/>
          <a:chOff x="0" y="0"/>
          <a:chExt cx="0" cy="0"/>
        </a:xfrm>
      </p:grpSpPr>
      <p:sp>
        <p:nvSpPr>
          <p:cNvPr id="60" name="Google Shape;60;p13"/>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txBox="1">
            <a:spLocks noGrp="1"/>
          </p:cNvSpPr>
          <p:nvPr>
            <p:ph type="subTitle" idx="1"/>
          </p:nvPr>
        </p:nvSpPr>
        <p:spPr>
          <a:xfrm>
            <a:off x="2785388" y="1959950"/>
            <a:ext cx="1984800" cy="7647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62" name="Google Shape;62;p13"/>
          <p:cNvSpPr txBox="1">
            <a:spLocks noGrp="1"/>
          </p:cNvSpPr>
          <p:nvPr>
            <p:ph type="subTitle" idx="2"/>
          </p:nvPr>
        </p:nvSpPr>
        <p:spPr>
          <a:xfrm>
            <a:off x="2785388" y="1574850"/>
            <a:ext cx="19848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63" name="Google Shape;63;p13"/>
          <p:cNvSpPr txBox="1">
            <a:spLocks noGrp="1"/>
          </p:cNvSpPr>
          <p:nvPr>
            <p:ph type="subTitle" idx="3"/>
          </p:nvPr>
        </p:nvSpPr>
        <p:spPr>
          <a:xfrm>
            <a:off x="6210575" y="1959950"/>
            <a:ext cx="1984800" cy="7647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64" name="Google Shape;64;p13"/>
          <p:cNvSpPr txBox="1">
            <a:spLocks noGrp="1"/>
          </p:cNvSpPr>
          <p:nvPr>
            <p:ph type="subTitle" idx="4"/>
          </p:nvPr>
        </p:nvSpPr>
        <p:spPr>
          <a:xfrm>
            <a:off x="6210575" y="1574850"/>
            <a:ext cx="19848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65" name="Google Shape;65;p13"/>
          <p:cNvSpPr txBox="1">
            <a:spLocks noGrp="1"/>
          </p:cNvSpPr>
          <p:nvPr>
            <p:ph type="subTitle" idx="5"/>
          </p:nvPr>
        </p:nvSpPr>
        <p:spPr>
          <a:xfrm>
            <a:off x="2785388" y="3610100"/>
            <a:ext cx="1984800" cy="7647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66" name="Google Shape;66;p13"/>
          <p:cNvSpPr txBox="1">
            <a:spLocks noGrp="1"/>
          </p:cNvSpPr>
          <p:nvPr>
            <p:ph type="subTitle" idx="6"/>
          </p:nvPr>
        </p:nvSpPr>
        <p:spPr>
          <a:xfrm>
            <a:off x="2785388" y="3225000"/>
            <a:ext cx="19848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67" name="Google Shape;67;p13"/>
          <p:cNvSpPr txBox="1">
            <a:spLocks noGrp="1"/>
          </p:cNvSpPr>
          <p:nvPr>
            <p:ph type="subTitle" idx="7"/>
          </p:nvPr>
        </p:nvSpPr>
        <p:spPr>
          <a:xfrm>
            <a:off x="6210575" y="3610100"/>
            <a:ext cx="1984800" cy="7647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68" name="Google Shape;68;p13"/>
          <p:cNvSpPr txBox="1">
            <a:spLocks noGrp="1"/>
          </p:cNvSpPr>
          <p:nvPr>
            <p:ph type="subTitle" idx="8"/>
          </p:nvPr>
        </p:nvSpPr>
        <p:spPr>
          <a:xfrm>
            <a:off x="6210575" y="3225000"/>
            <a:ext cx="19848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69" name="Google Shape;69;p13"/>
          <p:cNvSpPr txBox="1">
            <a:spLocks noGrp="1"/>
          </p:cNvSpPr>
          <p:nvPr>
            <p:ph type="title" hasCustomPrompt="1"/>
          </p:nvPr>
        </p:nvSpPr>
        <p:spPr>
          <a:xfrm>
            <a:off x="1666963" y="1574850"/>
            <a:ext cx="961800" cy="509700"/>
          </a:xfrm>
          <a:prstGeom prst="rect">
            <a:avLst/>
          </a:prstGeom>
        </p:spPr>
        <p:txBody>
          <a:bodyPr spcFirstLastPara="1" wrap="square" lIns="91425" tIns="0" rIns="91425" bIns="0"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0" name="Google Shape;70;p13"/>
          <p:cNvSpPr txBox="1">
            <a:spLocks noGrp="1"/>
          </p:cNvSpPr>
          <p:nvPr>
            <p:ph type="title" idx="9" hasCustomPrompt="1"/>
          </p:nvPr>
        </p:nvSpPr>
        <p:spPr>
          <a:xfrm>
            <a:off x="5092175" y="1574850"/>
            <a:ext cx="961800" cy="509700"/>
          </a:xfrm>
          <a:prstGeom prst="rect">
            <a:avLst/>
          </a:prstGeom>
        </p:spPr>
        <p:txBody>
          <a:bodyPr spcFirstLastPara="1" wrap="square" lIns="91425" tIns="0" rIns="91425" bIns="0"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1" name="Google Shape;71;p13"/>
          <p:cNvSpPr txBox="1">
            <a:spLocks noGrp="1"/>
          </p:cNvSpPr>
          <p:nvPr>
            <p:ph type="title" idx="13" hasCustomPrompt="1"/>
          </p:nvPr>
        </p:nvSpPr>
        <p:spPr>
          <a:xfrm>
            <a:off x="1666963" y="3225000"/>
            <a:ext cx="961800" cy="509700"/>
          </a:xfrm>
          <a:prstGeom prst="rect">
            <a:avLst/>
          </a:prstGeom>
        </p:spPr>
        <p:txBody>
          <a:bodyPr spcFirstLastPara="1" wrap="square" lIns="91425" tIns="0" rIns="91425" bIns="0"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2" name="Google Shape;72;p13"/>
          <p:cNvSpPr txBox="1">
            <a:spLocks noGrp="1"/>
          </p:cNvSpPr>
          <p:nvPr>
            <p:ph type="title" idx="14" hasCustomPrompt="1"/>
          </p:nvPr>
        </p:nvSpPr>
        <p:spPr>
          <a:xfrm>
            <a:off x="5092175" y="3225000"/>
            <a:ext cx="961800" cy="509700"/>
          </a:xfrm>
          <a:prstGeom prst="rect">
            <a:avLst/>
          </a:prstGeom>
        </p:spPr>
        <p:txBody>
          <a:bodyPr spcFirstLastPara="1" wrap="square" lIns="91425" tIns="0" rIns="91425" bIns="0"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3" name="Google Shape;73;p13"/>
          <p:cNvSpPr txBox="1">
            <a:spLocks noGrp="1"/>
          </p:cNvSpPr>
          <p:nvPr>
            <p:ph type="title" idx="15"/>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74" name="Google Shape;74;p13"/>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SECTION_TITLE_AND_DESCRIPTION_1">
    <p:spTree>
      <p:nvGrpSpPr>
        <p:cNvPr id="1" name="Shape 75"/>
        <p:cNvGrpSpPr/>
        <p:nvPr/>
      </p:nvGrpSpPr>
      <p:grpSpPr>
        <a:xfrm>
          <a:off x="0" y="0"/>
          <a:ext cx="0" cy="0"/>
          <a:chOff x="0" y="0"/>
          <a:chExt cx="0" cy="0"/>
        </a:xfrm>
      </p:grpSpPr>
      <p:sp>
        <p:nvSpPr>
          <p:cNvPr id="76" name="Google Shape;76;p14"/>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4"/>
          <p:cNvSpPr txBox="1">
            <a:spLocks noGrp="1"/>
          </p:cNvSpPr>
          <p:nvPr>
            <p:ph type="subTitle" idx="1"/>
          </p:nvPr>
        </p:nvSpPr>
        <p:spPr>
          <a:xfrm>
            <a:off x="2402125" y="1280567"/>
            <a:ext cx="5658900" cy="1812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79" name="Google Shape;79;p14"/>
          <p:cNvSpPr txBox="1">
            <a:spLocks noGrp="1"/>
          </p:cNvSpPr>
          <p:nvPr>
            <p:ph type="subTitle" idx="2"/>
          </p:nvPr>
        </p:nvSpPr>
        <p:spPr>
          <a:xfrm>
            <a:off x="2402125" y="3319617"/>
            <a:ext cx="4045200" cy="3777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000"/>
              <a:buFont typeface="Lexend Deca Medium"/>
              <a:buNone/>
              <a:defRPr sz="2000">
                <a:solidFill>
                  <a:schemeClr val="lt2"/>
                </a:solidFill>
                <a:latin typeface="Lexend Deca Medium"/>
                <a:ea typeface="Lexend Deca Medium"/>
                <a:cs typeface="Lexend Deca Medium"/>
                <a:sym typeface="Lexend Deca Medium"/>
              </a:defRPr>
            </a:lvl1pPr>
            <a:lvl2pPr lvl="1"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algn="ctr"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
  <p:cSld name="SECTION_TITLE_AND_DESCRIPTION_2">
    <p:spTree>
      <p:nvGrpSpPr>
        <p:cNvPr id="1" name="Shape 80"/>
        <p:cNvGrpSpPr/>
        <p:nvPr/>
      </p:nvGrpSpPr>
      <p:grpSpPr>
        <a:xfrm>
          <a:off x="0" y="0"/>
          <a:ext cx="0" cy="0"/>
          <a:chOff x="0" y="0"/>
          <a:chExt cx="0" cy="0"/>
        </a:xfrm>
      </p:grpSpPr>
      <p:sp>
        <p:nvSpPr>
          <p:cNvPr id="81" name="Google Shape;81;p15"/>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txBox="1">
            <a:spLocks noGrp="1"/>
          </p:cNvSpPr>
          <p:nvPr>
            <p:ph type="title"/>
          </p:nvPr>
        </p:nvSpPr>
        <p:spPr>
          <a:xfrm>
            <a:off x="4343275" y="1530525"/>
            <a:ext cx="3972600" cy="914700"/>
          </a:xfrm>
          <a:prstGeom prst="rect">
            <a:avLst/>
          </a:prstGeom>
        </p:spPr>
        <p:txBody>
          <a:bodyPr spcFirstLastPara="1" wrap="square" lIns="91425" tIns="0" rIns="91425" bIns="0"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3" name="Google Shape;83;p15"/>
          <p:cNvSpPr txBox="1">
            <a:spLocks noGrp="1"/>
          </p:cNvSpPr>
          <p:nvPr>
            <p:ph type="subTitle" idx="1"/>
          </p:nvPr>
        </p:nvSpPr>
        <p:spPr>
          <a:xfrm>
            <a:off x="4343275" y="2675200"/>
            <a:ext cx="2999100" cy="11109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84" name="Google Shape;84;p15"/>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85"/>
        <p:cNvGrpSpPr/>
        <p:nvPr/>
      </p:nvGrpSpPr>
      <p:grpSpPr>
        <a:xfrm>
          <a:off x="0" y="0"/>
          <a:ext cx="0" cy="0"/>
          <a:chOff x="0" y="0"/>
          <a:chExt cx="0" cy="0"/>
        </a:xfrm>
      </p:grpSpPr>
      <p:sp>
        <p:nvSpPr>
          <p:cNvPr id="86" name="Google Shape;86;p16"/>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 name="Google Shape;88;p16"/>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txBox="1">
            <a:spLocks noGrp="1"/>
          </p:cNvSpPr>
          <p:nvPr>
            <p:ph type="body" idx="1"/>
          </p:nvPr>
        </p:nvSpPr>
        <p:spPr>
          <a:xfrm>
            <a:off x="1650550" y="1152475"/>
            <a:ext cx="6773400" cy="1133700"/>
          </a:xfrm>
          <a:prstGeom prst="rect">
            <a:avLst/>
          </a:prstGeom>
        </p:spPr>
        <p:txBody>
          <a:bodyPr spcFirstLastPara="1" wrap="square" lIns="91425" tIns="0" rIns="91425" bIns="0" anchor="t" anchorCtr="0">
            <a:noAutofit/>
          </a:bodyPr>
          <a:lstStyle>
            <a:lvl1pPr marL="457200" lvl="0" indent="-317500" rtl="0">
              <a:spcBef>
                <a:spcPts val="0"/>
              </a:spcBef>
              <a:spcAft>
                <a:spcPts val="0"/>
              </a:spcAft>
              <a:buSzPts val="1400"/>
              <a:buFont typeface="Arial"/>
              <a:buChar char="●"/>
              <a:defRPr/>
            </a:lvl1pPr>
            <a:lvl2pPr marL="914400" lvl="1" indent="-317500" rtl="0">
              <a:spcBef>
                <a:spcPts val="0"/>
              </a:spcBef>
              <a:spcAft>
                <a:spcPts val="0"/>
              </a:spcAft>
              <a:buSzPts val="1400"/>
              <a:buFont typeface="Arial"/>
              <a:buChar char="○"/>
              <a:defRPr/>
            </a:lvl2pPr>
            <a:lvl3pPr marL="1371600" lvl="2" indent="-317500" rtl="0">
              <a:spcBef>
                <a:spcPts val="0"/>
              </a:spcBef>
              <a:spcAft>
                <a:spcPts val="0"/>
              </a:spcAft>
              <a:buSzPts val="1400"/>
              <a:buFont typeface="Arial"/>
              <a:buChar char="■"/>
              <a:defRPr/>
            </a:lvl3pPr>
            <a:lvl4pPr marL="1828800" lvl="3" indent="-317500" rtl="0">
              <a:spcBef>
                <a:spcPts val="0"/>
              </a:spcBef>
              <a:spcAft>
                <a:spcPts val="0"/>
              </a:spcAft>
              <a:buSzPts val="1400"/>
              <a:buFont typeface="Arial"/>
              <a:buChar char="●"/>
              <a:defRPr/>
            </a:lvl4pPr>
            <a:lvl5pPr marL="2286000" lvl="4" indent="-317500" rtl="0">
              <a:spcBef>
                <a:spcPts val="0"/>
              </a:spcBef>
              <a:spcAft>
                <a:spcPts val="0"/>
              </a:spcAft>
              <a:buSzPts val="1400"/>
              <a:buFont typeface="Arial"/>
              <a:buChar char="○"/>
              <a:defRPr/>
            </a:lvl5pPr>
            <a:lvl6pPr marL="2743200" lvl="5" indent="-317500" rtl="0">
              <a:spcBef>
                <a:spcPts val="0"/>
              </a:spcBef>
              <a:spcAft>
                <a:spcPts val="0"/>
              </a:spcAft>
              <a:buSzPts val="1400"/>
              <a:buFont typeface="Arial"/>
              <a:buChar char="■"/>
              <a:defRPr/>
            </a:lvl6pPr>
            <a:lvl7pPr marL="3200400" lvl="6" indent="-317500" rtl="0">
              <a:spcBef>
                <a:spcPts val="0"/>
              </a:spcBef>
              <a:spcAft>
                <a:spcPts val="0"/>
              </a:spcAft>
              <a:buSzPts val="1400"/>
              <a:buFont typeface="Arial"/>
              <a:buChar char="●"/>
              <a:defRPr/>
            </a:lvl7pPr>
            <a:lvl8pPr marL="3657600" lvl="7" indent="-317500" rtl="0">
              <a:spcBef>
                <a:spcPts val="0"/>
              </a:spcBef>
              <a:spcAft>
                <a:spcPts val="0"/>
              </a:spcAft>
              <a:buSzPts val="1400"/>
              <a:buFont typeface="Arial"/>
              <a:buChar char="○"/>
              <a:defRPr/>
            </a:lvl8pPr>
            <a:lvl9pPr marL="4114800" lvl="8" indent="-317500" rtl="0">
              <a:spcBef>
                <a:spcPts val="0"/>
              </a:spcBef>
              <a:spcAft>
                <a:spcPts val="0"/>
              </a:spcAft>
              <a:buSzPts val="1400"/>
              <a:buFont typeface="Arial"/>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_ONLY_1_1">
    <p:spTree>
      <p:nvGrpSpPr>
        <p:cNvPr id="1" name="Shape 90"/>
        <p:cNvGrpSpPr/>
        <p:nvPr/>
      </p:nvGrpSpPr>
      <p:grpSpPr>
        <a:xfrm>
          <a:off x="0" y="0"/>
          <a:ext cx="0" cy="0"/>
          <a:chOff x="0" y="0"/>
          <a:chExt cx="0" cy="0"/>
        </a:xfrm>
      </p:grpSpPr>
      <p:sp>
        <p:nvSpPr>
          <p:cNvPr id="91" name="Google Shape;91;p17"/>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7"/>
          <p:cNvSpPr txBox="1">
            <a:spLocks noGrp="1"/>
          </p:cNvSpPr>
          <p:nvPr>
            <p:ph type="subTitle" idx="1"/>
          </p:nvPr>
        </p:nvSpPr>
        <p:spPr>
          <a:xfrm>
            <a:off x="3351350" y="1709625"/>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93" name="Google Shape;93;p17"/>
          <p:cNvSpPr txBox="1">
            <a:spLocks noGrp="1"/>
          </p:cNvSpPr>
          <p:nvPr>
            <p:ph type="subTitle" idx="2"/>
          </p:nvPr>
        </p:nvSpPr>
        <p:spPr>
          <a:xfrm>
            <a:off x="3351350" y="1355825"/>
            <a:ext cx="19656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94" name="Google Shape;94;p17"/>
          <p:cNvSpPr txBox="1">
            <a:spLocks noGrp="1"/>
          </p:cNvSpPr>
          <p:nvPr>
            <p:ph type="subTitle" idx="3"/>
          </p:nvPr>
        </p:nvSpPr>
        <p:spPr>
          <a:xfrm>
            <a:off x="3351350" y="2780700"/>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95" name="Google Shape;95;p17"/>
          <p:cNvSpPr txBox="1">
            <a:spLocks noGrp="1"/>
          </p:cNvSpPr>
          <p:nvPr>
            <p:ph type="subTitle" idx="4"/>
          </p:nvPr>
        </p:nvSpPr>
        <p:spPr>
          <a:xfrm>
            <a:off x="3351350" y="2426900"/>
            <a:ext cx="19656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96" name="Google Shape;96;p17"/>
          <p:cNvSpPr txBox="1">
            <a:spLocks noGrp="1"/>
          </p:cNvSpPr>
          <p:nvPr>
            <p:ph type="subTitle" idx="5"/>
          </p:nvPr>
        </p:nvSpPr>
        <p:spPr>
          <a:xfrm>
            <a:off x="3351350" y="3851775"/>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97" name="Google Shape;97;p17"/>
          <p:cNvSpPr txBox="1">
            <a:spLocks noGrp="1"/>
          </p:cNvSpPr>
          <p:nvPr>
            <p:ph type="subTitle" idx="6"/>
          </p:nvPr>
        </p:nvSpPr>
        <p:spPr>
          <a:xfrm>
            <a:off x="3351350" y="3497975"/>
            <a:ext cx="19656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98" name="Google Shape;98;p17"/>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99" name="Google Shape;99;p17"/>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TITLE_ONLY_1_2">
    <p:spTree>
      <p:nvGrpSpPr>
        <p:cNvPr id="1" name="Shape 100"/>
        <p:cNvGrpSpPr/>
        <p:nvPr/>
      </p:nvGrpSpPr>
      <p:grpSpPr>
        <a:xfrm>
          <a:off x="0" y="0"/>
          <a:ext cx="0" cy="0"/>
          <a:chOff x="0" y="0"/>
          <a:chExt cx="0" cy="0"/>
        </a:xfrm>
      </p:grpSpPr>
      <p:sp>
        <p:nvSpPr>
          <p:cNvPr id="101" name="Google Shape;101;p18"/>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ubTitle" idx="1"/>
          </p:nvPr>
        </p:nvSpPr>
        <p:spPr>
          <a:xfrm>
            <a:off x="2633000" y="1959950"/>
            <a:ext cx="2252100" cy="5622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03" name="Google Shape;103;p18"/>
          <p:cNvSpPr txBox="1">
            <a:spLocks noGrp="1"/>
          </p:cNvSpPr>
          <p:nvPr>
            <p:ph type="subTitle" idx="2"/>
          </p:nvPr>
        </p:nvSpPr>
        <p:spPr>
          <a:xfrm>
            <a:off x="2633001" y="1574850"/>
            <a:ext cx="14064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04" name="Google Shape;104;p18"/>
          <p:cNvSpPr txBox="1">
            <a:spLocks noGrp="1"/>
          </p:cNvSpPr>
          <p:nvPr>
            <p:ph type="subTitle" idx="3"/>
          </p:nvPr>
        </p:nvSpPr>
        <p:spPr>
          <a:xfrm>
            <a:off x="6171999" y="1959950"/>
            <a:ext cx="2252100" cy="5622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05" name="Google Shape;105;p18"/>
          <p:cNvSpPr txBox="1">
            <a:spLocks noGrp="1"/>
          </p:cNvSpPr>
          <p:nvPr>
            <p:ph type="subTitle" idx="4"/>
          </p:nvPr>
        </p:nvSpPr>
        <p:spPr>
          <a:xfrm>
            <a:off x="6172000" y="1574850"/>
            <a:ext cx="14064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06" name="Google Shape;106;p18"/>
          <p:cNvSpPr txBox="1">
            <a:spLocks noGrp="1"/>
          </p:cNvSpPr>
          <p:nvPr>
            <p:ph type="subTitle" idx="5"/>
          </p:nvPr>
        </p:nvSpPr>
        <p:spPr>
          <a:xfrm>
            <a:off x="2633000" y="3610100"/>
            <a:ext cx="2252100" cy="5622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07" name="Google Shape;107;p18"/>
          <p:cNvSpPr txBox="1">
            <a:spLocks noGrp="1"/>
          </p:cNvSpPr>
          <p:nvPr>
            <p:ph type="subTitle" idx="6"/>
          </p:nvPr>
        </p:nvSpPr>
        <p:spPr>
          <a:xfrm>
            <a:off x="2633001" y="3225000"/>
            <a:ext cx="14064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08" name="Google Shape;108;p18"/>
          <p:cNvSpPr txBox="1">
            <a:spLocks noGrp="1"/>
          </p:cNvSpPr>
          <p:nvPr>
            <p:ph type="subTitle" idx="7"/>
          </p:nvPr>
        </p:nvSpPr>
        <p:spPr>
          <a:xfrm>
            <a:off x="6171999" y="3610100"/>
            <a:ext cx="2252100" cy="5622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09" name="Google Shape;109;p18"/>
          <p:cNvSpPr txBox="1">
            <a:spLocks noGrp="1"/>
          </p:cNvSpPr>
          <p:nvPr>
            <p:ph type="subTitle" idx="8"/>
          </p:nvPr>
        </p:nvSpPr>
        <p:spPr>
          <a:xfrm>
            <a:off x="6172000" y="3225000"/>
            <a:ext cx="1406400" cy="4173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10" name="Google Shape;110;p18"/>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111" name="Google Shape;111;p18"/>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TITLE_ONLY_1_1_1">
    <p:spTree>
      <p:nvGrpSpPr>
        <p:cNvPr id="1" name="Shape 112"/>
        <p:cNvGrpSpPr/>
        <p:nvPr/>
      </p:nvGrpSpPr>
      <p:grpSpPr>
        <a:xfrm>
          <a:off x="0" y="0"/>
          <a:ext cx="0" cy="0"/>
          <a:chOff x="0" y="0"/>
          <a:chExt cx="0" cy="0"/>
        </a:xfrm>
      </p:grpSpPr>
      <p:sp>
        <p:nvSpPr>
          <p:cNvPr id="113" name="Google Shape;113;p19"/>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9"/>
          <p:cNvSpPr txBox="1">
            <a:spLocks noGrp="1"/>
          </p:cNvSpPr>
          <p:nvPr>
            <p:ph type="subTitle" idx="1"/>
          </p:nvPr>
        </p:nvSpPr>
        <p:spPr>
          <a:xfrm>
            <a:off x="6027300" y="170962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15" name="Google Shape;115;p19"/>
          <p:cNvSpPr txBox="1">
            <a:spLocks noGrp="1"/>
          </p:cNvSpPr>
          <p:nvPr>
            <p:ph type="subTitle" idx="2"/>
          </p:nvPr>
        </p:nvSpPr>
        <p:spPr>
          <a:xfrm>
            <a:off x="6027300" y="135582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16" name="Google Shape;116;p19"/>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117" name="Google Shape;117;p19"/>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9"/>
          <p:cNvSpPr txBox="1">
            <a:spLocks noGrp="1"/>
          </p:cNvSpPr>
          <p:nvPr>
            <p:ph type="subTitle" idx="3"/>
          </p:nvPr>
        </p:nvSpPr>
        <p:spPr>
          <a:xfrm>
            <a:off x="6027300" y="274037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19" name="Google Shape;119;p19"/>
          <p:cNvSpPr txBox="1">
            <a:spLocks noGrp="1"/>
          </p:cNvSpPr>
          <p:nvPr>
            <p:ph type="subTitle" idx="4"/>
          </p:nvPr>
        </p:nvSpPr>
        <p:spPr>
          <a:xfrm>
            <a:off x="6027300" y="238657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20" name="Google Shape;120;p19"/>
          <p:cNvSpPr txBox="1">
            <a:spLocks noGrp="1"/>
          </p:cNvSpPr>
          <p:nvPr>
            <p:ph type="subTitle" idx="5"/>
          </p:nvPr>
        </p:nvSpPr>
        <p:spPr>
          <a:xfrm>
            <a:off x="6027300" y="377112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1" name="Google Shape;121;p19"/>
          <p:cNvSpPr txBox="1">
            <a:spLocks noGrp="1"/>
          </p:cNvSpPr>
          <p:nvPr>
            <p:ph type="subTitle" idx="6"/>
          </p:nvPr>
        </p:nvSpPr>
        <p:spPr>
          <a:xfrm>
            <a:off x="6027300" y="341732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22" name="Google Shape;122;p19"/>
          <p:cNvSpPr txBox="1">
            <a:spLocks noGrp="1"/>
          </p:cNvSpPr>
          <p:nvPr>
            <p:ph type="subTitle" idx="7"/>
          </p:nvPr>
        </p:nvSpPr>
        <p:spPr>
          <a:xfrm>
            <a:off x="2419150" y="170962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3" name="Google Shape;123;p19"/>
          <p:cNvSpPr txBox="1">
            <a:spLocks noGrp="1"/>
          </p:cNvSpPr>
          <p:nvPr>
            <p:ph type="subTitle" idx="8"/>
          </p:nvPr>
        </p:nvSpPr>
        <p:spPr>
          <a:xfrm>
            <a:off x="2419150" y="135582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24" name="Google Shape;124;p19"/>
          <p:cNvSpPr txBox="1">
            <a:spLocks noGrp="1"/>
          </p:cNvSpPr>
          <p:nvPr>
            <p:ph type="subTitle" idx="9"/>
          </p:nvPr>
        </p:nvSpPr>
        <p:spPr>
          <a:xfrm>
            <a:off x="2419150" y="274037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5" name="Google Shape;125;p19"/>
          <p:cNvSpPr txBox="1">
            <a:spLocks noGrp="1"/>
          </p:cNvSpPr>
          <p:nvPr>
            <p:ph type="subTitle" idx="13"/>
          </p:nvPr>
        </p:nvSpPr>
        <p:spPr>
          <a:xfrm>
            <a:off x="2419150" y="238657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26" name="Google Shape;126;p19"/>
          <p:cNvSpPr txBox="1">
            <a:spLocks noGrp="1"/>
          </p:cNvSpPr>
          <p:nvPr>
            <p:ph type="subTitle" idx="14"/>
          </p:nvPr>
        </p:nvSpPr>
        <p:spPr>
          <a:xfrm>
            <a:off x="2419150" y="3771125"/>
            <a:ext cx="23967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7" name="Google Shape;127;p19"/>
          <p:cNvSpPr txBox="1">
            <a:spLocks noGrp="1"/>
          </p:cNvSpPr>
          <p:nvPr>
            <p:ph type="subTitle" idx="15"/>
          </p:nvPr>
        </p:nvSpPr>
        <p:spPr>
          <a:xfrm>
            <a:off x="2419150" y="3417322"/>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TITLE_ONLY_1_1_2">
    <p:spTree>
      <p:nvGrpSpPr>
        <p:cNvPr id="1" name="Shape 128"/>
        <p:cNvGrpSpPr/>
        <p:nvPr/>
      </p:nvGrpSpPr>
      <p:grpSpPr>
        <a:xfrm>
          <a:off x="0" y="0"/>
          <a:ext cx="0" cy="0"/>
          <a:chOff x="0" y="0"/>
          <a:chExt cx="0" cy="0"/>
        </a:xfrm>
      </p:grpSpPr>
      <p:sp>
        <p:nvSpPr>
          <p:cNvPr id="129" name="Google Shape;129;p20"/>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0"/>
          <p:cNvSpPr txBox="1">
            <a:spLocks noGrp="1"/>
          </p:cNvSpPr>
          <p:nvPr>
            <p:ph type="subTitle" idx="1"/>
          </p:nvPr>
        </p:nvSpPr>
        <p:spPr>
          <a:xfrm>
            <a:off x="4347813" y="1709625"/>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31" name="Google Shape;131;p20"/>
          <p:cNvSpPr txBox="1">
            <a:spLocks noGrp="1"/>
          </p:cNvSpPr>
          <p:nvPr>
            <p:ph type="subTitle" idx="2"/>
          </p:nvPr>
        </p:nvSpPr>
        <p:spPr>
          <a:xfrm>
            <a:off x="4347821" y="1355825"/>
            <a:ext cx="16560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32" name="Google Shape;132;p20"/>
          <p:cNvSpPr txBox="1">
            <a:spLocks noGrp="1"/>
          </p:cNvSpPr>
          <p:nvPr>
            <p:ph type="subTitle" idx="3"/>
          </p:nvPr>
        </p:nvSpPr>
        <p:spPr>
          <a:xfrm>
            <a:off x="4347813" y="2780700"/>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33" name="Google Shape;133;p20"/>
          <p:cNvSpPr txBox="1">
            <a:spLocks noGrp="1"/>
          </p:cNvSpPr>
          <p:nvPr>
            <p:ph type="subTitle" idx="4"/>
          </p:nvPr>
        </p:nvSpPr>
        <p:spPr>
          <a:xfrm>
            <a:off x="4347821" y="2426900"/>
            <a:ext cx="16560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34" name="Google Shape;134;p20"/>
          <p:cNvSpPr txBox="1">
            <a:spLocks noGrp="1"/>
          </p:cNvSpPr>
          <p:nvPr>
            <p:ph type="subTitle" idx="5"/>
          </p:nvPr>
        </p:nvSpPr>
        <p:spPr>
          <a:xfrm>
            <a:off x="4347813" y="3851775"/>
            <a:ext cx="3753600" cy="5055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35" name="Google Shape;135;p20"/>
          <p:cNvSpPr txBox="1">
            <a:spLocks noGrp="1"/>
          </p:cNvSpPr>
          <p:nvPr>
            <p:ph type="subTitle" idx="6"/>
          </p:nvPr>
        </p:nvSpPr>
        <p:spPr>
          <a:xfrm>
            <a:off x="4347821" y="3497975"/>
            <a:ext cx="16560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36" name="Google Shape;136;p20"/>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137" name="Google Shape;137;p20"/>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0"/>
          <p:cNvSpPr txBox="1">
            <a:spLocks noGrp="1"/>
          </p:cNvSpPr>
          <p:nvPr>
            <p:ph type="title" idx="7" hasCustomPrompt="1"/>
          </p:nvPr>
        </p:nvSpPr>
        <p:spPr>
          <a:xfrm>
            <a:off x="1848738" y="1395650"/>
            <a:ext cx="2259300" cy="5097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4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9" name="Google Shape;139;p20"/>
          <p:cNvSpPr txBox="1">
            <a:spLocks noGrp="1"/>
          </p:cNvSpPr>
          <p:nvPr>
            <p:ph type="title" idx="8" hasCustomPrompt="1"/>
          </p:nvPr>
        </p:nvSpPr>
        <p:spPr>
          <a:xfrm>
            <a:off x="1848738" y="2452638"/>
            <a:ext cx="2259300" cy="5097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4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0" name="Google Shape;140;p20"/>
          <p:cNvSpPr txBox="1">
            <a:spLocks noGrp="1"/>
          </p:cNvSpPr>
          <p:nvPr>
            <p:ph type="title" idx="9" hasCustomPrompt="1"/>
          </p:nvPr>
        </p:nvSpPr>
        <p:spPr>
          <a:xfrm>
            <a:off x="1848738" y="3509625"/>
            <a:ext cx="2259300" cy="5097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4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1">
  <p:cSld name="TITLE_ONLY_1_1_1_1">
    <p:spTree>
      <p:nvGrpSpPr>
        <p:cNvPr id="1" name="Shape 141"/>
        <p:cNvGrpSpPr/>
        <p:nvPr/>
      </p:nvGrpSpPr>
      <p:grpSpPr>
        <a:xfrm>
          <a:off x="0" y="0"/>
          <a:ext cx="0" cy="0"/>
          <a:chOff x="0" y="0"/>
          <a:chExt cx="0" cy="0"/>
        </a:xfrm>
      </p:grpSpPr>
      <p:sp>
        <p:nvSpPr>
          <p:cNvPr id="142" name="Google Shape;142;p21"/>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1"/>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lvl1pPr lvl="0"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144" name="Google Shape;144;p21"/>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txBox="1">
            <a:spLocks noGrp="1"/>
          </p:cNvSpPr>
          <p:nvPr>
            <p:ph type="subTitle" idx="1"/>
          </p:nvPr>
        </p:nvSpPr>
        <p:spPr>
          <a:xfrm>
            <a:off x="2094221" y="15768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46" name="Google Shape;146;p21"/>
          <p:cNvSpPr txBox="1">
            <a:spLocks noGrp="1"/>
          </p:cNvSpPr>
          <p:nvPr>
            <p:ph type="subTitle" idx="2"/>
          </p:nvPr>
        </p:nvSpPr>
        <p:spPr>
          <a:xfrm>
            <a:off x="2094221" y="12562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47" name="Google Shape;147;p21"/>
          <p:cNvSpPr txBox="1">
            <a:spLocks noGrp="1"/>
          </p:cNvSpPr>
          <p:nvPr>
            <p:ph type="subTitle" idx="3"/>
          </p:nvPr>
        </p:nvSpPr>
        <p:spPr>
          <a:xfrm>
            <a:off x="5717021" y="15768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48" name="Google Shape;148;p21"/>
          <p:cNvSpPr txBox="1">
            <a:spLocks noGrp="1"/>
          </p:cNvSpPr>
          <p:nvPr>
            <p:ph type="subTitle" idx="4"/>
          </p:nvPr>
        </p:nvSpPr>
        <p:spPr>
          <a:xfrm>
            <a:off x="5717021" y="12562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49" name="Google Shape;149;p21"/>
          <p:cNvSpPr txBox="1">
            <a:spLocks noGrp="1"/>
          </p:cNvSpPr>
          <p:nvPr>
            <p:ph type="subTitle" idx="5"/>
          </p:nvPr>
        </p:nvSpPr>
        <p:spPr>
          <a:xfrm>
            <a:off x="2094221" y="22724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50" name="Google Shape;150;p21"/>
          <p:cNvSpPr txBox="1">
            <a:spLocks noGrp="1"/>
          </p:cNvSpPr>
          <p:nvPr>
            <p:ph type="subTitle" idx="6"/>
          </p:nvPr>
        </p:nvSpPr>
        <p:spPr>
          <a:xfrm>
            <a:off x="2094221" y="19518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51" name="Google Shape;151;p21"/>
          <p:cNvSpPr txBox="1">
            <a:spLocks noGrp="1"/>
          </p:cNvSpPr>
          <p:nvPr>
            <p:ph type="subTitle" idx="7"/>
          </p:nvPr>
        </p:nvSpPr>
        <p:spPr>
          <a:xfrm>
            <a:off x="5717021" y="22724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52" name="Google Shape;152;p21"/>
          <p:cNvSpPr txBox="1">
            <a:spLocks noGrp="1"/>
          </p:cNvSpPr>
          <p:nvPr>
            <p:ph type="subTitle" idx="8"/>
          </p:nvPr>
        </p:nvSpPr>
        <p:spPr>
          <a:xfrm>
            <a:off x="5717021" y="19518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53" name="Google Shape;153;p21"/>
          <p:cNvSpPr txBox="1">
            <a:spLocks noGrp="1"/>
          </p:cNvSpPr>
          <p:nvPr>
            <p:ph type="subTitle" idx="9"/>
          </p:nvPr>
        </p:nvSpPr>
        <p:spPr>
          <a:xfrm>
            <a:off x="2094221" y="29680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54" name="Google Shape;154;p21"/>
          <p:cNvSpPr txBox="1">
            <a:spLocks noGrp="1"/>
          </p:cNvSpPr>
          <p:nvPr>
            <p:ph type="subTitle" idx="13"/>
          </p:nvPr>
        </p:nvSpPr>
        <p:spPr>
          <a:xfrm>
            <a:off x="2094221" y="26474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55" name="Google Shape;155;p21"/>
          <p:cNvSpPr txBox="1">
            <a:spLocks noGrp="1"/>
          </p:cNvSpPr>
          <p:nvPr>
            <p:ph type="subTitle" idx="14"/>
          </p:nvPr>
        </p:nvSpPr>
        <p:spPr>
          <a:xfrm>
            <a:off x="5717021" y="29680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56" name="Google Shape;156;p21"/>
          <p:cNvSpPr txBox="1">
            <a:spLocks noGrp="1"/>
          </p:cNvSpPr>
          <p:nvPr>
            <p:ph type="subTitle" idx="15"/>
          </p:nvPr>
        </p:nvSpPr>
        <p:spPr>
          <a:xfrm>
            <a:off x="5717021" y="26474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57" name="Google Shape;157;p21"/>
          <p:cNvSpPr txBox="1">
            <a:spLocks noGrp="1"/>
          </p:cNvSpPr>
          <p:nvPr>
            <p:ph type="subTitle" idx="16"/>
          </p:nvPr>
        </p:nvSpPr>
        <p:spPr>
          <a:xfrm>
            <a:off x="2094221" y="3663689"/>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58" name="Google Shape;158;p21"/>
          <p:cNvSpPr txBox="1">
            <a:spLocks noGrp="1"/>
          </p:cNvSpPr>
          <p:nvPr>
            <p:ph type="subTitle" idx="17"/>
          </p:nvPr>
        </p:nvSpPr>
        <p:spPr>
          <a:xfrm>
            <a:off x="2094221" y="33430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59" name="Google Shape;159;p21"/>
          <p:cNvSpPr txBox="1">
            <a:spLocks noGrp="1"/>
          </p:cNvSpPr>
          <p:nvPr>
            <p:ph type="subTitle" idx="18"/>
          </p:nvPr>
        </p:nvSpPr>
        <p:spPr>
          <a:xfrm>
            <a:off x="5717021" y="3663689"/>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60" name="Google Shape;160;p21"/>
          <p:cNvSpPr txBox="1">
            <a:spLocks noGrp="1"/>
          </p:cNvSpPr>
          <p:nvPr>
            <p:ph type="subTitle" idx="19"/>
          </p:nvPr>
        </p:nvSpPr>
        <p:spPr>
          <a:xfrm>
            <a:off x="5717021" y="33430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61" name="Google Shape;161;p21"/>
          <p:cNvSpPr txBox="1">
            <a:spLocks noGrp="1"/>
          </p:cNvSpPr>
          <p:nvPr>
            <p:ph type="subTitle" idx="20"/>
          </p:nvPr>
        </p:nvSpPr>
        <p:spPr>
          <a:xfrm>
            <a:off x="2094221" y="43592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62" name="Google Shape;162;p21"/>
          <p:cNvSpPr txBox="1">
            <a:spLocks noGrp="1"/>
          </p:cNvSpPr>
          <p:nvPr>
            <p:ph type="subTitle" idx="21"/>
          </p:nvPr>
        </p:nvSpPr>
        <p:spPr>
          <a:xfrm>
            <a:off x="2094221" y="40386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63" name="Google Shape;163;p21"/>
          <p:cNvSpPr txBox="1">
            <a:spLocks noGrp="1"/>
          </p:cNvSpPr>
          <p:nvPr>
            <p:ph type="subTitle" idx="22"/>
          </p:nvPr>
        </p:nvSpPr>
        <p:spPr>
          <a:xfrm>
            <a:off x="5717021" y="4359290"/>
            <a:ext cx="2396700" cy="270000"/>
          </a:xfrm>
          <a:prstGeom prst="rect">
            <a:avLst/>
          </a:prstGeom>
        </p:spPr>
        <p:txBody>
          <a:bodyPr spcFirstLastPara="1" wrap="square" lIns="91425" tIns="0" rIns="91425" bIns="0"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64" name="Google Shape;164;p21"/>
          <p:cNvSpPr txBox="1">
            <a:spLocks noGrp="1"/>
          </p:cNvSpPr>
          <p:nvPr>
            <p:ph type="subTitle" idx="23"/>
          </p:nvPr>
        </p:nvSpPr>
        <p:spPr>
          <a:xfrm>
            <a:off x="5717021" y="4038670"/>
            <a:ext cx="2396700" cy="305700"/>
          </a:xfrm>
          <a:prstGeom prst="rect">
            <a:avLst/>
          </a:prstGeom>
        </p:spPr>
        <p:txBody>
          <a:bodyPr spcFirstLastPara="1" wrap="square" lIns="91425" tIns="0" rIns="91425" bIns="0" anchor="t" anchorCtr="0">
            <a:noAutofit/>
          </a:bodyPr>
          <a:lstStyle>
            <a:lvl1pPr lvl="0" rtl="0">
              <a:spcBef>
                <a:spcPts val="0"/>
              </a:spcBef>
              <a:spcAft>
                <a:spcPts val="0"/>
              </a:spcAft>
              <a:buSzPts val="2000"/>
              <a:buFont typeface="Lexend Deca Medium"/>
              <a:buNone/>
              <a:defRPr sz="2000">
                <a:latin typeface="Lexend Deca Medium"/>
                <a:ea typeface="Lexend Deca Medium"/>
                <a:cs typeface="Lexend Deca Medium"/>
                <a:sym typeface="Lexend Deca Medium"/>
              </a:defRPr>
            </a:lvl1pPr>
            <a:lvl2pPr lvl="1" rtl="0">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65" name="Google Shape;165;p21"/>
          <p:cNvSpPr txBox="1">
            <a:spLocks noGrp="1"/>
          </p:cNvSpPr>
          <p:nvPr>
            <p:ph type="title" idx="24" hasCustomPrompt="1"/>
          </p:nvPr>
        </p:nvSpPr>
        <p:spPr>
          <a:xfrm>
            <a:off x="1125971" y="1331700"/>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6" name="Google Shape;166;p21"/>
          <p:cNvSpPr txBox="1">
            <a:spLocks noGrp="1"/>
          </p:cNvSpPr>
          <p:nvPr>
            <p:ph type="title" idx="25" hasCustomPrompt="1"/>
          </p:nvPr>
        </p:nvSpPr>
        <p:spPr>
          <a:xfrm>
            <a:off x="1125971" y="2027638"/>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7" name="Google Shape;167;p21"/>
          <p:cNvSpPr txBox="1">
            <a:spLocks noGrp="1"/>
          </p:cNvSpPr>
          <p:nvPr>
            <p:ph type="title" idx="26" hasCustomPrompt="1"/>
          </p:nvPr>
        </p:nvSpPr>
        <p:spPr>
          <a:xfrm>
            <a:off x="1125971" y="2723575"/>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8" name="Google Shape;168;p21"/>
          <p:cNvSpPr txBox="1">
            <a:spLocks noGrp="1"/>
          </p:cNvSpPr>
          <p:nvPr>
            <p:ph type="title" idx="27" hasCustomPrompt="1"/>
          </p:nvPr>
        </p:nvSpPr>
        <p:spPr>
          <a:xfrm>
            <a:off x="1125971" y="3419513"/>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9" name="Google Shape;169;p21"/>
          <p:cNvSpPr txBox="1">
            <a:spLocks noGrp="1"/>
          </p:cNvSpPr>
          <p:nvPr>
            <p:ph type="title" idx="28" hasCustomPrompt="1"/>
          </p:nvPr>
        </p:nvSpPr>
        <p:spPr>
          <a:xfrm>
            <a:off x="1125971" y="4115450"/>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0" name="Google Shape;170;p21"/>
          <p:cNvSpPr txBox="1">
            <a:spLocks noGrp="1"/>
          </p:cNvSpPr>
          <p:nvPr>
            <p:ph type="title" idx="29" hasCustomPrompt="1"/>
          </p:nvPr>
        </p:nvSpPr>
        <p:spPr>
          <a:xfrm>
            <a:off x="4755221" y="1331700"/>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1" name="Google Shape;171;p21"/>
          <p:cNvSpPr txBox="1">
            <a:spLocks noGrp="1"/>
          </p:cNvSpPr>
          <p:nvPr>
            <p:ph type="title" idx="30" hasCustomPrompt="1"/>
          </p:nvPr>
        </p:nvSpPr>
        <p:spPr>
          <a:xfrm>
            <a:off x="4755221" y="2027638"/>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2" name="Google Shape;172;p21"/>
          <p:cNvSpPr txBox="1">
            <a:spLocks noGrp="1"/>
          </p:cNvSpPr>
          <p:nvPr>
            <p:ph type="title" idx="31" hasCustomPrompt="1"/>
          </p:nvPr>
        </p:nvSpPr>
        <p:spPr>
          <a:xfrm>
            <a:off x="4755221" y="2723575"/>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3" name="Google Shape;173;p21"/>
          <p:cNvSpPr txBox="1">
            <a:spLocks noGrp="1"/>
          </p:cNvSpPr>
          <p:nvPr>
            <p:ph type="title" idx="32" hasCustomPrompt="1"/>
          </p:nvPr>
        </p:nvSpPr>
        <p:spPr>
          <a:xfrm>
            <a:off x="4755221" y="3419513"/>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4" name="Google Shape;174;p21"/>
          <p:cNvSpPr txBox="1">
            <a:spLocks noGrp="1"/>
          </p:cNvSpPr>
          <p:nvPr>
            <p:ph type="title" idx="33" hasCustomPrompt="1"/>
          </p:nvPr>
        </p:nvSpPr>
        <p:spPr>
          <a:xfrm>
            <a:off x="4755221" y="4115450"/>
            <a:ext cx="961800" cy="439800"/>
          </a:xfrm>
          <a:prstGeom prst="rect">
            <a:avLst/>
          </a:prstGeom>
        </p:spPr>
        <p:txBody>
          <a:bodyPr spcFirstLastPara="1" wrap="square" lIns="91425" tIns="0" rIns="91425" bIns="0" anchor="b" anchorCtr="0">
            <a:noAutofit/>
          </a:bodyPr>
          <a:lstStyle>
            <a:lvl1pPr lvl="0" algn="r" rtl="0">
              <a:spcBef>
                <a:spcPts val="0"/>
              </a:spcBef>
              <a:spcAft>
                <a:spcPts val="0"/>
              </a:spcAft>
              <a:buSzPts val="6000"/>
              <a:buNone/>
              <a:defRPr sz="3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
    <p:spTree>
      <p:nvGrpSpPr>
        <p:cNvPr id="1" name="Shape 175"/>
        <p:cNvGrpSpPr/>
        <p:nvPr/>
      </p:nvGrpSpPr>
      <p:grpSpPr>
        <a:xfrm>
          <a:off x="0" y="0"/>
          <a:ext cx="0" cy="0"/>
          <a:chOff x="0" y="0"/>
          <a:chExt cx="0" cy="0"/>
        </a:xfrm>
      </p:grpSpPr>
      <p:sp>
        <p:nvSpPr>
          <p:cNvPr id="176" name="Google Shape;176;p22"/>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2"/>
          <p:cNvSpPr txBox="1">
            <a:spLocks noGrp="1"/>
          </p:cNvSpPr>
          <p:nvPr>
            <p:ph type="ctrTitle"/>
          </p:nvPr>
        </p:nvSpPr>
        <p:spPr>
          <a:xfrm>
            <a:off x="2624250" y="1070938"/>
            <a:ext cx="4262100" cy="822000"/>
          </a:xfrm>
          <a:prstGeom prst="rect">
            <a:avLst/>
          </a:prstGeom>
        </p:spPr>
        <p:txBody>
          <a:bodyPr spcFirstLastPara="1" wrap="square" lIns="91425" tIns="0" rIns="91425" bIns="0" anchor="b" anchorCtr="0">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78" name="Google Shape;178;p22"/>
          <p:cNvSpPr txBox="1">
            <a:spLocks noGrp="1"/>
          </p:cNvSpPr>
          <p:nvPr>
            <p:ph type="subTitle" idx="1"/>
          </p:nvPr>
        </p:nvSpPr>
        <p:spPr>
          <a:xfrm>
            <a:off x="2624250" y="2396100"/>
            <a:ext cx="4262100" cy="75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79" name="Google Shape;179;p22"/>
          <p:cNvSpPr/>
          <p:nvPr/>
        </p:nvSpPr>
        <p:spPr>
          <a:xfrm rot="-5400000">
            <a:off x="-952675" y="1711850"/>
            <a:ext cx="4407000" cy="1716600"/>
          </a:xfrm>
          <a:prstGeom prst="round2SameRect">
            <a:avLst>
              <a:gd name="adj1" fmla="val 2036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subTitle" idx="2"/>
          </p:nvPr>
        </p:nvSpPr>
        <p:spPr>
          <a:xfrm>
            <a:off x="2624250" y="1993467"/>
            <a:ext cx="4262100" cy="3597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000"/>
              <a:buFont typeface="Lexend Deca Medium"/>
              <a:buNone/>
              <a:defRPr sz="2000">
                <a:solidFill>
                  <a:schemeClr val="lt2"/>
                </a:solidFill>
                <a:latin typeface="Lexend Deca Medium"/>
                <a:ea typeface="Lexend Deca Medium"/>
                <a:cs typeface="Lexend Deca Medium"/>
                <a:sym typeface="Lexend Deca Medium"/>
              </a:defRPr>
            </a:lvl1pPr>
            <a:lvl2pPr lvl="1"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2pPr>
            <a:lvl3pPr lvl="2"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3pPr>
            <a:lvl4pPr lvl="3"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4pPr>
            <a:lvl5pPr lvl="4"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5pPr>
            <a:lvl6pPr lvl="5"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6pPr>
            <a:lvl7pPr lvl="6"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7pPr>
            <a:lvl8pPr lvl="7"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8pPr>
            <a:lvl9pPr lvl="8" rtl="0">
              <a:lnSpc>
                <a:spcPct val="100000"/>
              </a:lnSpc>
              <a:spcBef>
                <a:spcPts val="0"/>
              </a:spcBef>
              <a:spcAft>
                <a:spcPts val="0"/>
              </a:spcAft>
              <a:buSzPts val="2000"/>
              <a:buFont typeface="Lexend Deca Medium"/>
              <a:buNone/>
              <a:defRPr sz="2000">
                <a:latin typeface="Lexend Deca Medium"/>
                <a:ea typeface="Lexend Deca Medium"/>
                <a:cs typeface="Lexend Deca Medium"/>
                <a:sym typeface="Lexend Deca Medium"/>
              </a:defRPr>
            </a:lvl9pPr>
          </a:lstStyle>
          <a:p>
            <a:endParaRPr/>
          </a:p>
        </p:txBody>
      </p:sp>
      <p:sp>
        <p:nvSpPr>
          <p:cNvPr id="181" name="Google Shape;181;p22"/>
          <p:cNvSpPr txBox="1"/>
          <p:nvPr/>
        </p:nvSpPr>
        <p:spPr>
          <a:xfrm>
            <a:off x="2624250" y="3831725"/>
            <a:ext cx="4470900" cy="473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a:solidFill>
                  <a:schemeClr val="dk1"/>
                </a:solidFill>
                <a:latin typeface="Metrophobic"/>
                <a:ea typeface="Metrophobic"/>
                <a:cs typeface="Metrophobic"/>
                <a:sym typeface="Metrophobic"/>
              </a:rPr>
              <a:t>CREDITS: This presentation template was created by </a:t>
            </a:r>
            <a:r>
              <a:rPr lang="en" sz="1000" b="1">
                <a:solidFill>
                  <a:schemeClr val="dk1"/>
                </a:solidFill>
                <a:uFill>
                  <a:noFill/>
                </a:uFill>
                <a:latin typeface="Metrophobic"/>
                <a:ea typeface="Metrophobic"/>
                <a:cs typeface="Metrophobic"/>
                <a:sym typeface="Metrophobic"/>
                <a:hlinkClick r:id="rId2">
                  <a:extLst>
                    <a:ext uri="{A12FA001-AC4F-418D-AE19-62706E023703}">
                      <ahyp:hlinkClr xmlns:ahyp="http://schemas.microsoft.com/office/drawing/2018/hyperlinkcolor" val="tx"/>
                    </a:ext>
                  </a:extLst>
                </a:hlinkClick>
              </a:rPr>
              <a:t>Slidesgo</a:t>
            </a:r>
            <a:r>
              <a:rPr lang="en" sz="1000">
                <a:solidFill>
                  <a:schemeClr val="dk1"/>
                </a:solidFill>
                <a:latin typeface="Metrophobic"/>
                <a:ea typeface="Metrophobic"/>
                <a:cs typeface="Metrophobic"/>
                <a:sym typeface="Metrophobic"/>
              </a:rPr>
              <a:t>, and includes icons by </a:t>
            </a:r>
            <a:r>
              <a:rPr lang="en" sz="1000" b="1">
                <a:solidFill>
                  <a:schemeClr val="dk1"/>
                </a:solidFill>
                <a:uFill>
                  <a:noFill/>
                </a:uFill>
                <a:latin typeface="Metrophobic"/>
                <a:ea typeface="Metrophobic"/>
                <a:cs typeface="Metrophobic"/>
                <a:sym typeface="Metrophobic"/>
                <a:hlinkClick r:id="rId3">
                  <a:extLst>
                    <a:ext uri="{A12FA001-AC4F-418D-AE19-62706E023703}">
                      <ahyp:hlinkClr xmlns:ahyp="http://schemas.microsoft.com/office/drawing/2018/hyperlinkcolor" val="tx"/>
                    </a:ext>
                  </a:extLst>
                </a:hlinkClick>
              </a:rPr>
              <a:t>Flaticon</a:t>
            </a:r>
            <a:r>
              <a:rPr lang="en" sz="1000" b="1">
                <a:solidFill>
                  <a:schemeClr val="dk1"/>
                </a:solidFill>
                <a:latin typeface="Metrophobic"/>
                <a:ea typeface="Metrophobic"/>
                <a:cs typeface="Metrophobic"/>
                <a:sym typeface="Metrophobic"/>
              </a:rPr>
              <a:t> </a:t>
            </a:r>
            <a:r>
              <a:rPr lang="en" sz="1000">
                <a:solidFill>
                  <a:schemeClr val="dk1"/>
                </a:solidFill>
                <a:latin typeface="Metrophobic"/>
                <a:ea typeface="Metrophobic"/>
                <a:cs typeface="Metrophobic"/>
                <a:sym typeface="Metrophobic"/>
              </a:rPr>
              <a:t>and infographics &amp; images by </a:t>
            </a:r>
            <a:r>
              <a:rPr lang="en" sz="1000" b="1">
                <a:solidFill>
                  <a:schemeClr val="dk1"/>
                </a:solidFill>
                <a:uFill>
                  <a:noFill/>
                </a:uFill>
                <a:latin typeface="Metrophobic"/>
                <a:ea typeface="Metrophobic"/>
                <a:cs typeface="Metrophobic"/>
                <a:sym typeface="Metrophobic"/>
                <a:hlinkClick r:id="rId4">
                  <a:extLst>
                    <a:ext uri="{A12FA001-AC4F-418D-AE19-62706E023703}">
                      <ahyp:hlinkClr xmlns:ahyp="http://schemas.microsoft.com/office/drawing/2018/hyperlinkcolor" val="tx"/>
                    </a:ext>
                  </a:extLst>
                </a:hlinkClick>
              </a:rPr>
              <a:t>Freepik</a:t>
            </a:r>
            <a:endParaRPr sz="1000" b="1">
              <a:solidFill>
                <a:schemeClr val="dk1"/>
              </a:solidFill>
              <a:latin typeface="Metrophobic"/>
              <a:ea typeface="Metrophobic"/>
              <a:cs typeface="Metrophobic"/>
              <a:sym typeface="Metrophobic"/>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
  <p:cSld name="TITLE_ONLY_2">
    <p:bg>
      <p:bgPr>
        <a:gradFill>
          <a:gsLst>
            <a:gs pos="0">
              <a:schemeClr val="lt2"/>
            </a:gs>
            <a:gs pos="50000">
              <a:schemeClr val="dk1"/>
            </a:gs>
            <a:gs pos="100000">
              <a:schemeClr val="dk2"/>
            </a:gs>
          </a:gsLst>
          <a:path path="circle">
            <a:fillToRect l="50000" t="50000" r="50000" b="50000"/>
          </a:path>
          <a:tileRect/>
        </a:gradFill>
        <a:effectLst/>
      </p:bgPr>
    </p:bg>
    <p:spTree>
      <p:nvGrpSpPr>
        <p:cNvPr id="1" name="Shape 182"/>
        <p:cNvGrpSpPr/>
        <p:nvPr/>
      </p:nvGrpSpPr>
      <p:grpSpPr>
        <a:xfrm>
          <a:off x="0" y="0"/>
          <a:ext cx="0" cy="0"/>
          <a:chOff x="0" y="0"/>
          <a:chExt cx="0" cy="0"/>
        </a:xfrm>
      </p:grpSpPr>
      <p:sp>
        <p:nvSpPr>
          <p:cNvPr id="183" name="Google Shape;183;p23"/>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3"/>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TITLE_ONLY_3">
    <p:bg>
      <p:bgPr>
        <a:gradFill>
          <a:gsLst>
            <a:gs pos="0">
              <a:schemeClr val="dk2"/>
            </a:gs>
            <a:gs pos="2000">
              <a:schemeClr val="dk2"/>
            </a:gs>
            <a:gs pos="50000">
              <a:schemeClr val="dk1"/>
            </a:gs>
            <a:gs pos="100000">
              <a:schemeClr val="lt2"/>
            </a:gs>
          </a:gsLst>
          <a:path path="circle">
            <a:fillToRect l="50000" t="50000" r="50000" b="50000"/>
          </a:path>
          <a:tileRect/>
        </a:gradFill>
        <a:effectLst/>
      </p:bgPr>
    </p:bg>
    <p:spTree>
      <p:nvGrpSpPr>
        <p:cNvPr id="1" name="Shape 185"/>
        <p:cNvGrpSpPr/>
        <p:nvPr/>
      </p:nvGrpSpPr>
      <p:grpSpPr>
        <a:xfrm>
          <a:off x="0" y="0"/>
          <a:ext cx="0" cy="0"/>
          <a:chOff x="0" y="0"/>
          <a:chExt cx="0" cy="0"/>
        </a:xfrm>
      </p:grpSpPr>
      <p:sp>
        <p:nvSpPr>
          <p:cNvPr id="186" name="Google Shape;186;p24"/>
          <p:cNvSpPr/>
          <p:nvPr/>
        </p:nvSpPr>
        <p:spPr>
          <a:xfrm>
            <a:off x="390275" y="367175"/>
            <a:ext cx="8411700" cy="4409100"/>
          </a:xfrm>
          <a:prstGeom prst="roundRect">
            <a:avLst>
              <a:gd name="adj" fmla="val 7484"/>
            </a:avLst>
          </a:prstGeom>
          <a:solidFill>
            <a:schemeClr val="lt1"/>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4"/>
          <p:cNvSpPr/>
          <p:nvPr/>
        </p:nvSpPr>
        <p:spPr>
          <a:xfrm rot="-5400000">
            <a:off x="-1387975" y="2147150"/>
            <a:ext cx="4407000" cy="846000"/>
          </a:xfrm>
          <a:prstGeom prst="round2SameRect">
            <a:avLst>
              <a:gd name="adj1" fmla="val 38579"/>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2000">
              <a:schemeClr val="dk2"/>
            </a:gs>
            <a:gs pos="50000">
              <a:schemeClr val="dk1"/>
            </a:gs>
            <a:gs pos="100000">
              <a:schemeClr val="l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998350" y="540000"/>
            <a:ext cx="6425700" cy="477600"/>
          </a:xfrm>
          <a:prstGeom prst="rect">
            <a:avLst/>
          </a:prstGeom>
          <a:noFill/>
          <a:ln>
            <a:noFill/>
          </a:ln>
        </p:spPr>
        <p:txBody>
          <a:bodyPr spcFirstLastPara="1" wrap="square" lIns="91425" tIns="0" rIns="91425" bIns="0" anchor="t" anchorCtr="0">
            <a:noAutofit/>
          </a:bodyPr>
          <a:lstStyle>
            <a:lvl1pPr lvl="0">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1pPr>
            <a:lvl2pPr lvl="1">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2pPr>
            <a:lvl3pPr lvl="2">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3pPr>
            <a:lvl4pPr lvl="3">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4pPr>
            <a:lvl5pPr lvl="4">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5pPr>
            <a:lvl6pPr lvl="5">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6pPr>
            <a:lvl7pPr lvl="6">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7pPr>
            <a:lvl8pPr lvl="7">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8pPr>
            <a:lvl9pPr lvl="8">
              <a:spcBef>
                <a:spcPts val="0"/>
              </a:spcBef>
              <a:spcAft>
                <a:spcPts val="0"/>
              </a:spcAft>
              <a:buClr>
                <a:schemeClr val="dk1"/>
              </a:buClr>
              <a:buSzPts val="2800"/>
              <a:buFont typeface="Lexend Deca Medium"/>
              <a:buNone/>
              <a:defRPr sz="2800">
                <a:solidFill>
                  <a:schemeClr val="dk1"/>
                </a:solidFill>
                <a:latin typeface="Lexend Deca Medium"/>
                <a:ea typeface="Lexend Deca Medium"/>
                <a:cs typeface="Lexend Deca Medium"/>
                <a:sym typeface="Lexend Deca Medium"/>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0" rIns="91425" bIns="0" anchor="t" anchorCtr="0">
            <a:noAutofit/>
          </a:bodyPr>
          <a:lstStyle>
            <a:lvl1pPr marL="457200" lvl="0"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1pPr>
            <a:lvl2pPr marL="914400" lvl="1"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2pPr>
            <a:lvl3pPr marL="1371600" lvl="2"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3pPr>
            <a:lvl4pPr marL="1828800" lvl="3"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4pPr>
            <a:lvl5pPr marL="2286000" lvl="4"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5pPr>
            <a:lvl6pPr marL="2743200" lvl="5"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6pPr>
            <a:lvl7pPr marL="3200400" lvl="6"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7pPr>
            <a:lvl8pPr marL="3657600" lvl="7"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8pPr>
            <a:lvl9pPr marL="4114800" lvl="8" indent="-330200">
              <a:lnSpc>
                <a:spcPct val="100000"/>
              </a:lnSpc>
              <a:spcBef>
                <a:spcPts val="0"/>
              </a:spcBef>
              <a:spcAft>
                <a:spcPts val="0"/>
              </a:spcAft>
              <a:buClr>
                <a:schemeClr val="dk1"/>
              </a:buClr>
              <a:buSzPts val="1600"/>
              <a:buFont typeface="Metrophobic"/>
              <a:buChar char="■"/>
              <a:defRPr sz="1600">
                <a:solidFill>
                  <a:schemeClr val="dk1"/>
                </a:solidFill>
                <a:latin typeface="Metrophobic"/>
                <a:ea typeface="Metrophobic"/>
                <a:cs typeface="Metrophobic"/>
                <a:sym typeface="Metrophob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noeliacanela229/music-genre-clustering/tree/ma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noeliacanela229.github.io/music-genre-cluster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noeliacanela229/music-genre-clustering/tree/main"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hyperlink" Target="https://noeliacanela229.github.io/music-genre-cluste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5"/>
          <p:cNvSpPr txBox="1">
            <a:spLocks noGrp="1"/>
          </p:cNvSpPr>
          <p:nvPr>
            <p:ph type="ctrTitle"/>
          </p:nvPr>
        </p:nvSpPr>
        <p:spPr>
          <a:xfrm>
            <a:off x="2321700" y="908575"/>
            <a:ext cx="6102300" cy="21723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sz="2900"/>
              <a:t>Final Project Presentation </a:t>
            </a:r>
            <a:r>
              <a:rPr lang="en" sz="3100"/>
              <a:t> </a:t>
            </a:r>
            <a:r>
              <a:rPr lang="en">
                <a:solidFill>
                  <a:schemeClr val="dk2"/>
                </a:solidFill>
              </a:rPr>
              <a:t>Clustering Music Genres </a:t>
            </a:r>
            <a:endParaRPr sz="4500"/>
          </a:p>
        </p:txBody>
      </p:sp>
      <p:sp>
        <p:nvSpPr>
          <p:cNvPr id="193" name="Google Shape;193;p25"/>
          <p:cNvSpPr txBox="1">
            <a:spLocks noGrp="1"/>
          </p:cNvSpPr>
          <p:nvPr>
            <p:ph type="subTitle" idx="1"/>
          </p:nvPr>
        </p:nvSpPr>
        <p:spPr>
          <a:xfrm>
            <a:off x="2321700" y="3080875"/>
            <a:ext cx="4764300" cy="4821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By Ethan Ferguson &amp; Noelia Canela</a:t>
            </a:r>
            <a:endParaRPr/>
          </a:p>
        </p:txBody>
      </p:sp>
      <p:grpSp>
        <p:nvGrpSpPr>
          <p:cNvPr id="194" name="Google Shape;194;p25"/>
          <p:cNvGrpSpPr/>
          <p:nvPr/>
        </p:nvGrpSpPr>
        <p:grpSpPr>
          <a:xfrm>
            <a:off x="3974600" y="4154930"/>
            <a:ext cx="4113600" cy="146102"/>
            <a:chOff x="3974600" y="4154930"/>
            <a:chExt cx="4113600" cy="146102"/>
          </a:xfrm>
        </p:grpSpPr>
        <p:sp>
          <p:nvSpPr>
            <p:cNvPr id="195" name="Google Shape;195;p25"/>
            <p:cNvSpPr/>
            <p:nvPr/>
          </p:nvSpPr>
          <p:spPr>
            <a:xfrm>
              <a:off x="3974600" y="4214463"/>
              <a:ext cx="4113600" cy="390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5"/>
            <p:cNvSpPr/>
            <p:nvPr/>
          </p:nvSpPr>
          <p:spPr>
            <a:xfrm>
              <a:off x="3974600" y="4214503"/>
              <a:ext cx="646900" cy="38915"/>
            </a:xfrm>
            <a:custGeom>
              <a:avLst/>
              <a:gdLst/>
              <a:ahLst/>
              <a:cxnLst/>
              <a:rect l="l" t="t" r="r" b="b"/>
              <a:pathLst>
                <a:path w="11304" h="680" extrusionOk="0">
                  <a:moveTo>
                    <a:pt x="347" y="0"/>
                  </a:moveTo>
                  <a:cubicBezTo>
                    <a:pt x="153" y="0"/>
                    <a:pt x="0" y="152"/>
                    <a:pt x="0" y="347"/>
                  </a:cubicBezTo>
                  <a:cubicBezTo>
                    <a:pt x="0" y="527"/>
                    <a:pt x="153" y="679"/>
                    <a:pt x="347" y="679"/>
                  </a:cubicBezTo>
                  <a:lnTo>
                    <a:pt x="11248" y="679"/>
                  </a:lnTo>
                  <a:cubicBezTo>
                    <a:pt x="11248" y="458"/>
                    <a:pt x="11261" y="222"/>
                    <a:pt x="11303" y="0"/>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5"/>
            <p:cNvSpPr/>
            <p:nvPr/>
          </p:nvSpPr>
          <p:spPr>
            <a:xfrm>
              <a:off x="4519857" y="4154930"/>
              <a:ext cx="146045" cy="146102"/>
            </a:xfrm>
            <a:custGeom>
              <a:avLst/>
              <a:gdLst/>
              <a:ahLst/>
              <a:cxnLst/>
              <a:rect l="l" t="t" r="r" b="b"/>
              <a:pathLst>
                <a:path w="2552" h="2553" extrusionOk="0">
                  <a:moveTo>
                    <a:pt x="1276" y="1"/>
                  </a:moveTo>
                  <a:cubicBezTo>
                    <a:pt x="568" y="1"/>
                    <a:pt x="0" y="570"/>
                    <a:pt x="0" y="1277"/>
                  </a:cubicBezTo>
                  <a:cubicBezTo>
                    <a:pt x="0" y="1984"/>
                    <a:pt x="568" y="2552"/>
                    <a:pt x="1276" y="2552"/>
                  </a:cubicBezTo>
                  <a:cubicBezTo>
                    <a:pt x="1983" y="2552"/>
                    <a:pt x="2552" y="1984"/>
                    <a:pt x="2552" y="1277"/>
                  </a:cubicBezTo>
                  <a:cubicBezTo>
                    <a:pt x="2552" y="570"/>
                    <a:pt x="1983" y="1"/>
                    <a:pt x="1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5"/>
            <p:cNvSpPr/>
            <p:nvPr/>
          </p:nvSpPr>
          <p:spPr>
            <a:xfrm>
              <a:off x="4564265" y="4199395"/>
              <a:ext cx="57228" cy="57170"/>
            </a:xfrm>
            <a:custGeom>
              <a:avLst/>
              <a:gdLst/>
              <a:ahLst/>
              <a:cxnLst/>
              <a:rect l="l" t="t" r="r" b="b"/>
              <a:pathLst>
                <a:path w="1000" h="999" extrusionOk="0">
                  <a:moveTo>
                    <a:pt x="500" y="0"/>
                  </a:moveTo>
                  <a:cubicBezTo>
                    <a:pt x="223" y="0"/>
                    <a:pt x="1" y="222"/>
                    <a:pt x="1" y="500"/>
                  </a:cubicBezTo>
                  <a:cubicBezTo>
                    <a:pt x="1" y="777"/>
                    <a:pt x="223" y="999"/>
                    <a:pt x="500" y="999"/>
                  </a:cubicBezTo>
                  <a:cubicBezTo>
                    <a:pt x="777" y="999"/>
                    <a:pt x="999" y="777"/>
                    <a:pt x="999" y="500"/>
                  </a:cubicBezTo>
                  <a:cubicBezTo>
                    <a:pt x="999" y="222"/>
                    <a:pt x="777" y="0"/>
                    <a:pt x="500" y="0"/>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5"/>
          <p:cNvGrpSpPr/>
          <p:nvPr/>
        </p:nvGrpSpPr>
        <p:grpSpPr>
          <a:xfrm>
            <a:off x="2402125" y="3986650"/>
            <a:ext cx="1314377" cy="482094"/>
            <a:chOff x="2402125" y="3986650"/>
            <a:chExt cx="1314377" cy="482094"/>
          </a:xfrm>
        </p:grpSpPr>
        <p:sp>
          <p:nvSpPr>
            <p:cNvPr id="200" name="Google Shape;200;p25"/>
            <p:cNvSpPr/>
            <p:nvPr/>
          </p:nvSpPr>
          <p:spPr>
            <a:xfrm>
              <a:off x="2821234" y="3986650"/>
              <a:ext cx="492273" cy="482094"/>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5"/>
            <p:cNvSpPr/>
            <p:nvPr/>
          </p:nvSpPr>
          <p:spPr>
            <a:xfrm>
              <a:off x="3003288" y="4154642"/>
              <a:ext cx="42768" cy="146115"/>
            </a:xfrm>
            <a:custGeom>
              <a:avLst/>
              <a:gdLst/>
              <a:ahLst/>
              <a:cxnLst/>
              <a:rect l="l" t="t" r="r" b="b"/>
              <a:pathLst>
                <a:path w="958" h="3273" extrusionOk="0">
                  <a:moveTo>
                    <a:pt x="0" y="0"/>
                  </a:moveTo>
                  <a:lnTo>
                    <a:pt x="0" y="3273"/>
                  </a:lnTo>
                  <a:lnTo>
                    <a:pt x="958" y="3273"/>
                  </a:lnTo>
                  <a:lnTo>
                    <a:pt x="9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5"/>
            <p:cNvSpPr/>
            <p:nvPr/>
          </p:nvSpPr>
          <p:spPr>
            <a:xfrm>
              <a:off x="3084404" y="4154642"/>
              <a:ext cx="43393" cy="146115"/>
            </a:xfrm>
            <a:custGeom>
              <a:avLst/>
              <a:gdLst/>
              <a:ahLst/>
              <a:cxnLst/>
              <a:rect l="l" t="t" r="r" b="b"/>
              <a:pathLst>
                <a:path w="972" h="3273" extrusionOk="0">
                  <a:moveTo>
                    <a:pt x="0" y="0"/>
                  </a:moveTo>
                  <a:lnTo>
                    <a:pt x="0" y="3273"/>
                  </a:lnTo>
                  <a:lnTo>
                    <a:pt x="971" y="3273"/>
                  </a:lnTo>
                  <a:lnTo>
                    <a:pt x="9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5"/>
            <p:cNvSpPr/>
            <p:nvPr/>
          </p:nvSpPr>
          <p:spPr>
            <a:xfrm>
              <a:off x="3455209" y="4097008"/>
              <a:ext cx="261293" cy="261337"/>
            </a:xfrm>
            <a:custGeom>
              <a:avLst/>
              <a:gdLst/>
              <a:ahLst/>
              <a:cxnLst/>
              <a:rect l="l" t="t" r="r" b="b"/>
              <a:pathLst>
                <a:path w="5853" h="5854" extrusionOk="0">
                  <a:moveTo>
                    <a:pt x="2927" y="1"/>
                  </a:moveTo>
                  <a:cubicBezTo>
                    <a:pt x="1319" y="1"/>
                    <a:pt x="1" y="1319"/>
                    <a:pt x="1" y="2928"/>
                  </a:cubicBezTo>
                  <a:cubicBezTo>
                    <a:pt x="1" y="4550"/>
                    <a:pt x="1319" y="5853"/>
                    <a:pt x="2927" y="5853"/>
                  </a:cubicBezTo>
                  <a:cubicBezTo>
                    <a:pt x="4549" y="5853"/>
                    <a:pt x="5853" y="4550"/>
                    <a:pt x="5853" y="2928"/>
                  </a:cubicBezTo>
                  <a:cubicBezTo>
                    <a:pt x="5853" y="1319"/>
                    <a:pt x="4549" y="1"/>
                    <a:pt x="29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5"/>
            <p:cNvSpPr/>
            <p:nvPr/>
          </p:nvSpPr>
          <p:spPr>
            <a:xfrm>
              <a:off x="3557397" y="4199776"/>
              <a:ext cx="48928" cy="56428"/>
            </a:xfrm>
            <a:custGeom>
              <a:avLst/>
              <a:gdLst/>
              <a:ahLst/>
              <a:cxnLst/>
              <a:rect l="l" t="t" r="r" b="b"/>
              <a:pathLst>
                <a:path w="1096" h="1264" extrusionOk="0">
                  <a:moveTo>
                    <a:pt x="0" y="1"/>
                  </a:moveTo>
                  <a:lnTo>
                    <a:pt x="0" y="1263"/>
                  </a:lnTo>
                  <a:lnTo>
                    <a:pt x="1095" y="626"/>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5"/>
            <p:cNvSpPr/>
            <p:nvPr/>
          </p:nvSpPr>
          <p:spPr>
            <a:xfrm>
              <a:off x="3606281" y="4199776"/>
              <a:ext cx="8125" cy="55803"/>
            </a:xfrm>
            <a:custGeom>
              <a:avLst/>
              <a:gdLst/>
              <a:ahLst/>
              <a:cxnLst/>
              <a:rect l="l" t="t" r="r" b="b"/>
              <a:pathLst>
                <a:path w="182" h="1250" extrusionOk="0">
                  <a:moveTo>
                    <a:pt x="0" y="1"/>
                  </a:moveTo>
                  <a:lnTo>
                    <a:pt x="0" y="1249"/>
                  </a:lnTo>
                  <a:lnTo>
                    <a:pt x="181" y="1249"/>
                  </a:lnTo>
                  <a:lnTo>
                    <a:pt x="18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5"/>
            <p:cNvSpPr/>
            <p:nvPr/>
          </p:nvSpPr>
          <p:spPr>
            <a:xfrm>
              <a:off x="2402125" y="4097008"/>
              <a:ext cx="260668" cy="261337"/>
            </a:xfrm>
            <a:custGeom>
              <a:avLst/>
              <a:gdLst/>
              <a:ahLst/>
              <a:cxnLst/>
              <a:rect l="l" t="t" r="r" b="b"/>
              <a:pathLst>
                <a:path w="5839" h="5854" extrusionOk="0">
                  <a:moveTo>
                    <a:pt x="2913" y="1"/>
                  </a:moveTo>
                  <a:cubicBezTo>
                    <a:pt x="1304" y="1"/>
                    <a:pt x="1" y="1319"/>
                    <a:pt x="1" y="2928"/>
                  </a:cubicBezTo>
                  <a:cubicBezTo>
                    <a:pt x="1" y="4550"/>
                    <a:pt x="1304" y="5853"/>
                    <a:pt x="2913" y="5853"/>
                  </a:cubicBezTo>
                  <a:cubicBezTo>
                    <a:pt x="4535" y="5853"/>
                    <a:pt x="5839" y="4550"/>
                    <a:pt x="5839" y="2928"/>
                  </a:cubicBezTo>
                  <a:cubicBezTo>
                    <a:pt x="5839" y="1319"/>
                    <a:pt x="4535" y="1"/>
                    <a:pt x="29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5"/>
            <p:cNvSpPr/>
            <p:nvPr/>
          </p:nvSpPr>
          <p:spPr>
            <a:xfrm>
              <a:off x="2511679" y="4199776"/>
              <a:ext cx="49017" cy="56428"/>
            </a:xfrm>
            <a:custGeom>
              <a:avLst/>
              <a:gdLst/>
              <a:ahLst/>
              <a:cxnLst/>
              <a:rect l="l" t="t" r="r" b="b"/>
              <a:pathLst>
                <a:path w="1098" h="1264" extrusionOk="0">
                  <a:moveTo>
                    <a:pt x="1097" y="1"/>
                  </a:moveTo>
                  <a:lnTo>
                    <a:pt x="1" y="626"/>
                  </a:lnTo>
                  <a:lnTo>
                    <a:pt x="1097" y="1263"/>
                  </a:lnTo>
                  <a:lnTo>
                    <a:pt x="109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5"/>
            <p:cNvSpPr/>
            <p:nvPr/>
          </p:nvSpPr>
          <p:spPr>
            <a:xfrm>
              <a:off x="2504268" y="4199776"/>
              <a:ext cx="7455" cy="55803"/>
            </a:xfrm>
            <a:custGeom>
              <a:avLst/>
              <a:gdLst/>
              <a:ahLst/>
              <a:cxnLst/>
              <a:rect l="l" t="t" r="r" b="b"/>
              <a:pathLst>
                <a:path w="167" h="1250" extrusionOk="0">
                  <a:moveTo>
                    <a:pt x="1" y="1"/>
                  </a:moveTo>
                  <a:lnTo>
                    <a:pt x="1" y="1249"/>
                  </a:lnTo>
                  <a:lnTo>
                    <a:pt x="167" y="1249"/>
                  </a:lnTo>
                  <a:lnTo>
                    <a:pt x="1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 name="Google Shape;209;p25"/>
          <p:cNvGrpSpPr/>
          <p:nvPr/>
        </p:nvGrpSpPr>
        <p:grpSpPr>
          <a:xfrm>
            <a:off x="723837" y="552000"/>
            <a:ext cx="1244188" cy="1640915"/>
            <a:chOff x="723837" y="552000"/>
            <a:chExt cx="1244188" cy="1640915"/>
          </a:xfrm>
        </p:grpSpPr>
        <p:sp>
          <p:nvSpPr>
            <p:cNvPr id="210" name="Google Shape;210;p25"/>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5"/>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5"/>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25"/>
            <p:cNvGrpSpPr/>
            <p:nvPr/>
          </p:nvGrpSpPr>
          <p:grpSpPr>
            <a:xfrm>
              <a:off x="729630" y="1968358"/>
              <a:ext cx="255615" cy="224557"/>
              <a:chOff x="6184139" y="1980808"/>
              <a:chExt cx="451696" cy="396814"/>
            </a:xfrm>
          </p:grpSpPr>
          <p:sp>
            <p:nvSpPr>
              <p:cNvPr id="214" name="Google Shape;214;p25"/>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5"/>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216;p25"/>
            <p:cNvGrpSpPr/>
            <p:nvPr/>
          </p:nvGrpSpPr>
          <p:grpSpPr>
            <a:xfrm>
              <a:off x="729630" y="975085"/>
              <a:ext cx="255615" cy="254967"/>
              <a:chOff x="6184139" y="1220827"/>
              <a:chExt cx="451696" cy="450552"/>
            </a:xfrm>
          </p:grpSpPr>
          <p:sp>
            <p:nvSpPr>
              <p:cNvPr id="217" name="Google Shape;217;p25"/>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5"/>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5"/>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25"/>
            <p:cNvGrpSpPr/>
            <p:nvPr/>
          </p:nvGrpSpPr>
          <p:grpSpPr>
            <a:xfrm>
              <a:off x="723837" y="1482615"/>
              <a:ext cx="267223" cy="233165"/>
              <a:chOff x="6908262" y="1240186"/>
              <a:chExt cx="472209" cy="412024"/>
            </a:xfrm>
          </p:grpSpPr>
          <p:sp>
            <p:nvSpPr>
              <p:cNvPr id="221" name="Google Shape;221;p25"/>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5"/>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5"/>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5"/>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5"/>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5"/>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5"/>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5"/>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 name="Google Shape;229;p25"/>
            <p:cNvSpPr txBox="1"/>
            <p:nvPr/>
          </p:nvSpPr>
          <p:spPr>
            <a:xfrm>
              <a:off x="1085175" y="1029513"/>
              <a:ext cx="858300" cy="146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dk1"/>
                  </a:solidFill>
                  <a:latin typeface="Lexend Deca"/>
                  <a:ea typeface="Lexend Deca"/>
                  <a:cs typeface="Lexend Deca"/>
                  <a:sym typeface="Lexend Deca"/>
                </a:rPr>
                <a:t>Search</a:t>
              </a:r>
              <a:endParaRPr sz="1100">
                <a:solidFill>
                  <a:schemeClr val="dk1"/>
                </a:solidFill>
                <a:latin typeface="Lexend Deca"/>
                <a:ea typeface="Lexend Deca"/>
                <a:cs typeface="Lexend Deca"/>
                <a:sym typeface="Lexend Deca"/>
              </a:endParaRPr>
            </a:p>
          </p:txBody>
        </p:sp>
        <p:sp>
          <p:nvSpPr>
            <p:cNvPr id="230" name="Google Shape;230;p25"/>
            <p:cNvSpPr txBox="1"/>
            <p:nvPr/>
          </p:nvSpPr>
          <p:spPr>
            <a:xfrm>
              <a:off x="1085175" y="1526138"/>
              <a:ext cx="858300" cy="146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dk1"/>
                  </a:solidFill>
                  <a:latin typeface="Lexend Deca"/>
                  <a:ea typeface="Lexend Deca"/>
                  <a:cs typeface="Lexend Deca"/>
                  <a:sym typeface="Lexend Deca"/>
                </a:rPr>
                <a:t>Home</a:t>
              </a:r>
              <a:endParaRPr sz="1100">
                <a:solidFill>
                  <a:schemeClr val="dk1"/>
                </a:solidFill>
                <a:latin typeface="Lexend Deca"/>
                <a:ea typeface="Lexend Deca"/>
                <a:cs typeface="Lexend Deca"/>
                <a:sym typeface="Lexend Deca"/>
              </a:endParaRPr>
            </a:p>
          </p:txBody>
        </p:sp>
        <p:sp>
          <p:nvSpPr>
            <p:cNvPr id="231" name="Google Shape;231;p25"/>
            <p:cNvSpPr txBox="1"/>
            <p:nvPr/>
          </p:nvSpPr>
          <p:spPr>
            <a:xfrm>
              <a:off x="1085175" y="2007575"/>
              <a:ext cx="858300" cy="146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dk1"/>
                  </a:solidFill>
                  <a:latin typeface="Lexend Deca"/>
                  <a:ea typeface="Lexend Deca"/>
                  <a:cs typeface="Lexend Deca"/>
                  <a:sym typeface="Lexend Deca"/>
                </a:rPr>
                <a:t>Library</a:t>
              </a:r>
              <a:endParaRPr sz="1100">
                <a:solidFill>
                  <a:schemeClr val="dk1"/>
                </a:solidFill>
                <a:latin typeface="Lexend Deca"/>
                <a:ea typeface="Lexend Deca"/>
                <a:cs typeface="Lexend Deca"/>
                <a:sym typeface="Lexend Deca"/>
              </a:endParaRPr>
            </a:p>
          </p:txBody>
        </p:sp>
        <p:cxnSp>
          <p:nvCxnSpPr>
            <p:cNvPr id="232" name="Google Shape;232;p25"/>
            <p:cNvCxnSpPr/>
            <p:nvPr/>
          </p:nvCxnSpPr>
          <p:spPr>
            <a:xfrm>
              <a:off x="729625" y="1355100"/>
              <a:ext cx="12384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25"/>
            <p:cNvCxnSpPr/>
            <p:nvPr/>
          </p:nvCxnSpPr>
          <p:spPr>
            <a:xfrm>
              <a:off x="729625" y="1845525"/>
              <a:ext cx="1238400" cy="0"/>
            </a:xfrm>
            <a:prstGeom prst="straightConnector1">
              <a:avLst/>
            </a:prstGeom>
            <a:noFill/>
            <a:ln w="9525" cap="flat" cmpd="sng">
              <a:solidFill>
                <a:schemeClr val="dk1"/>
              </a:solidFill>
              <a:prstDash val="solid"/>
              <a:round/>
              <a:headEnd type="none" w="med" len="med"/>
              <a:tailEnd type="none" w="med" len="med"/>
            </a:ln>
          </p:spPr>
        </p:cxnSp>
      </p:grpSp>
      <p:grpSp>
        <p:nvGrpSpPr>
          <p:cNvPr id="234" name="Google Shape;234;p25"/>
          <p:cNvGrpSpPr/>
          <p:nvPr/>
        </p:nvGrpSpPr>
        <p:grpSpPr>
          <a:xfrm>
            <a:off x="2465285" y="552003"/>
            <a:ext cx="599322" cy="250348"/>
            <a:chOff x="2465285" y="552003"/>
            <a:chExt cx="599322" cy="250348"/>
          </a:xfrm>
        </p:grpSpPr>
        <p:sp>
          <p:nvSpPr>
            <p:cNvPr id="235" name="Google Shape;235;p25"/>
            <p:cNvSpPr/>
            <p:nvPr/>
          </p:nvSpPr>
          <p:spPr>
            <a:xfrm>
              <a:off x="2465285" y="552003"/>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5"/>
            <p:cNvSpPr/>
            <p:nvPr/>
          </p:nvSpPr>
          <p:spPr>
            <a:xfrm>
              <a:off x="2569277" y="620325"/>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237" name="Google Shape;237;p25"/>
            <p:cNvSpPr/>
            <p:nvPr/>
          </p:nvSpPr>
          <p:spPr>
            <a:xfrm flipH="1">
              <a:off x="2808974" y="552003"/>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flipH="1">
              <a:off x="2912966" y="620325"/>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sp>
        <p:nvSpPr>
          <p:cNvPr id="239" name="Google Shape;239;p25"/>
          <p:cNvSpPr txBox="1"/>
          <p:nvPr/>
        </p:nvSpPr>
        <p:spPr>
          <a:xfrm>
            <a:off x="3256650" y="604125"/>
            <a:ext cx="1611000" cy="146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dk1"/>
                </a:solidFill>
                <a:latin typeface="Lexend Deca"/>
                <a:ea typeface="Lexend Deca"/>
                <a:cs typeface="Lexend Deca"/>
                <a:sym typeface="Lexend Deca"/>
              </a:rPr>
              <a:t>CS 472</a:t>
            </a:r>
            <a:endParaRPr sz="1100">
              <a:solidFill>
                <a:schemeClr val="dk1"/>
              </a:solidFill>
              <a:latin typeface="Lexend Deca"/>
              <a:ea typeface="Lexend Deca"/>
              <a:cs typeface="Lexend Deca"/>
              <a:sym typeface="Lexend Deca"/>
            </a:endParaRPr>
          </a:p>
        </p:txBody>
      </p:sp>
      <p:sp>
        <p:nvSpPr>
          <p:cNvPr id="240" name="Google Shape;240;p25"/>
          <p:cNvSpPr txBox="1"/>
          <p:nvPr/>
        </p:nvSpPr>
        <p:spPr>
          <a:xfrm>
            <a:off x="2247150" y="3378625"/>
            <a:ext cx="6102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Metrophobic"/>
                <a:ea typeface="Metrophobic"/>
                <a:cs typeface="Metrophobic"/>
                <a:sym typeface="Metrophobic"/>
              </a:rPr>
              <a:t>Github Repo: </a:t>
            </a:r>
            <a:r>
              <a:rPr lang="en" sz="1200" u="sng">
                <a:solidFill>
                  <a:schemeClr val="hlink"/>
                </a:solidFill>
                <a:latin typeface="Metrophobic"/>
                <a:ea typeface="Metrophobic"/>
                <a:cs typeface="Metrophobic"/>
                <a:sym typeface="Metrophobic"/>
                <a:hlinkClick r:id="rId3"/>
              </a:rPr>
              <a:t>https://github.com/noeliacanela229/music-genre-clustering/tree/mai</a:t>
            </a:r>
            <a:r>
              <a:rPr lang="en" sz="1200" u="sng">
                <a:solidFill>
                  <a:schemeClr val="hlink"/>
                </a:solidFill>
                <a:latin typeface="Metrophobic"/>
                <a:ea typeface="Metrophobic"/>
                <a:cs typeface="Metrophobic"/>
                <a:sym typeface="Metrophobic"/>
                <a:hlinkClick r:id="rId3"/>
              </a:rPr>
              <a:t>n</a:t>
            </a:r>
            <a:endParaRPr sz="700"/>
          </a:p>
          <a:p>
            <a:pPr marL="0" lvl="0" indent="0" algn="l" rtl="0">
              <a:spcBef>
                <a:spcPts val="0"/>
              </a:spcBef>
              <a:spcAft>
                <a:spcPts val="0"/>
              </a:spcAft>
              <a:buNone/>
            </a:pPr>
            <a:r>
              <a:rPr lang="en" sz="1200">
                <a:solidFill>
                  <a:schemeClr val="dk1"/>
                </a:solidFill>
                <a:latin typeface="Metrophobic"/>
                <a:ea typeface="Metrophobic"/>
                <a:cs typeface="Metrophobic"/>
                <a:sym typeface="Metrophobic"/>
              </a:rPr>
              <a:t>Github Webpage: </a:t>
            </a:r>
            <a:r>
              <a:rPr lang="en" sz="1200" u="sng">
                <a:solidFill>
                  <a:schemeClr val="hlink"/>
                </a:solidFill>
                <a:latin typeface="Metrophobic"/>
                <a:ea typeface="Metrophobic"/>
                <a:cs typeface="Metrophobic"/>
                <a:sym typeface="Metrophobic"/>
                <a:hlinkClick r:id="rId4"/>
              </a:rPr>
              <a:t>https://noeliacanela229.github.io/music-genre-clustering/</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6"/>
          <p:cNvSpPr/>
          <p:nvPr/>
        </p:nvSpPr>
        <p:spPr>
          <a:xfrm>
            <a:off x="1836525" y="3032575"/>
            <a:ext cx="6083400" cy="14898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1353725" y="1228650"/>
            <a:ext cx="3554100" cy="17070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txBox="1">
            <a:spLocks noGrp="1"/>
          </p:cNvSpPr>
          <p:nvPr>
            <p:ph type="title" idx="15"/>
          </p:nvPr>
        </p:nvSpPr>
        <p:spPr>
          <a:xfrm>
            <a:off x="1998350" y="5400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Problem Setup</a:t>
            </a:r>
            <a:endParaRPr/>
          </a:p>
        </p:txBody>
      </p:sp>
      <p:sp>
        <p:nvSpPr>
          <p:cNvPr id="248" name="Google Shape;248;p26"/>
          <p:cNvSpPr txBox="1">
            <a:spLocks noGrp="1"/>
          </p:cNvSpPr>
          <p:nvPr>
            <p:ph type="subTitle" idx="1"/>
          </p:nvPr>
        </p:nvSpPr>
        <p:spPr>
          <a:xfrm>
            <a:off x="1531850" y="1742175"/>
            <a:ext cx="3187200" cy="7647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Can a clustering algorithm group songs by genre just from audio data with no labels at all?</a:t>
            </a:r>
            <a:endParaRPr/>
          </a:p>
        </p:txBody>
      </p:sp>
      <p:sp>
        <p:nvSpPr>
          <p:cNvPr id="249" name="Google Shape;249;p26"/>
          <p:cNvSpPr txBox="1">
            <a:spLocks noGrp="1"/>
          </p:cNvSpPr>
          <p:nvPr>
            <p:ph type="subTitle" idx="2"/>
          </p:nvPr>
        </p:nvSpPr>
        <p:spPr>
          <a:xfrm>
            <a:off x="1593938" y="1379613"/>
            <a:ext cx="1984800" cy="4173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Our Question: </a:t>
            </a:r>
            <a:endParaRPr/>
          </a:p>
        </p:txBody>
      </p:sp>
      <p:sp>
        <p:nvSpPr>
          <p:cNvPr id="250" name="Google Shape;250;p26"/>
          <p:cNvSpPr txBox="1">
            <a:spLocks noGrp="1"/>
          </p:cNvSpPr>
          <p:nvPr>
            <p:ph type="subTitle" idx="5"/>
          </p:nvPr>
        </p:nvSpPr>
        <p:spPr>
          <a:xfrm>
            <a:off x="2432850" y="3589075"/>
            <a:ext cx="5190600" cy="7647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Run 6 clustering algorithms and compare them using silhouette score to find which one works best.</a:t>
            </a:r>
            <a:endParaRPr/>
          </a:p>
        </p:txBody>
      </p:sp>
      <p:sp>
        <p:nvSpPr>
          <p:cNvPr id="251" name="Google Shape;251;p26"/>
          <p:cNvSpPr txBox="1">
            <a:spLocks noGrp="1"/>
          </p:cNvSpPr>
          <p:nvPr>
            <p:ph type="subTitle" idx="6"/>
          </p:nvPr>
        </p:nvSpPr>
        <p:spPr>
          <a:xfrm>
            <a:off x="1998351" y="3171775"/>
            <a:ext cx="2168100" cy="4173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Our Approach: </a:t>
            </a:r>
            <a:endParaRPr/>
          </a:p>
        </p:txBody>
      </p:sp>
      <p:grpSp>
        <p:nvGrpSpPr>
          <p:cNvPr id="252" name="Google Shape;252;p26"/>
          <p:cNvGrpSpPr/>
          <p:nvPr/>
        </p:nvGrpSpPr>
        <p:grpSpPr>
          <a:xfrm>
            <a:off x="723837" y="552000"/>
            <a:ext cx="1218671" cy="1640915"/>
            <a:chOff x="723837" y="552000"/>
            <a:chExt cx="1218671" cy="1640915"/>
          </a:xfrm>
        </p:grpSpPr>
        <p:sp>
          <p:nvSpPr>
            <p:cNvPr id="253" name="Google Shape;253;p26"/>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258" name="Google Shape;258;p26"/>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260" name="Google Shape;260;p26"/>
            <p:cNvGrpSpPr/>
            <p:nvPr/>
          </p:nvGrpSpPr>
          <p:grpSpPr>
            <a:xfrm>
              <a:off x="729630" y="1968358"/>
              <a:ext cx="255615" cy="224557"/>
              <a:chOff x="6184139" y="1980808"/>
              <a:chExt cx="451696" cy="396814"/>
            </a:xfrm>
          </p:grpSpPr>
          <p:sp>
            <p:nvSpPr>
              <p:cNvPr id="261" name="Google Shape;261;p26"/>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26"/>
            <p:cNvGrpSpPr/>
            <p:nvPr/>
          </p:nvGrpSpPr>
          <p:grpSpPr>
            <a:xfrm>
              <a:off x="729630" y="975085"/>
              <a:ext cx="255615" cy="254967"/>
              <a:chOff x="6184139" y="1220827"/>
              <a:chExt cx="451696" cy="450552"/>
            </a:xfrm>
          </p:grpSpPr>
          <p:sp>
            <p:nvSpPr>
              <p:cNvPr id="264" name="Google Shape;264;p26"/>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26"/>
            <p:cNvGrpSpPr/>
            <p:nvPr/>
          </p:nvGrpSpPr>
          <p:grpSpPr>
            <a:xfrm>
              <a:off x="723837" y="1482615"/>
              <a:ext cx="267223" cy="233165"/>
              <a:chOff x="6908262" y="1240186"/>
              <a:chExt cx="472209" cy="412024"/>
            </a:xfrm>
          </p:grpSpPr>
          <p:sp>
            <p:nvSpPr>
              <p:cNvPr id="268" name="Google Shape;268;p26"/>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6" name="Google Shape;276;p26"/>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277" name="Google Shape;277;p26"/>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grpSp>
        <p:nvGrpSpPr>
          <p:cNvPr id="278" name="Google Shape;278;p26"/>
          <p:cNvGrpSpPr/>
          <p:nvPr/>
        </p:nvGrpSpPr>
        <p:grpSpPr>
          <a:xfrm>
            <a:off x="1998356" y="4119780"/>
            <a:ext cx="240229" cy="233993"/>
            <a:chOff x="5548725" y="1996100"/>
            <a:chExt cx="275650" cy="269950"/>
          </a:xfrm>
        </p:grpSpPr>
        <p:sp>
          <p:nvSpPr>
            <p:cNvPr id="279" name="Google Shape;279;p26"/>
            <p:cNvSpPr/>
            <p:nvPr/>
          </p:nvSpPr>
          <p:spPr>
            <a:xfrm>
              <a:off x="5548725" y="1996100"/>
              <a:ext cx="275650" cy="269950"/>
            </a:xfrm>
            <a:custGeom>
              <a:avLst/>
              <a:gdLst/>
              <a:ahLst/>
              <a:cxnLst/>
              <a:rect l="l" t="t" r="r" b="b"/>
              <a:pathLst>
                <a:path w="11026" h="10798" extrusionOk="0">
                  <a:moveTo>
                    <a:pt x="5503" y="1"/>
                  </a:moveTo>
                  <a:cubicBezTo>
                    <a:pt x="5435" y="1"/>
                    <a:pt x="5367" y="2"/>
                    <a:pt x="5298" y="4"/>
                  </a:cubicBezTo>
                  <a:cubicBezTo>
                    <a:pt x="2330" y="130"/>
                    <a:pt x="0" y="2639"/>
                    <a:pt x="126" y="5607"/>
                  </a:cubicBezTo>
                  <a:cubicBezTo>
                    <a:pt x="247" y="8521"/>
                    <a:pt x="2646" y="10798"/>
                    <a:pt x="5524" y="10798"/>
                  </a:cubicBezTo>
                  <a:cubicBezTo>
                    <a:pt x="5592" y="10798"/>
                    <a:pt x="5660" y="10796"/>
                    <a:pt x="5728" y="10794"/>
                  </a:cubicBezTo>
                  <a:cubicBezTo>
                    <a:pt x="8709" y="10670"/>
                    <a:pt x="11026" y="8159"/>
                    <a:pt x="10915" y="5191"/>
                  </a:cubicBezTo>
                  <a:cubicBezTo>
                    <a:pt x="10792" y="2279"/>
                    <a:pt x="8394" y="1"/>
                    <a:pt x="5503"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5652025" y="2075800"/>
              <a:ext cx="100250" cy="122700"/>
            </a:xfrm>
            <a:custGeom>
              <a:avLst/>
              <a:gdLst/>
              <a:ahLst/>
              <a:cxnLst/>
              <a:rect l="l" t="t" r="r" b="b"/>
              <a:pathLst>
                <a:path w="4010" h="4908" extrusionOk="0">
                  <a:moveTo>
                    <a:pt x="30" y="1"/>
                  </a:moveTo>
                  <a:cubicBezTo>
                    <a:pt x="16" y="1"/>
                    <a:pt x="1" y="14"/>
                    <a:pt x="1" y="34"/>
                  </a:cubicBezTo>
                  <a:lnTo>
                    <a:pt x="1" y="4874"/>
                  </a:lnTo>
                  <a:cubicBezTo>
                    <a:pt x="1" y="4895"/>
                    <a:pt x="16" y="4907"/>
                    <a:pt x="30" y="4907"/>
                  </a:cubicBezTo>
                  <a:cubicBezTo>
                    <a:pt x="35" y="4907"/>
                    <a:pt x="39" y="4906"/>
                    <a:pt x="43" y="4902"/>
                  </a:cubicBezTo>
                  <a:lnTo>
                    <a:pt x="3995" y="2475"/>
                  </a:lnTo>
                  <a:cubicBezTo>
                    <a:pt x="4009" y="2461"/>
                    <a:pt x="4009" y="2447"/>
                    <a:pt x="3995" y="2434"/>
                  </a:cubicBezTo>
                  <a:lnTo>
                    <a:pt x="43" y="6"/>
                  </a:lnTo>
                  <a:cubicBezTo>
                    <a:pt x="39" y="3"/>
                    <a:pt x="35" y="1"/>
                    <a:pt x="30" y="1"/>
                  </a:cubicBezTo>
                  <a:close/>
                </a:path>
              </a:pathLst>
            </a:custGeom>
            <a:solidFill>
              <a:srgbClr val="E8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26"/>
          <p:cNvGrpSpPr/>
          <p:nvPr/>
        </p:nvGrpSpPr>
        <p:grpSpPr>
          <a:xfrm>
            <a:off x="1593956" y="2556405"/>
            <a:ext cx="240229" cy="233993"/>
            <a:chOff x="5548725" y="1996100"/>
            <a:chExt cx="275650" cy="269950"/>
          </a:xfrm>
        </p:grpSpPr>
        <p:sp>
          <p:nvSpPr>
            <p:cNvPr id="282" name="Google Shape;282;p26"/>
            <p:cNvSpPr/>
            <p:nvPr/>
          </p:nvSpPr>
          <p:spPr>
            <a:xfrm>
              <a:off x="5548725" y="1996100"/>
              <a:ext cx="275650" cy="269950"/>
            </a:xfrm>
            <a:custGeom>
              <a:avLst/>
              <a:gdLst/>
              <a:ahLst/>
              <a:cxnLst/>
              <a:rect l="l" t="t" r="r" b="b"/>
              <a:pathLst>
                <a:path w="11026" h="10798" extrusionOk="0">
                  <a:moveTo>
                    <a:pt x="5503" y="1"/>
                  </a:moveTo>
                  <a:cubicBezTo>
                    <a:pt x="5435" y="1"/>
                    <a:pt x="5367" y="2"/>
                    <a:pt x="5298" y="4"/>
                  </a:cubicBezTo>
                  <a:cubicBezTo>
                    <a:pt x="2330" y="130"/>
                    <a:pt x="0" y="2639"/>
                    <a:pt x="126" y="5607"/>
                  </a:cubicBezTo>
                  <a:cubicBezTo>
                    <a:pt x="247" y="8521"/>
                    <a:pt x="2646" y="10798"/>
                    <a:pt x="5524" y="10798"/>
                  </a:cubicBezTo>
                  <a:cubicBezTo>
                    <a:pt x="5592" y="10798"/>
                    <a:pt x="5660" y="10796"/>
                    <a:pt x="5728" y="10794"/>
                  </a:cubicBezTo>
                  <a:cubicBezTo>
                    <a:pt x="8709" y="10670"/>
                    <a:pt x="11026" y="8159"/>
                    <a:pt x="10915" y="5191"/>
                  </a:cubicBezTo>
                  <a:cubicBezTo>
                    <a:pt x="10792" y="2279"/>
                    <a:pt x="8394" y="1"/>
                    <a:pt x="5503"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5652025" y="2075800"/>
              <a:ext cx="100250" cy="122700"/>
            </a:xfrm>
            <a:custGeom>
              <a:avLst/>
              <a:gdLst/>
              <a:ahLst/>
              <a:cxnLst/>
              <a:rect l="l" t="t" r="r" b="b"/>
              <a:pathLst>
                <a:path w="4010" h="4908" extrusionOk="0">
                  <a:moveTo>
                    <a:pt x="30" y="1"/>
                  </a:moveTo>
                  <a:cubicBezTo>
                    <a:pt x="16" y="1"/>
                    <a:pt x="1" y="14"/>
                    <a:pt x="1" y="34"/>
                  </a:cubicBezTo>
                  <a:lnTo>
                    <a:pt x="1" y="4874"/>
                  </a:lnTo>
                  <a:cubicBezTo>
                    <a:pt x="1" y="4895"/>
                    <a:pt x="16" y="4907"/>
                    <a:pt x="30" y="4907"/>
                  </a:cubicBezTo>
                  <a:cubicBezTo>
                    <a:pt x="35" y="4907"/>
                    <a:pt x="39" y="4906"/>
                    <a:pt x="43" y="4902"/>
                  </a:cubicBezTo>
                  <a:lnTo>
                    <a:pt x="3995" y="2475"/>
                  </a:lnTo>
                  <a:cubicBezTo>
                    <a:pt x="4009" y="2461"/>
                    <a:pt x="4009" y="2447"/>
                    <a:pt x="3995" y="2434"/>
                  </a:cubicBezTo>
                  <a:lnTo>
                    <a:pt x="43" y="6"/>
                  </a:lnTo>
                  <a:cubicBezTo>
                    <a:pt x="39" y="3"/>
                    <a:pt x="35" y="1"/>
                    <a:pt x="30" y="1"/>
                  </a:cubicBezTo>
                  <a:close/>
                </a:path>
              </a:pathLst>
            </a:custGeom>
            <a:solidFill>
              <a:srgbClr val="E8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26"/>
          <p:cNvSpPr/>
          <p:nvPr/>
        </p:nvSpPr>
        <p:spPr>
          <a:xfrm>
            <a:off x="5023550" y="1228650"/>
            <a:ext cx="3554100" cy="17070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txBox="1">
            <a:spLocks noGrp="1"/>
          </p:cNvSpPr>
          <p:nvPr>
            <p:ph type="subTitle" idx="2"/>
          </p:nvPr>
        </p:nvSpPr>
        <p:spPr>
          <a:xfrm>
            <a:off x="5216613" y="1379613"/>
            <a:ext cx="1984800" cy="4173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Dataset: </a:t>
            </a:r>
            <a:endParaRPr/>
          </a:p>
        </p:txBody>
      </p:sp>
      <p:sp>
        <p:nvSpPr>
          <p:cNvPr id="286" name="Google Shape;286;p26"/>
          <p:cNvSpPr txBox="1">
            <a:spLocks noGrp="1"/>
          </p:cNvSpPr>
          <p:nvPr>
            <p:ph type="subTitle" idx="1"/>
          </p:nvPr>
        </p:nvSpPr>
        <p:spPr>
          <a:xfrm>
            <a:off x="5216625" y="1742175"/>
            <a:ext cx="3187200" cy="7647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a:t>32,828 Spotify songs across 6 genres — EDM, Rap, Pop, R&amp;B, Latin, Rock</a:t>
            </a:r>
            <a:endParaRPr/>
          </a:p>
        </p:txBody>
      </p:sp>
      <p:grpSp>
        <p:nvGrpSpPr>
          <p:cNvPr id="287" name="Google Shape;287;p26"/>
          <p:cNvGrpSpPr/>
          <p:nvPr/>
        </p:nvGrpSpPr>
        <p:grpSpPr>
          <a:xfrm>
            <a:off x="5332531" y="2556405"/>
            <a:ext cx="240229" cy="233993"/>
            <a:chOff x="5548725" y="1996100"/>
            <a:chExt cx="275650" cy="269950"/>
          </a:xfrm>
        </p:grpSpPr>
        <p:sp>
          <p:nvSpPr>
            <p:cNvPr id="288" name="Google Shape;288;p26"/>
            <p:cNvSpPr/>
            <p:nvPr/>
          </p:nvSpPr>
          <p:spPr>
            <a:xfrm>
              <a:off x="5548725" y="1996100"/>
              <a:ext cx="275650" cy="269950"/>
            </a:xfrm>
            <a:custGeom>
              <a:avLst/>
              <a:gdLst/>
              <a:ahLst/>
              <a:cxnLst/>
              <a:rect l="l" t="t" r="r" b="b"/>
              <a:pathLst>
                <a:path w="11026" h="10798" extrusionOk="0">
                  <a:moveTo>
                    <a:pt x="5503" y="1"/>
                  </a:moveTo>
                  <a:cubicBezTo>
                    <a:pt x="5435" y="1"/>
                    <a:pt x="5367" y="2"/>
                    <a:pt x="5298" y="4"/>
                  </a:cubicBezTo>
                  <a:cubicBezTo>
                    <a:pt x="2330" y="130"/>
                    <a:pt x="0" y="2639"/>
                    <a:pt x="126" y="5607"/>
                  </a:cubicBezTo>
                  <a:cubicBezTo>
                    <a:pt x="247" y="8521"/>
                    <a:pt x="2646" y="10798"/>
                    <a:pt x="5524" y="10798"/>
                  </a:cubicBezTo>
                  <a:cubicBezTo>
                    <a:pt x="5592" y="10798"/>
                    <a:pt x="5660" y="10796"/>
                    <a:pt x="5728" y="10794"/>
                  </a:cubicBezTo>
                  <a:cubicBezTo>
                    <a:pt x="8709" y="10670"/>
                    <a:pt x="11026" y="8159"/>
                    <a:pt x="10915" y="5191"/>
                  </a:cubicBezTo>
                  <a:cubicBezTo>
                    <a:pt x="10792" y="2279"/>
                    <a:pt x="8394" y="1"/>
                    <a:pt x="5503"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5652025" y="2075800"/>
              <a:ext cx="100250" cy="122700"/>
            </a:xfrm>
            <a:custGeom>
              <a:avLst/>
              <a:gdLst/>
              <a:ahLst/>
              <a:cxnLst/>
              <a:rect l="l" t="t" r="r" b="b"/>
              <a:pathLst>
                <a:path w="4010" h="4908" extrusionOk="0">
                  <a:moveTo>
                    <a:pt x="30" y="1"/>
                  </a:moveTo>
                  <a:cubicBezTo>
                    <a:pt x="16" y="1"/>
                    <a:pt x="1" y="14"/>
                    <a:pt x="1" y="34"/>
                  </a:cubicBezTo>
                  <a:lnTo>
                    <a:pt x="1" y="4874"/>
                  </a:lnTo>
                  <a:cubicBezTo>
                    <a:pt x="1" y="4895"/>
                    <a:pt x="16" y="4907"/>
                    <a:pt x="30" y="4907"/>
                  </a:cubicBezTo>
                  <a:cubicBezTo>
                    <a:pt x="35" y="4907"/>
                    <a:pt x="39" y="4906"/>
                    <a:pt x="43" y="4902"/>
                  </a:cubicBezTo>
                  <a:lnTo>
                    <a:pt x="3995" y="2475"/>
                  </a:lnTo>
                  <a:cubicBezTo>
                    <a:pt x="4009" y="2461"/>
                    <a:pt x="4009" y="2447"/>
                    <a:pt x="3995" y="2434"/>
                  </a:cubicBezTo>
                  <a:lnTo>
                    <a:pt x="43" y="6"/>
                  </a:lnTo>
                  <a:cubicBezTo>
                    <a:pt x="39" y="3"/>
                    <a:pt x="35" y="1"/>
                    <a:pt x="30" y="1"/>
                  </a:cubicBezTo>
                  <a:close/>
                </a:path>
              </a:pathLst>
            </a:custGeom>
            <a:solidFill>
              <a:srgbClr val="E8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7"/>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Data &amp; Processing</a:t>
            </a:r>
            <a:endParaRPr/>
          </a:p>
        </p:txBody>
      </p:sp>
      <p:grpSp>
        <p:nvGrpSpPr>
          <p:cNvPr id="295" name="Google Shape;295;p27"/>
          <p:cNvGrpSpPr/>
          <p:nvPr/>
        </p:nvGrpSpPr>
        <p:grpSpPr>
          <a:xfrm>
            <a:off x="723837" y="552000"/>
            <a:ext cx="1218671" cy="1640915"/>
            <a:chOff x="723837" y="552000"/>
            <a:chExt cx="1218671" cy="1640915"/>
          </a:xfrm>
        </p:grpSpPr>
        <p:sp>
          <p:nvSpPr>
            <p:cNvPr id="296" name="Google Shape;296;p27"/>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7"/>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7"/>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7"/>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7"/>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301" name="Google Shape;301;p27"/>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7"/>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303" name="Google Shape;303;p27"/>
            <p:cNvGrpSpPr/>
            <p:nvPr/>
          </p:nvGrpSpPr>
          <p:grpSpPr>
            <a:xfrm>
              <a:off x="729630" y="1968358"/>
              <a:ext cx="255615" cy="224557"/>
              <a:chOff x="6184139" y="1980808"/>
              <a:chExt cx="451696" cy="396814"/>
            </a:xfrm>
          </p:grpSpPr>
          <p:sp>
            <p:nvSpPr>
              <p:cNvPr id="304" name="Google Shape;304;p27"/>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7"/>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27"/>
            <p:cNvGrpSpPr/>
            <p:nvPr/>
          </p:nvGrpSpPr>
          <p:grpSpPr>
            <a:xfrm>
              <a:off x="729630" y="975085"/>
              <a:ext cx="255615" cy="254967"/>
              <a:chOff x="6184139" y="1220827"/>
              <a:chExt cx="451696" cy="450552"/>
            </a:xfrm>
          </p:grpSpPr>
          <p:sp>
            <p:nvSpPr>
              <p:cNvPr id="307" name="Google Shape;307;p27"/>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7"/>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7"/>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27"/>
            <p:cNvGrpSpPr/>
            <p:nvPr/>
          </p:nvGrpSpPr>
          <p:grpSpPr>
            <a:xfrm>
              <a:off x="723837" y="1482615"/>
              <a:ext cx="267223" cy="233165"/>
              <a:chOff x="6908262" y="1240186"/>
              <a:chExt cx="472209" cy="412024"/>
            </a:xfrm>
          </p:grpSpPr>
          <p:sp>
            <p:nvSpPr>
              <p:cNvPr id="311" name="Google Shape;311;p27"/>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7"/>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7"/>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7"/>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7"/>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7"/>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7"/>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7"/>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9" name="Google Shape;319;p27"/>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320" name="Google Shape;320;p27"/>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pic>
        <p:nvPicPr>
          <p:cNvPr id="321" name="Google Shape;321;p27" title="Figure_2.png"/>
          <p:cNvPicPr preferRelativeResize="0"/>
          <p:nvPr/>
        </p:nvPicPr>
        <p:blipFill>
          <a:blip r:embed="rId3">
            <a:alphaModFix/>
          </a:blip>
          <a:stretch>
            <a:fillRect/>
          </a:stretch>
        </p:blipFill>
        <p:spPr>
          <a:xfrm>
            <a:off x="3908800" y="1201825"/>
            <a:ext cx="4903200" cy="2926599"/>
          </a:xfrm>
          <a:prstGeom prst="rect">
            <a:avLst/>
          </a:prstGeom>
          <a:noFill/>
          <a:ln>
            <a:noFill/>
          </a:ln>
        </p:spPr>
      </p:pic>
      <p:sp>
        <p:nvSpPr>
          <p:cNvPr id="322" name="Google Shape;322;p27"/>
          <p:cNvSpPr txBox="1">
            <a:spLocks noGrp="1"/>
          </p:cNvSpPr>
          <p:nvPr>
            <p:ph type="subTitle" idx="4294967295"/>
          </p:nvPr>
        </p:nvSpPr>
        <p:spPr>
          <a:xfrm>
            <a:off x="1142511" y="1330243"/>
            <a:ext cx="2766300" cy="2978400"/>
          </a:xfrm>
          <a:prstGeom prst="rect">
            <a:avLst/>
          </a:prstGeom>
        </p:spPr>
        <p:txBody>
          <a:bodyPr spcFirstLastPara="1" wrap="square" lIns="91425" tIns="0" rIns="91425" bIns="0" anchor="t" anchorCtr="0">
            <a:noAutofit/>
          </a:bodyPr>
          <a:lstStyle/>
          <a:p>
            <a:pPr marL="457200" lvl="0" indent="-330200" algn="l" rtl="0">
              <a:spcBef>
                <a:spcPts val="0"/>
              </a:spcBef>
              <a:spcAft>
                <a:spcPts val="0"/>
              </a:spcAft>
              <a:buSzPts val="1600"/>
              <a:buChar char="●"/>
            </a:pPr>
            <a:r>
              <a:rPr lang="en" b="1"/>
              <a:t>32,833 songs loaded</a:t>
            </a:r>
            <a:r>
              <a:rPr lang="en"/>
              <a:t> — 32,828 after cleanup</a:t>
            </a:r>
            <a:endParaRPr/>
          </a:p>
          <a:p>
            <a:pPr marL="457200" lvl="0" indent="-330200" algn="l" rtl="0">
              <a:spcBef>
                <a:spcPts val="0"/>
              </a:spcBef>
              <a:spcAft>
                <a:spcPts val="0"/>
              </a:spcAft>
              <a:buSzPts val="1600"/>
              <a:buChar char="●"/>
            </a:pPr>
            <a:r>
              <a:rPr lang="en" b="1"/>
              <a:t>6 genres:</a:t>
            </a:r>
            <a:r>
              <a:rPr lang="en"/>
              <a:t> EDM, Rap, Pop, R&amp;B, Latin, Rock</a:t>
            </a:r>
            <a:endParaRPr/>
          </a:p>
          <a:p>
            <a:pPr marL="457200" lvl="0" indent="-330200" algn="l" rtl="0">
              <a:spcBef>
                <a:spcPts val="0"/>
              </a:spcBef>
              <a:spcAft>
                <a:spcPts val="0"/>
              </a:spcAft>
              <a:buSzPts val="1600"/>
              <a:buChar char="●"/>
            </a:pPr>
            <a:r>
              <a:rPr lang="en" b="1"/>
              <a:t>Kept 9 audio features</a:t>
            </a:r>
            <a:r>
              <a:rPr lang="en"/>
              <a:t>, dropped non-numerical columns</a:t>
            </a:r>
            <a:endParaRPr/>
          </a:p>
          <a:p>
            <a:pPr marL="457200" lvl="0" indent="-330200" algn="l" rtl="0">
              <a:spcBef>
                <a:spcPts val="0"/>
              </a:spcBef>
              <a:spcAft>
                <a:spcPts val="0"/>
              </a:spcAft>
              <a:buSzPts val="1600"/>
              <a:buChar char="●"/>
            </a:pPr>
            <a:r>
              <a:rPr lang="en"/>
              <a:t>Applied </a:t>
            </a:r>
            <a:r>
              <a:rPr lang="en" b="1"/>
              <a:t>StandardScaler</a:t>
            </a:r>
            <a:endParaRPr b="1"/>
          </a:p>
          <a:p>
            <a:pPr marL="457200" lvl="0" indent="-330200" algn="l" rtl="0">
              <a:spcBef>
                <a:spcPts val="0"/>
              </a:spcBef>
              <a:spcAft>
                <a:spcPts val="0"/>
              </a:spcAft>
              <a:buSzPts val="1600"/>
              <a:buChar char="●"/>
            </a:pPr>
            <a:r>
              <a:rPr lang="en" b="1"/>
              <a:t>Only 5 </a:t>
            </a:r>
            <a:r>
              <a:rPr lang="en"/>
              <a:t>missing rows out of 32,833</a:t>
            </a:r>
            <a:endParaRPr/>
          </a:p>
        </p:txBody>
      </p:sp>
      <p:sp>
        <p:nvSpPr>
          <p:cNvPr id="323" name="Google Shape;323;p27"/>
          <p:cNvSpPr txBox="1"/>
          <p:nvPr/>
        </p:nvSpPr>
        <p:spPr>
          <a:xfrm>
            <a:off x="4206550" y="4185225"/>
            <a:ext cx="43077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i="1">
                <a:solidFill>
                  <a:schemeClr val="dk1"/>
                </a:solidFill>
                <a:latin typeface="Metrophobic"/>
                <a:ea typeface="Metrophobic"/>
                <a:cs typeface="Metrophobic"/>
                <a:sym typeface="Metrophobic"/>
              </a:rPr>
              <a:t>speechiness and instrumentalism heavily skewed toward zero, most songs weren’t spoken word or purely instrumental.</a:t>
            </a:r>
            <a:endParaRPr sz="12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8"/>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Implementation</a:t>
            </a:r>
            <a:endParaRPr/>
          </a:p>
        </p:txBody>
      </p:sp>
      <p:grpSp>
        <p:nvGrpSpPr>
          <p:cNvPr id="329" name="Google Shape;329;p28"/>
          <p:cNvGrpSpPr/>
          <p:nvPr/>
        </p:nvGrpSpPr>
        <p:grpSpPr>
          <a:xfrm>
            <a:off x="723837" y="552000"/>
            <a:ext cx="1218671" cy="1640915"/>
            <a:chOff x="723837" y="552000"/>
            <a:chExt cx="1218671" cy="1640915"/>
          </a:xfrm>
        </p:grpSpPr>
        <p:sp>
          <p:nvSpPr>
            <p:cNvPr id="330" name="Google Shape;330;p28"/>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8"/>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335" name="Google Shape;335;p28"/>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337" name="Google Shape;337;p28"/>
            <p:cNvGrpSpPr/>
            <p:nvPr/>
          </p:nvGrpSpPr>
          <p:grpSpPr>
            <a:xfrm>
              <a:off x="729630" y="1968358"/>
              <a:ext cx="255615" cy="224557"/>
              <a:chOff x="6184139" y="1980808"/>
              <a:chExt cx="451696" cy="396814"/>
            </a:xfrm>
          </p:grpSpPr>
          <p:sp>
            <p:nvSpPr>
              <p:cNvPr id="338" name="Google Shape;338;p28"/>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28"/>
            <p:cNvGrpSpPr/>
            <p:nvPr/>
          </p:nvGrpSpPr>
          <p:grpSpPr>
            <a:xfrm>
              <a:off x="729630" y="975085"/>
              <a:ext cx="255615" cy="254967"/>
              <a:chOff x="6184139" y="1220827"/>
              <a:chExt cx="451696" cy="450552"/>
            </a:xfrm>
          </p:grpSpPr>
          <p:sp>
            <p:nvSpPr>
              <p:cNvPr id="341" name="Google Shape;341;p28"/>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28"/>
            <p:cNvGrpSpPr/>
            <p:nvPr/>
          </p:nvGrpSpPr>
          <p:grpSpPr>
            <a:xfrm>
              <a:off x="723837" y="1482615"/>
              <a:ext cx="267223" cy="233165"/>
              <a:chOff x="6908262" y="1240186"/>
              <a:chExt cx="472209" cy="412024"/>
            </a:xfrm>
          </p:grpSpPr>
          <p:sp>
            <p:nvSpPr>
              <p:cNvPr id="345" name="Google Shape;345;p28"/>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3" name="Google Shape;353;p28"/>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354" name="Google Shape;354;p28"/>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sp>
        <p:nvSpPr>
          <p:cNvPr id="355" name="Google Shape;355;p28"/>
          <p:cNvSpPr txBox="1"/>
          <p:nvPr/>
        </p:nvSpPr>
        <p:spPr>
          <a:xfrm>
            <a:off x="1381475" y="1151150"/>
            <a:ext cx="3014100" cy="33864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K-Means</a:t>
            </a:r>
            <a:r>
              <a:rPr lang="en" sz="1600">
                <a:solidFill>
                  <a:schemeClr val="dk1"/>
                </a:solidFill>
                <a:latin typeface="Metrophobic"/>
                <a:ea typeface="Metrophobic"/>
                <a:cs typeface="Metrophobic"/>
                <a:sym typeface="Metrophobic"/>
              </a:rPr>
              <a:t> — baseline</a:t>
            </a:r>
            <a:endParaRPr sz="1600">
              <a:solidFill>
                <a:schemeClr val="dk1"/>
              </a:solidFill>
              <a:latin typeface="Metrophobic"/>
              <a:ea typeface="Metrophobic"/>
              <a:cs typeface="Metrophobic"/>
              <a:sym typeface="Metrophobic"/>
            </a:endParaRPr>
          </a:p>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K-Means++</a:t>
            </a:r>
            <a:r>
              <a:rPr lang="en" sz="1600">
                <a:solidFill>
                  <a:schemeClr val="dk1"/>
                </a:solidFill>
                <a:latin typeface="Metrophobic"/>
                <a:ea typeface="Metrophobic"/>
                <a:cs typeface="Metrophobic"/>
                <a:sym typeface="Metrophobic"/>
              </a:rPr>
              <a:t> — smarter initialization</a:t>
            </a:r>
            <a:endParaRPr sz="1600">
              <a:solidFill>
                <a:schemeClr val="dk1"/>
              </a:solidFill>
              <a:latin typeface="Metrophobic"/>
              <a:ea typeface="Metrophobic"/>
              <a:cs typeface="Metrophobic"/>
              <a:sym typeface="Metrophobic"/>
            </a:endParaRPr>
          </a:p>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K-Medoids </a:t>
            </a:r>
            <a:r>
              <a:rPr lang="en" sz="1600">
                <a:solidFill>
                  <a:schemeClr val="dk1"/>
                </a:solidFill>
                <a:latin typeface="Metrophobic"/>
                <a:ea typeface="Metrophobic"/>
                <a:cs typeface="Metrophobic"/>
                <a:sym typeface="Metrophobic"/>
              </a:rPr>
              <a:t>— uses real songs as centers</a:t>
            </a:r>
            <a:endParaRPr sz="1600">
              <a:solidFill>
                <a:schemeClr val="dk1"/>
              </a:solidFill>
              <a:latin typeface="Metrophobic"/>
              <a:ea typeface="Metrophobic"/>
              <a:cs typeface="Metrophobic"/>
              <a:sym typeface="Metrophobic"/>
            </a:endParaRPr>
          </a:p>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DBSCAN</a:t>
            </a:r>
            <a:r>
              <a:rPr lang="en" sz="1600">
                <a:solidFill>
                  <a:schemeClr val="dk1"/>
                </a:solidFill>
                <a:latin typeface="Metrophobic"/>
                <a:ea typeface="Metrophobic"/>
                <a:cs typeface="Metrophobic"/>
                <a:sym typeface="Metrophobic"/>
              </a:rPr>
              <a:t> — density-based, finds outliers</a:t>
            </a:r>
            <a:endParaRPr sz="1600">
              <a:solidFill>
                <a:schemeClr val="dk1"/>
              </a:solidFill>
              <a:latin typeface="Metrophobic"/>
              <a:ea typeface="Metrophobic"/>
              <a:cs typeface="Metrophobic"/>
              <a:sym typeface="Metrophobic"/>
            </a:endParaRPr>
          </a:p>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GMM </a:t>
            </a:r>
            <a:r>
              <a:rPr lang="en" sz="1600">
                <a:solidFill>
                  <a:schemeClr val="dk1"/>
                </a:solidFill>
                <a:latin typeface="Metrophobic"/>
                <a:ea typeface="Metrophobic"/>
                <a:cs typeface="Metrophobic"/>
                <a:sym typeface="Metrophobic"/>
              </a:rPr>
              <a:t>— soft probability assignments</a:t>
            </a:r>
            <a:endParaRPr sz="1600">
              <a:solidFill>
                <a:schemeClr val="dk1"/>
              </a:solidFill>
              <a:latin typeface="Metrophobic"/>
              <a:ea typeface="Metrophobic"/>
              <a:cs typeface="Metrophobic"/>
              <a:sym typeface="Metrophobic"/>
            </a:endParaRPr>
          </a:p>
          <a:p>
            <a:pPr marL="457200" lvl="0" indent="-330200" algn="l" rtl="0">
              <a:spcBef>
                <a:spcPts val="0"/>
              </a:spcBef>
              <a:spcAft>
                <a:spcPts val="0"/>
              </a:spcAft>
              <a:buClr>
                <a:schemeClr val="dk1"/>
              </a:buClr>
              <a:buSzPts val="1600"/>
              <a:buFont typeface="Metrophobic"/>
              <a:buChar char="●"/>
            </a:pPr>
            <a:r>
              <a:rPr lang="en" sz="1600" b="1">
                <a:solidFill>
                  <a:schemeClr val="dk1"/>
                </a:solidFill>
                <a:latin typeface="Metrophobic"/>
                <a:ea typeface="Metrophobic"/>
                <a:cs typeface="Metrophobic"/>
                <a:sym typeface="Metrophobic"/>
              </a:rPr>
              <a:t>Hierarchical Clustering</a:t>
            </a:r>
            <a:r>
              <a:rPr lang="en" sz="1600">
                <a:solidFill>
                  <a:schemeClr val="dk1"/>
                </a:solidFill>
                <a:latin typeface="Metrophobic"/>
                <a:ea typeface="Metrophobic"/>
                <a:cs typeface="Metrophobic"/>
                <a:sym typeface="Metrophobic"/>
              </a:rPr>
              <a:t> — builds a tree of relationships</a:t>
            </a:r>
            <a:endParaRPr sz="1600">
              <a:solidFill>
                <a:schemeClr val="dk1"/>
              </a:solidFill>
              <a:latin typeface="Metrophobic"/>
              <a:ea typeface="Metrophobic"/>
              <a:cs typeface="Metrophobic"/>
              <a:sym typeface="Metrophobic"/>
            </a:endParaRPr>
          </a:p>
        </p:txBody>
      </p:sp>
      <p:pic>
        <p:nvPicPr>
          <p:cNvPr id="356" name="Google Shape;356;p28" title="Screen Shot 2026-05-03 at 2.51.02 PM.png"/>
          <p:cNvPicPr preferRelativeResize="0"/>
          <p:nvPr/>
        </p:nvPicPr>
        <p:blipFill rotWithShape="1">
          <a:blip r:embed="rId3">
            <a:alphaModFix/>
          </a:blip>
          <a:srcRect l="6647" t="2729" b="3795"/>
          <a:stretch/>
        </p:blipFill>
        <p:spPr>
          <a:xfrm>
            <a:off x="4236200" y="1444150"/>
            <a:ext cx="4384247" cy="1078862"/>
          </a:xfrm>
          <a:prstGeom prst="rect">
            <a:avLst/>
          </a:prstGeom>
          <a:noFill/>
          <a:ln>
            <a:noFill/>
          </a:ln>
        </p:spPr>
      </p:pic>
      <p:pic>
        <p:nvPicPr>
          <p:cNvPr id="357" name="Google Shape;357;p28" title="Screen Shot 2026-05-03 at 2.56.12 PM.png"/>
          <p:cNvPicPr preferRelativeResize="0"/>
          <p:nvPr/>
        </p:nvPicPr>
        <p:blipFill rotWithShape="1">
          <a:blip r:embed="rId4">
            <a:alphaModFix/>
          </a:blip>
          <a:srcRect l="9272" t="3447"/>
          <a:stretch/>
        </p:blipFill>
        <p:spPr>
          <a:xfrm>
            <a:off x="4988650" y="3023650"/>
            <a:ext cx="3065976" cy="1021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9"/>
          <p:cNvSpPr txBox="1">
            <a:spLocks noGrp="1"/>
          </p:cNvSpPr>
          <p:nvPr>
            <p:ph type="title"/>
          </p:nvPr>
        </p:nvSpPr>
        <p:spPr>
          <a:xfrm>
            <a:off x="1554900" y="5365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Results</a:t>
            </a:r>
            <a:endParaRPr/>
          </a:p>
        </p:txBody>
      </p:sp>
      <p:sp>
        <p:nvSpPr>
          <p:cNvPr id="363" name="Google Shape;363;p29"/>
          <p:cNvSpPr txBox="1"/>
          <p:nvPr/>
        </p:nvSpPr>
        <p:spPr>
          <a:xfrm>
            <a:off x="793225" y="3406000"/>
            <a:ext cx="3537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1200"/>
              </a:spcAft>
              <a:buNone/>
            </a:pPr>
            <a:r>
              <a:rPr lang="en" sz="1000" i="1">
                <a:solidFill>
                  <a:schemeClr val="dk1"/>
                </a:solidFill>
                <a:latin typeface="Metrophobic"/>
                <a:ea typeface="Metrophobic"/>
                <a:cs typeface="Metrophobic"/>
                <a:sym typeface="Metrophobic"/>
              </a:rPr>
              <a:t>K-Means and K-Means++ tied at 0.1384 — DBSCAN found 46 clusters and labeled over half the songs as noise</a:t>
            </a:r>
            <a:endParaRPr sz="800" i="1"/>
          </a:p>
        </p:txBody>
      </p:sp>
      <p:sp>
        <p:nvSpPr>
          <p:cNvPr id="364" name="Google Shape;364;p29"/>
          <p:cNvSpPr txBox="1"/>
          <p:nvPr/>
        </p:nvSpPr>
        <p:spPr>
          <a:xfrm>
            <a:off x="4535400" y="3390700"/>
            <a:ext cx="4369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1200"/>
              </a:spcAft>
              <a:buNone/>
            </a:pPr>
            <a:r>
              <a:rPr lang="en" sz="1100" i="1">
                <a:solidFill>
                  <a:schemeClr val="dk1"/>
                </a:solidFill>
                <a:latin typeface="Metrophobic"/>
                <a:ea typeface="Metrophobic"/>
                <a:cs typeface="Metrophobic"/>
                <a:sym typeface="Metrophobic"/>
              </a:rPr>
              <a:t>curve gradually flattens so we selected K=8 to allow for sub-genre separation</a:t>
            </a:r>
            <a:endParaRPr sz="900" i="1"/>
          </a:p>
        </p:txBody>
      </p:sp>
      <p:pic>
        <p:nvPicPr>
          <p:cNvPr id="365" name="Google Shape;365;p29" title="Figure_4.png"/>
          <p:cNvPicPr preferRelativeResize="0"/>
          <p:nvPr/>
        </p:nvPicPr>
        <p:blipFill>
          <a:blip r:embed="rId3">
            <a:alphaModFix/>
          </a:blip>
          <a:stretch>
            <a:fillRect/>
          </a:stretch>
        </p:blipFill>
        <p:spPr>
          <a:xfrm>
            <a:off x="515450" y="1078125"/>
            <a:ext cx="3879793" cy="2327876"/>
          </a:xfrm>
          <a:prstGeom prst="rect">
            <a:avLst/>
          </a:prstGeom>
          <a:noFill/>
          <a:ln>
            <a:noFill/>
          </a:ln>
        </p:spPr>
      </p:pic>
      <p:pic>
        <p:nvPicPr>
          <p:cNvPr id="366" name="Google Shape;366;p29" title="Figure_3.png"/>
          <p:cNvPicPr preferRelativeResize="0"/>
          <p:nvPr/>
        </p:nvPicPr>
        <p:blipFill>
          <a:blip r:embed="rId4">
            <a:alphaModFix/>
          </a:blip>
          <a:stretch>
            <a:fillRect/>
          </a:stretch>
        </p:blipFill>
        <p:spPr>
          <a:xfrm>
            <a:off x="4453925" y="1124963"/>
            <a:ext cx="4532450" cy="2266225"/>
          </a:xfrm>
          <a:prstGeom prst="rect">
            <a:avLst/>
          </a:prstGeom>
          <a:noFill/>
          <a:ln>
            <a:noFill/>
          </a:ln>
        </p:spPr>
      </p:pic>
      <p:sp>
        <p:nvSpPr>
          <p:cNvPr id="367" name="Google Shape;367;p29"/>
          <p:cNvSpPr txBox="1"/>
          <p:nvPr/>
        </p:nvSpPr>
        <p:spPr>
          <a:xfrm>
            <a:off x="793225" y="4158954"/>
            <a:ext cx="3879900" cy="5232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Font typeface="Metrophobic"/>
              <a:buChar char="●"/>
            </a:pPr>
            <a:r>
              <a:rPr lang="en" sz="1100">
                <a:solidFill>
                  <a:schemeClr val="dk1"/>
                </a:solidFill>
                <a:latin typeface="Metrophobic"/>
                <a:ea typeface="Metrophobic"/>
                <a:cs typeface="Metrophobic"/>
                <a:sym typeface="Metrophobic"/>
              </a:rPr>
              <a:t>Would K=6 perform better since that matches the actual number of genres in the dataset?</a:t>
            </a:r>
            <a:endParaRPr sz="1100">
              <a:solidFill>
                <a:schemeClr val="dk1"/>
              </a:solidFill>
              <a:latin typeface="Metrophobic"/>
              <a:ea typeface="Metrophobic"/>
              <a:cs typeface="Metrophobic"/>
              <a:sym typeface="Metrophobic"/>
            </a:endParaRPr>
          </a:p>
        </p:txBody>
      </p:sp>
      <p:sp>
        <p:nvSpPr>
          <p:cNvPr id="368" name="Google Shape;368;p29"/>
          <p:cNvSpPr txBox="1"/>
          <p:nvPr/>
        </p:nvSpPr>
        <p:spPr>
          <a:xfrm>
            <a:off x="4552950" y="4158950"/>
            <a:ext cx="4334400" cy="523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etrophobic"/>
              <a:buChar char="●"/>
            </a:pPr>
            <a:r>
              <a:rPr lang="en" sz="1100">
                <a:solidFill>
                  <a:schemeClr val="dk1"/>
                </a:solidFill>
                <a:latin typeface="Metrophobic"/>
                <a:ea typeface="Metrophobic"/>
                <a:cs typeface="Metrophobic"/>
                <a:sym typeface="Metrophobic"/>
              </a:rPr>
              <a:t>Could combining highly correlated features like energy and loudness improve cluster separation?</a:t>
            </a:r>
            <a:endParaRPr sz="1100">
              <a:solidFill>
                <a:schemeClr val="dk1"/>
              </a:solidFill>
              <a:latin typeface="Metrophobic"/>
              <a:ea typeface="Metrophobic"/>
              <a:cs typeface="Metrophobic"/>
              <a:sym typeface="Metrophobic"/>
            </a:endParaRPr>
          </a:p>
        </p:txBody>
      </p:sp>
      <p:sp>
        <p:nvSpPr>
          <p:cNvPr id="369" name="Google Shape;369;p29"/>
          <p:cNvSpPr txBox="1"/>
          <p:nvPr/>
        </p:nvSpPr>
        <p:spPr>
          <a:xfrm>
            <a:off x="3409200" y="3954425"/>
            <a:ext cx="2325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chemeClr val="dk1"/>
                </a:solidFill>
                <a:latin typeface="Metrophobic"/>
                <a:ea typeface="Metrophobic"/>
                <a:cs typeface="Metrophobic"/>
                <a:sym typeface="Metrophobic"/>
              </a:rPr>
              <a:t>Next Steps / Open Questions: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0"/>
          <p:cNvSpPr txBox="1">
            <a:spLocks noGrp="1"/>
          </p:cNvSpPr>
          <p:nvPr>
            <p:ph type="title"/>
          </p:nvPr>
        </p:nvSpPr>
        <p:spPr>
          <a:xfrm>
            <a:off x="1554900" y="5365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6 cluster comparisons</a:t>
            </a:r>
            <a:endParaRPr/>
          </a:p>
        </p:txBody>
      </p:sp>
      <p:pic>
        <p:nvPicPr>
          <p:cNvPr id="375" name="Google Shape;375;p30" title="Screen Shot 2026-05-04 at 1.39.40 PM.png"/>
          <p:cNvPicPr preferRelativeResize="0"/>
          <p:nvPr/>
        </p:nvPicPr>
        <p:blipFill>
          <a:blip r:embed="rId3">
            <a:alphaModFix/>
          </a:blip>
          <a:stretch>
            <a:fillRect/>
          </a:stretch>
        </p:blipFill>
        <p:spPr>
          <a:xfrm>
            <a:off x="990400" y="922450"/>
            <a:ext cx="7442300" cy="4120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1"/>
          <p:cNvSpPr txBox="1">
            <a:spLocks noGrp="1"/>
          </p:cNvSpPr>
          <p:nvPr>
            <p:ph type="title"/>
          </p:nvPr>
        </p:nvSpPr>
        <p:spPr>
          <a:xfrm>
            <a:off x="1359150" y="567625"/>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Cluster Visualizations</a:t>
            </a:r>
            <a:endParaRPr/>
          </a:p>
        </p:txBody>
      </p:sp>
      <p:pic>
        <p:nvPicPr>
          <p:cNvPr id="381" name="Google Shape;381;p31" title="Figure_6.png"/>
          <p:cNvPicPr preferRelativeResize="0"/>
          <p:nvPr/>
        </p:nvPicPr>
        <p:blipFill rotWithShape="1">
          <a:blip r:embed="rId3">
            <a:alphaModFix/>
          </a:blip>
          <a:srcRect r="7132"/>
          <a:stretch/>
        </p:blipFill>
        <p:spPr>
          <a:xfrm>
            <a:off x="4421763" y="1301700"/>
            <a:ext cx="4494183" cy="2349087"/>
          </a:xfrm>
          <a:prstGeom prst="rect">
            <a:avLst/>
          </a:prstGeom>
          <a:noFill/>
          <a:ln>
            <a:noFill/>
          </a:ln>
        </p:spPr>
      </p:pic>
      <p:sp>
        <p:nvSpPr>
          <p:cNvPr id="382" name="Google Shape;382;p31"/>
          <p:cNvSpPr txBox="1"/>
          <p:nvPr/>
        </p:nvSpPr>
        <p:spPr>
          <a:xfrm>
            <a:off x="794788" y="3980675"/>
            <a:ext cx="3027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1200"/>
              </a:spcAft>
              <a:buNone/>
            </a:pPr>
            <a:r>
              <a:rPr lang="en" sz="1000" i="1">
                <a:solidFill>
                  <a:schemeClr val="dk1"/>
                </a:solidFill>
                <a:latin typeface="Metrophobic"/>
                <a:ea typeface="Metrophobic"/>
                <a:cs typeface="Metrophobic"/>
                <a:sym typeface="Metrophobic"/>
              </a:rPr>
              <a:t>clusters overlap because genres share audio features</a:t>
            </a:r>
            <a:endParaRPr sz="800" i="1"/>
          </a:p>
        </p:txBody>
      </p:sp>
      <p:sp>
        <p:nvSpPr>
          <p:cNvPr id="383" name="Google Shape;383;p31"/>
          <p:cNvSpPr txBox="1"/>
          <p:nvPr/>
        </p:nvSpPr>
        <p:spPr>
          <a:xfrm>
            <a:off x="5154888" y="3752375"/>
            <a:ext cx="3027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1200"/>
              </a:spcAft>
              <a:buNone/>
            </a:pPr>
            <a:r>
              <a:rPr lang="en" sz="1000" i="1">
                <a:solidFill>
                  <a:schemeClr val="dk1"/>
                </a:solidFill>
                <a:latin typeface="Metrophobic"/>
                <a:ea typeface="Metrophobic"/>
                <a:cs typeface="Metrophobic"/>
                <a:sym typeface="Metrophobic"/>
              </a:rPr>
              <a:t>cluster 5 has the highest tempo at 169, which is faster than all the others</a:t>
            </a:r>
            <a:endParaRPr sz="800" i="1"/>
          </a:p>
        </p:txBody>
      </p:sp>
      <p:pic>
        <p:nvPicPr>
          <p:cNvPr id="384" name="Google Shape;384;p31" title="Figure_2.png"/>
          <p:cNvPicPr preferRelativeResize="0"/>
          <p:nvPr/>
        </p:nvPicPr>
        <p:blipFill>
          <a:blip r:embed="rId4">
            <a:alphaModFix/>
          </a:blip>
          <a:stretch>
            <a:fillRect/>
          </a:stretch>
        </p:blipFill>
        <p:spPr>
          <a:xfrm>
            <a:off x="264650" y="1082075"/>
            <a:ext cx="4088193" cy="2861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2"/>
          <p:cNvSpPr txBox="1">
            <a:spLocks noGrp="1"/>
          </p:cNvSpPr>
          <p:nvPr>
            <p:ph type="title"/>
          </p:nvPr>
        </p:nvSpPr>
        <p:spPr>
          <a:xfrm>
            <a:off x="1998350" y="540000"/>
            <a:ext cx="64257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BONUS: What We Did Extra </a:t>
            </a:r>
            <a:endParaRPr/>
          </a:p>
        </p:txBody>
      </p:sp>
      <p:grpSp>
        <p:nvGrpSpPr>
          <p:cNvPr id="390" name="Google Shape;390;p32"/>
          <p:cNvGrpSpPr/>
          <p:nvPr/>
        </p:nvGrpSpPr>
        <p:grpSpPr>
          <a:xfrm>
            <a:off x="723837" y="552000"/>
            <a:ext cx="1218671" cy="1640915"/>
            <a:chOff x="723837" y="552000"/>
            <a:chExt cx="1218671" cy="1640915"/>
          </a:xfrm>
        </p:grpSpPr>
        <p:sp>
          <p:nvSpPr>
            <p:cNvPr id="391" name="Google Shape;391;p32"/>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396" name="Google Shape;396;p32"/>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398" name="Google Shape;398;p32"/>
            <p:cNvGrpSpPr/>
            <p:nvPr/>
          </p:nvGrpSpPr>
          <p:grpSpPr>
            <a:xfrm>
              <a:off x="729630" y="1968358"/>
              <a:ext cx="255615" cy="224557"/>
              <a:chOff x="6184139" y="1980808"/>
              <a:chExt cx="451696" cy="396814"/>
            </a:xfrm>
          </p:grpSpPr>
          <p:sp>
            <p:nvSpPr>
              <p:cNvPr id="399" name="Google Shape;399;p32"/>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2"/>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32"/>
            <p:cNvGrpSpPr/>
            <p:nvPr/>
          </p:nvGrpSpPr>
          <p:grpSpPr>
            <a:xfrm>
              <a:off x="729630" y="975085"/>
              <a:ext cx="255615" cy="254967"/>
              <a:chOff x="6184139" y="1220827"/>
              <a:chExt cx="451696" cy="450552"/>
            </a:xfrm>
          </p:grpSpPr>
          <p:sp>
            <p:nvSpPr>
              <p:cNvPr id="402" name="Google Shape;402;p32"/>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2"/>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32"/>
            <p:cNvGrpSpPr/>
            <p:nvPr/>
          </p:nvGrpSpPr>
          <p:grpSpPr>
            <a:xfrm>
              <a:off x="723837" y="1482615"/>
              <a:ext cx="267223" cy="233165"/>
              <a:chOff x="6908262" y="1240186"/>
              <a:chExt cx="472209" cy="412024"/>
            </a:xfrm>
          </p:grpSpPr>
          <p:sp>
            <p:nvSpPr>
              <p:cNvPr id="406" name="Google Shape;406;p32"/>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2"/>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2"/>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2"/>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2"/>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2"/>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2"/>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2"/>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4" name="Google Shape;414;p32"/>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415" name="Google Shape;415;p32"/>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grpSp>
        <p:nvGrpSpPr>
          <p:cNvPr id="416" name="Google Shape;416;p32"/>
          <p:cNvGrpSpPr/>
          <p:nvPr/>
        </p:nvGrpSpPr>
        <p:grpSpPr>
          <a:xfrm>
            <a:off x="1397508" y="1036845"/>
            <a:ext cx="350048" cy="342810"/>
            <a:chOff x="5548725" y="1996100"/>
            <a:chExt cx="275650" cy="269950"/>
          </a:xfrm>
        </p:grpSpPr>
        <p:sp>
          <p:nvSpPr>
            <p:cNvPr id="417" name="Google Shape;417;p32"/>
            <p:cNvSpPr/>
            <p:nvPr/>
          </p:nvSpPr>
          <p:spPr>
            <a:xfrm>
              <a:off x="5548725" y="1996100"/>
              <a:ext cx="275650" cy="269950"/>
            </a:xfrm>
            <a:custGeom>
              <a:avLst/>
              <a:gdLst/>
              <a:ahLst/>
              <a:cxnLst/>
              <a:rect l="l" t="t" r="r" b="b"/>
              <a:pathLst>
                <a:path w="11026" h="10798" extrusionOk="0">
                  <a:moveTo>
                    <a:pt x="5503" y="1"/>
                  </a:moveTo>
                  <a:cubicBezTo>
                    <a:pt x="5435" y="1"/>
                    <a:pt x="5367" y="2"/>
                    <a:pt x="5298" y="4"/>
                  </a:cubicBezTo>
                  <a:cubicBezTo>
                    <a:pt x="2330" y="130"/>
                    <a:pt x="0" y="2639"/>
                    <a:pt x="126" y="5607"/>
                  </a:cubicBezTo>
                  <a:cubicBezTo>
                    <a:pt x="247" y="8521"/>
                    <a:pt x="2646" y="10798"/>
                    <a:pt x="5524" y="10798"/>
                  </a:cubicBezTo>
                  <a:cubicBezTo>
                    <a:pt x="5592" y="10798"/>
                    <a:pt x="5660" y="10796"/>
                    <a:pt x="5728" y="10794"/>
                  </a:cubicBezTo>
                  <a:cubicBezTo>
                    <a:pt x="8709" y="10670"/>
                    <a:pt x="11026" y="8159"/>
                    <a:pt x="10915" y="5191"/>
                  </a:cubicBezTo>
                  <a:cubicBezTo>
                    <a:pt x="10792" y="2279"/>
                    <a:pt x="8394" y="1"/>
                    <a:pt x="5503"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2"/>
            <p:cNvSpPr/>
            <p:nvPr/>
          </p:nvSpPr>
          <p:spPr>
            <a:xfrm>
              <a:off x="5652025" y="2075800"/>
              <a:ext cx="100250" cy="122700"/>
            </a:xfrm>
            <a:custGeom>
              <a:avLst/>
              <a:gdLst/>
              <a:ahLst/>
              <a:cxnLst/>
              <a:rect l="l" t="t" r="r" b="b"/>
              <a:pathLst>
                <a:path w="4010" h="4908" extrusionOk="0">
                  <a:moveTo>
                    <a:pt x="30" y="1"/>
                  </a:moveTo>
                  <a:cubicBezTo>
                    <a:pt x="16" y="1"/>
                    <a:pt x="1" y="14"/>
                    <a:pt x="1" y="34"/>
                  </a:cubicBezTo>
                  <a:lnTo>
                    <a:pt x="1" y="4874"/>
                  </a:lnTo>
                  <a:cubicBezTo>
                    <a:pt x="1" y="4895"/>
                    <a:pt x="16" y="4907"/>
                    <a:pt x="30" y="4907"/>
                  </a:cubicBezTo>
                  <a:cubicBezTo>
                    <a:pt x="35" y="4907"/>
                    <a:pt x="39" y="4906"/>
                    <a:pt x="43" y="4902"/>
                  </a:cubicBezTo>
                  <a:lnTo>
                    <a:pt x="3995" y="2475"/>
                  </a:lnTo>
                  <a:cubicBezTo>
                    <a:pt x="4009" y="2461"/>
                    <a:pt x="4009" y="2447"/>
                    <a:pt x="3995" y="2434"/>
                  </a:cubicBezTo>
                  <a:lnTo>
                    <a:pt x="43" y="6"/>
                  </a:lnTo>
                  <a:cubicBezTo>
                    <a:pt x="39" y="3"/>
                    <a:pt x="35" y="1"/>
                    <a:pt x="30" y="1"/>
                  </a:cubicBezTo>
                  <a:close/>
                </a:path>
              </a:pathLst>
            </a:custGeom>
            <a:solidFill>
              <a:srgbClr val="E8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9" name="Google Shape;419;p32"/>
          <p:cNvSpPr/>
          <p:nvPr/>
        </p:nvSpPr>
        <p:spPr>
          <a:xfrm>
            <a:off x="1906895" y="1154173"/>
            <a:ext cx="123000" cy="117600"/>
          </a:xfrm>
          <a:prstGeom prst="hear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0" name="Google Shape;420;p32"/>
          <p:cNvGrpSpPr/>
          <p:nvPr/>
        </p:nvGrpSpPr>
        <p:grpSpPr>
          <a:xfrm>
            <a:off x="2189234" y="1129550"/>
            <a:ext cx="168300" cy="168300"/>
            <a:chOff x="2118163" y="1129550"/>
            <a:chExt cx="168300" cy="168300"/>
          </a:xfrm>
        </p:grpSpPr>
        <p:sp>
          <p:nvSpPr>
            <p:cNvPr id="421" name="Google Shape;421;p32"/>
            <p:cNvSpPr/>
            <p:nvPr/>
          </p:nvSpPr>
          <p:spPr>
            <a:xfrm>
              <a:off x="2118163" y="1129550"/>
              <a:ext cx="168300" cy="16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2" name="Google Shape;422;p32"/>
            <p:cNvGrpSpPr/>
            <p:nvPr/>
          </p:nvGrpSpPr>
          <p:grpSpPr>
            <a:xfrm>
              <a:off x="2158188" y="1173325"/>
              <a:ext cx="88275" cy="84325"/>
              <a:chOff x="2158175" y="1161225"/>
              <a:chExt cx="88275" cy="84325"/>
            </a:xfrm>
          </p:grpSpPr>
          <p:sp>
            <p:nvSpPr>
              <p:cNvPr id="423" name="Google Shape;423;p32"/>
              <p:cNvSpPr/>
              <p:nvPr/>
            </p:nvSpPr>
            <p:spPr>
              <a:xfrm>
                <a:off x="2158175" y="1191400"/>
                <a:ext cx="88275" cy="54150"/>
              </a:xfrm>
              <a:custGeom>
                <a:avLst/>
                <a:gdLst/>
                <a:ahLst/>
                <a:cxnLst/>
                <a:rect l="l" t="t" r="r" b="b"/>
                <a:pathLst>
                  <a:path w="3531" h="2166" extrusionOk="0">
                    <a:moveTo>
                      <a:pt x="0" y="68"/>
                    </a:moveTo>
                    <a:lnTo>
                      <a:pt x="1742" y="2166"/>
                    </a:lnTo>
                    <a:lnTo>
                      <a:pt x="3531" y="0"/>
                    </a:lnTo>
                  </a:path>
                </a:pathLst>
              </a:custGeom>
              <a:noFill/>
              <a:ln w="9525" cap="rnd" cmpd="sng">
                <a:solidFill>
                  <a:schemeClr val="dk1"/>
                </a:solidFill>
                <a:prstDash val="solid"/>
                <a:round/>
                <a:headEnd type="none" w="med" len="med"/>
                <a:tailEnd type="none" w="med" len="med"/>
              </a:ln>
            </p:spPr>
          </p:sp>
          <p:cxnSp>
            <p:nvCxnSpPr>
              <p:cNvPr id="424" name="Google Shape;424;p32"/>
              <p:cNvCxnSpPr/>
              <p:nvPr/>
            </p:nvCxnSpPr>
            <p:spPr>
              <a:xfrm rot="10800000">
                <a:off x="2201725" y="1161225"/>
                <a:ext cx="0" cy="82500"/>
              </a:xfrm>
              <a:prstGeom prst="straightConnector1">
                <a:avLst/>
              </a:prstGeom>
              <a:noFill/>
              <a:ln w="9525" cap="rnd" cmpd="sng">
                <a:solidFill>
                  <a:schemeClr val="dk1"/>
                </a:solidFill>
                <a:prstDash val="solid"/>
                <a:round/>
                <a:headEnd type="none" w="med" len="med"/>
                <a:tailEnd type="none" w="med" len="med"/>
              </a:ln>
            </p:spPr>
          </p:cxnSp>
        </p:grpSp>
      </p:grpSp>
      <p:grpSp>
        <p:nvGrpSpPr>
          <p:cNvPr id="425" name="Google Shape;425;p32"/>
          <p:cNvGrpSpPr/>
          <p:nvPr/>
        </p:nvGrpSpPr>
        <p:grpSpPr>
          <a:xfrm>
            <a:off x="2516425" y="1185150"/>
            <a:ext cx="207450" cy="39000"/>
            <a:chOff x="2479175" y="1185150"/>
            <a:chExt cx="207450" cy="39000"/>
          </a:xfrm>
        </p:grpSpPr>
        <p:sp>
          <p:nvSpPr>
            <p:cNvPr id="426" name="Google Shape;426;p32"/>
            <p:cNvSpPr/>
            <p:nvPr/>
          </p:nvSpPr>
          <p:spPr>
            <a:xfrm>
              <a:off x="2479175"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2563400"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2647625"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32"/>
          <p:cNvSpPr/>
          <p:nvPr/>
        </p:nvSpPr>
        <p:spPr>
          <a:xfrm>
            <a:off x="2499000" y="1286288"/>
            <a:ext cx="4791300" cy="8640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txBox="1">
            <a:spLocks noGrp="1"/>
          </p:cNvSpPr>
          <p:nvPr>
            <p:ph type="subTitle" idx="4294967295"/>
          </p:nvPr>
        </p:nvSpPr>
        <p:spPr>
          <a:xfrm>
            <a:off x="3622950" y="1322588"/>
            <a:ext cx="2289300" cy="212400"/>
          </a:xfrm>
          <a:prstGeom prst="rect">
            <a:avLst/>
          </a:prstGeom>
        </p:spPr>
        <p:txBody>
          <a:bodyPr spcFirstLastPara="1" wrap="square" lIns="91425" tIns="0" rIns="91425" bIns="0" anchor="t" anchorCtr="0">
            <a:noAutofit/>
          </a:bodyPr>
          <a:lstStyle/>
          <a:p>
            <a:pPr marL="457200" lvl="0" indent="-311150" algn="l" rtl="0">
              <a:spcBef>
                <a:spcPts val="0"/>
              </a:spcBef>
              <a:spcAft>
                <a:spcPts val="0"/>
              </a:spcAft>
              <a:buSzPts val="1300"/>
              <a:buAutoNum type="arabicPeriod"/>
            </a:pPr>
            <a:r>
              <a:rPr lang="en" sz="1300"/>
              <a:t>What we proposed</a:t>
            </a:r>
            <a:endParaRPr sz="1300"/>
          </a:p>
        </p:txBody>
      </p:sp>
      <p:sp>
        <p:nvSpPr>
          <p:cNvPr id="431" name="Google Shape;431;p32"/>
          <p:cNvSpPr txBox="1">
            <a:spLocks noGrp="1"/>
          </p:cNvSpPr>
          <p:nvPr>
            <p:ph type="subTitle" idx="4294967295"/>
          </p:nvPr>
        </p:nvSpPr>
        <p:spPr>
          <a:xfrm>
            <a:off x="2738400" y="1520413"/>
            <a:ext cx="4297800" cy="569100"/>
          </a:xfrm>
          <a:prstGeom prst="rect">
            <a:avLst/>
          </a:prstGeom>
        </p:spPr>
        <p:txBody>
          <a:bodyPr spcFirstLastPara="1" wrap="square" lIns="91425" tIns="0" rIns="91425" bIns="0" anchor="t" anchorCtr="0">
            <a:noAutofit/>
          </a:bodyPr>
          <a:lstStyle/>
          <a:p>
            <a:pPr marL="0" lvl="0" indent="0" algn="ctr" rtl="0">
              <a:spcBef>
                <a:spcPts val="0"/>
              </a:spcBef>
              <a:spcAft>
                <a:spcPts val="1200"/>
              </a:spcAft>
              <a:buNone/>
            </a:pPr>
            <a:r>
              <a:rPr lang="en" sz="1200"/>
              <a:t>K-Means clustering on Spotify audio features, expanded to 6 algorithms — K-Means, K-Means++, K-Medoids, DBSCAN, GMM, and Hierarchical Clustering</a:t>
            </a:r>
            <a:endParaRPr sz="1200"/>
          </a:p>
        </p:txBody>
      </p:sp>
      <p:sp>
        <p:nvSpPr>
          <p:cNvPr id="432" name="Google Shape;432;p32"/>
          <p:cNvSpPr/>
          <p:nvPr/>
        </p:nvSpPr>
        <p:spPr>
          <a:xfrm>
            <a:off x="2313750" y="2212425"/>
            <a:ext cx="5161800" cy="11928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txBox="1">
            <a:spLocks noGrp="1"/>
          </p:cNvSpPr>
          <p:nvPr>
            <p:ph type="subTitle" idx="4294967295"/>
          </p:nvPr>
        </p:nvSpPr>
        <p:spPr>
          <a:xfrm>
            <a:off x="2420700" y="2547200"/>
            <a:ext cx="4933200" cy="744900"/>
          </a:xfrm>
          <a:prstGeom prst="rect">
            <a:avLst/>
          </a:prstGeom>
        </p:spPr>
        <p:txBody>
          <a:bodyPr spcFirstLastPara="1" wrap="square" lIns="91425" tIns="0" rIns="91425" bIns="0" anchor="t" anchorCtr="0">
            <a:noAutofit/>
          </a:bodyPr>
          <a:lstStyle/>
          <a:p>
            <a:pPr marL="0" lvl="0" indent="0" algn="ctr" rtl="0">
              <a:spcBef>
                <a:spcPts val="0"/>
              </a:spcBef>
              <a:spcAft>
                <a:spcPts val="1200"/>
              </a:spcAft>
              <a:buNone/>
            </a:pPr>
            <a:r>
              <a:rPr lang="en" sz="1200"/>
              <a:t>Before running any algorithms we looked at how all 9 audio features relate to each other using a correlation matrix, and plotted the distribution of every feature across all 32,000 songs. This helped us understand the data and interpret our results better.</a:t>
            </a:r>
            <a:endParaRPr sz="1200"/>
          </a:p>
        </p:txBody>
      </p:sp>
      <p:sp>
        <p:nvSpPr>
          <p:cNvPr id="434" name="Google Shape;434;p32"/>
          <p:cNvSpPr txBox="1">
            <a:spLocks noGrp="1"/>
          </p:cNvSpPr>
          <p:nvPr>
            <p:ph type="subTitle" idx="4294967295"/>
          </p:nvPr>
        </p:nvSpPr>
        <p:spPr>
          <a:xfrm>
            <a:off x="3595325" y="2309698"/>
            <a:ext cx="2289300" cy="2124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sz="1300"/>
              <a:t>  2.     What we did extra</a:t>
            </a:r>
            <a:endParaRPr sz="1300"/>
          </a:p>
        </p:txBody>
      </p:sp>
      <p:sp>
        <p:nvSpPr>
          <p:cNvPr id="435" name="Google Shape;435;p32"/>
          <p:cNvSpPr/>
          <p:nvPr/>
        </p:nvSpPr>
        <p:spPr>
          <a:xfrm>
            <a:off x="1759650" y="3465050"/>
            <a:ext cx="6270000" cy="1138800"/>
          </a:xfrm>
          <a:prstGeom prst="roundRect">
            <a:avLst>
              <a:gd name="adj" fmla="val 1728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txBox="1">
            <a:spLocks noGrp="1"/>
          </p:cNvSpPr>
          <p:nvPr>
            <p:ph type="subTitle" idx="4294967295"/>
          </p:nvPr>
        </p:nvSpPr>
        <p:spPr>
          <a:xfrm>
            <a:off x="3502800" y="3535063"/>
            <a:ext cx="2289300" cy="212400"/>
          </a:xfrm>
          <a:prstGeom prst="rect">
            <a:avLst/>
          </a:prstGeom>
        </p:spPr>
        <p:txBody>
          <a:bodyPr spcFirstLastPara="1" wrap="square" lIns="91425" tIns="0" rIns="91425" bIns="0" anchor="t" anchorCtr="0">
            <a:noAutofit/>
          </a:bodyPr>
          <a:lstStyle/>
          <a:p>
            <a:pPr marL="0" lvl="0" indent="0" algn="l" rtl="0">
              <a:spcBef>
                <a:spcPts val="0"/>
              </a:spcBef>
              <a:spcAft>
                <a:spcPts val="1200"/>
              </a:spcAft>
              <a:buNone/>
            </a:pPr>
            <a:r>
              <a:rPr lang="en" sz="1300"/>
              <a:t>  3.     Why it matters.</a:t>
            </a:r>
            <a:endParaRPr sz="1300"/>
          </a:p>
        </p:txBody>
      </p:sp>
      <p:sp>
        <p:nvSpPr>
          <p:cNvPr id="437" name="Google Shape;437;p32"/>
          <p:cNvSpPr txBox="1">
            <a:spLocks noGrp="1"/>
          </p:cNvSpPr>
          <p:nvPr>
            <p:ph type="subTitle" idx="4294967295"/>
          </p:nvPr>
        </p:nvSpPr>
        <p:spPr>
          <a:xfrm>
            <a:off x="1759650" y="3747475"/>
            <a:ext cx="6270000" cy="782700"/>
          </a:xfrm>
          <a:prstGeom prst="rect">
            <a:avLst/>
          </a:prstGeom>
        </p:spPr>
        <p:txBody>
          <a:bodyPr spcFirstLastPara="1" wrap="square" lIns="91425" tIns="0" rIns="91425" bIns="0" anchor="t" anchorCtr="0">
            <a:noAutofit/>
          </a:bodyPr>
          <a:lstStyle/>
          <a:p>
            <a:pPr marL="0" lvl="0" indent="0" algn="ctr" rtl="0">
              <a:spcBef>
                <a:spcPts val="0"/>
              </a:spcBef>
              <a:spcAft>
                <a:spcPts val="1200"/>
              </a:spcAft>
              <a:buNone/>
            </a:pPr>
            <a:r>
              <a:rPr lang="en" sz="1200"/>
              <a:t>It helped us explain why certain algorithms failed — for example we could see that speechiness and instrumentalness are heavily skewed toward zero, and that energy and loudness move together strongly. That context made it easier to understand why DBSCAN struggled and why the clusters overlap the way they do.</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3"/>
          <p:cNvSpPr txBox="1">
            <a:spLocks noGrp="1"/>
          </p:cNvSpPr>
          <p:nvPr>
            <p:ph type="title"/>
          </p:nvPr>
        </p:nvSpPr>
        <p:spPr>
          <a:xfrm>
            <a:off x="1998350" y="540000"/>
            <a:ext cx="66939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BONUS: What We Did Extra (visual) </a:t>
            </a:r>
            <a:endParaRPr/>
          </a:p>
        </p:txBody>
      </p:sp>
      <p:grpSp>
        <p:nvGrpSpPr>
          <p:cNvPr id="443" name="Google Shape;443;p33"/>
          <p:cNvGrpSpPr/>
          <p:nvPr/>
        </p:nvGrpSpPr>
        <p:grpSpPr>
          <a:xfrm>
            <a:off x="723837" y="552000"/>
            <a:ext cx="1218671" cy="1640915"/>
            <a:chOff x="723837" y="552000"/>
            <a:chExt cx="1218671" cy="1640915"/>
          </a:xfrm>
        </p:grpSpPr>
        <p:sp>
          <p:nvSpPr>
            <p:cNvPr id="444" name="Google Shape;444;p33"/>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3"/>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3"/>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3"/>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3"/>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449" name="Google Shape;449;p33"/>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3"/>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451" name="Google Shape;451;p33"/>
            <p:cNvGrpSpPr/>
            <p:nvPr/>
          </p:nvGrpSpPr>
          <p:grpSpPr>
            <a:xfrm>
              <a:off x="729630" y="1968358"/>
              <a:ext cx="255615" cy="224557"/>
              <a:chOff x="6184139" y="1980808"/>
              <a:chExt cx="451696" cy="396814"/>
            </a:xfrm>
          </p:grpSpPr>
          <p:sp>
            <p:nvSpPr>
              <p:cNvPr id="452" name="Google Shape;452;p33"/>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3"/>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454;p33"/>
            <p:cNvGrpSpPr/>
            <p:nvPr/>
          </p:nvGrpSpPr>
          <p:grpSpPr>
            <a:xfrm>
              <a:off x="729630" y="975085"/>
              <a:ext cx="255615" cy="254967"/>
              <a:chOff x="6184139" y="1220827"/>
              <a:chExt cx="451696" cy="450552"/>
            </a:xfrm>
          </p:grpSpPr>
          <p:sp>
            <p:nvSpPr>
              <p:cNvPr id="455" name="Google Shape;455;p33"/>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3"/>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3"/>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33"/>
            <p:cNvGrpSpPr/>
            <p:nvPr/>
          </p:nvGrpSpPr>
          <p:grpSpPr>
            <a:xfrm>
              <a:off x="723837" y="1482615"/>
              <a:ext cx="267223" cy="233165"/>
              <a:chOff x="6908262" y="1240186"/>
              <a:chExt cx="472209" cy="412024"/>
            </a:xfrm>
          </p:grpSpPr>
          <p:sp>
            <p:nvSpPr>
              <p:cNvPr id="459" name="Google Shape;459;p33"/>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3"/>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3"/>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3"/>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67" name="Google Shape;467;p33"/>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468" name="Google Shape;468;p33"/>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grpSp>
        <p:nvGrpSpPr>
          <p:cNvPr id="469" name="Google Shape;469;p33"/>
          <p:cNvGrpSpPr/>
          <p:nvPr/>
        </p:nvGrpSpPr>
        <p:grpSpPr>
          <a:xfrm>
            <a:off x="1397508" y="1036845"/>
            <a:ext cx="350048" cy="342810"/>
            <a:chOff x="5548725" y="1996100"/>
            <a:chExt cx="275650" cy="269950"/>
          </a:xfrm>
        </p:grpSpPr>
        <p:sp>
          <p:nvSpPr>
            <p:cNvPr id="470" name="Google Shape;470;p33"/>
            <p:cNvSpPr/>
            <p:nvPr/>
          </p:nvSpPr>
          <p:spPr>
            <a:xfrm>
              <a:off x="5548725" y="1996100"/>
              <a:ext cx="275650" cy="269950"/>
            </a:xfrm>
            <a:custGeom>
              <a:avLst/>
              <a:gdLst/>
              <a:ahLst/>
              <a:cxnLst/>
              <a:rect l="l" t="t" r="r" b="b"/>
              <a:pathLst>
                <a:path w="11026" h="10798" extrusionOk="0">
                  <a:moveTo>
                    <a:pt x="5503" y="1"/>
                  </a:moveTo>
                  <a:cubicBezTo>
                    <a:pt x="5435" y="1"/>
                    <a:pt x="5367" y="2"/>
                    <a:pt x="5298" y="4"/>
                  </a:cubicBezTo>
                  <a:cubicBezTo>
                    <a:pt x="2330" y="130"/>
                    <a:pt x="0" y="2639"/>
                    <a:pt x="126" y="5607"/>
                  </a:cubicBezTo>
                  <a:cubicBezTo>
                    <a:pt x="247" y="8521"/>
                    <a:pt x="2646" y="10798"/>
                    <a:pt x="5524" y="10798"/>
                  </a:cubicBezTo>
                  <a:cubicBezTo>
                    <a:pt x="5592" y="10798"/>
                    <a:pt x="5660" y="10796"/>
                    <a:pt x="5728" y="10794"/>
                  </a:cubicBezTo>
                  <a:cubicBezTo>
                    <a:pt x="8709" y="10670"/>
                    <a:pt x="11026" y="8159"/>
                    <a:pt x="10915" y="5191"/>
                  </a:cubicBezTo>
                  <a:cubicBezTo>
                    <a:pt x="10792" y="2279"/>
                    <a:pt x="8394" y="1"/>
                    <a:pt x="5503"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3"/>
            <p:cNvSpPr/>
            <p:nvPr/>
          </p:nvSpPr>
          <p:spPr>
            <a:xfrm>
              <a:off x="5652025" y="2075800"/>
              <a:ext cx="100250" cy="122700"/>
            </a:xfrm>
            <a:custGeom>
              <a:avLst/>
              <a:gdLst/>
              <a:ahLst/>
              <a:cxnLst/>
              <a:rect l="l" t="t" r="r" b="b"/>
              <a:pathLst>
                <a:path w="4010" h="4908" extrusionOk="0">
                  <a:moveTo>
                    <a:pt x="30" y="1"/>
                  </a:moveTo>
                  <a:cubicBezTo>
                    <a:pt x="16" y="1"/>
                    <a:pt x="1" y="14"/>
                    <a:pt x="1" y="34"/>
                  </a:cubicBezTo>
                  <a:lnTo>
                    <a:pt x="1" y="4874"/>
                  </a:lnTo>
                  <a:cubicBezTo>
                    <a:pt x="1" y="4895"/>
                    <a:pt x="16" y="4907"/>
                    <a:pt x="30" y="4907"/>
                  </a:cubicBezTo>
                  <a:cubicBezTo>
                    <a:pt x="35" y="4907"/>
                    <a:pt x="39" y="4906"/>
                    <a:pt x="43" y="4902"/>
                  </a:cubicBezTo>
                  <a:lnTo>
                    <a:pt x="3995" y="2475"/>
                  </a:lnTo>
                  <a:cubicBezTo>
                    <a:pt x="4009" y="2461"/>
                    <a:pt x="4009" y="2447"/>
                    <a:pt x="3995" y="2434"/>
                  </a:cubicBezTo>
                  <a:lnTo>
                    <a:pt x="43" y="6"/>
                  </a:lnTo>
                  <a:cubicBezTo>
                    <a:pt x="39" y="3"/>
                    <a:pt x="35" y="1"/>
                    <a:pt x="30" y="1"/>
                  </a:cubicBezTo>
                  <a:close/>
                </a:path>
              </a:pathLst>
            </a:custGeom>
            <a:solidFill>
              <a:srgbClr val="E8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33"/>
          <p:cNvSpPr/>
          <p:nvPr/>
        </p:nvSpPr>
        <p:spPr>
          <a:xfrm>
            <a:off x="1906895" y="1154173"/>
            <a:ext cx="123000" cy="117600"/>
          </a:xfrm>
          <a:prstGeom prst="hear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3" name="Google Shape;473;p33"/>
          <p:cNvGrpSpPr/>
          <p:nvPr/>
        </p:nvGrpSpPr>
        <p:grpSpPr>
          <a:xfrm>
            <a:off x="2189234" y="1129550"/>
            <a:ext cx="168300" cy="168300"/>
            <a:chOff x="2118163" y="1129550"/>
            <a:chExt cx="168300" cy="168300"/>
          </a:xfrm>
        </p:grpSpPr>
        <p:sp>
          <p:nvSpPr>
            <p:cNvPr id="474" name="Google Shape;474;p33"/>
            <p:cNvSpPr/>
            <p:nvPr/>
          </p:nvSpPr>
          <p:spPr>
            <a:xfrm>
              <a:off x="2118163" y="1129550"/>
              <a:ext cx="168300" cy="16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 name="Google Shape;475;p33"/>
            <p:cNvGrpSpPr/>
            <p:nvPr/>
          </p:nvGrpSpPr>
          <p:grpSpPr>
            <a:xfrm>
              <a:off x="2158188" y="1173325"/>
              <a:ext cx="88275" cy="84325"/>
              <a:chOff x="2158175" y="1161225"/>
              <a:chExt cx="88275" cy="84325"/>
            </a:xfrm>
          </p:grpSpPr>
          <p:sp>
            <p:nvSpPr>
              <p:cNvPr id="476" name="Google Shape;476;p33"/>
              <p:cNvSpPr/>
              <p:nvPr/>
            </p:nvSpPr>
            <p:spPr>
              <a:xfrm>
                <a:off x="2158175" y="1191400"/>
                <a:ext cx="88275" cy="54150"/>
              </a:xfrm>
              <a:custGeom>
                <a:avLst/>
                <a:gdLst/>
                <a:ahLst/>
                <a:cxnLst/>
                <a:rect l="l" t="t" r="r" b="b"/>
                <a:pathLst>
                  <a:path w="3531" h="2166" extrusionOk="0">
                    <a:moveTo>
                      <a:pt x="0" y="68"/>
                    </a:moveTo>
                    <a:lnTo>
                      <a:pt x="1742" y="2166"/>
                    </a:lnTo>
                    <a:lnTo>
                      <a:pt x="3531" y="0"/>
                    </a:lnTo>
                  </a:path>
                </a:pathLst>
              </a:custGeom>
              <a:noFill/>
              <a:ln w="9525" cap="rnd" cmpd="sng">
                <a:solidFill>
                  <a:schemeClr val="dk1"/>
                </a:solidFill>
                <a:prstDash val="solid"/>
                <a:round/>
                <a:headEnd type="none" w="med" len="med"/>
                <a:tailEnd type="none" w="med" len="med"/>
              </a:ln>
            </p:spPr>
          </p:sp>
          <p:cxnSp>
            <p:nvCxnSpPr>
              <p:cNvPr id="477" name="Google Shape;477;p33"/>
              <p:cNvCxnSpPr/>
              <p:nvPr/>
            </p:nvCxnSpPr>
            <p:spPr>
              <a:xfrm rot="10800000">
                <a:off x="2201725" y="1161225"/>
                <a:ext cx="0" cy="82500"/>
              </a:xfrm>
              <a:prstGeom prst="straightConnector1">
                <a:avLst/>
              </a:prstGeom>
              <a:noFill/>
              <a:ln w="9525" cap="rnd" cmpd="sng">
                <a:solidFill>
                  <a:schemeClr val="dk1"/>
                </a:solidFill>
                <a:prstDash val="solid"/>
                <a:round/>
                <a:headEnd type="none" w="med" len="med"/>
                <a:tailEnd type="none" w="med" len="med"/>
              </a:ln>
            </p:spPr>
          </p:cxnSp>
        </p:grpSp>
      </p:grpSp>
      <p:grpSp>
        <p:nvGrpSpPr>
          <p:cNvPr id="478" name="Google Shape;478;p33"/>
          <p:cNvGrpSpPr/>
          <p:nvPr/>
        </p:nvGrpSpPr>
        <p:grpSpPr>
          <a:xfrm>
            <a:off x="2516425" y="1185150"/>
            <a:ext cx="207450" cy="39000"/>
            <a:chOff x="2479175" y="1185150"/>
            <a:chExt cx="207450" cy="39000"/>
          </a:xfrm>
        </p:grpSpPr>
        <p:sp>
          <p:nvSpPr>
            <p:cNvPr id="479" name="Google Shape;479;p33"/>
            <p:cNvSpPr/>
            <p:nvPr/>
          </p:nvSpPr>
          <p:spPr>
            <a:xfrm>
              <a:off x="2479175"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2563400"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2647625" y="1185150"/>
              <a:ext cx="39000" cy="39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82" name="Google Shape;482;p33" title="Figure_1.png"/>
          <p:cNvPicPr preferRelativeResize="0"/>
          <p:nvPr/>
        </p:nvPicPr>
        <p:blipFill rotWithShape="1">
          <a:blip r:embed="rId3">
            <a:alphaModFix/>
          </a:blip>
          <a:srcRect l="22412" r="5292"/>
          <a:stretch/>
        </p:blipFill>
        <p:spPr>
          <a:xfrm>
            <a:off x="2799200" y="1271775"/>
            <a:ext cx="3959626" cy="3269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4"/>
          <p:cNvSpPr txBox="1">
            <a:spLocks noGrp="1"/>
          </p:cNvSpPr>
          <p:nvPr>
            <p:ph type="title"/>
          </p:nvPr>
        </p:nvSpPr>
        <p:spPr>
          <a:xfrm>
            <a:off x="3703133" y="2118803"/>
            <a:ext cx="2383800" cy="477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t>THANK YOU</a:t>
            </a:r>
            <a:endParaRPr/>
          </a:p>
        </p:txBody>
      </p:sp>
      <p:sp>
        <p:nvSpPr>
          <p:cNvPr id="488" name="Google Shape;488;p34"/>
          <p:cNvSpPr/>
          <p:nvPr/>
        </p:nvSpPr>
        <p:spPr>
          <a:xfrm>
            <a:off x="2837225" y="4349225"/>
            <a:ext cx="5454000" cy="390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4"/>
          <p:cNvSpPr/>
          <p:nvPr/>
        </p:nvSpPr>
        <p:spPr>
          <a:xfrm>
            <a:off x="2837225" y="4349253"/>
            <a:ext cx="646900" cy="38915"/>
          </a:xfrm>
          <a:custGeom>
            <a:avLst/>
            <a:gdLst/>
            <a:ahLst/>
            <a:cxnLst/>
            <a:rect l="l" t="t" r="r" b="b"/>
            <a:pathLst>
              <a:path w="11304" h="680" extrusionOk="0">
                <a:moveTo>
                  <a:pt x="347" y="0"/>
                </a:moveTo>
                <a:cubicBezTo>
                  <a:pt x="153" y="0"/>
                  <a:pt x="0" y="152"/>
                  <a:pt x="0" y="347"/>
                </a:cubicBezTo>
                <a:cubicBezTo>
                  <a:pt x="0" y="527"/>
                  <a:pt x="153" y="679"/>
                  <a:pt x="347" y="679"/>
                </a:cubicBezTo>
                <a:lnTo>
                  <a:pt x="11248" y="679"/>
                </a:lnTo>
                <a:cubicBezTo>
                  <a:pt x="11248" y="458"/>
                  <a:pt x="11261" y="222"/>
                  <a:pt x="11303" y="0"/>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0" name="Google Shape;490;p34"/>
          <p:cNvGrpSpPr/>
          <p:nvPr/>
        </p:nvGrpSpPr>
        <p:grpSpPr>
          <a:xfrm>
            <a:off x="3382482" y="4289680"/>
            <a:ext cx="146045" cy="146102"/>
            <a:chOff x="3382482" y="4289680"/>
            <a:chExt cx="146045" cy="146102"/>
          </a:xfrm>
        </p:grpSpPr>
        <p:sp>
          <p:nvSpPr>
            <p:cNvPr id="491" name="Google Shape;491;p34"/>
            <p:cNvSpPr/>
            <p:nvPr/>
          </p:nvSpPr>
          <p:spPr>
            <a:xfrm>
              <a:off x="3382482" y="4289680"/>
              <a:ext cx="146045" cy="146102"/>
            </a:xfrm>
            <a:custGeom>
              <a:avLst/>
              <a:gdLst/>
              <a:ahLst/>
              <a:cxnLst/>
              <a:rect l="l" t="t" r="r" b="b"/>
              <a:pathLst>
                <a:path w="2552" h="2553" extrusionOk="0">
                  <a:moveTo>
                    <a:pt x="1276" y="1"/>
                  </a:moveTo>
                  <a:cubicBezTo>
                    <a:pt x="568" y="1"/>
                    <a:pt x="0" y="570"/>
                    <a:pt x="0" y="1277"/>
                  </a:cubicBezTo>
                  <a:cubicBezTo>
                    <a:pt x="0" y="1984"/>
                    <a:pt x="568" y="2552"/>
                    <a:pt x="1276" y="2552"/>
                  </a:cubicBezTo>
                  <a:cubicBezTo>
                    <a:pt x="1983" y="2552"/>
                    <a:pt x="2552" y="1984"/>
                    <a:pt x="2552" y="1277"/>
                  </a:cubicBezTo>
                  <a:cubicBezTo>
                    <a:pt x="2552" y="570"/>
                    <a:pt x="1983" y="1"/>
                    <a:pt x="1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4"/>
            <p:cNvSpPr/>
            <p:nvPr/>
          </p:nvSpPr>
          <p:spPr>
            <a:xfrm>
              <a:off x="3426890" y="4334145"/>
              <a:ext cx="57228" cy="57170"/>
            </a:xfrm>
            <a:custGeom>
              <a:avLst/>
              <a:gdLst/>
              <a:ahLst/>
              <a:cxnLst/>
              <a:rect l="l" t="t" r="r" b="b"/>
              <a:pathLst>
                <a:path w="1000" h="999" extrusionOk="0">
                  <a:moveTo>
                    <a:pt x="500" y="0"/>
                  </a:moveTo>
                  <a:cubicBezTo>
                    <a:pt x="223" y="0"/>
                    <a:pt x="1" y="222"/>
                    <a:pt x="1" y="500"/>
                  </a:cubicBezTo>
                  <a:cubicBezTo>
                    <a:pt x="1" y="777"/>
                    <a:pt x="223" y="999"/>
                    <a:pt x="500" y="999"/>
                  </a:cubicBezTo>
                  <a:cubicBezTo>
                    <a:pt x="777" y="999"/>
                    <a:pt x="999" y="777"/>
                    <a:pt x="999" y="500"/>
                  </a:cubicBezTo>
                  <a:cubicBezTo>
                    <a:pt x="999" y="222"/>
                    <a:pt x="777" y="0"/>
                    <a:pt x="500" y="0"/>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34"/>
          <p:cNvGrpSpPr/>
          <p:nvPr/>
        </p:nvGrpSpPr>
        <p:grpSpPr>
          <a:xfrm>
            <a:off x="2341209" y="4231758"/>
            <a:ext cx="261293" cy="261337"/>
            <a:chOff x="2450584" y="4231758"/>
            <a:chExt cx="261293" cy="261337"/>
          </a:xfrm>
        </p:grpSpPr>
        <p:sp>
          <p:nvSpPr>
            <p:cNvPr id="494" name="Google Shape;494;p34"/>
            <p:cNvSpPr/>
            <p:nvPr/>
          </p:nvSpPr>
          <p:spPr>
            <a:xfrm>
              <a:off x="2450584" y="4231758"/>
              <a:ext cx="261293" cy="261337"/>
            </a:xfrm>
            <a:custGeom>
              <a:avLst/>
              <a:gdLst/>
              <a:ahLst/>
              <a:cxnLst/>
              <a:rect l="l" t="t" r="r" b="b"/>
              <a:pathLst>
                <a:path w="5853" h="5854" extrusionOk="0">
                  <a:moveTo>
                    <a:pt x="2927" y="1"/>
                  </a:moveTo>
                  <a:cubicBezTo>
                    <a:pt x="1319" y="1"/>
                    <a:pt x="1" y="1319"/>
                    <a:pt x="1" y="2928"/>
                  </a:cubicBezTo>
                  <a:cubicBezTo>
                    <a:pt x="1" y="4550"/>
                    <a:pt x="1319" y="5853"/>
                    <a:pt x="2927" y="5853"/>
                  </a:cubicBezTo>
                  <a:cubicBezTo>
                    <a:pt x="4549" y="5853"/>
                    <a:pt x="5853" y="4550"/>
                    <a:pt x="5853" y="2928"/>
                  </a:cubicBezTo>
                  <a:cubicBezTo>
                    <a:pt x="5853" y="1319"/>
                    <a:pt x="4549" y="1"/>
                    <a:pt x="29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4"/>
            <p:cNvSpPr/>
            <p:nvPr/>
          </p:nvSpPr>
          <p:spPr>
            <a:xfrm>
              <a:off x="2552772" y="4334526"/>
              <a:ext cx="48928" cy="56428"/>
            </a:xfrm>
            <a:custGeom>
              <a:avLst/>
              <a:gdLst/>
              <a:ahLst/>
              <a:cxnLst/>
              <a:rect l="l" t="t" r="r" b="b"/>
              <a:pathLst>
                <a:path w="1096" h="1264" extrusionOk="0">
                  <a:moveTo>
                    <a:pt x="0" y="1"/>
                  </a:moveTo>
                  <a:lnTo>
                    <a:pt x="0" y="1263"/>
                  </a:lnTo>
                  <a:lnTo>
                    <a:pt x="1095" y="626"/>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4"/>
            <p:cNvSpPr/>
            <p:nvPr/>
          </p:nvSpPr>
          <p:spPr>
            <a:xfrm>
              <a:off x="2601656" y="4334526"/>
              <a:ext cx="8125" cy="55803"/>
            </a:xfrm>
            <a:custGeom>
              <a:avLst/>
              <a:gdLst/>
              <a:ahLst/>
              <a:cxnLst/>
              <a:rect l="l" t="t" r="r" b="b"/>
              <a:pathLst>
                <a:path w="182" h="1250" extrusionOk="0">
                  <a:moveTo>
                    <a:pt x="0" y="1"/>
                  </a:moveTo>
                  <a:lnTo>
                    <a:pt x="0" y="1249"/>
                  </a:lnTo>
                  <a:lnTo>
                    <a:pt x="181" y="1249"/>
                  </a:lnTo>
                  <a:lnTo>
                    <a:pt x="18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34"/>
          <p:cNvGrpSpPr/>
          <p:nvPr/>
        </p:nvGrpSpPr>
        <p:grpSpPr>
          <a:xfrm>
            <a:off x="1440525" y="4231758"/>
            <a:ext cx="260668" cy="261337"/>
            <a:chOff x="1397500" y="4231758"/>
            <a:chExt cx="260668" cy="261337"/>
          </a:xfrm>
        </p:grpSpPr>
        <p:sp>
          <p:nvSpPr>
            <p:cNvPr id="498" name="Google Shape;498;p34"/>
            <p:cNvSpPr/>
            <p:nvPr/>
          </p:nvSpPr>
          <p:spPr>
            <a:xfrm>
              <a:off x="1397500" y="4231758"/>
              <a:ext cx="260668" cy="261337"/>
            </a:xfrm>
            <a:custGeom>
              <a:avLst/>
              <a:gdLst/>
              <a:ahLst/>
              <a:cxnLst/>
              <a:rect l="l" t="t" r="r" b="b"/>
              <a:pathLst>
                <a:path w="5839" h="5854" extrusionOk="0">
                  <a:moveTo>
                    <a:pt x="2913" y="1"/>
                  </a:moveTo>
                  <a:cubicBezTo>
                    <a:pt x="1304" y="1"/>
                    <a:pt x="1" y="1319"/>
                    <a:pt x="1" y="2928"/>
                  </a:cubicBezTo>
                  <a:cubicBezTo>
                    <a:pt x="1" y="4550"/>
                    <a:pt x="1304" y="5853"/>
                    <a:pt x="2913" y="5853"/>
                  </a:cubicBezTo>
                  <a:cubicBezTo>
                    <a:pt x="4535" y="5853"/>
                    <a:pt x="5839" y="4550"/>
                    <a:pt x="5839" y="2928"/>
                  </a:cubicBezTo>
                  <a:cubicBezTo>
                    <a:pt x="5839" y="1319"/>
                    <a:pt x="4535" y="1"/>
                    <a:pt x="29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4"/>
            <p:cNvSpPr/>
            <p:nvPr/>
          </p:nvSpPr>
          <p:spPr>
            <a:xfrm>
              <a:off x="1507054" y="4334526"/>
              <a:ext cx="49017" cy="56428"/>
            </a:xfrm>
            <a:custGeom>
              <a:avLst/>
              <a:gdLst/>
              <a:ahLst/>
              <a:cxnLst/>
              <a:rect l="l" t="t" r="r" b="b"/>
              <a:pathLst>
                <a:path w="1098" h="1264" extrusionOk="0">
                  <a:moveTo>
                    <a:pt x="1097" y="1"/>
                  </a:moveTo>
                  <a:lnTo>
                    <a:pt x="1" y="626"/>
                  </a:lnTo>
                  <a:lnTo>
                    <a:pt x="1097" y="1263"/>
                  </a:lnTo>
                  <a:lnTo>
                    <a:pt x="109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4"/>
            <p:cNvSpPr/>
            <p:nvPr/>
          </p:nvSpPr>
          <p:spPr>
            <a:xfrm>
              <a:off x="1499643" y="4334526"/>
              <a:ext cx="7455" cy="55803"/>
            </a:xfrm>
            <a:custGeom>
              <a:avLst/>
              <a:gdLst/>
              <a:ahLst/>
              <a:cxnLst/>
              <a:rect l="l" t="t" r="r" b="b"/>
              <a:pathLst>
                <a:path w="167" h="1250" extrusionOk="0">
                  <a:moveTo>
                    <a:pt x="1" y="1"/>
                  </a:moveTo>
                  <a:lnTo>
                    <a:pt x="1" y="1249"/>
                  </a:lnTo>
                  <a:lnTo>
                    <a:pt x="167" y="1249"/>
                  </a:lnTo>
                  <a:lnTo>
                    <a:pt x="1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34"/>
          <p:cNvGrpSpPr/>
          <p:nvPr/>
        </p:nvGrpSpPr>
        <p:grpSpPr>
          <a:xfrm>
            <a:off x="723837" y="552000"/>
            <a:ext cx="1218671" cy="1640915"/>
            <a:chOff x="723837" y="552000"/>
            <a:chExt cx="1218671" cy="1640915"/>
          </a:xfrm>
        </p:grpSpPr>
        <p:sp>
          <p:nvSpPr>
            <p:cNvPr id="502" name="Google Shape;502;p34"/>
            <p:cNvSpPr/>
            <p:nvPr/>
          </p:nvSpPr>
          <p:spPr>
            <a:xfrm>
              <a:off x="729625" y="552000"/>
              <a:ext cx="98100" cy="9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4"/>
            <p:cNvSpPr/>
            <p:nvPr/>
          </p:nvSpPr>
          <p:spPr>
            <a:xfrm>
              <a:off x="882900" y="552000"/>
              <a:ext cx="98100" cy="98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4"/>
            <p:cNvSpPr/>
            <p:nvPr/>
          </p:nvSpPr>
          <p:spPr>
            <a:xfrm>
              <a:off x="1036175" y="552000"/>
              <a:ext cx="98100" cy="9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4"/>
            <p:cNvSpPr/>
            <p:nvPr/>
          </p:nvSpPr>
          <p:spPr>
            <a:xfrm>
              <a:off x="1379968"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4"/>
            <p:cNvSpPr/>
            <p:nvPr/>
          </p:nvSpPr>
          <p:spPr>
            <a:xfrm>
              <a:off x="1483960"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sp>
          <p:nvSpPr>
            <p:cNvPr id="507" name="Google Shape;507;p34"/>
            <p:cNvSpPr/>
            <p:nvPr/>
          </p:nvSpPr>
          <p:spPr>
            <a:xfrm flipH="1">
              <a:off x="1686874" y="618464"/>
              <a:ext cx="255633" cy="250348"/>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4"/>
            <p:cNvSpPr/>
            <p:nvPr/>
          </p:nvSpPr>
          <p:spPr>
            <a:xfrm flipH="1">
              <a:off x="1790866" y="686786"/>
              <a:ext cx="47650" cy="117350"/>
            </a:xfrm>
            <a:custGeom>
              <a:avLst/>
              <a:gdLst/>
              <a:ahLst/>
              <a:cxnLst/>
              <a:rect l="l" t="t" r="r" b="b"/>
              <a:pathLst>
                <a:path w="1906" h="4694" extrusionOk="0">
                  <a:moveTo>
                    <a:pt x="1906" y="0"/>
                  </a:moveTo>
                  <a:lnTo>
                    <a:pt x="0" y="2347"/>
                  </a:lnTo>
                  <a:lnTo>
                    <a:pt x="1857" y="4694"/>
                  </a:lnTo>
                </a:path>
              </a:pathLst>
            </a:custGeom>
            <a:noFill/>
            <a:ln w="9525" cap="flat" cmpd="sng">
              <a:solidFill>
                <a:schemeClr val="accent3"/>
              </a:solidFill>
              <a:prstDash val="solid"/>
              <a:round/>
              <a:headEnd type="none" w="med" len="med"/>
              <a:tailEnd type="none" w="med" len="med"/>
            </a:ln>
          </p:spPr>
        </p:sp>
        <p:grpSp>
          <p:nvGrpSpPr>
            <p:cNvPr id="509" name="Google Shape;509;p34"/>
            <p:cNvGrpSpPr/>
            <p:nvPr/>
          </p:nvGrpSpPr>
          <p:grpSpPr>
            <a:xfrm>
              <a:off x="729630" y="1968358"/>
              <a:ext cx="255615" cy="224557"/>
              <a:chOff x="6184139" y="1980808"/>
              <a:chExt cx="451696" cy="396814"/>
            </a:xfrm>
          </p:grpSpPr>
          <p:sp>
            <p:nvSpPr>
              <p:cNvPr id="510" name="Google Shape;510;p34"/>
              <p:cNvSpPr/>
              <p:nvPr/>
            </p:nvSpPr>
            <p:spPr>
              <a:xfrm>
                <a:off x="6184139" y="1980808"/>
                <a:ext cx="451696" cy="396814"/>
              </a:xfrm>
              <a:custGeom>
                <a:avLst/>
                <a:gdLst/>
                <a:ahLst/>
                <a:cxnLst/>
                <a:rect l="l" t="t" r="r" b="b"/>
                <a:pathLst>
                  <a:path w="9473" h="8322" extrusionOk="0">
                    <a:moveTo>
                      <a:pt x="4272" y="361"/>
                    </a:moveTo>
                    <a:cubicBezTo>
                      <a:pt x="4675" y="361"/>
                      <a:pt x="5063" y="583"/>
                      <a:pt x="5257" y="943"/>
                    </a:cubicBezTo>
                    <a:cubicBezTo>
                      <a:pt x="5285" y="1013"/>
                      <a:pt x="5354" y="1041"/>
                      <a:pt x="5437" y="1041"/>
                    </a:cubicBezTo>
                    <a:cubicBezTo>
                      <a:pt x="5466" y="1038"/>
                      <a:pt x="5495" y="1036"/>
                      <a:pt x="5524" y="1036"/>
                    </a:cubicBezTo>
                    <a:cubicBezTo>
                      <a:pt x="5868" y="1036"/>
                      <a:pt x="6196" y="1263"/>
                      <a:pt x="6324" y="1596"/>
                    </a:cubicBezTo>
                    <a:cubicBezTo>
                      <a:pt x="6349" y="1657"/>
                      <a:pt x="6408" y="1709"/>
                      <a:pt x="6480" y="1709"/>
                    </a:cubicBezTo>
                    <a:cubicBezTo>
                      <a:pt x="6489" y="1709"/>
                      <a:pt x="6497" y="1708"/>
                      <a:pt x="6505" y="1707"/>
                    </a:cubicBezTo>
                    <a:cubicBezTo>
                      <a:pt x="6521" y="1705"/>
                      <a:pt x="6536" y="1704"/>
                      <a:pt x="6552" y="1704"/>
                    </a:cubicBezTo>
                    <a:cubicBezTo>
                      <a:pt x="6838" y="1704"/>
                      <a:pt x="7088" y="1944"/>
                      <a:pt x="7088" y="2234"/>
                    </a:cubicBezTo>
                    <a:cubicBezTo>
                      <a:pt x="7088" y="2524"/>
                      <a:pt x="6851" y="2760"/>
                      <a:pt x="6561" y="2760"/>
                    </a:cubicBezTo>
                    <a:lnTo>
                      <a:pt x="6311" y="2760"/>
                    </a:lnTo>
                    <a:lnTo>
                      <a:pt x="6311" y="2178"/>
                    </a:lnTo>
                    <a:cubicBezTo>
                      <a:pt x="6311" y="2073"/>
                      <a:pt x="6222" y="1988"/>
                      <a:pt x="6120" y="1988"/>
                    </a:cubicBezTo>
                    <a:cubicBezTo>
                      <a:pt x="6101" y="1988"/>
                      <a:pt x="6081" y="1991"/>
                      <a:pt x="6061" y="1997"/>
                    </a:cubicBezTo>
                    <a:lnTo>
                      <a:pt x="4064" y="2566"/>
                    </a:lnTo>
                    <a:cubicBezTo>
                      <a:pt x="3981" y="2594"/>
                      <a:pt x="3926" y="2677"/>
                      <a:pt x="3939" y="2760"/>
                    </a:cubicBezTo>
                    <a:lnTo>
                      <a:pt x="3066" y="2760"/>
                    </a:lnTo>
                    <a:cubicBezTo>
                      <a:pt x="2678" y="2760"/>
                      <a:pt x="2345" y="2413"/>
                      <a:pt x="2373" y="2025"/>
                    </a:cubicBezTo>
                    <a:cubicBezTo>
                      <a:pt x="2373" y="1886"/>
                      <a:pt x="2441" y="1720"/>
                      <a:pt x="2552" y="1609"/>
                    </a:cubicBezTo>
                    <a:cubicBezTo>
                      <a:pt x="2678" y="1470"/>
                      <a:pt x="2830" y="1401"/>
                      <a:pt x="3011" y="1387"/>
                    </a:cubicBezTo>
                    <a:cubicBezTo>
                      <a:pt x="3094" y="1374"/>
                      <a:pt x="3163" y="1318"/>
                      <a:pt x="3177" y="1235"/>
                    </a:cubicBezTo>
                    <a:cubicBezTo>
                      <a:pt x="3232" y="999"/>
                      <a:pt x="3371" y="777"/>
                      <a:pt x="3565" y="610"/>
                    </a:cubicBezTo>
                    <a:cubicBezTo>
                      <a:pt x="3773" y="444"/>
                      <a:pt x="4009" y="361"/>
                      <a:pt x="4272" y="361"/>
                    </a:cubicBezTo>
                    <a:close/>
                    <a:moveTo>
                      <a:pt x="5936" y="2413"/>
                    </a:moveTo>
                    <a:lnTo>
                      <a:pt x="5936" y="2816"/>
                    </a:lnTo>
                    <a:lnTo>
                      <a:pt x="4300" y="3301"/>
                    </a:lnTo>
                    <a:lnTo>
                      <a:pt x="4300" y="2885"/>
                    </a:lnTo>
                    <a:lnTo>
                      <a:pt x="5936" y="2413"/>
                    </a:lnTo>
                    <a:close/>
                    <a:moveTo>
                      <a:pt x="5618" y="4493"/>
                    </a:moveTo>
                    <a:cubicBezTo>
                      <a:pt x="5797" y="4493"/>
                      <a:pt x="5936" y="4632"/>
                      <a:pt x="5936" y="4813"/>
                    </a:cubicBezTo>
                    <a:lnTo>
                      <a:pt x="5936" y="4826"/>
                    </a:lnTo>
                    <a:lnTo>
                      <a:pt x="5936" y="4841"/>
                    </a:lnTo>
                    <a:cubicBezTo>
                      <a:pt x="5936" y="5007"/>
                      <a:pt x="5797" y="5146"/>
                      <a:pt x="5618" y="5146"/>
                    </a:cubicBezTo>
                    <a:lnTo>
                      <a:pt x="5326" y="5146"/>
                    </a:lnTo>
                    <a:cubicBezTo>
                      <a:pt x="5146" y="5146"/>
                      <a:pt x="5007" y="5007"/>
                      <a:pt x="5007" y="4841"/>
                    </a:cubicBezTo>
                    <a:lnTo>
                      <a:pt x="5007" y="4813"/>
                    </a:lnTo>
                    <a:cubicBezTo>
                      <a:pt x="5007" y="4632"/>
                      <a:pt x="5146" y="4493"/>
                      <a:pt x="5326" y="4493"/>
                    </a:cubicBezTo>
                    <a:close/>
                    <a:moveTo>
                      <a:pt x="3621" y="4909"/>
                    </a:moveTo>
                    <a:cubicBezTo>
                      <a:pt x="3800" y="4909"/>
                      <a:pt x="3939" y="5048"/>
                      <a:pt x="3939" y="5215"/>
                    </a:cubicBezTo>
                    <a:lnTo>
                      <a:pt x="3939" y="5229"/>
                    </a:lnTo>
                    <a:lnTo>
                      <a:pt x="3939" y="5242"/>
                    </a:lnTo>
                    <a:cubicBezTo>
                      <a:pt x="3939" y="5409"/>
                      <a:pt x="3800" y="5547"/>
                      <a:pt x="3621" y="5547"/>
                    </a:cubicBezTo>
                    <a:lnTo>
                      <a:pt x="3316" y="5547"/>
                    </a:lnTo>
                    <a:cubicBezTo>
                      <a:pt x="3149" y="5547"/>
                      <a:pt x="3011" y="5409"/>
                      <a:pt x="3011" y="5242"/>
                    </a:cubicBezTo>
                    <a:lnTo>
                      <a:pt x="3011" y="5215"/>
                    </a:lnTo>
                    <a:cubicBezTo>
                      <a:pt x="3011" y="5048"/>
                      <a:pt x="3149" y="4909"/>
                      <a:pt x="3316" y="4909"/>
                    </a:cubicBezTo>
                    <a:close/>
                    <a:moveTo>
                      <a:pt x="7615" y="2483"/>
                    </a:moveTo>
                    <a:lnTo>
                      <a:pt x="7615" y="6200"/>
                    </a:lnTo>
                    <a:lnTo>
                      <a:pt x="1873" y="6200"/>
                    </a:lnTo>
                    <a:lnTo>
                      <a:pt x="1873" y="2483"/>
                    </a:lnTo>
                    <a:lnTo>
                      <a:pt x="2081" y="2483"/>
                    </a:lnTo>
                    <a:cubicBezTo>
                      <a:pt x="2247" y="2871"/>
                      <a:pt x="2636" y="3134"/>
                      <a:pt x="3066" y="3134"/>
                    </a:cubicBezTo>
                    <a:lnTo>
                      <a:pt x="3939" y="3134"/>
                    </a:lnTo>
                    <a:lnTo>
                      <a:pt x="3939" y="4619"/>
                    </a:lnTo>
                    <a:cubicBezTo>
                      <a:pt x="3843" y="4563"/>
                      <a:pt x="3732" y="4536"/>
                      <a:pt x="3621" y="4536"/>
                    </a:cubicBezTo>
                    <a:lnTo>
                      <a:pt x="3316" y="4536"/>
                    </a:lnTo>
                    <a:cubicBezTo>
                      <a:pt x="2941" y="4536"/>
                      <a:pt x="2636" y="4841"/>
                      <a:pt x="2636" y="5215"/>
                    </a:cubicBezTo>
                    <a:lnTo>
                      <a:pt x="2636" y="5242"/>
                    </a:lnTo>
                    <a:cubicBezTo>
                      <a:pt x="2636" y="5617"/>
                      <a:pt x="2941" y="5922"/>
                      <a:pt x="3316" y="5922"/>
                    </a:cubicBezTo>
                    <a:lnTo>
                      <a:pt x="3621" y="5922"/>
                    </a:lnTo>
                    <a:cubicBezTo>
                      <a:pt x="4009" y="5922"/>
                      <a:pt x="4300" y="5590"/>
                      <a:pt x="4300" y="5215"/>
                    </a:cubicBezTo>
                    <a:lnTo>
                      <a:pt x="4300" y="3676"/>
                    </a:lnTo>
                    <a:lnTo>
                      <a:pt x="5936" y="3204"/>
                    </a:lnTo>
                    <a:lnTo>
                      <a:pt x="5936" y="4203"/>
                    </a:lnTo>
                    <a:cubicBezTo>
                      <a:pt x="5840" y="4161"/>
                      <a:pt x="5742" y="4133"/>
                      <a:pt x="5618" y="4133"/>
                    </a:cubicBezTo>
                    <a:lnTo>
                      <a:pt x="5326" y="4133"/>
                    </a:lnTo>
                    <a:cubicBezTo>
                      <a:pt x="4952" y="4133"/>
                      <a:pt x="4647" y="4438"/>
                      <a:pt x="4647" y="4813"/>
                    </a:cubicBezTo>
                    <a:lnTo>
                      <a:pt x="4647" y="4841"/>
                    </a:lnTo>
                    <a:cubicBezTo>
                      <a:pt x="4647" y="5215"/>
                      <a:pt x="4952" y="5520"/>
                      <a:pt x="5326" y="5520"/>
                    </a:cubicBezTo>
                    <a:lnTo>
                      <a:pt x="5618" y="5520"/>
                    </a:lnTo>
                    <a:cubicBezTo>
                      <a:pt x="6006" y="5520"/>
                      <a:pt x="6311" y="5187"/>
                      <a:pt x="6311" y="4813"/>
                    </a:cubicBezTo>
                    <a:lnTo>
                      <a:pt x="6311" y="3134"/>
                    </a:lnTo>
                    <a:lnTo>
                      <a:pt x="6561" y="3134"/>
                    </a:lnTo>
                    <a:cubicBezTo>
                      <a:pt x="6962" y="3134"/>
                      <a:pt x="7323" y="2857"/>
                      <a:pt x="7434" y="2483"/>
                    </a:cubicBezTo>
                    <a:close/>
                    <a:moveTo>
                      <a:pt x="8044" y="1664"/>
                    </a:moveTo>
                    <a:cubicBezTo>
                      <a:pt x="8253" y="1664"/>
                      <a:pt x="8432" y="1831"/>
                      <a:pt x="8432" y="2053"/>
                    </a:cubicBezTo>
                    <a:lnTo>
                      <a:pt x="8432" y="6629"/>
                    </a:lnTo>
                    <a:cubicBezTo>
                      <a:pt x="8432" y="6838"/>
                      <a:pt x="8253" y="7017"/>
                      <a:pt x="8044" y="7017"/>
                    </a:cubicBezTo>
                    <a:lnTo>
                      <a:pt x="1443" y="7017"/>
                    </a:lnTo>
                    <a:cubicBezTo>
                      <a:pt x="1221" y="7017"/>
                      <a:pt x="1055" y="6838"/>
                      <a:pt x="1055" y="6629"/>
                    </a:cubicBezTo>
                    <a:lnTo>
                      <a:pt x="1055" y="2053"/>
                    </a:lnTo>
                    <a:cubicBezTo>
                      <a:pt x="1055" y="1831"/>
                      <a:pt x="1221" y="1664"/>
                      <a:pt x="1443" y="1664"/>
                    </a:cubicBezTo>
                    <a:lnTo>
                      <a:pt x="2081" y="1664"/>
                    </a:lnTo>
                    <a:cubicBezTo>
                      <a:pt x="2025" y="1803"/>
                      <a:pt x="1998" y="1956"/>
                      <a:pt x="1998" y="2108"/>
                    </a:cubicBezTo>
                    <a:lnTo>
                      <a:pt x="1679" y="2108"/>
                    </a:lnTo>
                    <a:cubicBezTo>
                      <a:pt x="1582" y="2108"/>
                      <a:pt x="1498" y="2191"/>
                      <a:pt x="1498" y="2289"/>
                    </a:cubicBezTo>
                    <a:lnTo>
                      <a:pt x="1498" y="6394"/>
                    </a:lnTo>
                    <a:cubicBezTo>
                      <a:pt x="1498" y="6490"/>
                      <a:pt x="1582" y="6574"/>
                      <a:pt x="1679" y="6574"/>
                    </a:cubicBezTo>
                    <a:lnTo>
                      <a:pt x="7794" y="6574"/>
                    </a:lnTo>
                    <a:cubicBezTo>
                      <a:pt x="7905" y="6574"/>
                      <a:pt x="7989" y="6490"/>
                      <a:pt x="7989" y="6394"/>
                    </a:cubicBezTo>
                    <a:lnTo>
                      <a:pt x="7989" y="2289"/>
                    </a:lnTo>
                    <a:cubicBezTo>
                      <a:pt x="7989" y="2191"/>
                      <a:pt x="7905" y="2108"/>
                      <a:pt x="7794" y="2108"/>
                    </a:cubicBezTo>
                    <a:lnTo>
                      <a:pt x="7448" y="2108"/>
                    </a:lnTo>
                    <a:cubicBezTo>
                      <a:pt x="7434" y="1942"/>
                      <a:pt x="7365" y="1790"/>
                      <a:pt x="7254" y="1664"/>
                    </a:cubicBezTo>
                    <a:close/>
                    <a:moveTo>
                      <a:pt x="4272" y="0"/>
                    </a:moveTo>
                    <a:cubicBezTo>
                      <a:pt x="3926" y="0"/>
                      <a:pt x="3593" y="111"/>
                      <a:pt x="3329" y="320"/>
                    </a:cubicBezTo>
                    <a:cubicBezTo>
                      <a:pt x="3107" y="514"/>
                      <a:pt x="2941" y="749"/>
                      <a:pt x="2844" y="1026"/>
                    </a:cubicBezTo>
                    <a:cubicBezTo>
                      <a:pt x="2663" y="1069"/>
                      <a:pt x="2484" y="1165"/>
                      <a:pt x="2345" y="1290"/>
                    </a:cubicBezTo>
                    <a:lnTo>
                      <a:pt x="1443" y="1290"/>
                    </a:lnTo>
                    <a:cubicBezTo>
                      <a:pt x="1027" y="1290"/>
                      <a:pt x="681" y="1637"/>
                      <a:pt x="681" y="2053"/>
                    </a:cubicBezTo>
                    <a:lnTo>
                      <a:pt x="681" y="6629"/>
                    </a:lnTo>
                    <a:cubicBezTo>
                      <a:pt x="681" y="6768"/>
                      <a:pt x="722" y="6906"/>
                      <a:pt x="792" y="7017"/>
                    </a:cubicBezTo>
                    <a:lnTo>
                      <a:pt x="195" y="7017"/>
                    </a:lnTo>
                    <a:cubicBezTo>
                      <a:pt x="84" y="7017"/>
                      <a:pt x="1" y="7101"/>
                      <a:pt x="1" y="7198"/>
                    </a:cubicBezTo>
                    <a:lnTo>
                      <a:pt x="1" y="7642"/>
                    </a:lnTo>
                    <a:cubicBezTo>
                      <a:pt x="1" y="8016"/>
                      <a:pt x="320" y="8321"/>
                      <a:pt x="694" y="8321"/>
                    </a:cubicBezTo>
                    <a:lnTo>
                      <a:pt x="3926" y="8321"/>
                    </a:lnTo>
                    <a:cubicBezTo>
                      <a:pt x="4037" y="8321"/>
                      <a:pt x="4120" y="8238"/>
                      <a:pt x="4120" y="8141"/>
                    </a:cubicBezTo>
                    <a:cubicBezTo>
                      <a:pt x="4120" y="8030"/>
                      <a:pt x="4037" y="7947"/>
                      <a:pt x="3926" y="7947"/>
                    </a:cubicBezTo>
                    <a:lnTo>
                      <a:pt x="694" y="7947"/>
                    </a:lnTo>
                    <a:cubicBezTo>
                      <a:pt x="514" y="7947"/>
                      <a:pt x="376" y="7808"/>
                      <a:pt x="376" y="7642"/>
                    </a:cubicBezTo>
                    <a:lnTo>
                      <a:pt x="376" y="7392"/>
                    </a:lnTo>
                    <a:lnTo>
                      <a:pt x="9098" y="7392"/>
                    </a:lnTo>
                    <a:lnTo>
                      <a:pt x="9098" y="7642"/>
                    </a:lnTo>
                    <a:cubicBezTo>
                      <a:pt x="9098" y="7808"/>
                      <a:pt x="8959" y="7947"/>
                      <a:pt x="8793" y="7947"/>
                    </a:cubicBezTo>
                    <a:lnTo>
                      <a:pt x="5562" y="7947"/>
                    </a:lnTo>
                    <a:cubicBezTo>
                      <a:pt x="5451" y="7947"/>
                      <a:pt x="5368" y="8030"/>
                      <a:pt x="5368" y="8141"/>
                    </a:cubicBezTo>
                    <a:cubicBezTo>
                      <a:pt x="5368" y="8238"/>
                      <a:pt x="5451" y="8321"/>
                      <a:pt x="5562" y="8321"/>
                    </a:cubicBezTo>
                    <a:lnTo>
                      <a:pt x="8793" y="8321"/>
                    </a:lnTo>
                    <a:cubicBezTo>
                      <a:pt x="9168" y="8321"/>
                      <a:pt x="9473" y="8016"/>
                      <a:pt x="9473" y="7642"/>
                    </a:cubicBezTo>
                    <a:lnTo>
                      <a:pt x="9473" y="7198"/>
                    </a:lnTo>
                    <a:cubicBezTo>
                      <a:pt x="9473" y="7101"/>
                      <a:pt x="9390" y="7017"/>
                      <a:pt x="9292" y="7017"/>
                    </a:cubicBezTo>
                    <a:lnTo>
                      <a:pt x="8696" y="7017"/>
                    </a:lnTo>
                    <a:cubicBezTo>
                      <a:pt x="8765" y="6906"/>
                      <a:pt x="8793" y="6768"/>
                      <a:pt x="8793" y="6629"/>
                    </a:cubicBezTo>
                    <a:lnTo>
                      <a:pt x="8793" y="2053"/>
                    </a:lnTo>
                    <a:cubicBezTo>
                      <a:pt x="8793" y="1637"/>
                      <a:pt x="8460" y="1290"/>
                      <a:pt x="8044" y="1290"/>
                    </a:cubicBezTo>
                    <a:lnTo>
                      <a:pt x="6588" y="1290"/>
                    </a:lnTo>
                    <a:cubicBezTo>
                      <a:pt x="6367" y="915"/>
                      <a:pt x="5964" y="666"/>
                      <a:pt x="5520" y="666"/>
                    </a:cubicBezTo>
                    <a:cubicBezTo>
                      <a:pt x="5243" y="250"/>
                      <a:pt x="4771" y="0"/>
                      <a:pt x="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4"/>
              <p:cNvSpPr/>
              <p:nvPr/>
            </p:nvSpPr>
            <p:spPr>
              <a:xfrm>
                <a:off x="6400384" y="2359892"/>
                <a:ext cx="19216" cy="17499"/>
              </a:xfrm>
              <a:custGeom>
                <a:avLst/>
                <a:gdLst/>
                <a:ahLst/>
                <a:cxnLst/>
                <a:rect l="l" t="t" r="r" b="b"/>
                <a:pathLst>
                  <a:path w="403" h="367" extrusionOk="0">
                    <a:moveTo>
                      <a:pt x="192" y="0"/>
                    </a:moveTo>
                    <a:cubicBezTo>
                      <a:pt x="147" y="0"/>
                      <a:pt x="103" y="19"/>
                      <a:pt x="70" y="53"/>
                    </a:cubicBezTo>
                    <a:cubicBezTo>
                      <a:pt x="14" y="121"/>
                      <a:pt x="1" y="219"/>
                      <a:pt x="56" y="288"/>
                    </a:cubicBezTo>
                    <a:cubicBezTo>
                      <a:pt x="89" y="342"/>
                      <a:pt x="142" y="366"/>
                      <a:pt x="197" y="366"/>
                    </a:cubicBezTo>
                    <a:cubicBezTo>
                      <a:pt x="283" y="366"/>
                      <a:pt x="372" y="306"/>
                      <a:pt x="389" y="205"/>
                    </a:cubicBezTo>
                    <a:cubicBezTo>
                      <a:pt x="403" y="136"/>
                      <a:pt x="362" y="53"/>
                      <a:pt x="278" y="25"/>
                    </a:cubicBezTo>
                    <a:cubicBezTo>
                      <a:pt x="251" y="8"/>
                      <a:pt x="221"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4"/>
            <p:cNvGrpSpPr/>
            <p:nvPr/>
          </p:nvGrpSpPr>
          <p:grpSpPr>
            <a:xfrm>
              <a:off x="729630" y="975085"/>
              <a:ext cx="255615" cy="254967"/>
              <a:chOff x="6184139" y="1220827"/>
              <a:chExt cx="451696" cy="450552"/>
            </a:xfrm>
          </p:grpSpPr>
          <p:sp>
            <p:nvSpPr>
              <p:cNvPr id="513" name="Google Shape;513;p34"/>
              <p:cNvSpPr/>
              <p:nvPr/>
            </p:nvSpPr>
            <p:spPr>
              <a:xfrm>
                <a:off x="6353416" y="1390104"/>
                <a:ext cx="117776" cy="137087"/>
              </a:xfrm>
              <a:custGeom>
                <a:avLst/>
                <a:gdLst/>
                <a:ahLst/>
                <a:cxnLst/>
                <a:rect l="l" t="t" r="r" b="b"/>
                <a:pathLst>
                  <a:path w="2470" h="2875" extrusionOk="0">
                    <a:moveTo>
                      <a:pt x="916" y="1946"/>
                    </a:moveTo>
                    <a:cubicBezTo>
                      <a:pt x="1069" y="1946"/>
                      <a:pt x="1193" y="2070"/>
                      <a:pt x="1193" y="2224"/>
                    </a:cubicBezTo>
                    <a:cubicBezTo>
                      <a:pt x="1193" y="2376"/>
                      <a:pt x="1069" y="2501"/>
                      <a:pt x="916" y="2501"/>
                    </a:cubicBezTo>
                    <a:lnTo>
                      <a:pt x="666" y="2501"/>
                    </a:lnTo>
                    <a:cubicBezTo>
                      <a:pt x="500" y="2501"/>
                      <a:pt x="376" y="2376"/>
                      <a:pt x="376" y="2224"/>
                    </a:cubicBezTo>
                    <a:cubicBezTo>
                      <a:pt x="376" y="2070"/>
                      <a:pt x="500" y="1946"/>
                      <a:pt x="666" y="1946"/>
                    </a:cubicBezTo>
                    <a:close/>
                    <a:moveTo>
                      <a:pt x="1383" y="1"/>
                    </a:moveTo>
                    <a:cubicBezTo>
                      <a:pt x="1371" y="1"/>
                      <a:pt x="1358" y="2"/>
                      <a:pt x="1347" y="5"/>
                    </a:cubicBezTo>
                    <a:cubicBezTo>
                      <a:pt x="1263" y="18"/>
                      <a:pt x="1193" y="101"/>
                      <a:pt x="1193" y="184"/>
                    </a:cubicBezTo>
                    <a:lnTo>
                      <a:pt x="1193" y="1627"/>
                    </a:lnTo>
                    <a:cubicBezTo>
                      <a:pt x="1110" y="1599"/>
                      <a:pt x="1014" y="1571"/>
                      <a:pt x="916" y="1571"/>
                    </a:cubicBezTo>
                    <a:lnTo>
                      <a:pt x="666" y="1571"/>
                    </a:lnTo>
                    <a:cubicBezTo>
                      <a:pt x="320" y="1571"/>
                      <a:pt x="15" y="1849"/>
                      <a:pt x="15" y="2209"/>
                    </a:cubicBezTo>
                    <a:cubicBezTo>
                      <a:pt x="1" y="2570"/>
                      <a:pt x="293" y="2875"/>
                      <a:pt x="666" y="2875"/>
                    </a:cubicBezTo>
                    <a:lnTo>
                      <a:pt x="916" y="2875"/>
                    </a:lnTo>
                    <a:cubicBezTo>
                      <a:pt x="1277" y="2875"/>
                      <a:pt x="1568" y="2584"/>
                      <a:pt x="1568" y="2224"/>
                    </a:cubicBezTo>
                    <a:lnTo>
                      <a:pt x="1568" y="600"/>
                    </a:lnTo>
                    <a:cubicBezTo>
                      <a:pt x="1637" y="628"/>
                      <a:pt x="1707" y="670"/>
                      <a:pt x="1804" y="698"/>
                    </a:cubicBezTo>
                    <a:cubicBezTo>
                      <a:pt x="2026" y="767"/>
                      <a:pt x="2081" y="920"/>
                      <a:pt x="2081" y="933"/>
                    </a:cubicBezTo>
                    <a:lnTo>
                      <a:pt x="2095" y="948"/>
                    </a:lnTo>
                    <a:cubicBezTo>
                      <a:pt x="2118" y="1025"/>
                      <a:pt x="2183" y="1067"/>
                      <a:pt x="2259" y="1067"/>
                    </a:cubicBezTo>
                    <a:cubicBezTo>
                      <a:pt x="2278" y="1067"/>
                      <a:pt x="2297" y="1064"/>
                      <a:pt x="2317" y="1059"/>
                    </a:cubicBezTo>
                    <a:cubicBezTo>
                      <a:pt x="2414" y="1031"/>
                      <a:pt x="2469" y="933"/>
                      <a:pt x="2442" y="822"/>
                    </a:cubicBezTo>
                    <a:cubicBezTo>
                      <a:pt x="2401" y="698"/>
                      <a:pt x="2247" y="448"/>
                      <a:pt x="1915" y="337"/>
                    </a:cubicBezTo>
                    <a:cubicBezTo>
                      <a:pt x="1665" y="268"/>
                      <a:pt x="1554" y="101"/>
                      <a:pt x="1541" y="88"/>
                    </a:cubicBezTo>
                    <a:cubicBezTo>
                      <a:pt x="1506" y="30"/>
                      <a:pt x="1443"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4"/>
              <p:cNvSpPr/>
              <p:nvPr/>
            </p:nvSpPr>
            <p:spPr>
              <a:xfrm>
                <a:off x="6184139" y="1227598"/>
                <a:ext cx="451696" cy="443781"/>
              </a:xfrm>
              <a:custGeom>
                <a:avLst/>
                <a:gdLst/>
                <a:ahLst/>
                <a:cxnLst/>
                <a:rect l="l" t="t" r="r" b="b"/>
                <a:pathLst>
                  <a:path w="9473" h="9307" extrusionOk="0">
                    <a:moveTo>
                      <a:pt x="4672" y="2941"/>
                    </a:moveTo>
                    <a:cubicBezTo>
                      <a:pt x="5194" y="2941"/>
                      <a:pt x="5714" y="3135"/>
                      <a:pt x="6103" y="3524"/>
                    </a:cubicBezTo>
                    <a:cubicBezTo>
                      <a:pt x="6894" y="4313"/>
                      <a:pt x="6894" y="5604"/>
                      <a:pt x="6103" y="6394"/>
                    </a:cubicBezTo>
                    <a:cubicBezTo>
                      <a:pt x="5708" y="6789"/>
                      <a:pt x="5188" y="6987"/>
                      <a:pt x="4667" y="6987"/>
                    </a:cubicBezTo>
                    <a:cubicBezTo>
                      <a:pt x="4147" y="6987"/>
                      <a:pt x="3627" y="6789"/>
                      <a:pt x="3232" y="6394"/>
                    </a:cubicBezTo>
                    <a:cubicBezTo>
                      <a:pt x="2441" y="5604"/>
                      <a:pt x="2441" y="4313"/>
                      <a:pt x="3232" y="3524"/>
                    </a:cubicBezTo>
                    <a:cubicBezTo>
                      <a:pt x="3627" y="3135"/>
                      <a:pt x="4151" y="2941"/>
                      <a:pt x="4672" y="2941"/>
                    </a:cubicBezTo>
                    <a:close/>
                    <a:moveTo>
                      <a:pt x="2726" y="6554"/>
                    </a:moveTo>
                    <a:cubicBezTo>
                      <a:pt x="2820" y="6554"/>
                      <a:pt x="2913" y="6588"/>
                      <a:pt x="2983" y="6658"/>
                    </a:cubicBezTo>
                    <a:cubicBezTo>
                      <a:pt x="3121" y="6796"/>
                      <a:pt x="3121" y="7018"/>
                      <a:pt x="2983" y="7157"/>
                    </a:cubicBezTo>
                    <a:lnTo>
                      <a:pt x="1720" y="8418"/>
                    </a:lnTo>
                    <a:lnTo>
                      <a:pt x="1208" y="7919"/>
                    </a:lnTo>
                    <a:lnTo>
                      <a:pt x="2469" y="6658"/>
                    </a:lnTo>
                    <a:cubicBezTo>
                      <a:pt x="2538" y="6588"/>
                      <a:pt x="2632" y="6554"/>
                      <a:pt x="2726" y="6554"/>
                    </a:cubicBezTo>
                    <a:close/>
                    <a:moveTo>
                      <a:pt x="944" y="8183"/>
                    </a:moveTo>
                    <a:lnTo>
                      <a:pt x="1457" y="8682"/>
                    </a:lnTo>
                    <a:lnTo>
                      <a:pt x="1304" y="8834"/>
                    </a:lnTo>
                    <a:cubicBezTo>
                      <a:pt x="1235" y="8904"/>
                      <a:pt x="1145" y="8938"/>
                      <a:pt x="1055" y="8938"/>
                    </a:cubicBezTo>
                    <a:cubicBezTo>
                      <a:pt x="964" y="8938"/>
                      <a:pt x="874" y="8904"/>
                      <a:pt x="805" y="8834"/>
                    </a:cubicBezTo>
                    <a:cubicBezTo>
                      <a:pt x="666" y="8696"/>
                      <a:pt x="666" y="8474"/>
                      <a:pt x="805" y="8335"/>
                    </a:cubicBezTo>
                    <a:lnTo>
                      <a:pt x="944" y="8183"/>
                    </a:lnTo>
                    <a:close/>
                    <a:moveTo>
                      <a:pt x="4718" y="1"/>
                    </a:moveTo>
                    <a:cubicBezTo>
                      <a:pt x="4642" y="1"/>
                      <a:pt x="4571" y="51"/>
                      <a:pt x="4549" y="125"/>
                    </a:cubicBezTo>
                    <a:cubicBezTo>
                      <a:pt x="4508" y="223"/>
                      <a:pt x="4564" y="320"/>
                      <a:pt x="4660" y="362"/>
                    </a:cubicBezTo>
                    <a:cubicBezTo>
                      <a:pt x="5146" y="541"/>
                      <a:pt x="5548" y="889"/>
                      <a:pt x="5797" y="1346"/>
                    </a:cubicBezTo>
                    <a:cubicBezTo>
                      <a:pt x="5834" y="1394"/>
                      <a:pt x="5890" y="1432"/>
                      <a:pt x="5950" y="1432"/>
                    </a:cubicBezTo>
                    <a:cubicBezTo>
                      <a:pt x="5959" y="1432"/>
                      <a:pt x="5969" y="1431"/>
                      <a:pt x="5978" y="1429"/>
                    </a:cubicBezTo>
                    <a:lnTo>
                      <a:pt x="6130" y="1429"/>
                    </a:lnTo>
                    <a:cubicBezTo>
                      <a:pt x="6824" y="1429"/>
                      <a:pt x="7462" y="1873"/>
                      <a:pt x="7711" y="2511"/>
                    </a:cubicBezTo>
                    <a:cubicBezTo>
                      <a:pt x="7739" y="2594"/>
                      <a:pt x="7822" y="2636"/>
                      <a:pt x="7905" y="2636"/>
                    </a:cubicBezTo>
                    <a:cubicBezTo>
                      <a:pt x="7947" y="2636"/>
                      <a:pt x="7975" y="2622"/>
                      <a:pt x="8016" y="2622"/>
                    </a:cubicBezTo>
                    <a:cubicBezTo>
                      <a:pt x="8613" y="2622"/>
                      <a:pt x="9098" y="3121"/>
                      <a:pt x="9098" y="3718"/>
                    </a:cubicBezTo>
                    <a:cubicBezTo>
                      <a:pt x="9098" y="4328"/>
                      <a:pt x="8613" y="4813"/>
                      <a:pt x="8016" y="4813"/>
                    </a:cubicBezTo>
                    <a:lnTo>
                      <a:pt x="7073" y="4813"/>
                    </a:lnTo>
                    <a:cubicBezTo>
                      <a:pt x="7004" y="3870"/>
                      <a:pt x="6380" y="3024"/>
                      <a:pt x="5492" y="2705"/>
                    </a:cubicBezTo>
                    <a:cubicBezTo>
                      <a:pt x="5230" y="2611"/>
                      <a:pt x="4957" y="2565"/>
                      <a:pt x="4687" y="2565"/>
                    </a:cubicBezTo>
                    <a:cubicBezTo>
                      <a:pt x="4001" y="2565"/>
                      <a:pt x="3329" y="2857"/>
                      <a:pt x="2872" y="3385"/>
                    </a:cubicBezTo>
                    <a:cubicBezTo>
                      <a:pt x="2705" y="3579"/>
                      <a:pt x="2567" y="3787"/>
                      <a:pt x="2456" y="4023"/>
                    </a:cubicBezTo>
                    <a:cubicBezTo>
                      <a:pt x="2358" y="4272"/>
                      <a:pt x="2289" y="4550"/>
                      <a:pt x="2275" y="4813"/>
                    </a:cubicBezTo>
                    <a:lnTo>
                      <a:pt x="1762" y="4813"/>
                    </a:lnTo>
                    <a:cubicBezTo>
                      <a:pt x="999" y="4813"/>
                      <a:pt x="376" y="4189"/>
                      <a:pt x="376" y="3426"/>
                    </a:cubicBezTo>
                    <a:cubicBezTo>
                      <a:pt x="376" y="2719"/>
                      <a:pt x="944" y="2109"/>
                      <a:pt x="1651" y="2054"/>
                    </a:cubicBezTo>
                    <a:cubicBezTo>
                      <a:pt x="1735" y="2039"/>
                      <a:pt x="1803" y="1984"/>
                      <a:pt x="1818" y="1900"/>
                    </a:cubicBezTo>
                    <a:cubicBezTo>
                      <a:pt x="1984" y="1194"/>
                      <a:pt x="2484" y="611"/>
                      <a:pt x="3177" y="362"/>
                    </a:cubicBezTo>
                    <a:cubicBezTo>
                      <a:pt x="3273" y="334"/>
                      <a:pt x="3316" y="223"/>
                      <a:pt x="3273" y="125"/>
                    </a:cubicBezTo>
                    <a:cubicBezTo>
                      <a:pt x="3251" y="48"/>
                      <a:pt x="3176" y="6"/>
                      <a:pt x="3098" y="6"/>
                    </a:cubicBezTo>
                    <a:cubicBezTo>
                      <a:pt x="3078" y="6"/>
                      <a:pt x="3058" y="9"/>
                      <a:pt x="3038" y="14"/>
                    </a:cubicBezTo>
                    <a:cubicBezTo>
                      <a:pt x="2650" y="153"/>
                      <a:pt x="2303" y="403"/>
                      <a:pt x="2025" y="722"/>
                    </a:cubicBezTo>
                    <a:cubicBezTo>
                      <a:pt x="1776" y="1000"/>
                      <a:pt x="1596" y="1332"/>
                      <a:pt x="1498" y="1693"/>
                    </a:cubicBezTo>
                    <a:cubicBezTo>
                      <a:pt x="653" y="1832"/>
                      <a:pt x="1" y="2581"/>
                      <a:pt x="1" y="3426"/>
                    </a:cubicBezTo>
                    <a:cubicBezTo>
                      <a:pt x="1" y="4397"/>
                      <a:pt x="792" y="5188"/>
                      <a:pt x="1762" y="5188"/>
                    </a:cubicBezTo>
                    <a:lnTo>
                      <a:pt x="2289" y="5188"/>
                    </a:lnTo>
                    <a:cubicBezTo>
                      <a:pt x="2317" y="5534"/>
                      <a:pt x="2428" y="5881"/>
                      <a:pt x="2608" y="6186"/>
                    </a:cubicBezTo>
                    <a:cubicBezTo>
                      <a:pt x="2469" y="6214"/>
                      <a:pt x="2330" y="6283"/>
                      <a:pt x="2206" y="6394"/>
                    </a:cubicBezTo>
                    <a:lnTo>
                      <a:pt x="542" y="8072"/>
                    </a:lnTo>
                    <a:cubicBezTo>
                      <a:pt x="250" y="8350"/>
                      <a:pt x="250" y="8807"/>
                      <a:pt x="542" y="9099"/>
                    </a:cubicBezTo>
                    <a:cubicBezTo>
                      <a:pt x="681" y="9237"/>
                      <a:pt x="868" y="9307"/>
                      <a:pt x="1055" y="9307"/>
                    </a:cubicBezTo>
                    <a:cubicBezTo>
                      <a:pt x="1242" y="9307"/>
                      <a:pt x="1430" y="9237"/>
                      <a:pt x="1568" y="9099"/>
                    </a:cubicBezTo>
                    <a:lnTo>
                      <a:pt x="3232" y="7420"/>
                    </a:lnTo>
                    <a:cubicBezTo>
                      <a:pt x="3343" y="7309"/>
                      <a:pt x="3412" y="7170"/>
                      <a:pt x="3440" y="7018"/>
                    </a:cubicBezTo>
                    <a:cubicBezTo>
                      <a:pt x="3815" y="7240"/>
                      <a:pt x="4244" y="7364"/>
                      <a:pt x="4675" y="7364"/>
                    </a:cubicBezTo>
                    <a:cubicBezTo>
                      <a:pt x="5285" y="7364"/>
                      <a:pt x="5895" y="7129"/>
                      <a:pt x="6367" y="6658"/>
                    </a:cubicBezTo>
                    <a:cubicBezTo>
                      <a:pt x="6783" y="6242"/>
                      <a:pt x="7004" y="5728"/>
                      <a:pt x="7060" y="5188"/>
                    </a:cubicBezTo>
                    <a:lnTo>
                      <a:pt x="8016" y="5188"/>
                    </a:lnTo>
                    <a:cubicBezTo>
                      <a:pt x="8821" y="5188"/>
                      <a:pt x="9473" y="4522"/>
                      <a:pt x="9473" y="3718"/>
                    </a:cubicBezTo>
                    <a:cubicBezTo>
                      <a:pt x="9473" y="2913"/>
                      <a:pt x="8821" y="2261"/>
                      <a:pt x="8016" y="2261"/>
                    </a:cubicBezTo>
                    <a:lnTo>
                      <a:pt x="8003" y="2261"/>
                    </a:lnTo>
                    <a:cubicBezTo>
                      <a:pt x="7670" y="1540"/>
                      <a:pt x="6935" y="1055"/>
                      <a:pt x="6130" y="1055"/>
                    </a:cubicBezTo>
                    <a:lnTo>
                      <a:pt x="6061" y="1055"/>
                    </a:lnTo>
                    <a:cubicBezTo>
                      <a:pt x="5770" y="569"/>
                      <a:pt x="5313" y="209"/>
                      <a:pt x="4786" y="14"/>
                    </a:cubicBezTo>
                    <a:cubicBezTo>
                      <a:pt x="4763" y="5"/>
                      <a:pt x="4740" y="1"/>
                      <a:pt x="4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4"/>
              <p:cNvSpPr/>
              <p:nvPr/>
            </p:nvSpPr>
            <p:spPr>
              <a:xfrm>
                <a:off x="6361570" y="1220827"/>
                <a:ext cx="19025" cy="17690"/>
              </a:xfrm>
              <a:custGeom>
                <a:avLst/>
                <a:gdLst/>
                <a:ahLst/>
                <a:cxnLst/>
                <a:rect l="l" t="t" r="r" b="b"/>
                <a:pathLst>
                  <a:path w="399" h="371" extrusionOk="0">
                    <a:moveTo>
                      <a:pt x="187" y="1"/>
                    </a:moveTo>
                    <a:cubicBezTo>
                      <a:pt x="174" y="1"/>
                      <a:pt x="161" y="2"/>
                      <a:pt x="149" y="4"/>
                    </a:cubicBezTo>
                    <a:cubicBezTo>
                      <a:pt x="79" y="32"/>
                      <a:pt x="24" y="101"/>
                      <a:pt x="11" y="171"/>
                    </a:cubicBezTo>
                    <a:cubicBezTo>
                      <a:pt x="1" y="288"/>
                      <a:pt x="101" y="370"/>
                      <a:pt x="200" y="370"/>
                    </a:cubicBezTo>
                    <a:cubicBezTo>
                      <a:pt x="241" y="370"/>
                      <a:pt x="283" y="356"/>
                      <a:pt x="316" y="323"/>
                    </a:cubicBezTo>
                    <a:cubicBezTo>
                      <a:pt x="385" y="267"/>
                      <a:pt x="399" y="156"/>
                      <a:pt x="357" y="88"/>
                    </a:cubicBezTo>
                    <a:cubicBezTo>
                      <a:pt x="323" y="3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34"/>
            <p:cNvGrpSpPr/>
            <p:nvPr/>
          </p:nvGrpSpPr>
          <p:grpSpPr>
            <a:xfrm>
              <a:off x="723837" y="1482615"/>
              <a:ext cx="267223" cy="233165"/>
              <a:chOff x="6908262" y="1240186"/>
              <a:chExt cx="472209" cy="412024"/>
            </a:xfrm>
          </p:grpSpPr>
          <p:sp>
            <p:nvSpPr>
              <p:cNvPr id="517" name="Google Shape;517;p34"/>
              <p:cNvSpPr/>
              <p:nvPr/>
            </p:nvSpPr>
            <p:spPr>
              <a:xfrm>
                <a:off x="7105958" y="1594618"/>
                <a:ext cx="76769" cy="17929"/>
              </a:xfrm>
              <a:custGeom>
                <a:avLst/>
                <a:gdLst/>
                <a:ahLst/>
                <a:cxnLst/>
                <a:rect l="l" t="t" r="r" b="b"/>
                <a:pathLst>
                  <a:path w="1610" h="376" extrusionOk="0">
                    <a:moveTo>
                      <a:pt x="181" y="0"/>
                    </a:moveTo>
                    <a:cubicBezTo>
                      <a:pt x="84" y="0"/>
                      <a:pt x="1" y="84"/>
                      <a:pt x="1" y="181"/>
                    </a:cubicBezTo>
                    <a:cubicBezTo>
                      <a:pt x="1" y="292"/>
                      <a:pt x="84" y="375"/>
                      <a:pt x="181" y="375"/>
                    </a:cubicBezTo>
                    <a:lnTo>
                      <a:pt x="1429" y="375"/>
                    </a:lnTo>
                    <a:cubicBezTo>
                      <a:pt x="1540" y="375"/>
                      <a:pt x="1609" y="292"/>
                      <a:pt x="1609" y="181"/>
                    </a:cubicBezTo>
                    <a:cubicBezTo>
                      <a:pt x="1609" y="84"/>
                      <a:pt x="1540"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4"/>
              <p:cNvSpPr/>
              <p:nvPr/>
            </p:nvSpPr>
            <p:spPr>
              <a:xfrm>
                <a:off x="7080209" y="1365642"/>
                <a:ext cx="136229" cy="159593"/>
              </a:xfrm>
              <a:custGeom>
                <a:avLst/>
                <a:gdLst/>
                <a:ahLst/>
                <a:cxnLst/>
                <a:rect l="l" t="t" r="r" b="b"/>
                <a:pathLst>
                  <a:path w="2857" h="3347" extrusionOk="0">
                    <a:moveTo>
                      <a:pt x="1054" y="2237"/>
                    </a:moveTo>
                    <a:cubicBezTo>
                      <a:pt x="1262" y="2237"/>
                      <a:pt x="1415" y="2404"/>
                      <a:pt x="1415" y="2598"/>
                    </a:cubicBezTo>
                    <a:lnTo>
                      <a:pt x="1415" y="2611"/>
                    </a:lnTo>
                    <a:cubicBezTo>
                      <a:pt x="1415" y="2820"/>
                      <a:pt x="1262" y="2972"/>
                      <a:pt x="1054" y="2972"/>
                    </a:cubicBezTo>
                    <a:lnTo>
                      <a:pt x="735" y="2972"/>
                    </a:lnTo>
                    <a:cubicBezTo>
                      <a:pt x="541" y="2972"/>
                      <a:pt x="374" y="2820"/>
                      <a:pt x="374" y="2611"/>
                    </a:cubicBezTo>
                    <a:lnTo>
                      <a:pt x="374" y="2598"/>
                    </a:lnTo>
                    <a:cubicBezTo>
                      <a:pt x="374" y="2404"/>
                      <a:pt x="541" y="2237"/>
                      <a:pt x="735" y="2237"/>
                    </a:cubicBezTo>
                    <a:close/>
                    <a:moveTo>
                      <a:pt x="1594" y="1"/>
                    </a:moveTo>
                    <a:cubicBezTo>
                      <a:pt x="1580" y="1"/>
                      <a:pt x="1567" y="2"/>
                      <a:pt x="1553" y="4"/>
                    </a:cubicBezTo>
                    <a:cubicBezTo>
                      <a:pt x="1470" y="32"/>
                      <a:pt x="1415" y="102"/>
                      <a:pt x="1415" y="185"/>
                    </a:cubicBezTo>
                    <a:lnTo>
                      <a:pt x="1415" y="1960"/>
                    </a:lnTo>
                    <a:cubicBezTo>
                      <a:pt x="1317" y="1904"/>
                      <a:pt x="1193" y="1862"/>
                      <a:pt x="1054" y="1862"/>
                    </a:cubicBezTo>
                    <a:lnTo>
                      <a:pt x="735" y="1862"/>
                    </a:lnTo>
                    <a:cubicBezTo>
                      <a:pt x="333" y="1862"/>
                      <a:pt x="0" y="2195"/>
                      <a:pt x="0" y="2598"/>
                    </a:cubicBezTo>
                    <a:lnTo>
                      <a:pt x="0" y="2611"/>
                    </a:lnTo>
                    <a:cubicBezTo>
                      <a:pt x="0" y="3014"/>
                      <a:pt x="333" y="3347"/>
                      <a:pt x="735" y="3347"/>
                    </a:cubicBezTo>
                    <a:lnTo>
                      <a:pt x="1054" y="3347"/>
                    </a:lnTo>
                    <a:cubicBezTo>
                      <a:pt x="1456" y="3347"/>
                      <a:pt x="1789" y="3014"/>
                      <a:pt x="1789" y="2611"/>
                    </a:cubicBezTo>
                    <a:lnTo>
                      <a:pt x="1789" y="2598"/>
                    </a:lnTo>
                    <a:lnTo>
                      <a:pt x="1789" y="614"/>
                    </a:lnTo>
                    <a:cubicBezTo>
                      <a:pt x="1872" y="670"/>
                      <a:pt x="1983" y="725"/>
                      <a:pt x="2108" y="767"/>
                    </a:cubicBezTo>
                    <a:cubicBezTo>
                      <a:pt x="2399" y="850"/>
                      <a:pt x="2469" y="1058"/>
                      <a:pt x="2469" y="1058"/>
                    </a:cubicBezTo>
                    <a:lnTo>
                      <a:pt x="2482" y="1086"/>
                    </a:lnTo>
                    <a:cubicBezTo>
                      <a:pt x="2505" y="1154"/>
                      <a:pt x="2575" y="1204"/>
                      <a:pt x="2645" y="1204"/>
                    </a:cubicBezTo>
                    <a:cubicBezTo>
                      <a:pt x="2661" y="1204"/>
                      <a:pt x="2676" y="1202"/>
                      <a:pt x="2691" y="1197"/>
                    </a:cubicBezTo>
                    <a:cubicBezTo>
                      <a:pt x="2802" y="1183"/>
                      <a:pt x="2857" y="1072"/>
                      <a:pt x="2829" y="975"/>
                    </a:cubicBezTo>
                    <a:lnTo>
                      <a:pt x="2829" y="961"/>
                    </a:lnTo>
                    <a:cubicBezTo>
                      <a:pt x="2787" y="808"/>
                      <a:pt x="2607" y="531"/>
                      <a:pt x="2219" y="407"/>
                    </a:cubicBezTo>
                    <a:cubicBezTo>
                      <a:pt x="1914" y="309"/>
                      <a:pt x="1775" y="115"/>
                      <a:pt x="1761" y="87"/>
                    </a:cubicBezTo>
                    <a:cubicBezTo>
                      <a:pt x="1726" y="30"/>
                      <a:pt x="1663"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4"/>
              <p:cNvSpPr/>
              <p:nvPr/>
            </p:nvSpPr>
            <p:spPr>
              <a:xfrm>
                <a:off x="7019365" y="1240186"/>
                <a:ext cx="249999" cy="412024"/>
              </a:xfrm>
              <a:custGeom>
                <a:avLst/>
                <a:gdLst/>
                <a:ahLst/>
                <a:cxnLst/>
                <a:rect l="l" t="t" r="r" b="b"/>
                <a:pathLst>
                  <a:path w="5243" h="8641" extrusionOk="0">
                    <a:moveTo>
                      <a:pt x="3578" y="361"/>
                    </a:moveTo>
                    <a:lnTo>
                      <a:pt x="3578" y="403"/>
                    </a:lnTo>
                    <a:lnTo>
                      <a:pt x="3578" y="666"/>
                    </a:lnTo>
                    <a:cubicBezTo>
                      <a:pt x="3578" y="736"/>
                      <a:pt x="3523" y="791"/>
                      <a:pt x="3453" y="791"/>
                    </a:cubicBezTo>
                    <a:lnTo>
                      <a:pt x="1803" y="791"/>
                    </a:lnTo>
                    <a:cubicBezTo>
                      <a:pt x="1720" y="791"/>
                      <a:pt x="1665" y="736"/>
                      <a:pt x="1665" y="666"/>
                    </a:cubicBezTo>
                    <a:lnTo>
                      <a:pt x="1665" y="403"/>
                    </a:lnTo>
                    <a:lnTo>
                      <a:pt x="1665" y="361"/>
                    </a:lnTo>
                    <a:close/>
                    <a:moveTo>
                      <a:pt x="832" y="0"/>
                    </a:moveTo>
                    <a:cubicBezTo>
                      <a:pt x="374" y="0"/>
                      <a:pt x="0" y="375"/>
                      <a:pt x="0" y="832"/>
                    </a:cubicBezTo>
                    <a:lnTo>
                      <a:pt x="0" y="1636"/>
                    </a:lnTo>
                    <a:cubicBezTo>
                      <a:pt x="0" y="1747"/>
                      <a:pt x="84" y="1831"/>
                      <a:pt x="180" y="1831"/>
                    </a:cubicBezTo>
                    <a:cubicBezTo>
                      <a:pt x="291" y="1831"/>
                      <a:pt x="374" y="1747"/>
                      <a:pt x="374" y="1636"/>
                    </a:cubicBezTo>
                    <a:lnTo>
                      <a:pt x="374" y="832"/>
                    </a:lnTo>
                    <a:cubicBezTo>
                      <a:pt x="374" y="569"/>
                      <a:pt x="568" y="361"/>
                      <a:pt x="832" y="361"/>
                    </a:cubicBezTo>
                    <a:lnTo>
                      <a:pt x="1262" y="361"/>
                    </a:lnTo>
                    <a:cubicBezTo>
                      <a:pt x="1276" y="361"/>
                      <a:pt x="1290" y="388"/>
                      <a:pt x="1290" y="403"/>
                    </a:cubicBezTo>
                    <a:lnTo>
                      <a:pt x="1290" y="666"/>
                    </a:lnTo>
                    <a:cubicBezTo>
                      <a:pt x="1290" y="943"/>
                      <a:pt x="1526" y="1165"/>
                      <a:pt x="1803" y="1165"/>
                    </a:cubicBezTo>
                    <a:lnTo>
                      <a:pt x="3453" y="1165"/>
                    </a:lnTo>
                    <a:cubicBezTo>
                      <a:pt x="3730" y="1165"/>
                      <a:pt x="3952" y="943"/>
                      <a:pt x="3952" y="666"/>
                    </a:cubicBezTo>
                    <a:lnTo>
                      <a:pt x="3952" y="403"/>
                    </a:lnTo>
                    <a:cubicBezTo>
                      <a:pt x="3952" y="388"/>
                      <a:pt x="3967" y="361"/>
                      <a:pt x="3994" y="361"/>
                    </a:cubicBezTo>
                    <a:lnTo>
                      <a:pt x="4410" y="361"/>
                    </a:lnTo>
                    <a:cubicBezTo>
                      <a:pt x="4673" y="361"/>
                      <a:pt x="4882" y="569"/>
                      <a:pt x="4882" y="832"/>
                    </a:cubicBezTo>
                    <a:lnTo>
                      <a:pt x="4882" y="7808"/>
                    </a:lnTo>
                    <a:cubicBezTo>
                      <a:pt x="4882" y="8058"/>
                      <a:pt x="4673" y="8265"/>
                      <a:pt x="4410" y="8265"/>
                    </a:cubicBezTo>
                    <a:lnTo>
                      <a:pt x="832" y="8265"/>
                    </a:lnTo>
                    <a:cubicBezTo>
                      <a:pt x="583" y="8265"/>
                      <a:pt x="374" y="8058"/>
                      <a:pt x="374" y="7808"/>
                    </a:cubicBezTo>
                    <a:lnTo>
                      <a:pt x="374" y="3273"/>
                    </a:lnTo>
                    <a:cubicBezTo>
                      <a:pt x="374" y="3162"/>
                      <a:pt x="291" y="3079"/>
                      <a:pt x="180" y="3079"/>
                    </a:cubicBezTo>
                    <a:cubicBezTo>
                      <a:pt x="84" y="3079"/>
                      <a:pt x="0" y="3162"/>
                      <a:pt x="0" y="3273"/>
                    </a:cubicBezTo>
                    <a:lnTo>
                      <a:pt x="0" y="7808"/>
                    </a:lnTo>
                    <a:cubicBezTo>
                      <a:pt x="0" y="8265"/>
                      <a:pt x="374" y="8640"/>
                      <a:pt x="832" y="8640"/>
                    </a:cubicBezTo>
                    <a:lnTo>
                      <a:pt x="4410" y="8640"/>
                    </a:lnTo>
                    <a:cubicBezTo>
                      <a:pt x="4882" y="8640"/>
                      <a:pt x="5242" y="8265"/>
                      <a:pt x="5242" y="7808"/>
                    </a:cubicBezTo>
                    <a:lnTo>
                      <a:pt x="5242" y="832"/>
                    </a:lnTo>
                    <a:cubicBezTo>
                      <a:pt x="5242" y="375"/>
                      <a:pt x="4882" y="0"/>
                      <a:pt x="4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4"/>
              <p:cNvSpPr/>
              <p:nvPr/>
            </p:nvSpPr>
            <p:spPr>
              <a:xfrm>
                <a:off x="6955183" y="1401691"/>
                <a:ext cx="41722" cy="97606"/>
              </a:xfrm>
              <a:custGeom>
                <a:avLst/>
                <a:gdLst/>
                <a:ahLst/>
                <a:cxnLst/>
                <a:rect l="l" t="t" r="r" b="b"/>
                <a:pathLst>
                  <a:path w="875" h="2047" extrusionOk="0">
                    <a:moveTo>
                      <a:pt x="668" y="1"/>
                    </a:moveTo>
                    <a:cubicBezTo>
                      <a:pt x="621" y="1"/>
                      <a:pt x="576" y="18"/>
                      <a:pt x="542" y="52"/>
                    </a:cubicBezTo>
                    <a:cubicBezTo>
                      <a:pt x="1" y="594"/>
                      <a:pt x="1" y="1454"/>
                      <a:pt x="542" y="1994"/>
                    </a:cubicBezTo>
                    <a:cubicBezTo>
                      <a:pt x="576" y="2029"/>
                      <a:pt x="625" y="2046"/>
                      <a:pt x="673" y="2046"/>
                    </a:cubicBezTo>
                    <a:cubicBezTo>
                      <a:pt x="722" y="2046"/>
                      <a:pt x="771" y="2029"/>
                      <a:pt x="805" y="1994"/>
                    </a:cubicBezTo>
                    <a:cubicBezTo>
                      <a:pt x="875" y="1911"/>
                      <a:pt x="875" y="1800"/>
                      <a:pt x="805" y="1731"/>
                    </a:cubicBezTo>
                    <a:cubicBezTo>
                      <a:pt x="417" y="1343"/>
                      <a:pt x="417" y="705"/>
                      <a:pt x="805" y="316"/>
                    </a:cubicBezTo>
                    <a:cubicBezTo>
                      <a:pt x="875" y="246"/>
                      <a:pt x="875" y="122"/>
                      <a:pt x="805" y="52"/>
                    </a:cubicBezTo>
                    <a:cubicBezTo>
                      <a:pt x="763" y="18"/>
                      <a:pt x="715"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4"/>
              <p:cNvSpPr/>
              <p:nvPr/>
            </p:nvSpPr>
            <p:spPr>
              <a:xfrm>
                <a:off x="6908262" y="1371269"/>
                <a:ext cx="58220" cy="158592"/>
              </a:xfrm>
              <a:custGeom>
                <a:avLst/>
                <a:gdLst/>
                <a:ahLst/>
                <a:cxnLst/>
                <a:rect l="l" t="t" r="r" b="b"/>
                <a:pathLst>
                  <a:path w="1221" h="3326" extrusionOk="0">
                    <a:moveTo>
                      <a:pt x="1014" y="1"/>
                    </a:moveTo>
                    <a:cubicBezTo>
                      <a:pt x="967" y="1"/>
                      <a:pt x="922" y="18"/>
                      <a:pt x="888" y="52"/>
                    </a:cubicBezTo>
                    <a:cubicBezTo>
                      <a:pt x="1" y="940"/>
                      <a:pt x="1" y="2382"/>
                      <a:pt x="888" y="3270"/>
                    </a:cubicBezTo>
                    <a:cubicBezTo>
                      <a:pt x="916" y="3297"/>
                      <a:pt x="971" y="3325"/>
                      <a:pt x="1012" y="3325"/>
                    </a:cubicBezTo>
                    <a:cubicBezTo>
                      <a:pt x="1068" y="3325"/>
                      <a:pt x="1110" y="3297"/>
                      <a:pt x="1151" y="3270"/>
                    </a:cubicBezTo>
                    <a:cubicBezTo>
                      <a:pt x="1221" y="3201"/>
                      <a:pt x="1221" y="3076"/>
                      <a:pt x="1151" y="3007"/>
                    </a:cubicBezTo>
                    <a:cubicBezTo>
                      <a:pt x="402" y="2258"/>
                      <a:pt x="402" y="1051"/>
                      <a:pt x="1151" y="316"/>
                    </a:cubicBezTo>
                    <a:cubicBezTo>
                      <a:pt x="1221" y="247"/>
                      <a:pt x="1221" y="122"/>
                      <a:pt x="1151" y="52"/>
                    </a:cubicBezTo>
                    <a:cubicBezTo>
                      <a:pt x="1109" y="18"/>
                      <a:pt x="1061"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4"/>
              <p:cNvSpPr/>
              <p:nvPr/>
            </p:nvSpPr>
            <p:spPr>
              <a:xfrm>
                <a:off x="7291781" y="1401691"/>
                <a:ext cx="41722" cy="97606"/>
              </a:xfrm>
              <a:custGeom>
                <a:avLst/>
                <a:gdLst/>
                <a:ahLst/>
                <a:cxnLst/>
                <a:rect l="l" t="t" r="r" b="b"/>
                <a:pathLst>
                  <a:path w="875" h="2047" extrusionOk="0">
                    <a:moveTo>
                      <a:pt x="210" y="1"/>
                    </a:moveTo>
                    <a:cubicBezTo>
                      <a:pt x="163" y="1"/>
                      <a:pt x="119" y="18"/>
                      <a:pt x="84" y="52"/>
                    </a:cubicBezTo>
                    <a:cubicBezTo>
                      <a:pt x="1" y="122"/>
                      <a:pt x="1" y="246"/>
                      <a:pt x="84" y="316"/>
                    </a:cubicBezTo>
                    <a:cubicBezTo>
                      <a:pt x="472" y="705"/>
                      <a:pt x="472" y="1343"/>
                      <a:pt x="84" y="1731"/>
                    </a:cubicBezTo>
                    <a:cubicBezTo>
                      <a:pt x="1" y="1800"/>
                      <a:pt x="1" y="1911"/>
                      <a:pt x="84" y="1994"/>
                    </a:cubicBezTo>
                    <a:cubicBezTo>
                      <a:pt x="119" y="2029"/>
                      <a:pt x="163" y="2046"/>
                      <a:pt x="210" y="2046"/>
                    </a:cubicBezTo>
                    <a:cubicBezTo>
                      <a:pt x="257" y="2046"/>
                      <a:pt x="305" y="2029"/>
                      <a:pt x="347" y="1994"/>
                    </a:cubicBezTo>
                    <a:cubicBezTo>
                      <a:pt x="874" y="1454"/>
                      <a:pt x="874" y="594"/>
                      <a:pt x="347" y="52"/>
                    </a:cubicBezTo>
                    <a:cubicBezTo>
                      <a:pt x="305" y="18"/>
                      <a:pt x="257"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4"/>
              <p:cNvSpPr/>
              <p:nvPr/>
            </p:nvSpPr>
            <p:spPr>
              <a:xfrm>
                <a:off x="7322871" y="1371269"/>
                <a:ext cx="57600" cy="158449"/>
              </a:xfrm>
              <a:custGeom>
                <a:avLst/>
                <a:gdLst/>
                <a:ahLst/>
                <a:cxnLst/>
                <a:rect l="l" t="t" r="r" b="b"/>
                <a:pathLst>
                  <a:path w="1208" h="3323" extrusionOk="0">
                    <a:moveTo>
                      <a:pt x="196" y="1"/>
                    </a:moveTo>
                    <a:cubicBezTo>
                      <a:pt x="149" y="1"/>
                      <a:pt x="104" y="18"/>
                      <a:pt x="70" y="52"/>
                    </a:cubicBezTo>
                    <a:cubicBezTo>
                      <a:pt x="0" y="122"/>
                      <a:pt x="0" y="247"/>
                      <a:pt x="70" y="316"/>
                    </a:cubicBezTo>
                    <a:cubicBezTo>
                      <a:pt x="805" y="1051"/>
                      <a:pt x="805" y="2258"/>
                      <a:pt x="70" y="3007"/>
                    </a:cubicBezTo>
                    <a:cubicBezTo>
                      <a:pt x="0" y="3076"/>
                      <a:pt x="0" y="3201"/>
                      <a:pt x="70" y="3270"/>
                    </a:cubicBezTo>
                    <a:cubicBezTo>
                      <a:pt x="104" y="3305"/>
                      <a:pt x="149" y="3322"/>
                      <a:pt x="196" y="3322"/>
                    </a:cubicBezTo>
                    <a:cubicBezTo>
                      <a:pt x="243" y="3322"/>
                      <a:pt x="291" y="3305"/>
                      <a:pt x="333" y="3270"/>
                    </a:cubicBezTo>
                    <a:cubicBezTo>
                      <a:pt x="1207" y="2382"/>
                      <a:pt x="1207" y="940"/>
                      <a:pt x="333" y="52"/>
                    </a:cubicBezTo>
                    <a:cubicBezTo>
                      <a:pt x="291" y="18"/>
                      <a:pt x="243"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4"/>
              <p:cNvSpPr/>
              <p:nvPr/>
            </p:nvSpPr>
            <p:spPr>
              <a:xfrm>
                <a:off x="7018030" y="1348476"/>
                <a:ext cx="19502" cy="17786"/>
              </a:xfrm>
              <a:custGeom>
                <a:avLst/>
                <a:gdLst/>
                <a:ahLst/>
                <a:cxnLst/>
                <a:rect l="l" t="t" r="r" b="b"/>
                <a:pathLst>
                  <a:path w="409" h="373" extrusionOk="0">
                    <a:moveTo>
                      <a:pt x="207" y="1"/>
                    </a:moveTo>
                    <a:cubicBezTo>
                      <a:pt x="168" y="1"/>
                      <a:pt x="128" y="14"/>
                      <a:pt x="97" y="46"/>
                    </a:cubicBezTo>
                    <a:cubicBezTo>
                      <a:pt x="14" y="101"/>
                      <a:pt x="1" y="212"/>
                      <a:pt x="56" y="295"/>
                    </a:cubicBezTo>
                    <a:cubicBezTo>
                      <a:pt x="93" y="348"/>
                      <a:pt x="148" y="373"/>
                      <a:pt x="204" y="373"/>
                    </a:cubicBezTo>
                    <a:cubicBezTo>
                      <a:pt x="292" y="373"/>
                      <a:pt x="380" y="309"/>
                      <a:pt x="389" y="198"/>
                    </a:cubicBezTo>
                    <a:cubicBezTo>
                      <a:pt x="409" y="88"/>
                      <a:pt x="307"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25" name="Google Shape;525;p34"/>
            <p:cNvCxnSpPr/>
            <p:nvPr/>
          </p:nvCxnSpPr>
          <p:spPr>
            <a:xfrm>
              <a:off x="729625" y="1355100"/>
              <a:ext cx="255600" cy="0"/>
            </a:xfrm>
            <a:prstGeom prst="straightConnector1">
              <a:avLst/>
            </a:prstGeom>
            <a:noFill/>
            <a:ln w="9525" cap="flat" cmpd="sng">
              <a:solidFill>
                <a:schemeClr val="dk1"/>
              </a:solidFill>
              <a:prstDash val="solid"/>
              <a:round/>
              <a:headEnd type="none" w="med" len="med"/>
              <a:tailEnd type="none" w="med" len="med"/>
            </a:ln>
          </p:spPr>
        </p:cxnSp>
        <p:cxnSp>
          <p:nvCxnSpPr>
            <p:cNvPr id="526" name="Google Shape;526;p34"/>
            <p:cNvCxnSpPr/>
            <p:nvPr/>
          </p:nvCxnSpPr>
          <p:spPr>
            <a:xfrm>
              <a:off x="729625" y="1845525"/>
              <a:ext cx="255600" cy="0"/>
            </a:xfrm>
            <a:prstGeom prst="straightConnector1">
              <a:avLst/>
            </a:prstGeom>
            <a:noFill/>
            <a:ln w="9525" cap="flat" cmpd="sng">
              <a:solidFill>
                <a:schemeClr val="dk1"/>
              </a:solidFill>
              <a:prstDash val="solid"/>
              <a:round/>
              <a:headEnd type="none" w="med" len="med"/>
              <a:tailEnd type="none" w="med" len="med"/>
            </a:ln>
          </p:spPr>
        </p:cxnSp>
      </p:grpSp>
      <p:grpSp>
        <p:nvGrpSpPr>
          <p:cNvPr id="527" name="Google Shape;527;p34"/>
          <p:cNvGrpSpPr/>
          <p:nvPr/>
        </p:nvGrpSpPr>
        <p:grpSpPr>
          <a:xfrm>
            <a:off x="1838701" y="4175532"/>
            <a:ext cx="381727" cy="373834"/>
            <a:chOff x="1871876" y="4175532"/>
            <a:chExt cx="381727" cy="373834"/>
          </a:xfrm>
        </p:grpSpPr>
        <p:sp>
          <p:nvSpPr>
            <p:cNvPr id="528" name="Google Shape;528;p34"/>
            <p:cNvSpPr/>
            <p:nvPr/>
          </p:nvSpPr>
          <p:spPr>
            <a:xfrm>
              <a:off x="1871876" y="4175532"/>
              <a:ext cx="381727" cy="373834"/>
            </a:xfrm>
            <a:custGeom>
              <a:avLst/>
              <a:gdLst/>
              <a:ahLst/>
              <a:cxnLst/>
              <a:rect l="l" t="t" r="r" b="b"/>
              <a:pathLst>
                <a:path w="11027" h="10799" extrusionOk="0">
                  <a:moveTo>
                    <a:pt x="5504" y="1"/>
                  </a:moveTo>
                  <a:cubicBezTo>
                    <a:pt x="5436" y="1"/>
                    <a:pt x="5367" y="2"/>
                    <a:pt x="5298" y="4"/>
                  </a:cubicBezTo>
                  <a:cubicBezTo>
                    <a:pt x="2331" y="130"/>
                    <a:pt x="1" y="2639"/>
                    <a:pt x="126" y="5621"/>
                  </a:cubicBezTo>
                  <a:cubicBezTo>
                    <a:pt x="234" y="8525"/>
                    <a:pt x="2618" y="10799"/>
                    <a:pt x="5498" y="10799"/>
                  </a:cubicBezTo>
                  <a:cubicBezTo>
                    <a:pt x="5575" y="10799"/>
                    <a:pt x="5652" y="10797"/>
                    <a:pt x="5729" y="10794"/>
                  </a:cubicBezTo>
                  <a:cubicBezTo>
                    <a:pt x="8710" y="10683"/>
                    <a:pt x="11027" y="8173"/>
                    <a:pt x="10916" y="5191"/>
                  </a:cubicBezTo>
                  <a:cubicBezTo>
                    <a:pt x="10793" y="2279"/>
                    <a:pt x="8395" y="1"/>
                    <a:pt x="5504" y="1"/>
                  </a:cubicBezTo>
                  <a:close/>
                </a:path>
              </a:pathLst>
            </a:custGeom>
            <a:solidFill>
              <a:srgbClr val="FF6A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4"/>
            <p:cNvSpPr/>
            <p:nvPr/>
          </p:nvSpPr>
          <p:spPr>
            <a:xfrm>
              <a:off x="2013047" y="4305800"/>
              <a:ext cx="33164" cy="113303"/>
            </a:xfrm>
            <a:custGeom>
              <a:avLst/>
              <a:gdLst/>
              <a:ahLst/>
              <a:cxnLst/>
              <a:rect l="l" t="t" r="r" b="b"/>
              <a:pathLst>
                <a:path w="958" h="3273" extrusionOk="0">
                  <a:moveTo>
                    <a:pt x="0" y="0"/>
                  </a:moveTo>
                  <a:lnTo>
                    <a:pt x="0" y="3273"/>
                  </a:lnTo>
                  <a:lnTo>
                    <a:pt x="958" y="3273"/>
                  </a:lnTo>
                  <a:lnTo>
                    <a:pt x="9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4"/>
            <p:cNvSpPr/>
            <p:nvPr/>
          </p:nvSpPr>
          <p:spPr>
            <a:xfrm>
              <a:off x="2075947" y="4305800"/>
              <a:ext cx="33648" cy="113303"/>
            </a:xfrm>
            <a:custGeom>
              <a:avLst/>
              <a:gdLst/>
              <a:ahLst/>
              <a:cxnLst/>
              <a:rect l="l" t="t" r="r" b="b"/>
              <a:pathLst>
                <a:path w="972" h="3273" extrusionOk="0">
                  <a:moveTo>
                    <a:pt x="0" y="0"/>
                  </a:moveTo>
                  <a:lnTo>
                    <a:pt x="0" y="3273"/>
                  </a:lnTo>
                  <a:lnTo>
                    <a:pt x="971" y="3273"/>
                  </a:lnTo>
                  <a:lnTo>
                    <a:pt x="9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1" name="Google Shape;531;p34"/>
          <p:cNvSpPr txBox="1"/>
          <p:nvPr/>
        </p:nvSpPr>
        <p:spPr>
          <a:xfrm>
            <a:off x="2066250" y="2961550"/>
            <a:ext cx="6102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Metrophobic"/>
                <a:ea typeface="Metrophobic"/>
                <a:cs typeface="Metrophobic"/>
                <a:sym typeface="Metrophobic"/>
              </a:rPr>
              <a:t>Github Repo: </a:t>
            </a:r>
            <a:r>
              <a:rPr lang="en" sz="1200" u="sng">
                <a:solidFill>
                  <a:schemeClr val="hlink"/>
                </a:solidFill>
                <a:latin typeface="Metrophobic"/>
                <a:ea typeface="Metrophobic"/>
                <a:cs typeface="Metrophobic"/>
                <a:sym typeface="Metrophobic"/>
                <a:hlinkClick r:id="rId3"/>
              </a:rPr>
              <a:t>https://github.com/noeliacanela229/music-genre-clustering/tree/main</a:t>
            </a:r>
            <a:endParaRPr sz="700"/>
          </a:p>
          <a:p>
            <a:pPr marL="0" lvl="0" indent="0" algn="l" rtl="0">
              <a:spcBef>
                <a:spcPts val="0"/>
              </a:spcBef>
              <a:spcAft>
                <a:spcPts val="0"/>
              </a:spcAft>
              <a:buNone/>
            </a:pPr>
            <a:r>
              <a:rPr lang="en" sz="1200">
                <a:solidFill>
                  <a:schemeClr val="dk1"/>
                </a:solidFill>
                <a:latin typeface="Metrophobic"/>
                <a:ea typeface="Metrophobic"/>
                <a:cs typeface="Metrophobic"/>
                <a:sym typeface="Metrophobic"/>
              </a:rPr>
              <a:t>Github Webpage: </a:t>
            </a:r>
            <a:r>
              <a:rPr lang="en" sz="1200" u="sng">
                <a:solidFill>
                  <a:schemeClr val="dk1"/>
                </a:solidFill>
                <a:latin typeface="Metrophobic"/>
                <a:ea typeface="Metrophobic"/>
                <a:cs typeface="Metrophobic"/>
                <a:sym typeface="Metrophobic"/>
                <a:hlinkClick r:id="rId4">
                  <a:extLst>
                    <a:ext uri="{A12FA001-AC4F-418D-AE19-62706E023703}">
                      <ahyp:hlinkClr xmlns:ahyp="http://schemas.microsoft.com/office/drawing/2018/hyperlinkcolor" val="tx"/>
                    </a:ext>
                  </a:extLst>
                </a:hlinkClick>
              </a:rPr>
              <a:t>https://noeliacanela229.github.io/music-genre-clustering/</a:t>
            </a:r>
            <a:endParaRPr sz="700"/>
          </a:p>
        </p:txBody>
      </p:sp>
    </p:spTree>
  </p:cSld>
  <p:clrMapOvr>
    <a:masterClrMapping/>
  </p:clrMapOvr>
</p:sld>
</file>

<file path=ppt/theme/theme1.xml><?xml version="1.0" encoding="utf-8"?>
<a:theme xmlns:a="http://schemas.openxmlformats.org/drawingml/2006/main" name="Music Subject for High School: Sharing Our Music Playlists! by Slidesgo">
  <a:themeElements>
    <a:clrScheme name="Simple Light">
      <a:dk1>
        <a:srgbClr val="FFFFFF"/>
      </a:dk1>
      <a:lt1>
        <a:srgbClr val="353445"/>
      </a:lt1>
      <a:dk2>
        <a:srgbClr val="FF6A92"/>
      </a:dk2>
      <a:lt2>
        <a:srgbClr val="00B76C"/>
      </a:lt2>
      <a:accent1>
        <a:srgbClr val="FFB600"/>
      </a:accent1>
      <a:accent2>
        <a:srgbClr val="282733"/>
      </a:accent2>
      <a:accent3>
        <a:srgbClr val="DCDEE2"/>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1355</Words>
  <Application>Microsoft Macintosh PowerPoint</Application>
  <PresentationFormat>On-screen Show (16:9)</PresentationFormat>
  <Paragraphs>60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Lexend Deca</vt:lpstr>
      <vt:lpstr>Lexend Deca Medium</vt:lpstr>
      <vt:lpstr>Arial</vt:lpstr>
      <vt:lpstr>Metrophobic</vt:lpstr>
      <vt:lpstr>Music Subject for High School: Sharing Our Music Playlists! by Slidesgo</vt:lpstr>
      <vt:lpstr>Final Project Presentation  Clustering Music Genres </vt:lpstr>
      <vt:lpstr>Problem Setup</vt:lpstr>
      <vt:lpstr>Data &amp; Processing</vt:lpstr>
      <vt:lpstr>Implementation</vt:lpstr>
      <vt:lpstr>Results</vt:lpstr>
      <vt:lpstr>6 cluster comparisons</vt:lpstr>
      <vt:lpstr>Cluster Visualizations</vt:lpstr>
      <vt:lpstr>BONUS: What We Did Extra </vt:lpstr>
      <vt:lpstr>BONUS: What We Did Extra (visual)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Clustering Music Genres </dc:title>
  <cp:lastModifiedBy>Noelia Canela</cp:lastModifiedBy>
  <cp:revision>1</cp:revision>
  <dcterms:modified xsi:type="dcterms:W3CDTF">2026-05-04T22:42:13Z</dcterms:modified>
</cp:coreProperties>
</file>