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Roboto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0" roundtripDataSignature="AMtx7mi3gzsQKKiii58KrsYCqGN7+Uu0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regular.fntdata"/><Relationship Id="rId25" Type="http://schemas.openxmlformats.org/officeDocument/2006/relationships/font" Target="fonts/Roboto-boldItalic.fntdata"/><Relationship Id="rId28" Type="http://schemas.openxmlformats.org/officeDocument/2006/relationships/font" Target="fonts/RobotoMedium-italic.fntdata"/><Relationship Id="rId27" Type="http://schemas.openxmlformats.org/officeDocument/2006/relationships/font" Target="fonts/Robot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So a quick little refresher on what the problem is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First, signature based systems often miss zero day threats, these are threats that arent yet known to the developers.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Second we cant simply block all connections that are against the norm, some might be legitimate connection attempts.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Third UNSW’s data set is large, however its entirely office network connects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Which leads into reason 4, smaller networks with a wider variety of network connections might trigger false positives. Not ideal,</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for what we went over for our previous update,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started with a pre processor to bring the column count down from 49 to a more manageable size, and then ran the data through a PCA to further refine our models data</a:t>
            </a:r>
            <a:endParaRPr/>
          </a:p>
          <a:p>
            <a:pPr indent="0" lvl="0" marL="0" rtl="0" algn="l">
              <a:lnSpc>
                <a:spcPct val="100000"/>
              </a:lnSpc>
              <a:spcBef>
                <a:spcPts val="0"/>
              </a:spcBef>
              <a:spcAft>
                <a:spcPts val="0"/>
              </a:spcAft>
              <a:buSzPts val="1100"/>
              <a:buNone/>
            </a:pPr>
            <a:r>
              <a:rPr lang="en"/>
              <a:t>After doing such we then ran it through HDBSCAN to get the clusters</a:t>
            </a:r>
            <a:endParaRPr/>
          </a:p>
          <a:p>
            <a:pPr indent="0" lvl="0" marL="0" rtl="0" algn="l">
              <a:lnSpc>
                <a:spcPct val="100000"/>
              </a:lnSpc>
              <a:spcBef>
                <a:spcPts val="0"/>
              </a:spcBef>
              <a:spcAft>
                <a:spcPts val="0"/>
              </a:spcAft>
              <a:buSzPts val="1100"/>
              <a:buNone/>
            </a:pPr>
            <a:r>
              <a:rPr lang="en"/>
              <a:t>As well as turned the HDBSCAN output into a graph so we could visualize the clusters.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 dataset we used  is UNSW’s NB15 dataset. Hasn’t changed since the update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Has modern network traffic used from real office networks, and a mix of synthetic attacks built in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That’s not what makes it considered a gold standard, as it also includes 49 features of network data. And 9 attack patterns. despite these datasets massive size it mixes in a realistic amount of attacks into the normal network traffic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This dataset helps our model with its high dimensionality. We can check and see exactly which parts of the network data are most important for detecting anomalies.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preprocessing process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split it up into 5 phases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First is the Janitor Phase, This phase ensures every row is complete and labels are clean, as mentioned the UNSW dataset labels attacks so making sure our model had no labels is necessary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Next is the log transformer, some of the rows are filled with extremely large transfer packets but they arent attacks. So the point of this phase is to scale down the larger data points to give them a similar weight to the smaller ones. This allows for the large transfers to not be flagged.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context builder creates ratios of certain network columns, as a download of 10mb and an attack of 10mb looks the same if you only look at the byte count, so by creating ratios of certain columns you get a density so to speak of these packets. This then allows for better comparison between packets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translator is pretty simple, protocols are letters, pca only works with numbers, so the translator convert the protocol codes to numbers so PCA math actually works on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Lastly we have the auditor, this checks columns and deletes rows with zero variance, and normalizes the rest of the data before send it to the PCA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top we have the raw input. It’s a messy mix of text labels like 'TCP' and 'DNS' that math can’t process, and columns like </a:t>
            </a:r>
            <a:r>
              <a:rPr b="1" lang="en">
                <a:solidFill>
                  <a:schemeClr val="dk1"/>
                </a:solidFill>
              </a:rPr>
              <a:t>'sload'</a:t>
            </a:r>
            <a:r>
              <a:rPr lang="en">
                <a:solidFill>
                  <a:schemeClr val="dk1"/>
                </a:solidFill>
              </a:rPr>
              <a:t> where values are in the millions. In this state, the AI is blinded by scale—it would flag any high-volume connection as an anomaly simply because the number is big.</a:t>
            </a:r>
            <a:endParaRPr>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On the bottom you see the result of our pipeline. We’ve removed the irrelevant </a:t>
            </a:r>
            <a:r>
              <a:rPr b="1" lang="en">
                <a:solidFill>
                  <a:schemeClr val="dk1"/>
                </a:solidFill>
              </a:rPr>
              <a:t>'id'</a:t>
            </a:r>
            <a:r>
              <a:rPr lang="en">
                <a:solidFill>
                  <a:schemeClr val="dk1"/>
                </a:solidFill>
              </a:rPr>
              <a:t> field, encoded the text into numbers, and used </a:t>
            </a:r>
            <a:r>
              <a:rPr b="1" lang="en">
                <a:solidFill>
                  <a:schemeClr val="dk1"/>
                </a:solidFill>
              </a:rPr>
              <a:t>log-transformation</a:t>
            </a:r>
            <a:r>
              <a:rPr lang="en">
                <a:solidFill>
                  <a:schemeClr val="dk1"/>
                </a:solidFill>
              </a:rPr>
              <a:t> to 'squash' those millions down into a balanced range. By leveling the playing field this way, we stop the model from being distracted by raw size and allow it to focus on actual behavioral patterns. This transformation is the foundation that allows our clustering to achieve its high accuracy.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18"/>
          <p:cNvGrpSpPr/>
          <p:nvPr/>
        </p:nvGrpSpPr>
        <p:grpSpPr>
          <a:xfrm>
            <a:off x="6098378" y="5"/>
            <a:ext cx="3045625" cy="2030570"/>
            <a:chOff x="6098378" y="5"/>
            <a:chExt cx="3045625" cy="2030570"/>
          </a:xfrm>
        </p:grpSpPr>
        <p:sp>
          <p:nvSpPr>
            <p:cNvPr id="11" name="Google Shape;11;p1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8"/>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8"/>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8"/>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8"/>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18"/>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19"/>
          <p:cNvGrpSpPr/>
          <p:nvPr/>
        </p:nvGrpSpPr>
        <p:grpSpPr>
          <a:xfrm>
            <a:off x="0" y="3903669"/>
            <a:ext cx="9144000" cy="1239925"/>
            <a:chOff x="0" y="3903669"/>
            <a:chExt cx="9144000" cy="1239925"/>
          </a:xfrm>
        </p:grpSpPr>
        <p:sp>
          <p:nvSpPr>
            <p:cNvPr id="21" name="Google Shape;21;p19"/>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9"/>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9"/>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9"/>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9"/>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 name="Google Shape;26;p1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 name="Google Shape;27;p1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20"/>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 name="Google Shape;31;p2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2" name="Google Shape;32;p20"/>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20"/>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2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35" name="Google Shape;35;p2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21"/>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2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 name="Google Shape;42;p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43" name="Shape 43"/>
        <p:cNvGrpSpPr/>
        <p:nvPr/>
      </p:nvGrpSpPr>
      <p:grpSpPr>
        <a:xfrm>
          <a:off x="0" y="0"/>
          <a:ext cx="0" cy="0"/>
          <a:chOff x="0" y="0"/>
          <a:chExt cx="0" cy="0"/>
        </a:xfrm>
      </p:grpSpPr>
      <p:grpSp>
        <p:nvGrpSpPr>
          <p:cNvPr id="44" name="Google Shape;44;p23"/>
          <p:cNvGrpSpPr/>
          <p:nvPr/>
        </p:nvGrpSpPr>
        <p:grpSpPr>
          <a:xfrm>
            <a:off x="6098378" y="5"/>
            <a:ext cx="3045625" cy="2030570"/>
            <a:chOff x="6098378" y="5"/>
            <a:chExt cx="3045625" cy="2030570"/>
          </a:xfrm>
        </p:grpSpPr>
        <p:sp>
          <p:nvSpPr>
            <p:cNvPr id="45" name="Google Shape;45;p23"/>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3"/>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3"/>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3"/>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3"/>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 name="Google Shape;50;p23"/>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1" name="Google Shape;51;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2" name="Shape 52"/>
        <p:cNvGrpSpPr/>
        <p:nvPr/>
      </p:nvGrpSpPr>
      <p:grpSpPr>
        <a:xfrm>
          <a:off x="0" y="0"/>
          <a:ext cx="0" cy="0"/>
          <a:chOff x="0" y="0"/>
          <a:chExt cx="0" cy="0"/>
        </a:xfrm>
      </p:grpSpPr>
      <p:grpSp>
        <p:nvGrpSpPr>
          <p:cNvPr id="53" name="Google Shape;53;p24"/>
          <p:cNvGrpSpPr/>
          <p:nvPr/>
        </p:nvGrpSpPr>
        <p:grpSpPr>
          <a:xfrm>
            <a:off x="6098378" y="5"/>
            <a:ext cx="3045625" cy="2030570"/>
            <a:chOff x="6098378" y="5"/>
            <a:chExt cx="3045625" cy="2030570"/>
          </a:xfrm>
        </p:grpSpPr>
        <p:sp>
          <p:nvSpPr>
            <p:cNvPr id="54" name="Google Shape;54;p2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4"/>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4"/>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4"/>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4"/>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24"/>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0" name="Google Shape;60;p2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3" name="Google Shape;63;p25"/>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25"/>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5" name="Google Shape;65;p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26"/>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27"/>
          <p:cNvGrpSpPr/>
          <p:nvPr/>
        </p:nvGrpSpPr>
        <p:grpSpPr>
          <a:xfrm>
            <a:off x="6098378" y="5"/>
            <a:ext cx="3045625" cy="2030570"/>
            <a:chOff x="6098378" y="5"/>
            <a:chExt cx="3045625" cy="2030570"/>
          </a:xfrm>
        </p:grpSpPr>
        <p:sp>
          <p:nvSpPr>
            <p:cNvPr id="71" name="Google Shape;71;p2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7"/>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7"/>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 name="Google Shape;76;p27"/>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7" name="Google Shape;77;p27"/>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78" name="Google Shape;78;p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1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github.com/Ashfter/CS472_Final_Project" TargetMode="External"/><Relationship Id="rId4" Type="http://schemas.openxmlformats.org/officeDocument/2006/relationships/hyperlink" Target="https://ashfter.github.io/CS472_Final_Projec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561500" y="2571747"/>
            <a:ext cx="8222100" cy="838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Unsupervised Detection of Intrusions Based on Clustered Network Flows - Final</a:t>
            </a:r>
            <a:endParaRPr/>
          </a:p>
        </p:txBody>
      </p:sp>
      <p:sp>
        <p:nvSpPr>
          <p:cNvPr id="86" name="Google Shape;86;p1"/>
          <p:cNvSpPr txBox="1"/>
          <p:nvPr>
            <p:ph idx="1" type="subTitle"/>
          </p:nvPr>
        </p:nvSpPr>
        <p:spPr>
          <a:xfrm>
            <a:off x="561488" y="3512438"/>
            <a:ext cx="8222100" cy="4329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SzPct val="108108"/>
              <a:buNone/>
            </a:pPr>
            <a:r>
              <a:rPr lang="en"/>
              <a:t>By Chandler Silk and Travian Lenox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Refresher: Problem</a:t>
            </a:r>
            <a:endParaRPr/>
          </a:p>
        </p:txBody>
      </p:sp>
      <p:sp>
        <p:nvSpPr>
          <p:cNvPr id="92" name="Google Shape;92;p2"/>
          <p:cNvSpPr txBox="1"/>
          <p:nvPr/>
        </p:nvSpPr>
        <p:spPr>
          <a:xfrm>
            <a:off x="464100" y="13822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434343"/>
              </a:buClr>
              <a:buSzPts val="1800"/>
              <a:buFont typeface="Roboto"/>
              <a:buChar char="●"/>
            </a:pPr>
            <a:r>
              <a:rPr b="0" i="0" lang="en" sz="1800" u="none" cap="none" strike="noStrike">
                <a:solidFill>
                  <a:srgbClr val="434343"/>
                </a:solidFill>
                <a:latin typeface="Roboto"/>
                <a:ea typeface="Roboto"/>
                <a:cs typeface="Roboto"/>
                <a:sym typeface="Roboto"/>
              </a:rPr>
              <a:t>Signature-based systems miss novel threats</a:t>
            </a:r>
            <a:endParaRPr b="0" i="0" sz="1800" u="none" cap="none" strike="noStrike">
              <a:solidFill>
                <a:srgbClr val="434343"/>
              </a:solidFill>
              <a:latin typeface="Roboto"/>
              <a:ea typeface="Roboto"/>
              <a:cs typeface="Roboto"/>
              <a:sym typeface="Roboto"/>
            </a:endParaRPr>
          </a:p>
          <a:p>
            <a:pPr indent="-342900" lvl="0" marL="457200" marR="0" rtl="0" algn="l">
              <a:lnSpc>
                <a:spcPct val="115000"/>
              </a:lnSpc>
              <a:spcBef>
                <a:spcPts val="0"/>
              </a:spcBef>
              <a:spcAft>
                <a:spcPts val="0"/>
              </a:spcAft>
              <a:buClr>
                <a:srgbClr val="434343"/>
              </a:buClr>
              <a:buSzPts val="1800"/>
              <a:buFont typeface="Roboto"/>
              <a:buChar char="●"/>
            </a:pPr>
            <a:r>
              <a:rPr b="0" i="0" lang="en" sz="1800" u="none" cap="none" strike="noStrike">
                <a:solidFill>
                  <a:srgbClr val="434343"/>
                </a:solidFill>
                <a:latin typeface="Roboto"/>
                <a:ea typeface="Roboto"/>
                <a:cs typeface="Roboto"/>
                <a:sym typeface="Roboto"/>
              </a:rPr>
              <a:t>Simply detecting that an anomaly exists does not identify it as an attack</a:t>
            </a:r>
            <a:endParaRPr b="0" i="0" sz="1800" u="none" cap="none" strike="noStrike">
              <a:solidFill>
                <a:srgbClr val="434343"/>
              </a:solidFill>
              <a:latin typeface="Roboto"/>
              <a:ea typeface="Roboto"/>
              <a:cs typeface="Roboto"/>
              <a:sym typeface="Roboto"/>
            </a:endParaRPr>
          </a:p>
          <a:p>
            <a:pPr indent="-317500" lvl="1" marL="914400" marR="0" rtl="0" algn="l">
              <a:lnSpc>
                <a:spcPct val="115000"/>
              </a:lnSpc>
              <a:spcBef>
                <a:spcPts val="0"/>
              </a:spcBef>
              <a:spcAft>
                <a:spcPts val="0"/>
              </a:spcAft>
              <a:buClr>
                <a:srgbClr val="434343"/>
              </a:buClr>
              <a:buSzPts val="1400"/>
              <a:buFont typeface="Roboto"/>
              <a:buChar char="○"/>
            </a:pPr>
            <a:r>
              <a:rPr b="0" i="0" lang="en" sz="1400" u="none" cap="none" strike="noStrike">
                <a:solidFill>
                  <a:srgbClr val="434343"/>
                </a:solidFill>
                <a:latin typeface="Roboto"/>
                <a:ea typeface="Roboto"/>
                <a:cs typeface="Roboto"/>
                <a:sym typeface="Roboto"/>
              </a:rPr>
              <a:t>Therefore, blocking all anomalous connections would block legitimate connection attempts</a:t>
            </a:r>
            <a:endParaRPr b="0" i="0" sz="1400" u="none" cap="none" strike="noStrike">
              <a:solidFill>
                <a:srgbClr val="434343"/>
              </a:solidFill>
              <a:latin typeface="Roboto"/>
              <a:ea typeface="Roboto"/>
              <a:cs typeface="Roboto"/>
              <a:sym typeface="Roboto"/>
            </a:endParaRPr>
          </a:p>
          <a:p>
            <a:pPr indent="-342900" lvl="0" marL="457200" marR="0" rtl="0" algn="l">
              <a:lnSpc>
                <a:spcPct val="115000"/>
              </a:lnSpc>
              <a:spcBef>
                <a:spcPts val="0"/>
              </a:spcBef>
              <a:spcAft>
                <a:spcPts val="0"/>
              </a:spcAft>
              <a:buClr>
                <a:srgbClr val="434343"/>
              </a:buClr>
              <a:buSzPts val="1800"/>
              <a:buFont typeface="Roboto"/>
              <a:buChar char="●"/>
            </a:pPr>
            <a:r>
              <a:rPr b="0" i="0" lang="en" sz="1800" u="none" cap="none" strike="noStrike">
                <a:solidFill>
                  <a:srgbClr val="434343"/>
                </a:solidFill>
                <a:latin typeface="Roboto"/>
                <a:ea typeface="Roboto"/>
                <a:cs typeface="Roboto"/>
                <a:sym typeface="Roboto"/>
              </a:rPr>
              <a:t>UNSW-NB15 is a large, highly defined dataset that is not fully representative of a personal experience</a:t>
            </a:r>
            <a:endParaRPr b="0" i="0" sz="1800" u="none" cap="none" strike="noStrike">
              <a:solidFill>
                <a:srgbClr val="434343"/>
              </a:solidFill>
              <a:latin typeface="Roboto"/>
              <a:ea typeface="Roboto"/>
              <a:cs typeface="Roboto"/>
              <a:sym typeface="Roboto"/>
            </a:endParaRPr>
          </a:p>
          <a:p>
            <a:pPr indent="-342900" lvl="0" marL="457200" marR="0" rtl="0" algn="l">
              <a:lnSpc>
                <a:spcPct val="115000"/>
              </a:lnSpc>
              <a:spcBef>
                <a:spcPts val="0"/>
              </a:spcBef>
              <a:spcAft>
                <a:spcPts val="0"/>
              </a:spcAft>
              <a:buClr>
                <a:srgbClr val="434343"/>
              </a:buClr>
              <a:buSzPts val="1800"/>
              <a:buFont typeface="Roboto"/>
              <a:buChar char="●"/>
            </a:pPr>
            <a:r>
              <a:rPr b="0" i="0" lang="en" sz="1800" u="none" cap="none" strike="noStrike">
                <a:solidFill>
                  <a:srgbClr val="434343"/>
                </a:solidFill>
                <a:latin typeface="Roboto"/>
                <a:ea typeface="Roboto"/>
                <a:cs typeface="Roboto"/>
                <a:sym typeface="Roboto"/>
              </a:rPr>
              <a:t>For smaller networks, false positives can be even more harmful</a:t>
            </a:r>
            <a:endParaRPr b="0" i="0" sz="1800" u="none" cap="none" strike="noStrike">
              <a:solidFill>
                <a:srgbClr val="434343"/>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Refresher: What we did last time</a:t>
            </a:r>
            <a:endParaRPr/>
          </a:p>
        </p:txBody>
      </p:sp>
      <p:sp>
        <p:nvSpPr>
          <p:cNvPr id="98" name="Google Shape;98;p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Preprocessor</a:t>
            </a:r>
            <a:endParaRPr/>
          </a:p>
          <a:p>
            <a:pPr indent="-342900" lvl="0" marL="457200" rtl="0" algn="l">
              <a:lnSpc>
                <a:spcPct val="200000"/>
              </a:lnSpc>
              <a:spcBef>
                <a:spcPts val="0"/>
              </a:spcBef>
              <a:spcAft>
                <a:spcPts val="0"/>
              </a:spcAft>
              <a:buSzPts val="1800"/>
              <a:buChar char="●"/>
            </a:pPr>
            <a:r>
              <a:rPr lang="en"/>
              <a:t>PCA</a:t>
            </a:r>
            <a:endParaRPr/>
          </a:p>
          <a:p>
            <a:pPr indent="-342900" lvl="0" marL="457200" rtl="0" algn="l">
              <a:lnSpc>
                <a:spcPct val="200000"/>
              </a:lnSpc>
              <a:spcBef>
                <a:spcPts val="0"/>
              </a:spcBef>
              <a:spcAft>
                <a:spcPts val="0"/>
              </a:spcAft>
              <a:buSzPts val="1800"/>
              <a:buChar char="●"/>
            </a:pPr>
            <a:r>
              <a:rPr lang="en"/>
              <a:t>HDBSCAN</a:t>
            </a:r>
            <a:endParaRPr/>
          </a:p>
          <a:p>
            <a:pPr indent="-342900" lvl="0" marL="457200" rtl="0" algn="l">
              <a:lnSpc>
                <a:spcPct val="200000"/>
              </a:lnSpc>
              <a:spcBef>
                <a:spcPts val="0"/>
              </a:spcBef>
              <a:spcAft>
                <a:spcPts val="0"/>
              </a:spcAft>
              <a:buSzPts val="1800"/>
              <a:buChar char="●"/>
            </a:pPr>
            <a:r>
              <a:rPr lang="en"/>
              <a:t>Output Graphs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a:t>Dataset</a:t>
            </a:r>
            <a:endParaRPr/>
          </a:p>
        </p:txBody>
      </p:sp>
      <p:sp>
        <p:nvSpPr>
          <p:cNvPr id="104" name="Google Shape;104;p4"/>
          <p:cNvSpPr txBox="1"/>
          <p:nvPr>
            <p:ph idx="2" type="body"/>
          </p:nvPr>
        </p:nvSpPr>
        <p:spPr>
          <a:xfrm>
            <a:off x="4939500" y="724200"/>
            <a:ext cx="3837000" cy="3695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Why this set?</a:t>
            </a:r>
            <a:endParaRPr/>
          </a:p>
          <a:p>
            <a:pPr indent="-342900" lvl="0" marL="457200" rtl="0" algn="l">
              <a:lnSpc>
                <a:spcPct val="115000"/>
              </a:lnSpc>
              <a:spcBef>
                <a:spcPts val="1200"/>
              </a:spcBef>
              <a:spcAft>
                <a:spcPts val="0"/>
              </a:spcAft>
              <a:buSzPts val="1800"/>
              <a:buChar char="●"/>
            </a:pPr>
            <a:r>
              <a:rPr lang="en"/>
              <a:t>Modern Network Traffic</a:t>
            </a:r>
            <a:endParaRPr/>
          </a:p>
          <a:p>
            <a:pPr indent="-317500" lvl="1" marL="914400" rtl="0" algn="l">
              <a:lnSpc>
                <a:spcPct val="115000"/>
              </a:lnSpc>
              <a:spcBef>
                <a:spcPts val="0"/>
              </a:spcBef>
              <a:spcAft>
                <a:spcPts val="0"/>
              </a:spcAft>
              <a:buSzPts val="1400"/>
              <a:buChar char="○"/>
            </a:pPr>
            <a:r>
              <a:rPr lang="en"/>
              <a:t>Uses real network traffic</a:t>
            </a:r>
            <a:endParaRPr/>
          </a:p>
          <a:p>
            <a:pPr indent="-317500" lvl="1" marL="914400" rtl="0" algn="l">
              <a:lnSpc>
                <a:spcPct val="150000"/>
              </a:lnSpc>
              <a:spcBef>
                <a:spcPts val="0"/>
              </a:spcBef>
              <a:spcAft>
                <a:spcPts val="0"/>
              </a:spcAft>
              <a:buSzPts val="1400"/>
              <a:buChar char="○"/>
            </a:pPr>
            <a:r>
              <a:rPr lang="en"/>
              <a:t>Mixes in synthetic modern attacks</a:t>
            </a:r>
            <a:endParaRPr/>
          </a:p>
          <a:p>
            <a:pPr indent="-342900" lvl="0" marL="457200" rtl="0" algn="l">
              <a:lnSpc>
                <a:spcPct val="115000"/>
              </a:lnSpc>
              <a:spcBef>
                <a:spcPts val="0"/>
              </a:spcBef>
              <a:spcAft>
                <a:spcPts val="0"/>
              </a:spcAft>
              <a:buSzPts val="1800"/>
              <a:buChar char="●"/>
            </a:pPr>
            <a:r>
              <a:rPr lang="en"/>
              <a:t>Gold Standard</a:t>
            </a:r>
            <a:endParaRPr/>
          </a:p>
          <a:p>
            <a:pPr indent="-317500" lvl="1" marL="914400" rtl="0" algn="l">
              <a:lnSpc>
                <a:spcPct val="115000"/>
              </a:lnSpc>
              <a:spcBef>
                <a:spcPts val="0"/>
              </a:spcBef>
              <a:spcAft>
                <a:spcPts val="0"/>
              </a:spcAft>
              <a:buSzPts val="1400"/>
              <a:buChar char="○"/>
            </a:pPr>
            <a:r>
              <a:rPr lang="en"/>
              <a:t>49 Features (Source + Destination)</a:t>
            </a:r>
            <a:endParaRPr/>
          </a:p>
          <a:p>
            <a:pPr indent="-317500" lvl="1" marL="914400" rtl="0" algn="l">
              <a:lnSpc>
                <a:spcPct val="115000"/>
              </a:lnSpc>
              <a:spcBef>
                <a:spcPts val="0"/>
              </a:spcBef>
              <a:spcAft>
                <a:spcPts val="0"/>
              </a:spcAft>
              <a:buSzPts val="1400"/>
              <a:buChar char="○"/>
            </a:pPr>
            <a:r>
              <a:rPr lang="en"/>
              <a:t>9 attack patterns</a:t>
            </a:r>
            <a:endParaRPr/>
          </a:p>
          <a:p>
            <a:pPr indent="-317500" lvl="1" marL="914400" rtl="0" algn="l">
              <a:lnSpc>
                <a:spcPct val="150000"/>
              </a:lnSpc>
              <a:spcBef>
                <a:spcPts val="0"/>
              </a:spcBef>
              <a:spcAft>
                <a:spcPts val="0"/>
              </a:spcAft>
              <a:buSzPts val="1400"/>
              <a:buChar char="○"/>
            </a:pPr>
            <a:r>
              <a:rPr lang="en"/>
              <a:t>Realistic balance</a:t>
            </a:r>
            <a:endParaRPr/>
          </a:p>
          <a:p>
            <a:pPr indent="-342900" lvl="0" marL="457200" rtl="0" algn="l">
              <a:lnSpc>
                <a:spcPct val="115000"/>
              </a:lnSpc>
              <a:spcBef>
                <a:spcPts val="0"/>
              </a:spcBef>
              <a:spcAft>
                <a:spcPts val="0"/>
              </a:spcAft>
              <a:buSzPts val="1800"/>
              <a:buChar char="●"/>
            </a:pPr>
            <a:r>
              <a:rPr lang="en"/>
              <a:t>How it helps</a:t>
            </a:r>
            <a:endParaRPr/>
          </a:p>
          <a:p>
            <a:pPr indent="-317500" lvl="1" marL="914400" rtl="0" algn="l">
              <a:lnSpc>
                <a:spcPct val="115000"/>
              </a:lnSpc>
              <a:spcBef>
                <a:spcPts val="0"/>
              </a:spcBef>
              <a:spcAft>
                <a:spcPts val="0"/>
              </a:spcAft>
              <a:buSzPts val="1400"/>
              <a:buChar char="○"/>
            </a:pPr>
            <a:r>
              <a:rPr lang="en"/>
              <a:t>High Dimensionality</a:t>
            </a:r>
            <a:endParaRPr/>
          </a:p>
        </p:txBody>
      </p:sp>
      <p:sp>
        <p:nvSpPr>
          <p:cNvPr id="105" name="Google Shape;105;p4"/>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en"/>
              <a:t>UNSW-NB15 CSV files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Preprocessing</a:t>
            </a:r>
            <a:endParaRPr/>
          </a:p>
        </p:txBody>
      </p:sp>
      <p:sp>
        <p:nvSpPr>
          <p:cNvPr id="111" name="Google Shape;111;p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50000"/>
              </a:lnSpc>
              <a:spcBef>
                <a:spcPts val="0"/>
              </a:spcBef>
              <a:spcAft>
                <a:spcPts val="0"/>
              </a:spcAft>
              <a:buSzPts val="1800"/>
              <a:buChar char="●"/>
            </a:pPr>
            <a:r>
              <a:rPr lang="en"/>
              <a:t>Janitor Phase</a:t>
            </a:r>
            <a:endParaRPr/>
          </a:p>
          <a:p>
            <a:pPr indent="-317500" lvl="1" marL="914400" rtl="0" algn="l">
              <a:lnSpc>
                <a:spcPct val="150000"/>
              </a:lnSpc>
              <a:spcBef>
                <a:spcPts val="0"/>
              </a:spcBef>
              <a:spcAft>
                <a:spcPts val="0"/>
              </a:spcAft>
              <a:buSzPts val="1400"/>
              <a:buChar char="○"/>
            </a:pPr>
            <a:r>
              <a:rPr lang="en"/>
              <a:t>Ensure every row is complete and labels are clean</a:t>
            </a:r>
            <a:endParaRPr/>
          </a:p>
          <a:p>
            <a:pPr indent="-342900" lvl="0" marL="457200" rtl="0" algn="l">
              <a:lnSpc>
                <a:spcPct val="150000"/>
              </a:lnSpc>
              <a:spcBef>
                <a:spcPts val="0"/>
              </a:spcBef>
              <a:spcAft>
                <a:spcPts val="0"/>
              </a:spcAft>
              <a:buSzPts val="1800"/>
              <a:buChar char="●"/>
            </a:pPr>
            <a:r>
              <a:rPr lang="en"/>
              <a:t>Log Transformer</a:t>
            </a:r>
            <a:endParaRPr/>
          </a:p>
          <a:p>
            <a:pPr indent="-317500" lvl="1" marL="914400" rtl="0" algn="l">
              <a:lnSpc>
                <a:spcPct val="150000"/>
              </a:lnSpc>
              <a:spcBef>
                <a:spcPts val="0"/>
              </a:spcBef>
              <a:spcAft>
                <a:spcPts val="0"/>
              </a:spcAft>
              <a:buSzPts val="1400"/>
              <a:buChar char="○"/>
            </a:pPr>
            <a:r>
              <a:rPr lang="en"/>
              <a:t>Gives the same weight to large and small traffic</a:t>
            </a:r>
            <a:endParaRPr/>
          </a:p>
          <a:p>
            <a:pPr indent="-342900" lvl="0" marL="457200" rtl="0" algn="l">
              <a:lnSpc>
                <a:spcPct val="150000"/>
              </a:lnSpc>
              <a:spcBef>
                <a:spcPts val="0"/>
              </a:spcBef>
              <a:spcAft>
                <a:spcPts val="0"/>
              </a:spcAft>
              <a:buSzPts val="1800"/>
              <a:buChar char="●"/>
            </a:pPr>
            <a:r>
              <a:rPr lang="en"/>
              <a:t>Context Builder</a:t>
            </a:r>
            <a:endParaRPr/>
          </a:p>
          <a:p>
            <a:pPr indent="-317500" lvl="1" marL="914400" rtl="0" algn="l">
              <a:lnSpc>
                <a:spcPct val="150000"/>
              </a:lnSpc>
              <a:spcBef>
                <a:spcPts val="0"/>
              </a:spcBef>
              <a:spcAft>
                <a:spcPts val="0"/>
              </a:spcAft>
              <a:buSzPts val="1400"/>
              <a:buChar char="○"/>
            </a:pPr>
            <a:r>
              <a:rPr lang="en"/>
              <a:t>Creates ratios of certain network components for comparison later</a:t>
            </a:r>
            <a:endParaRPr/>
          </a:p>
          <a:p>
            <a:pPr indent="-342900" lvl="0" marL="457200" rtl="0" algn="l">
              <a:lnSpc>
                <a:spcPct val="150000"/>
              </a:lnSpc>
              <a:spcBef>
                <a:spcPts val="0"/>
              </a:spcBef>
              <a:spcAft>
                <a:spcPts val="0"/>
              </a:spcAft>
              <a:buSzPts val="1800"/>
              <a:buChar char="●"/>
            </a:pPr>
            <a:r>
              <a:rPr lang="en"/>
              <a:t>Translator</a:t>
            </a:r>
            <a:endParaRPr/>
          </a:p>
          <a:p>
            <a:pPr indent="-317500" lvl="1" marL="914400" rtl="0" algn="l">
              <a:lnSpc>
                <a:spcPct val="150000"/>
              </a:lnSpc>
              <a:spcBef>
                <a:spcPts val="0"/>
              </a:spcBef>
              <a:spcAft>
                <a:spcPts val="0"/>
              </a:spcAft>
              <a:buSzPts val="1400"/>
              <a:buChar char="○"/>
            </a:pPr>
            <a:r>
              <a:rPr lang="en"/>
              <a:t>Converts text like TCP or HTTP codes into numbers</a:t>
            </a:r>
            <a:endParaRPr/>
          </a:p>
          <a:p>
            <a:pPr indent="-342900" lvl="0" marL="457200" rtl="0" algn="l">
              <a:lnSpc>
                <a:spcPct val="150000"/>
              </a:lnSpc>
              <a:spcBef>
                <a:spcPts val="0"/>
              </a:spcBef>
              <a:spcAft>
                <a:spcPts val="0"/>
              </a:spcAft>
              <a:buSzPts val="1800"/>
              <a:buChar char="●"/>
            </a:pPr>
            <a:r>
              <a:rPr lang="en"/>
              <a:t>Auditor</a:t>
            </a:r>
            <a:endParaRPr/>
          </a:p>
          <a:p>
            <a:pPr indent="-317500" lvl="1" marL="914400" rtl="0" algn="l">
              <a:lnSpc>
                <a:spcPct val="150000"/>
              </a:lnSpc>
              <a:spcBef>
                <a:spcPts val="0"/>
              </a:spcBef>
              <a:spcAft>
                <a:spcPts val="0"/>
              </a:spcAft>
              <a:buSzPts val="1400"/>
              <a:buChar char="○"/>
            </a:pPr>
            <a:r>
              <a:rPr lang="en"/>
              <a:t>Removes unnecessary columns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6"/>
          <p:cNvPicPr preferRelativeResize="0"/>
          <p:nvPr/>
        </p:nvPicPr>
        <p:blipFill rotWithShape="1">
          <a:blip r:embed="rId3">
            <a:alphaModFix/>
          </a:blip>
          <a:srcRect b="0" l="0" r="0" t="0"/>
          <a:stretch/>
        </p:blipFill>
        <p:spPr>
          <a:xfrm>
            <a:off x="2857050" y="308725"/>
            <a:ext cx="6116249" cy="3391250"/>
          </a:xfrm>
          <a:prstGeom prst="rect">
            <a:avLst/>
          </a:prstGeom>
          <a:noFill/>
          <a:ln>
            <a:noFill/>
          </a:ln>
        </p:spPr>
      </p:pic>
      <p:pic>
        <p:nvPicPr>
          <p:cNvPr id="117" name="Google Shape;117;p6" title="Screenshot 2026-05-04 160208.png"/>
          <p:cNvPicPr preferRelativeResize="0"/>
          <p:nvPr/>
        </p:nvPicPr>
        <p:blipFill rotWithShape="1">
          <a:blip r:embed="rId4">
            <a:alphaModFix/>
          </a:blip>
          <a:srcRect b="0" l="0" r="0" t="0"/>
          <a:stretch/>
        </p:blipFill>
        <p:spPr>
          <a:xfrm>
            <a:off x="136775" y="769450"/>
            <a:ext cx="2552249" cy="2469792"/>
          </a:xfrm>
          <a:prstGeom prst="rect">
            <a:avLst/>
          </a:prstGeom>
          <a:noFill/>
          <a:ln>
            <a:noFill/>
          </a:ln>
        </p:spPr>
      </p:pic>
      <p:sp>
        <p:nvSpPr>
          <p:cNvPr id="118" name="Google Shape;118;p6"/>
          <p:cNvSpPr txBox="1"/>
          <p:nvPr/>
        </p:nvSpPr>
        <p:spPr>
          <a:xfrm>
            <a:off x="317875" y="4247175"/>
            <a:ext cx="5643900" cy="53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Roboto Medium"/>
                <a:ea typeface="Roboto Medium"/>
                <a:cs typeface="Roboto Medium"/>
                <a:sym typeface="Roboto Medium"/>
              </a:rPr>
              <a:t>Preprocessing Code</a:t>
            </a:r>
            <a:endParaRPr b="0" i="0" sz="2700" u="none" cap="none" strike="noStrike">
              <a:solidFill>
                <a:schemeClr val="dk1"/>
              </a:solidFill>
              <a:latin typeface="Roboto Medium"/>
              <a:ea typeface="Roboto Medium"/>
              <a:cs typeface="Roboto Medium"/>
              <a:sym typeface="Robo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5945200" y="208825"/>
            <a:ext cx="31719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Preprocessing Results</a:t>
            </a:r>
            <a:endParaRPr/>
          </a:p>
        </p:txBody>
      </p:sp>
      <p:sp>
        <p:nvSpPr>
          <p:cNvPr id="124" name="Google Shape;124;p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25" name="Google Shape;125;p7"/>
          <p:cNvPicPr preferRelativeResize="0"/>
          <p:nvPr/>
        </p:nvPicPr>
        <p:blipFill rotWithShape="1">
          <a:blip r:embed="rId3">
            <a:alphaModFix/>
          </a:blip>
          <a:srcRect b="0" l="0" r="0" t="0"/>
          <a:stretch/>
        </p:blipFill>
        <p:spPr>
          <a:xfrm>
            <a:off x="125075" y="208829"/>
            <a:ext cx="6024198" cy="1796199"/>
          </a:xfrm>
          <a:prstGeom prst="rect">
            <a:avLst/>
          </a:prstGeom>
          <a:noFill/>
          <a:ln>
            <a:noFill/>
          </a:ln>
        </p:spPr>
      </p:pic>
      <p:pic>
        <p:nvPicPr>
          <p:cNvPr id="126" name="Google Shape;126;p7"/>
          <p:cNvPicPr preferRelativeResize="0"/>
          <p:nvPr/>
        </p:nvPicPr>
        <p:blipFill rotWithShape="1">
          <a:blip r:embed="rId4">
            <a:alphaModFix/>
          </a:blip>
          <a:srcRect b="0" l="0" r="0" t="0"/>
          <a:stretch/>
        </p:blipFill>
        <p:spPr>
          <a:xfrm>
            <a:off x="125075" y="2267004"/>
            <a:ext cx="6310546" cy="1796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a:t>What We’ve Done Since</a:t>
            </a:r>
            <a:endParaRPr/>
          </a:p>
        </p:txBody>
      </p:sp>
      <p:sp>
        <p:nvSpPr>
          <p:cNvPr id="132" name="Google Shape;132;p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Added the Isolation Forest Algorithm to detect anomalies</a:t>
            </a:r>
            <a:endParaRPr/>
          </a:p>
          <a:p>
            <a:pPr indent="-342900" lvl="0" marL="457200" rtl="0" algn="l">
              <a:lnSpc>
                <a:spcPct val="115000"/>
              </a:lnSpc>
              <a:spcBef>
                <a:spcPts val="0"/>
              </a:spcBef>
              <a:spcAft>
                <a:spcPts val="0"/>
              </a:spcAft>
              <a:buSzPts val="1800"/>
              <a:buChar char="●"/>
            </a:pPr>
            <a:r>
              <a:rPr lang="en"/>
              <a:t>Used HDBSCAN and IF in conjunction to boost anomaly detection confidence</a:t>
            </a:r>
            <a:endParaRPr/>
          </a:p>
          <a:p>
            <a:pPr indent="-342900" lvl="0" marL="457200" rtl="0" algn="l">
              <a:lnSpc>
                <a:spcPct val="115000"/>
              </a:lnSpc>
              <a:spcBef>
                <a:spcPts val="0"/>
              </a:spcBef>
              <a:spcAft>
                <a:spcPts val="0"/>
              </a:spcAft>
              <a:buSzPts val="1800"/>
              <a:buChar char="●"/>
            </a:pPr>
            <a:r>
              <a:rPr lang="en"/>
              <a:t>Made human-readable reports simpler to read and more clear in its analysis</a:t>
            </a:r>
            <a:endParaRPr/>
          </a:p>
        </p:txBody>
      </p:sp>
      <p:sp>
        <p:nvSpPr>
          <p:cNvPr id="133" name="Google Shape;133;p8"/>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en"/>
              <a:t>Phase 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Finished Outputs</a:t>
            </a:r>
            <a:endParaRPr/>
          </a:p>
        </p:txBody>
      </p:sp>
      <p:pic>
        <p:nvPicPr>
          <p:cNvPr id="139" name="Google Shape;139;p9"/>
          <p:cNvPicPr preferRelativeResize="0"/>
          <p:nvPr/>
        </p:nvPicPr>
        <p:blipFill rotWithShape="1">
          <a:blip r:embed="rId3">
            <a:alphaModFix/>
          </a:blip>
          <a:srcRect b="0" l="0" r="0" t="0"/>
          <a:stretch/>
        </p:blipFill>
        <p:spPr>
          <a:xfrm>
            <a:off x="311700" y="1017800"/>
            <a:ext cx="5715476" cy="1474950"/>
          </a:xfrm>
          <a:prstGeom prst="rect">
            <a:avLst/>
          </a:prstGeom>
          <a:noFill/>
          <a:ln>
            <a:noFill/>
          </a:ln>
        </p:spPr>
      </p:pic>
      <p:pic>
        <p:nvPicPr>
          <p:cNvPr id="140" name="Google Shape;140;p9"/>
          <p:cNvPicPr preferRelativeResize="0"/>
          <p:nvPr/>
        </p:nvPicPr>
        <p:blipFill rotWithShape="1">
          <a:blip r:embed="rId4">
            <a:alphaModFix/>
          </a:blip>
          <a:srcRect b="0" l="0" r="0" t="0"/>
          <a:stretch/>
        </p:blipFill>
        <p:spPr>
          <a:xfrm>
            <a:off x="311700" y="2645150"/>
            <a:ext cx="5715475" cy="1991761"/>
          </a:xfrm>
          <a:prstGeom prst="rect">
            <a:avLst/>
          </a:prstGeom>
          <a:noFill/>
          <a:ln>
            <a:noFill/>
          </a:ln>
        </p:spPr>
      </p:pic>
      <p:pic>
        <p:nvPicPr>
          <p:cNvPr id="141" name="Google Shape;141;p9"/>
          <p:cNvPicPr preferRelativeResize="0"/>
          <p:nvPr/>
        </p:nvPicPr>
        <p:blipFill rotWithShape="1">
          <a:blip r:embed="rId5">
            <a:alphaModFix/>
          </a:blip>
          <a:srcRect b="0" l="0" r="0" t="0"/>
          <a:stretch/>
        </p:blipFill>
        <p:spPr>
          <a:xfrm>
            <a:off x="6195200" y="1017800"/>
            <a:ext cx="2812024" cy="17865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452400" y="2193900"/>
            <a:ext cx="2808000" cy="755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4000"/>
              <a:t>Results</a:t>
            </a:r>
            <a:endParaRPr sz="4000"/>
          </a:p>
        </p:txBody>
      </p:sp>
      <p:pic>
        <p:nvPicPr>
          <p:cNvPr id="147" name="Google Shape;147;p10" title="Screenshot 2026-05-04 160603.png"/>
          <p:cNvPicPr preferRelativeResize="0"/>
          <p:nvPr/>
        </p:nvPicPr>
        <p:blipFill rotWithShape="1">
          <a:blip r:embed="rId3">
            <a:alphaModFix/>
          </a:blip>
          <a:srcRect b="0" l="0" r="0" t="0"/>
          <a:stretch/>
        </p:blipFill>
        <p:spPr>
          <a:xfrm>
            <a:off x="3726937" y="0"/>
            <a:ext cx="5374999" cy="2480550"/>
          </a:xfrm>
          <a:prstGeom prst="rect">
            <a:avLst/>
          </a:prstGeom>
          <a:noFill/>
          <a:ln>
            <a:noFill/>
          </a:ln>
        </p:spPr>
      </p:pic>
      <p:pic>
        <p:nvPicPr>
          <p:cNvPr id="148" name="Google Shape;148;p10" title="Screenshot 2026-05-04 160550.png"/>
          <p:cNvPicPr preferRelativeResize="0"/>
          <p:nvPr/>
        </p:nvPicPr>
        <p:blipFill rotWithShape="1">
          <a:blip r:embed="rId4">
            <a:alphaModFix/>
          </a:blip>
          <a:srcRect b="0" l="0" r="0" t="0"/>
          <a:stretch/>
        </p:blipFill>
        <p:spPr>
          <a:xfrm>
            <a:off x="3726925" y="2587105"/>
            <a:ext cx="5417077" cy="25563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1" title="Screenshot 2026-05-04 164448.png"/>
          <p:cNvPicPr preferRelativeResize="0"/>
          <p:nvPr/>
        </p:nvPicPr>
        <p:blipFill rotWithShape="1">
          <a:blip r:embed="rId3">
            <a:alphaModFix/>
          </a:blip>
          <a:srcRect b="0" l="0" r="0" t="0"/>
          <a:stretch/>
        </p:blipFill>
        <p:spPr>
          <a:xfrm>
            <a:off x="217875" y="185275"/>
            <a:ext cx="6953693" cy="2920626"/>
          </a:xfrm>
          <a:prstGeom prst="rect">
            <a:avLst/>
          </a:prstGeom>
          <a:noFill/>
          <a:ln>
            <a:noFill/>
          </a:ln>
        </p:spPr>
      </p:pic>
      <p:pic>
        <p:nvPicPr>
          <p:cNvPr id="154" name="Google Shape;154;p11" title="Screenshot 2026-05-04 164524.png"/>
          <p:cNvPicPr preferRelativeResize="0"/>
          <p:nvPr/>
        </p:nvPicPr>
        <p:blipFill rotWithShape="1">
          <a:blip r:embed="rId4">
            <a:alphaModFix/>
          </a:blip>
          <a:srcRect b="0" l="0" r="0" t="0"/>
          <a:stretch/>
        </p:blipFill>
        <p:spPr>
          <a:xfrm>
            <a:off x="1833408" y="3309125"/>
            <a:ext cx="3722626" cy="1430425"/>
          </a:xfrm>
          <a:prstGeom prst="rect">
            <a:avLst/>
          </a:prstGeom>
          <a:noFill/>
          <a:ln>
            <a:noFill/>
          </a:ln>
        </p:spPr>
      </p:pic>
      <p:sp>
        <p:nvSpPr>
          <p:cNvPr id="155" name="Google Shape;155;p11"/>
          <p:cNvSpPr txBox="1"/>
          <p:nvPr/>
        </p:nvSpPr>
        <p:spPr>
          <a:xfrm>
            <a:off x="7228000" y="57325"/>
            <a:ext cx="1813500" cy="3720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Roboto"/>
                <a:ea typeface="Roboto"/>
                <a:cs typeface="Roboto"/>
                <a:sym typeface="Roboto"/>
              </a:rPr>
              <a:t>Using HDBSCAN and Isolated Forest Together</a:t>
            </a:r>
            <a:endParaRPr b="0" i="0" sz="24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Bonus Work</a:t>
            </a:r>
            <a:endParaRPr/>
          </a:p>
        </p:txBody>
      </p:sp>
      <p:sp>
        <p:nvSpPr>
          <p:cNvPr id="161" name="Google Shape;161;p12"/>
          <p:cNvSpPr txBox="1"/>
          <p:nvPr>
            <p:ph type="title"/>
          </p:nvPr>
        </p:nvSpPr>
        <p:spPr>
          <a:xfrm>
            <a:off x="311700" y="1116500"/>
            <a:ext cx="2808000" cy="50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100"/>
              <a:t>What We Proposed</a:t>
            </a:r>
            <a:endParaRPr sz="2100"/>
          </a:p>
        </p:txBody>
      </p:sp>
      <p:sp>
        <p:nvSpPr>
          <p:cNvPr id="162" name="Google Shape;162;p12"/>
          <p:cNvSpPr txBox="1"/>
          <p:nvPr>
            <p:ph idx="1" type="body"/>
          </p:nvPr>
        </p:nvSpPr>
        <p:spPr>
          <a:xfrm>
            <a:off x="311700" y="1774554"/>
            <a:ext cx="2808000" cy="31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1600"/>
              <a:t>Use PCA and HDBSCAN in conjunction to identify outliers, and rank the top outliers.</a:t>
            </a:r>
            <a:endParaRPr sz="1600"/>
          </a:p>
        </p:txBody>
      </p:sp>
      <p:sp>
        <p:nvSpPr>
          <p:cNvPr id="163" name="Google Shape;163;p12"/>
          <p:cNvSpPr txBox="1"/>
          <p:nvPr>
            <p:ph type="title"/>
          </p:nvPr>
        </p:nvSpPr>
        <p:spPr>
          <a:xfrm>
            <a:off x="3223450" y="1116500"/>
            <a:ext cx="2808000" cy="50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100"/>
              <a:t>What We Did Extra</a:t>
            </a:r>
            <a:endParaRPr sz="2100"/>
          </a:p>
        </p:txBody>
      </p:sp>
      <p:sp>
        <p:nvSpPr>
          <p:cNvPr id="164" name="Google Shape;164;p12"/>
          <p:cNvSpPr txBox="1"/>
          <p:nvPr>
            <p:ph idx="1" type="body"/>
          </p:nvPr>
        </p:nvSpPr>
        <p:spPr>
          <a:xfrm>
            <a:off x="3223450" y="1774554"/>
            <a:ext cx="2808000" cy="31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1600"/>
              <a:t>While PCA, HDBSCAN, and now IF detect the anomalies, we analyze the anomalies’ behavior in order to identify the likelihood an anomaly is an attack, and what type of attack it could be.</a:t>
            </a:r>
            <a:endParaRPr sz="1600"/>
          </a:p>
        </p:txBody>
      </p:sp>
      <p:sp>
        <p:nvSpPr>
          <p:cNvPr id="165" name="Google Shape;165;p12"/>
          <p:cNvSpPr txBox="1"/>
          <p:nvPr>
            <p:ph type="title"/>
          </p:nvPr>
        </p:nvSpPr>
        <p:spPr>
          <a:xfrm>
            <a:off x="6135200" y="1116500"/>
            <a:ext cx="2808000" cy="50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100"/>
              <a:t>Why It Matters</a:t>
            </a:r>
            <a:endParaRPr sz="2100"/>
          </a:p>
        </p:txBody>
      </p:sp>
      <p:sp>
        <p:nvSpPr>
          <p:cNvPr id="166" name="Google Shape;166;p12"/>
          <p:cNvSpPr txBox="1"/>
          <p:nvPr>
            <p:ph idx="1" type="body"/>
          </p:nvPr>
        </p:nvSpPr>
        <p:spPr>
          <a:xfrm>
            <a:off x="6135200" y="1774554"/>
            <a:ext cx="2808000" cy="31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1600"/>
              <a:t>Someone can upload captured traffic data from their own network and receive an analysis on the anomalies and potential threats in an organized, readable report.</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3"/>
          <p:cNvPicPr preferRelativeResize="0"/>
          <p:nvPr/>
        </p:nvPicPr>
        <p:blipFill rotWithShape="1">
          <a:blip r:embed="rId3">
            <a:alphaModFix/>
          </a:blip>
          <a:srcRect b="0" l="0" r="0" t="0"/>
          <a:stretch/>
        </p:blipFill>
        <p:spPr>
          <a:xfrm>
            <a:off x="152400" y="1017788"/>
            <a:ext cx="8839199" cy="4057576"/>
          </a:xfrm>
          <a:prstGeom prst="rect">
            <a:avLst/>
          </a:prstGeom>
          <a:noFill/>
          <a:ln>
            <a:noFill/>
          </a:ln>
        </p:spPr>
      </p:pic>
      <p:sp>
        <p:nvSpPr>
          <p:cNvPr id="172" name="Google Shape;172;p13"/>
          <p:cNvSpPr txBox="1"/>
          <p:nvPr>
            <p:ph type="title"/>
          </p:nvPr>
        </p:nvSpPr>
        <p:spPr>
          <a:xfrm>
            <a:off x="311700" y="28495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Anomaly Report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Discussion of Results</a:t>
            </a:r>
            <a:endParaRPr/>
          </a:p>
        </p:txBody>
      </p:sp>
      <p:sp>
        <p:nvSpPr>
          <p:cNvPr id="178" name="Google Shape;178;p1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Utilizing both HDBSCAN and IF boosts confidence in the methods ability to identify anomalies</a:t>
            </a:r>
            <a:endParaRPr/>
          </a:p>
          <a:p>
            <a:pPr indent="-317500" lvl="1" marL="914400" rtl="0" algn="l">
              <a:lnSpc>
                <a:spcPct val="150000"/>
              </a:lnSpc>
              <a:spcBef>
                <a:spcPts val="0"/>
              </a:spcBef>
              <a:spcAft>
                <a:spcPts val="0"/>
              </a:spcAft>
              <a:buSzPts val="1400"/>
              <a:buChar char="○"/>
            </a:pPr>
            <a:r>
              <a:rPr lang="en"/>
              <a:t>Both algorithms are lightweight and easily deployable on a Raspberry Pi for use on a home network</a:t>
            </a:r>
            <a:endParaRPr/>
          </a:p>
          <a:p>
            <a:pPr indent="-342900" lvl="0" marL="457200" rtl="0" algn="l">
              <a:lnSpc>
                <a:spcPct val="150000"/>
              </a:lnSpc>
              <a:spcBef>
                <a:spcPts val="0"/>
              </a:spcBef>
              <a:spcAft>
                <a:spcPts val="0"/>
              </a:spcAft>
              <a:buSzPts val="1800"/>
              <a:buChar char="●"/>
            </a:pPr>
            <a:r>
              <a:rPr lang="en"/>
              <a:t>Giving a user a readable report makes analyzing the method’s findings easier</a:t>
            </a:r>
            <a:endParaRPr/>
          </a:p>
          <a:p>
            <a:pPr indent="-342900" lvl="0" marL="457200" rtl="0" algn="l">
              <a:lnSpc>
                <a:spcPct val="150000"/>
              </a:lnSpc>
              <a:spcBef>
                <a:spcPts val="0"/>
              </a:spcBef>
              <a:spcAft>
                <a:spcPts val="0"/>
              </a:spcAft>
              <a:buSzPts val="1800"/>
              <a:buChar char="●"/>
            </a:pPr>
            <a:r>
              <a:rPr lang="en"/>
              <a:t>Potential Issues: Results may not generalize to full traffic volume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a:t>GitHub Links</a:t>
            </a:r>
            <a:endParaRPr/>
          </a:p>
        </p:txBody>
      </p:sp>
      <p:sp>
        <p:nvSpPr>
          <p:cNvPr id="184" name="Google Shape;184;p1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sz="2000" u="sng">
                <a:solidFill>
                  <a:schemeClr val="hlink"/>
                </a:solidFill>
                <a:hlinkClick r:id="rId3"/>
              </a:rPr>
              <a:t>https://github.com/Ashfter/CS472_Final_Project</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en" sz="2000" u="sng">
                <a:solidFill>
                  <a:schemeClr val="hlink"/>
                </a:solidFill>
                <a:hlinkClick r:id="rId4"/>
              </a:rPr>
              <a:t>https://ashfter.github.io/CS472_Final_Project</a:t>
            </a:r>
            <a:endParaRPr sz="2000"/>
          </a:p>
          <a:p>
            <a:pPr indent="0" lvl="0" marL="0" rtl="0" algn="l">
              <a:lnSpc>
                <a:spcPct val="115000"/>
              </a:lnSpc>
              <a:spcBef>
                <a:spcPts val="0"/>
              </a:spcBef>
              <a:spcAft>
                <a:spcPts val="0"/>
              </a:spcAft>
              <a:buNone/>
            </a:pPr>
            <a:r>
              <a:t/>
            </a:r>
            <a:endParaRPr sz="2000"/>
          </a:p>
        </p:txBody>
      </p:sp>
      <p:sp>
        <p:nvSpPr>
          <p:cNvPr id="185" name="Google Shape;185;p15"/>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idx="4294967295" type="body"/>
          </p:nvPr>
        </p:nvSpPr>
        <p:spPr>
          <a:xfrm>
            <a:off x="311700" y="0"/>
            <a:ext cx="8520600" cy="51435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800"/>
              <a:buNone/>
            </a:pPr>
            <a:r>
              <a:rPr lang="en" sz="6000">
                <a:solidFill>
                  <a:schemeClr val="lt1"/>
                </a:solidFill>
              </a:rPr>
              <a:t>Thank You!</a:t>
            </a:r>
            <a:endParaRPr sz="6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