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Play"/>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d1e3YvNW+lkZ5E6n8zW0WxaCD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lay-bold.fntdata"/><Relationship Id="rId6" Type="http://schemas.openxmlformats.org/officeDocument/2006/relationships/slide" Target="slides/slide1.xml"/><Relationship Id="rId18" Type="http://schemas.openxmlformats.org/officeDocument/2006/relationships/font" Target="fonts/Play-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lt1"/>
                </a:solidFill>
                <a:latin typeface="Arial"/>
                <a:ea typeface="Arial"/>
                <a:cs typeface="Arial"/>
                <a:sym typeface="Arial"/>
              </a:rPr>
              <a:t>“Good afternoon, We are Group Juan. Our project is unsupervised clustering of plant images using K-Means. We compare three feature pipelines: raw pixels, handcrafted color-and-texture features, and CNN embeddings; and we optimally choose the number of clusters using silhouette scores. Today we will show what we built since our last update, how we preprocess the data, our first quantitative and qualitative results, and a short look at the code.”</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a:solidFill>
                  <a:schemeClr val="dk1"/>
                </a:solidFill>
                <a:latin typeface="Arial"/>
                <a:ea typeface="Arial"/>
                <a:cs typeface="Arial"/>
                <a:sym typeface="Arial"/>
              </a:rPr>
              <a:t>“Our code, README, environment file, and run instructions live in the repository on this slide. The project site link is our GitHub Pages site. The link is also in the footer of our slides for the rest of the talk.”</a:t>
            </a:r>
            <a:endParaRPr/>
          </a:p>
          <a:p>
            <a:pPr indent="0" lvl="0" marL="0" rtl="0" algn="l">
              <a:spcBef>
                <a:spcPts val="0"/>
              </a:spcBef>
              <a:spcAft>
                <a:spcPts val="0"/>
              </a:spcAft>
              <a:buNone/>
            </a:pPr>
            <a:r>
              <a:t/>
            </a:r>
            <a:endParaRPr/>
          </a:p>
        </p:txBody>
      </p:sp>
      <p:sp>
        <p:nvSpPr>
          <p:cNvPr id="108" name="Google Shape;10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“Our goal is to see whether different feature pipelines produce coherent plant groupings. We run the same K-Means procedure on each feature matrix, sweep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over a configured range, and pick the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with the highest silhouette score on that representation. Our experiment driver logs everything to JSON and CSV and saves figures so the results are reproducible.”</a:t>
            </a:r>
            <a:endParaRPr/>
          </a:p>
        </p:txBody>
      </p:sp>
      <p:sp>
        <p:nvSpPr>
          <p:cNvPr id="119" name="Google Shape;11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“Since the overview, we implemented a full experiment bundle, not just a notebook sketch. We start the project by running the main python script with a valid configuration. It loads images per the config—either the iNaturalist Plantae subset or through local folders—then runs each feature pipeline, tunes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fits the final model, and writes metrics, creates a table, saved configuration snapshot, and plots.”</a:t>
            </a:r>
            <a:endParaRPr/>
          </a:p>
          <a:p>
            <a:pPr indent="0" lvl="0" marL="0" rtl="0" algn="l">
              <a:spcBef>
                <a:spcPts val="0"/>
              </a:spcBef>
              <a:spcAft>
                <a:spcPts val="0"/>
              </a:spcAft>
              <a:buNone/>
            </a:pPr>
            <a:br>
              <a:rPr lang="en-US"/>
            </a:b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“We use plant images from iNaturalist 2021, restricted to Plantae, with a configurable cap so experiments finish in reasonable time. Every run uses a fixed random seed. For preprocessing, we resize images to 64 X 64 for the raw and handcrafted pipelines, and to 224 X 224 for the CNN path with standard ImageNet normalization. Raw pixels are flattened; we typically standardize and reduce dimension with PCA before K-Means.”</a:t>
            </a:r>
            <a:endParaRPr/>
          </a:p>
        </p:txBody>
      </p:sp>
      <p:sp>
        <p:nvSpPr>
          <p:cNvPr id="160" name="Google Shape;1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Preprocessing isn’t just resizing. For raw pixels we flatten reduce dimension with PCA because K-Means struggles in very high dimensions. Handcrafted features compress color and gradient structure using HOG (histogram-oriented gradient). The CNN features use a pretrained network to get a dense embedding per image.</a:t>
            </a:r>
            <a:endParaRPr/>
          </a:p>
        </p:txBody>
      </p:sp>
      <p:sp>
        <p:nvSpPr>
          <p:cNvPr id="173" name="Google Shape;17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We use sklearn K-Means with k-means++ initialization for clustering. For each feature type we sweep k and pick the k with highest silhouette. We’re also running a small ablation on raw pixels with PCA turned off to see how sensitive results are.</a:t>
            </a:r>
            <a:endParaRPr/>
          </a:p>
        </p:txBody>
      </p:sp>
      <p:sp>
        <p:nvSpPr>
          <p:cNvPr id="187" name="Google Shape;18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“Here we show five random—or representative—images per cluster for each representation. For raw pixels at sixty-four by sixty-four, clusters are partly driven by color and coarse texture, but rows are still quite mixed. Handcrafted features combine color histograms and HOG; visually some rows share dominant green or floral structure even though silhouette was poor, which suggests the feature space may not be Euclidean-friendly for K-Means. For CNN embeddings at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equals four, rows look more semantically organized—for example one row emphasizes isolated flowers, another dense leafy groundcover, another fern-like or repetitive foliage—without ever training on taxonomic labels. That is the qualitative evidence we want alongside the silhouette curves.”</a:t>
            </a:r>
            <a:endParaRPr/>
          </a:p>
          <a:p>
            <a:pPr indent="0" lvl="0" marL="0" rtl="0" algn="l">
              <a:spcBef>
                <a:spcPts val="0"/>
              </a:spcBef>
              <a:spcAft>
                <a:spcPts val="0"/>
              </a:spcAft>
              <a:buNone/>
            </a:pPr>
            <a:br>
              <a:rPr lang="en-US"/>
            </a:br>
            <a:endParaRPr/>
          </a:p>
        </p:txBody>
      </p:sp>
      <p:sp>
        <p:nvSpPr>
          <p:cNvPr id="199" name="Google Shape;1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“Our results suggest high silhouette on raw pixels may partly reflect compact clusters in a heavily reduced PCA space, not necessarily botanical species. The negative handcrafted silhouettes warn us not to trust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selection on that curve alone—we may adjust bin counts, HOG parameters, or try normalization. CNN clusters look meaningful at four groups but the metric degrades for larger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which could mean splitting fine-grained classes hurts cohesion. For the final submission we will lock subsample size and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range, add runtime notes, show more qualitative examples, and connect supervised diagnostics like ARI and NMI to limitations stated in our evaluation module.”</a:t>
            </a:r>
            <a:endParaRPr/>
          </a:p>
        </p:txBody>
      </p:sp>
      <p:sp>
        <p:nvSpPr>
          <p:cNvPr id="213" name="Google Shape;21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“This snippet is the core of our implementation. For each feature name we call the corresponding extractor with the image size from config. CNN embeddings are standardized before clustering. Then _prepare_matrix handles scaling and optional PCA for raw pixels. We build K-Means keyword arguments from config, call tune_k over the configured </a:t>
            </a:r>
            <a:r>
              <a:rPr b="0" i="1" lang="en-US" sz="1200">
                <a:solidFill>
                  <a:schemeClr val="dk1"/>
                </a:solidFill>
                <a:latin typeface="Arial"/>
                <a:ea typeface="Arial"/>
                <a:cs typeface="Arial"/>
                <a:sym typeface="Arial"/>
              </a:rPr>
              <a:t>k</a:t>
            </a:r>
            <a:r>
              <a:rPr b="0" i="0" lang="en-US" sz="1200">
                <a:solidFill>
                  <a:schemeClr val="dk1"/>
                </a:solidFill>
                <a:latin typeface="Arial"/>
                <a:ea typeface="Arial"/>
                <a:cs typeface="Arial"/>
                <a:sym typeface="Arial"/>
              </a:rPr>
              <a:t> range, and read off best_k. The rest of the function—not shown—computes silhouette, optional supervised metrics, and saves outputs.”</a:t>
            </a:r>
            <a:endParaRPr/>
          </a:p>
        </p:txBody>
      </p:sp>
      <p:sp>
        <p:nvSpPr>
          <p:cNvPr id="243" name="Google Shape;24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project’s codebase is complete and pushed to GitHub. We’ve created a GitHub page for all the info about this project for future researchers to use.</a:t>
            </a:r>
            <a:endParaRPr/>
          </a:p>
          <a:p>
            <a:pPr indent="0" lvl="0" marL="0" rtl="0" algn="l">
              <a:spcBef>
                <a:spcPts val="0"/>
              </a:spcBef>
              <a:spcAft>
                <a:spcPts val="0"/>
              </a:spcAft>
              <a:buNone/>
            </a:pPr>
            <a:r>
              <a:rPr lang="en-US"/>
              <a:t>We have finished implemented all of our planned features and proved the projects feasibility. </a:t>
            </a:r>
            <a:endParaRPr/>
          </a:p>
          <a:p>
            <a:pPr indent="0" lvl="0" marL="0" rtl="0" algn="l">
              <a:spcBef>
                <a:spcPts val="0"/>
              </a:spcBef>
              <a:spcAft>
                <a:spcPts val="0"/>
              </a:spcAft>
              <a:buNone/>
            </a:pPr>
            <a:r>
              <a:rPr lang="en-US"/>
              <a:t>Next, we are finishing the final report and we will submit our project to canvas.</a:t>
            </a:r>
            <a:endParaRPr/>
          </a:p>
        </p:txBody>
      </p:sp>
      <p:sp>
        <p:nvSpPr>
          <p:cNvPr id="255" name="Google Shape;25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1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1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2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2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2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4"/>
          <p:cNvSpPr/>
          <p:nvPr>
            <p:ph idx="2" type="pic"/>
          </p:nvPr>
        </p:nvSpPr>
        <p:spPr>
          <a:xfrm>
            <a:off x="5183188" y="987425"/>
            <a:ext cx="6172200" cy="4873625"/>
          </a:xfrm>
          <a:prstGeom prst="rect">
            <a:avLst/>
          </a:prstGeom>
          <a:noFill/>
          <a:ln>
            <a:noFill/>
          </a:ln>
        </p:spPr>
      </p:sp>
      <p:sp>
        <p:nvSpPr>
          <p:cNvPr id="80" name="Google Shape;80;p2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2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Play"/>
              <a:buNone/>
              <a:defRPr b="0" i="0" sz="4400" u="none" cap="none" strike="noStrik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Arial"/>
                <a:ea typeface="Arial"/>
                <a:cs typeface="Arial"/>
                <a:sym typeface="Arial"/>
              </a:defRPr>
            </a:lvl1pPr>
            <a:lvl2pPr indent="0" lvl="1" marL="0" marR="0" rtl="0" algn="r">
              <a:spcBef>
                <a:spcPts val="0"/>
              </a:spcBef>
              <a:buNone/>
              <a:defRPr b="0" i="0" sz="1200" u="none" cap="none" strike="noStrike">
                <a:solidFill>
                  <a:schemeClr val="lt1"/>
                </a:solidFill>
                <a:latin typeface="Arial"/>
                <a:ea typeface="Arial"/>
                <a:cs typeface="Arial"/>
                <a:sym typeface="Arial"/>
              </a:defRPr>
            </a:lvl2pPr>
            <a:lvl3pPr indent="0" lvl="2" marL="0" marR="0" rtl="0" algn="r">
              <a:spcBef>
                <a:spcPts val="0"/>
              </a:spcBef>
              <a:buNone/>
              <a:defRPr b="0" i="0" sz="1200" u="none" cap="none" strike="noStrike">
                <a:solidFill>
                  <a:schemeClr val="lt1"/>
                </a:solidFill>
                <a:latin typeface="Arial"/>
                <a:ea typeface="Arial"/>
                <a:cs typeface="Arial"/>
                <a:sym typeface="Arial"/>
              </a:defRPr>
            </a:lvl3pPr>
            <a:lvl4pPr indent="0" lvl="3" marL="0" marR="0" rtl="0" algn="r">
              <a:spcBef>
                <a:spcPts val="0"/>
              </a:spcBef>
              <a:buNone/>
              <a:defRPr b="0" i="0" sz="1200" u="none" cap="none" strike="noStrike">
                <a:solidFill>
                  <a:schemeClr val="lt1"/>
                </a:solidFill>
                <a:latin typeface="Arial"/>
                <a:ea typeface="Arial"/>
                <a:cs typeface="Arial"/>
                <a:sym typeface="Arial"/>
              </a:defRPr>
            </a:lvl4pPr>
            <a:lvl5pPr indent="0" lvl="4" marL="0" marR="0" rtl="0" algn="r">
              <a:spcBef>
                <a:spcPts val="0"/>
              </a:spcBef>
              <a:buNone/>
              <a:defRPr b="0" i="0" sz="1200" u="none" cap="none" strike="noStrike">
                <a:solidFill>
                  <a:schemeClr val="lt1"/>
                </a:solidFill>
                <a:latin typeface="Arial"/>
                <a:ea typeface="Arial"/>
                <a:cs typeface="Arial"/>
                <a:sym typeface="Arial"/>
              </a:defRPr>
            </a:lvl5pPr>
            <a:lvl6pPr indent="0" lvl="5" marL="0" marR="0" rtl="0" algn="r">
              <a:spcBef>
                <a:spcPts val="0"/>
              </a:spcBef>
              <a:buNone/>
              <a:defRPr b="0" i="0" sz="1200" u="none" cap="none" strike="noStrike">
                <a:solidFill>
                  <a:schemeClr val="lt1"/>
                </a:solidFill>
                <a:latin typeface="Arial"/>
                <a:ea typeface="Arial"/>
                <a:cs typeface="Arial"/>
                <a:sym typeface="Arial"/>
              </a:defRPr>
            </a:lvl6pPr>
            <a:lvl7pPr indent="0" lvl="6" marL="0" marR="0" rtl="0" algn="r">
              <a:spcBef>
                <a:spcPts val="0"/>
              </a:spcBef>
              <a:buNone/>
              <a:defRPr b="0" i="0" sz="1200" u="none" cap="none" strike="noStrike">
                <a:solidFill>
                  <a:schemeClr val="lt1"/>
                </a:solidFill>
                <a:latin typeface="Arial"/>
                <a:ea typeface="Arial"/>
                <a:cs typeface="Arial"/>
                <a:sym typeface="Arial"/>
              </a:defRPr>
            </a:lvl7pPr>
            <a:lvl8pPr indent="0" lvl="7" marL="0" marR="0" rtl="0" algn="r">
              <a:spcBef>
                <a:spcPts val="0"/>
              </a:spcBef>
              <a:buNone/>
              <a:defRPr b="0" i="0" sz="1200" u="none" cap="none" strike="noStrike">
                <a:solidFill>
                  <a:schemeClr val="lt1"/>
                </a:solidFill>
                <a:latin typeface="Arial"/>
                <a:ea typeface="Arial"/>
                <a:cs typeface="Arial"/>
                <a:sym typeface="Arial"/>
              </a:defRPr>
            </a:lvl8pPr>
            <a:lvl9pPr indent="0" lvl="8" marL="0" marR="0" rtl="0" algn="r">
              <a:spcBef>
                <a:spcPts val="0"/>
              </a:spcBef>
              <a:buNone/>
              <a:defRPr b="0" i="0" sz="12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github.com/D3VTHSTVR/plant_clustering" TargetMode="External"/><Relationship Id="rId4" Type="http://schemas.openxmlformats.org/officeDocument/2006/relationships/hyperlink" Target="https://d3vthstvr.github.io/plant_clustering/" TargetMode="External"/><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0" name="Shape 100"/>
        <p:cNvGrpSpPr/>
        <p:nvPr/>
      </p:nvGrpSpPr>
      <p:grpSpPr>
        <a:xfrm>
          <a:off x="0" y="0"/>
          <a:ext cx="0" cy="0"/>
          <a:chOff x="0" y="0"/>
          <a:chExt cx="0" cy="0"/>
        </a:xfrm>
      </p:grpSpPr>
      <p:sp>
        <p:nvSpPr>
          <p:cNvPr id="101" name="Google Shape;101;p1"/>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Small plant growing on soil" id="102" name="Google Shape;102;p1"/>
          <p:cNvPicPr preferRelativeResize="0"/>
          <p:nvPr/>
        </p:nvPicPr>
        <p:blipFill rotWithShape="1">
          <a:blip r:embed="rId3">
            <a:alphaModFix amt="50000"/>
          </a:blip>
          <a:srcRect b="0" l="0" r="0" t="15730"/>
          <a:stretch/>
        </p:blipFill>
        <p:spPr>
          <a:xfrm>
            <a:off x="20" y="1"/>
            <a:ext cx="12191980" cy="6857999"/>
          </a:xfrm>
          <a:prstGeom prst="rect">
            <a:avLst/>
          </a:prstGeom>
          <a:noFill/>
          <a:ln>
            <a:noFill/>
          </a:ln>
        </p:spPr>
      </p:pic>
      <p:sp>
        <p:nvSpPr>
          <p:cNvPr id="103" name="Google Shape;103;p1"/>
          <p:cNvSpPr txBox="1"/>
          <p:nvPr>
            <p:ph type="ctr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5100"/>
              <a:buFont typeface="Play"/>
              <a:buNone/>
            </a:pPr>
            <a:r>
              <a:rPr lang="en-US" sz="5100">
                <a:solidFill>
                  <a:srgbClr val="FFFFFF"/>
                </a:solidFill>
              </a:rPr>
              <a:t>Identifying Plant Types with K-Means (CS 572 progress update)</a:t>
            </a:r>
            <a:endParaRPr/>
          </a:p>
        </p:txBody>
      </p:sp>
      <p:sp>
        <p:nvSpPr>
          <p:cNvPr id="104" name="Google Shape;104;p1"/>
          <p:cNvSpPr txBox="1"/>
          <p:nvPr>
            <p:ph idx="1" type="subTitle"/>
          </p:nvPr>
        </p:nvSpPr>
        <p:spPr>
          <a:xfrm>
            <a:off x="1524000" y="4159404"/>
            <a:ext cx="9144000" cy="109839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1100"/>
              <a:buNone/>
            </a:pPr>
            <a:r>
              <a:rPr lang="en-US" sz="1100">
                <a:solidFill>
                  <a:srgbClr val="FFFFFF"/>
                </a:solidFill>
              </a:rPr>
              <a:t>Group: Juan</a:t>
            </a:r>
            <a:endParaRPr/>
          </a:p>
          <a:p>
            <a:pPr indent="0" lvl="0" marL="0" rtl="0" algn="ctr">
              <a:lnSpc>
                <a:spcPct val="90000"/>
              </a:lnSpc>
              <a:spcBef>
                <a:spcPts val="1000"/>
              </a:spcBef>
              <a:spcAft>
                <a:spcPts val="0"/>
              </a:spcAft>
              <a:buClr>
                <a:srgbClr val="FFFFFF"/>
              </a:buClr>
              <a:buSzPts val="1100"/>
              <a:buNone/>
            </a:pPr>
            <a:r>
              <a:rPr lang="en-US" sz="1100">
                <a:solidFill>
                  <a:srgbClr val="FFFFFF"/>
                </a:solidFill>
              </a:rPr>
              <a:t>Lucas Larson &amp; Victor Rodriguez</a:t>
            </a:r>
            <a:endParaRPr/>
          </a:p>
          <a:p>
            <a:pPr indent="0" lvl="0" marL="0" rtl="0" algn="ctr">
              <a:lnSpc>
                <a:spcPct val="90000"/>
              </a:lnSpc>
              <a:spcBef>
                <a:spcPts val="1000"/>
              </a:spcBef>
              <a:spcAft>
                <a:spcPts val="0"/>
              </a:spcAft>
              <a:buClr>
                <a:srgbClr val="FFFFFF"/>
              </a:buClr>
              <a:buSzPts val="1100"/>
              <a:buNone/>
            </a:pPr>
            <a:r>
              <a:rPr lang="en-US" sz="1100">
                <a:solidFill>
                  <a:srgbClr val="FFFFFF"/>
                </a:solidFill>
              </a:rPr>
              <a:t>CS 472/572</a:t>
            </a:r>
            <a:endParaRPr/>
          </a:p>
          <a:p>
            <a:pPr indent="0" lvl="0" marL="0" rtl="0" algn="ctr">
              <a:lnSpc>
                <a:spcPct val="90000"/>
              </a:lnSpc>
              <a:spcBef>
                <a:spcPts val="1000"/>
              </a:spcBef>
              <a:spcAft>
                <a:spcPts val="0"/>
              </a:spcAft>
              <a:buClr>
                <a:srgbClr val="FFFFFF"/>
              </a:buClr>
              <a:buSzPts val="1100"/>
              <a:buNone/>
            </a:pPr>
            <a:r>
              <a:rPr lang="en-US" sz="1100">
                <a:solidFill>
                  <a:srgbClr val="FFFFFF"/>
                </a:solidFill>
              </a:rPr>
              <a:t>5/4/2026</a:t>
            </a:r>
            <a:endParaRPr/>
          </a:p>
          <a:p>
            <a:pPr indent="0" lvl="0" marL="0" rtl="0" algn="ctr">
              <a:lnSpc>
                <a:spcPct val="90000"/>
              </a:lnSpc>
              <a:spcBef>
                <a:spcPts val="1000"/>
              </a:spcBef>
              <a:spcAft>
                <a:spcPts val="0"/>
              </a:spcAft>
              <a:buClr>
                <a:schemeClr val="lt1"/>
              </a:buClr>
              <a:buSzPts val="1100"/>
              <a:buNone/>
            </a:pPr>
            <a:r>
              <a:t/>
            </a:r>
            <a:endParaRPr sz="110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 name="Shape 109"/>
        <p:cNvGrpSpPr/>
        <p:nvPr/>
      </p:nvGrpSpPr>
      <p:grpSpPr>
        <a:xfrm>
          <a:off x="0" y="0"/>
          <a:ext cx="0" cy="0"/>
          <a:chOff x="0" y="0"/>
          <a:chExt cx="0" cy="0"/>
        </a:xfrm>
      </p:grpSpPr>
      <p:sp>
        <p:nvSpPr>
          <p:cNvPr id="110" name="Google Shape;110;p2"/>
          <p:cNvSpPr txBox="1"/>
          <p:nvPr>
            <p:ph type="title"/>
          </p:nvPr>
        </p:nvSpPr>
        <p:spPr>
          <a:xfrm>
            <a:off x="876693" y="741391"/>
            <a:ext cx="3455821" cy="161620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lang="en-US" sz="3200">
                <a:solidFill>
                  <a:schemeClr val="dk1"/>
                </a:solidFill>
                <a:latin typeface="Play"/>
                <a:ea typeface="Play"/>
                <a:cs typeface="Play"/>
                <a:sym typeface="Play"/>
              </a:rPr>
              <a:t>Project Link</a:t>
            </a:r>
            <a:endParaRPr/>
          </a:p>
        </p:txBody>
      </p:sp>
      <p:sp>
        <p:nvSpPr>
          <p:cNvPr id="111" name="Google Shape;111;p2"/>
          <p:cNvSpPr txBox="1"/>
          <p:nvPr/>
        </p:nvSpPr>
        <p:spPr>
          <a:xfrm>
            <a:off x="876693" y="2533476"/>
            <a:ext cx="3455821" cy="344783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GitHub repository: </a:t>
            </a:r>
            <a:r>
              <a:rPr b="0" i="0" lang="en-US" sz="2000" u="sng" cap="none" strike="noStrike">
                <a:solidFill>
                  <a:schemeClr val="dk1"/>
                </a:solidFill>
                <a:latin typeface="Arial"/>
                <a:ea typeface="Arial"/>
                <a:cs typeface="Arial"/>
                <a:sym typeface="Arial"/>
                <a:hlinkClick r:id="rId3">
                  <a:extLst>
                    <a:ext uri="{A12FA001-AC4F-418D-AE19-62706E023703}">
                      <ahyp:hlinkClr val="tx"/>
                    </a:ext>
                  </a:extLst>
                </a:hlinkClick>
              </a:rPr>
              <a:t>https://github.com/D3VTHSTVR/plant_clustering</a:t>
            </a:r>
            <a:endParaRPr b="0" i="0" sz="2000" u="none" cap="none" strike="noStrike">
              <a:solidFill>
                <a:schemeClr val="dk1"/>
              </a:solidFill>
              <a:latin typeface="Arial"/>
              <a:ea typeface="Arial"/>
              <a:cs typeface="Arial"/>
              <a:sym typeface="Arial"/>
            </a:endParaRPr>
          </a:p>
          <a:p>
            <a:pPr indent="127000" lvl="0" marL="0" marR="0" rtl="0" algn="l">
              <a:lnSpc>
                <a:spcPct val="90000"/>
              </a:lnSpc>
              <a:spcBef>
                <a:spcPts val="6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127000" lvl="0" marL="0" marR="0" rtl="0" algn="l">
              <a:lnSpc>
                <a:spcPct val="90000"/>
              </a:lnSpc>
              <a:spcBef>
                <a:spcPts val="6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6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GitHub Page:</a:t>
            </a:r>
            <a:br>
              <a:rPr b="0" i="0" lang="en-US" sz="2000" u="none" cap="none" strike="noStrike">
                <a:solidFill>
                  <a:schemeClr val="dk1"/>
                </a:solidFill>
                <a:latin typeface="Arial"/>
                <a:ea typeface="Arial"/>
                <a:cs typeface="Arial"/>
                <a:sym typeface="Arial"/>
              </a:rPr>
            </a:br>
            <a:r>
              <a:rPr b="0" i="0" lang="en-US" sz="2000" u="sng" cap="none" strike="noStrike">
                <a:solidFill>
                  <a:schemeClr val="dk1"/>
                </a:solidFill>
                <a:latin typeface="Arial"/>
                <a:ea typeface="Arial"/>
                <a:cs typeface="Arial"/>
                <a:sym typeface="Arial"/>
                <a:hlinkClick r:id="rId4">
                  <a:extLst>
                    <a:ext uri="{A12FA001-AC4F-418D-AE19-62706E023703}">
                      <ahyp:hlinkClr val="tx"/>
                    </a:ext>
                  </a:extLst>
                </a:hlinkClick>
              </a:rPr>
              <a:t>https://d3vthstvr.github.io/plant_clustering/</a:t>
            </a:r>
            <a:r>
              <a:rPr b="0" i="0" lang="en-US" sz="2000" u="none" cap="none" strike="noStrike">
                <a:solidFill>
                  <a:schemeClr val="dk1"/>
                </a:solidFill>
                <a:latin typeface="Arial"/>
                <a:ea typeface="Arial"/>
                <a:cs typeface="Arial"/>
                <a:sym typeface="Arial"/>
              </a:rPr>
              <a:t> </a:t>
            </a:r>
            <a:endParaRPr/>
          </a:p>
          <a:p>
            <a:pPr indent="127000" lvl="0" marL="0" marR="0" rtl="0" algn="l">
              <a:lnSpc>
                <a:spcPct val="90000"/>
              </a:lnSpc>
              <a:spcBef>
                <a:spcPts val="6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pic>
        <p:nvPicPr>
          <p:cNvPr id="112" name="Google Shape;112;p2"/>
          <p:cNvPicPr preferRelativeResize="0"/>
          <p:nvPr>
            <p:ph idx="1" type="body"/>
          </p:nvPr>
        </p:nvPicPr>
        <p:blipFill rotWithShape="1">
          <a:blip r:embed="rId5">
            <a:alphaModFix/>
          </a:blip>
          <a:srcRect b="0" l="0" r="0" t="0"/>
          <a:stretch/>
        </p:blipFill>
        <p:spPr>
          <a:xfrm>
            <a:off x="4987672" y="1668598"/>
            <a:ext cx="6389346" cy="3530113"/>
          </a:xfrm>
          <a:prstGeom prst="rect">
            <a:avLst/>
          </a:prstGeom>
          <a:noFill/>
          <a:ln>
            <a:noFill/>
          </a:ln>
        </p:spPr>
      </p:pic>
      <p:grpSp>
        <p:nvGrpSpPr>
          <p:cNvPr id="113" name="Google Shape;113;p2"/>
          <p:cNvGrpSpPr/>
          <p:nvPr/>
        </p:nvGrpSpPr>
        <p:grpSpPr>
          <a:xfrm flipH="1">
            <a:off x="12068638" y="0"/>
            <a:ext cx="123362" cy="6858000"/>
            <a:chOff x="12068638" y="0"/>
            <a:chExt cx="123362" cy="6858000"/>
          </a:xfrm>
        </p:grpSpPr>
        <p:sp>
          <p:nvSpPr>
            <p:cNvPr id="114" name="Google Shape;114;p2"/>
            <p:cNvSpPr/>
            <p:nvPr/>
          </p:nvSpPr>
          <p:spPr>
            <a:xfrm>
              <a:off x="12068638" y="0"/>
              <a:ext cx="123362" cy="6858000"/>
            </a:xfrm>
            <a:prstGeom prst="rect">
              <a:avLst/>
            </a:prstGeom>
            <a:gradFill>
              <a:gsLst>
                <a:gs pos="0">
                  <a:schemeClr val="accent2"/>
                </a:gs>
                <a:gs pos="100000">
                  <a:schemeClr val="accent5"/>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5" name="Google Shape;115;p2"/>
            <p:cNvSpPr/>
            <p:nvPr/>
          </p:nvSpPr>
          <p:spPr>
            <a:xfrm>
              <a:off x="12068638" y="3527553"/>
              <a:ext cx="123362" cy="3330447"/>
            </a:xfrm>
            <a:prstGeom prst="rect">
              <a:avLst/>
            </a:prstGeom>
            <a:gradFill>
              <a:gsLst>
                <a:gs pos="0">
                  <a:srgbClr val="D86CCC">
                    <a:alpha val="0"/>
                  </a:srgbClr>
                </a:gs>
                <a:gs pos="19000">
                  <a:srgbClr val="D86CCC">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3"/>
          <p:cNvSpPr/>
          <p:nvPr/>
        </p:nvSpPr>
        <p:spPr>
          <a:xfrm>
            <a:off x="0" y="-4233"/>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2" name="Google Shape;122;p3"/>
          <p:cNvSpPr txBox="1"/>
          <p:nvPr>
            <p:ph type="title"/>
          </p:nvPr>
        </p:nvSpPr>
        <p:spPr>
          <a:xfrm>
            <a:off x="589009" y="502400"/>
            <a:ext cx="3367171" cy="181806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Play"/>
              <a:buNone/>
            </a:pPr>
            <a:r>
              <a:rPr lang="en-US" sz="2800"/>
              <a:t> Goal &amp; approach</a:t>
            </a:r>
            <a:endParaRPr/>
          </a:p>
        </p:txBody>
      </p:sp>
      <p:pic>
        <p:nvPicPr>
          <p:cNvPr id="123" name="Google Shape;123;p3"/>
          <p:cNvPicPr preferRelativeResize="0"/>
          <p:nvPr/>
        </p:nvPicPr>
        <p:blipFill rotWithShape="1">
          <a:blip r:embed="rId3">
            <a:alphaModFix/>
          </a:blip>
          <a:srcRect b="3167" l="0" r="0" t="2254"/>
          <a:stretch/>
        </p:blipFill>
        <p:spPr>
          <a:xfrm>
            <a:off x="4555236" y="6"/>
            <a:ext cx="7636763" cy="2762724"/>
          </a:xfrm>
          <a:prstGeom prst="rect">
            <a:avLst/>
          </a:prstGeom>
          <a:noFill/>
          <a:ln>
            <a:noFill/>
          </a:ln>
        </p:spPr>
      </p:pic>
      <p:sp>
        <p:nvSpPr>
          <p:cNvPr id="124" name="Google Shape;124;p3"/>
          <p:cNvSpPr/>
          <p:nvPr/>
        </p:nvSpPr>
        <p:spPr>
          <a:xfrm>
            <a:off x="0" y="2762729"/>
            <a:ext cx="12192000" cy="64008"/>
          </a:xfrm>
          <a:prstGeom prst="rect">
            <a:avLst/>
          </a:prstGeom>
          <a:solidFill>
            <a:srgbClr val="0613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Arial"/>
              <a:ea typeface="Arial"/>
              <a:cs typeface="Arial"/>
              <a:sym typeface="Arial"/>
            </a:endParaRPr>
          </a:p>
        </p:txBody>
      </p:sp>
      <p:pic>
        <p:nvPicPr>
          <p:cNvPr id="125" name="Google Shape;125;p3"/>
          <p:cNvPicPr preferRelativeResize="0"/>
          <p:nvPr/>
        </p:nvPicPr>
        <p:blipFill rotWithShape="1">
          <a:blip r:embed="rId4">
            <a:alphaModFix/>
          </a:blip>
          <a:srcRect b="3" l="14862" r="8690" t="0"/>
          <a:stretch/>
        </p:blipFill>
        <p:spPr>
          <a:xfrm>
            <a:off x="-1" y="2826737"/>
            <a:ext cx="4565779" cy="4031263"/>
          </a:xfrm>
          <a:prstGeom prst="rect">
            <a:avLst/>
          </a:prstGeom>
          <a:noFill/>
          <a:ln>
            <a:noFill/>
          </a:ln>
        </p:spPr>
      </p:pic>
      <p:sp>
        <p:nvSpPr>
          <p:cNvPr id="126" name="Google Shape;126;p3"/>
          <p:cNvSpPr txBox="1"/>
          <p:nvPr>
            <p:ph idx="1" type="body"/>
          </p:nvPr>
        </p:nvSpPr>
        <p:spPr>
          <a:xfrm>
            <a:off x="5449633" y="3455208"/>
            <a:ext cx="5742432" cy="234470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lang="en-US" sz="1700"/>
              <a:t>Goal: meaningful clusters without supervision</a:t>
            </a:r>
            <a:endParaRPr/>
          </a:p>
          <a:p>
            <a:pPr indent="-228600" lvl="0" marL="228600" rtl="0" algn="l">
              <a:lnSpc>
                <a:spcPct val="90000"/>
              </a:lnSpc>
              <a:spcBef>
                <a:spcPts val="1000"/>
              </a:spcBef>
              <a:spcAft>
                <a:spcPts val="0"/>
              </a:spcAft>
              <a:buClr>
                <a:schemeClr val="dk1"/>
              </a:buClr>
              <a:buSzPts val="1700"/>
              <a:buChar char="•"/>
            </a:pPr>
            <a:r>
              <a:rPr lang="en-US" sz="1700"/>
              <a:t>Features: (1) raw pixels + standardize + optional PCA, (2) RGB histogram + HOG, (3) CNN embedding vector</a:t>
            </a:r>
            <a:endParaRPr/>
          </a:p>
          <a:p>
            <a:pPr indent="-228600" lvl="0" marL="228600" rtl="0" algn="l">
              <a:lnSpc>
                <a:spcPct val="90000"/>
              </a:lnSpc>
              <a:spcBef>
                <a:spcPts val="1000"/>
              </a:spcBef>
              <a:spcAft>
                <a:spcPts val="0"/>
              </a:spcAft>
              <a:buClr>
                <a:schemeClr val="dk1"/>
              </a:buClr>
              <a:buSzPts val="1700"/>
              <a:buChar char="•"/>
            </a:pPr>
            <a:r>
              <a:rPr lang="en-US" sz="1700"/>
              <a:t>Clustering: K-Means; sweep </a:t>
            </a:r>
            <a:r>
              <a:rPr i="1" lang="en-US" sz="1700"/>
              <a:t>k</a:t>
            </a:r>
            <a:r>
              <a:rPr lang="en-US" sz="1700"/>
              <a:t>; best </a:t>
            </a:r>
            <a:r>
              <a:rPr i="1" lang="en-US" sz="1700"/>
              <a:t>k</a:t>
            </a:r>
            <a:r>
              <a:rPr lang="en-US" sz="1700"/>
              <a:t> = argmax silhouette</a:t>
            </a:r>
            <a:endParaRPr/>
          </a:p>
          <a:p>
            <a:pPr indent="-228600" lvl="0" marL="228600" rtl="0" algn="l">
              <a:lnSpc>
                <a:spcPct val="90000"/>
              </a:lnSpc>
              <a:spcBef>
                <a:spcPts val="1000"/>
              </a:spcBef>
              <a:spcAft>
                <a:spcPts val="0"/>
              </a:spcAft>
              <a:buClr>
                <a:schemeClr val="dk1"/>
              </a:buClr>
              <a:buSzPts val="1700"/>
              <a:buChar char="•"/>
            </a:pPr>
            <a:r>
              <a:rPr lang="en-US" sz="1700"/>
              <a:t>Outputs: metrics.json, CSV, figures, config_snapshot.json from scripts/run_experiments.py</a:t>
            </a:r>
            <a:endParaRPr sz="1700"/>
          </a:p>
          <a:p>
            <a:pPr indent="-120650" lvl="0" marL="228600" rtl="0" algn="l">
              <a:lnSpc>
                <a:spcPct val="90000"/>
              </a:lnSpc>
              <a:spcBef>
                <a:spcPts val="1000"/>
              </a:spcBef>
              <a:spcAft>
                <a:spcPts val="0"/>
              </a:spcAft>
              <a:buClr>
                <a:schemeClr val="dk1"/>
              </a:buClr>
              <a:buSzPts val="1700"/>
              <a:buNone/>
            </a:pPr>
            <a:r>
              <a:t/>
            </a:r>
            <a:endParaRPr sz="1700"/>
          </a:p>
        </p:txBody>
      </p:sp>
      <p:sp>
        <p:nvSpPr>
          <p:cNvPr id="127" name="Google Shape;127;p3"/>
          <p:cNvSpPr/>
          <p:nvPr/>
        </p:nvSpPr>
        <p:spPr>
          <a:xfrm rot="5400000">
            <a:off x="1158239" y="3396995"/>
            <a:ext cx="6858002" cy="64008"/>
          </a:xfrm>
          <a:prstGeom prst="rect">
            <a:avLst/>
          </a:prstGeom>
          <a:solidFill>
            <a:srgbClr val="0613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Arial"/>
              <a:ea typeface="Arial"/>
              <a:cs typeface="Arial"/>
              <a:sym typeface="Arial"/>
            </a:endParaRPr>
          </a:p>
        </p:txBody>
      </p:sp>
      <p:sp>
        <p:nvSpPr>
          <p:cNvPr id="128" name="Google Shape;128;p3"/>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https://github.com/D3VTHSTVR/plant_clustering</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4"/>
          <p:cNvSpPr/>
          <p:nvPr/>
        </p:nvSpPr>
        <p:spPr>
          <a:xfrm>
            <a:off x="0" y="0"/>
            <a:ext cx="1219169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35" name="Google Shape;135;p4"/>
          <p:cNvPicPr preferRelativeResize="0"/>
          <p:nvPr/>
        </p:nvPicPr>
        <p:blipFill rotWithShape="1">
          <a:blip r:embed="rId3">
            <a:alphaModFix/>
          </a:blip>
          <a:srcRect b="-1" l="10151" r="27613" t="0"/>
          <a:stretch/>
        </p:blipFill>
        <p:spPr>
          <a:xfrm>
            <a:off x="5833976" y="10"/>
            <a:ext cx="6394152" cy="6857990"/>
          </a:xfrm>
          <a:prstGeom prst="rect">
            <a:avLst/>
          </a:prstGeom>
          <a:noFill/>
          <a:ln>
            <a:noFill/>
          </a:ln>
        </p:spPr>
      </p:pic>
      <p:grpSp>
        <p:nvGrpSpPr>
          <p:cNvPr id="136" name="Google Shape;136;p4"/>
          <p:cNvGrpSpPr/>
          <p:nvPr/>
        </p:nvGrpSpPr>
        <p:grpSpPr>
          <a:xfrm>
            <a:off x="5579564" y="0"/>
            <a:ext cx="6648564" cy="6858000"/>
            <a:chOff x="5705128" y="0"/>
            <a:chExt cx="6648564" cy="6858000"/>
          </a:xfrm>
        </p:grpSpPr>
        <p:sp>
          <p:nvSpPr>
            <p:cNvPr id="137" name="Google Shape;137;p4"/>
            <p:cNvSpPr/>
            <p:nvPr/>
          </p:nvSpPr>
          <p:spPr>
            <a:xfrm>
              <a:off x="5868018" y="0"/>
              <a:ext cx="6485674" cy="6858000"/>
            </a:xfrm>
            <a:custGeom>
              <a:rect b="b" l="l" r="r" t="t"/>
              <a:pathLst>
                <a:path extrusionOk="0" h="6858000" w="6237794">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l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8" name="Google Shape;138;p4"/>
            <p:cNvSpPr/>
            <p:nvPr/>
          </p:nvSpPr>
          <p:spPr>
            <a:xfrm>
              <a:off x="5875698" y="0"/>
              <a:ext cx="6477994" cy="6858000"/>
            </a:xfrm>
            <a:custGeom>
              <a:rect b="b" l="l" r="r" t="t"/>
              <a:pathLst>
                <a:path extrusionOk="0" h="6858000" w="6230407">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l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9" name="Google Shape;139;p4"/>
            <p:cNvSpPr/>
            <p:nvPr/>
          </p:nvSpPr>
          <p:spPr>
            <a:xfrm>
              <a:off x="5875698" y="0"/>
              <a:ext cx="6477994" cy="6858000"/>
            </a:xfrm>
            <a:custGeom>
              <a:rect b="b" l="l" r="r" t="t"/>
              <a:pathLst>
                <a:path extrusionOk="0" h="6858000" w="6230408">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lt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0" name="Google Shape;140;p4"/>
            <p:cNvSpPr/>
            <p:nvPr/>
          </p:nvSpPr>
          <p:spPr>
            <a:xfrm>
              <a:off x="5705128" y="0"/>
              <a:ext cx="6648564" cy="6858000"/>
            </a:xfrm>
            <a:custGeom>
              <a:rect b="b" l="l" r="r" t="t"/>
              <a:pathLst>
                <a:path extrusionOk="0" h="6858000" w="6394458">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1" name="Google Shape;141;p4"/>
            <p:cNvSpPr/>
            <p:nvPr/>
          </p:nvSpPr>
          <p:spPr>
            <a:xfrm>
              <a:off x="5934266" y="0"/>
              <a:ext cx="6419426" cy="6858000"/>
            </a:xfrm>
            <a:custGeom>
              <a:rect b="b" l="l" r="r" t="t"/>
              <a:pathLst>
                <a:path extrusionOk="0" h="6858000" w="6419426">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42" name="Google Shape;142;p4"/>
          <p:cNvSpPr txBox="1"/>
          <p:nvPr>
            <p:ph type="title"/>
          </p:nvPr>
        </p:nvSpPr>
        <p:spPr>
          <a:xfrm>
            <a:off x="804672" y="798445"/>
            <a:ext cx="4803636" cy="131166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Play"/>
              <a:buNone/>
            </a:pPr>
            <a:r>
              <a:rPr b="1" lang="en-US" sz="3600">
                <a:solidFill>
                  <a:schemeClr val="dk2"/>
                </a:solidFill>
              </a:rPr>
              <a:t>Implementation update</a:t>
            </a:r>
            <a:endParaRPr/>
          </a:p>
        </p:txBody>
      </p:sp>
      <p:sp>
        <p:nvSpPr>
          <p:cNvPr id="143" name="Google Shape;143;p4"/>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https://github.com/D3VTHSTVR/plant_clustering</a:t>
            </a:r>
            <a:endParaRPr/>
          </a:p>
        </p:txBody>
      </p:sp>
      <p:grpSp>
        <p:nvGrpSpPr>
          <p:cNvPr id="144" name="Google Shape;144;p4"/>
          <p:cNvGrpSpPr/>
          <p:nvPr/>
        </p:nvGrpSpPr>
        <p:grpSpPr>
          <a:xfrm>
            <a:off x="805549" y="3148026"/>
            <a:ext cx="4705048" cy="2037062"/>
            <a:chOff x="877" y="875883"/>
            <a:chExt cx="4705048" cy="2037062"/>
          </a:xfrm>
        </p:grpSpPr>
        <p:sp>
          <p:nvSpPr>
            <p:cNvPr id="145" name="Google Shape;145;p4"/>
            <p:cNvSpPr/>
            <p:nvPr/>
          </p:nvSpPr>
          <p:spPr>
            <a:xfrm>
              <a:off x="274753" y="875883"/>
              <a:ext cx="856740" cy="856740"/>
            </a:xfrm>
            <a:prstGeom prst="round2DiagRect">
              <a:avLst>
                <a:gd fmla="val 29727" name="adj1"/>
                <a:gd fmla="val 0" name="adj2"/>
              </a:avLst>
            </a:prstGeom>
            <a:solidFill>
              <a:srgbClr val="E971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457337" y="1058467"/>
              <a:ext cx="491572" cy="4915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877" y="1999477"/>
              <a:ext cx="1404492" cy="9134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txBox="1"/>
            <p:nvPr/>
          </p:nvSpPr>
          <p:spPr>
            <a:xfrm>
              <a:off x="877" y="1999477"/>
              <a:ext cx="1404492" cy="91346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WORKING PIPELINE:</a:t>
              </a:r>
              <a:r>
                <a:rPr b="0" i="0" lang="en-US" sz="1100" u="none" cap="none" strike="noStrike">
                  <a:solidFill>
                    <a:schemeClr val="dk1"/>
                  </a:solidFill>
                  <a:latin typeface="Arial"/>
                  <a:ea typeface="Arial"/>
                  <a:cs typeface="Arial"/>
                  <a:sym typeface="Arial"/>
                </a:rPr>
                <a:t> </a:t>
              </a:r>
              <a:endParaRPr/>
            </a:p>
            <a:p>
              <a:pPr indent="0" lvl="0" marL="0" marR="0" rtl="0" algn="ctr">
                <a:lnSpc>
                  <a:spcPct val="100000"/>
                </a:lnSpc>
                <a:spcBef>
                  <a:spcPts val="385"/>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LOAD, PROCESS, CLUSTER, EVALUATE</a:t>
              </a:r>
              <a:endParaRPr/>
            </a:p>
          </p:txBody>
        </p:sp>
        <p:sp>
          <p:nvSpPr>
            <p:cNvPr id="149" name="Google Shape;149;p4"/>
            <p:cNvSpPr/>
            <p:nvPr/>
          </p:nvSpPr>
          <p:spPr>
            <a:xfrm>
              <a:off x="1925031" y="875883"/>
              <a:ext cx="856740" cy="856740"/>
            </a:xfrm>
            <a:prstGeom prst="round2DiagRect">
              <a:avLst>
                <a:gd fmla="val 29727" name="adj1"/>
                <a:gd fmla="val 0" name="adj2"/>
              </a:avLst>
            </a:prstGeom>
            <a:solidFill>
              <a:srgbClr val="176B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2107615" y="1058467"/>
              <a:ext cx="491572" cy="4915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1651155" y="1999477"/>
              <a:ext cx="1404492" cy="9134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txBox="1"/>
            <p:nvPr/>
          </p:nvSpPr>
          <p:spPr>
            <a:xfrm>
              <a:off x="1651155" y="1999477"/>
              <a:ext cx="1404492" cy="91346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PROJECT STRUCTURE:</a:t>
              </a:r>
              <a:endParaRPr/>
            </a:p>
            <a:p>
              <a:pPr indent="0" lvl="0" marL="0" marR="0" rtl="0" algn="ctr">
                <a:lnSpc>
                  <a:spcPct val="100000"/>
                </a:lnSpc>
                <a:spcBef>
                  <a:spcPts val="385"/>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REORGANIZED PROJECT FILES AND ADDED ADAPTABILITY FOR CROSS-PLATFORM SUPPORT</a:t>
              </a:r>
              <a:endParaRPr/>
            </a:p>
          </p:txBody>
        </p:sp>
        <p:sp>
          <p:nvSpPr>
            <p:cNvPr id="153" name="Google Shape;153;p4"/>
            <p:cNvSpPr/>
            <p:nvPr/>
          </p:nvSpPr>
          <p:spPr>
            <a:xfrm>
              <a:off x="3575309" y="875883"/>
              <a:ext cx="856740" cy="856740"/>
            </a:xfrm>
            <a:prstGeom prst="round2DiagRect">
              <a:avLst>
                <a:gd fmla="val 29727" name="adj1"/>
                <a:gd fmla="val 0" name="adj2"/>
              </a:avLst>
            </a:prstGeom>
            <a:solidFill>
              <a:srgbClr val="0C9E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3757893" y="1058467"/>
              <a:ext cx="491572" cy="49157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3301433" y="1999477"/>
              <a:ext cx="1404492" cy="91346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txBox="1"/>
            <p:nvPr/>
          </p:nvSpPr>
          <p:spPr>
            <a:xfrm>
              <a:off x="3301433" y="1999477"/>
              <a:ext cx="1404492" cy="91346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PROJECT INTERFACE &amp; OUTPUTS:</a:t>
              </a:r>
              <a:endParaRPr/>
            </a:p>
            <a:p>
              <a:pPr indent="0" lvl="0" marL="0" marR="0" rtl="0" algn="ctr">
                <a:lnSpc>
                  <a:spcPct val="100000"/>
                </a:lnSpc>
                <a:spcBef>
                  <a:spcPts val="385"/>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UPDATED CLI ENDPOINTS AND ADDED VISUAL OUTPUT METRICS</a:t>
              </a:r>
              <a:endParaRPr/>
            </a:p>
            <a:p>
              <a:pPr indent="0" lvl="0" marL="0" marR="0" rtl="0" algn="ctr">
                <a:lnSpc>
                  <a:spcPct val="100000"/>
                </a:lnSpc>
                <a:spcBef>
                  <a:spcPts val="385"/>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 </a:t>
              </a:r>
              <a:endParaRPr b="0" i="0" sz="1100" u="none" cap="none" strike="noStrike">
                <a:solidFill>
                  <a:schemeClr val="dk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p5"/>
          <p:cNvSpPr/>
          <p:nvPr/>
        </p:nvSpPr>
        <p:spPr>
          <a:xfrm>
            <a:off x="10" y="0"/>
            <a:ext cx="6095990" cy="6858001"/>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3" name="Google Shape;163;p5"/>
          <p:cNvSpPr/>
          <p:nvPr/>
        </p:nvSpPr>
        <p:spPr>
          <a:xfrm>
            <a:off x="6096000" y="0"/>
            <a:ext cx="6095990" cy="6858001"/>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4" name="Google Shape;164;p5"/>
          <p:cNvSpPr txBox="1"/>
          <p:nvPr>
            <p:ph type="title"/>
          </p:nvPr>
        </p:nvSpPr>
        <p:spPr>
          <a:xfrm>
            <a:off x="6734650" y="637763"/>
            <a:ext cx="4310698" cy="162727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b="1" lang="en-US"/>
              <a:t>Data after preprocessing</a:t>
            </a:r>
            <a:endParaRPr/>
          </a:p>
        </p:txBody>
      </p:sp>
      <p:sp>
        <p:nvSpPr>
          <p:cNvPr id="165" name="Google Shape;165;p5"/>
          <p:cNvSpPr/>
          <p:nvPr/>
        </p:nvSpPr>
        <p:spPr>
          <a:xfrm>
            <a:off x="6734650" y="2267042"/>
            <a:ext cx="457200" cy="457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66" name="Google Shape;166;p5"/>
          <p:cNvPicPr preferRelativeResize="0"/>
          <p:nvPr/>
        </p:nvPicPr>
        <p:blipFill rotWithShape="1">
          <a:blip r:embed="rId3">
            <a:alphaModFix/>
          </a:blip>
          <a:srcRect b="-4" l="-567" r="10161" t="0"/>
          <a:stretch/>
        </p:blipFill>
        <p:spPr>
          <a:xfrm>
            <a:off x="465672" y="430918"/>
            <a:ext cx="5164667" cy="1549964"/>
          </a:xfrm>
          <a:prstGeom prst="rect">
            <a:avLst/>
          </a:prstGeom>
          <a:noFill/>
          <a:ln>
            <a:noFill/>
          </a:ln>
        </p:spPr>
      </p:pic>
      <p:pic>
        <p:nvPicPr>
          <p:cNvPr id="167" name="Google Shape;167;p5"/>
          <p:cNvPicPr preferRelativeResize="0"/>
          <p:nvPr/>
        </p:nvPicPr>
        <p:blipFill rotWithShape="1">
          <a:blip r:embed="rId4">
            <a:alphaModFix/>
          </a:blip>
          <a:srcRect b="-4" l="0" r="1744" t="0"/>
          <a:stretch/>
        </p:blipFill>
        <p:spPr>
          <a:xfrm>
            <a:off x="588293" y="2175024"/>
            <a:ext cx="4815834" cy="4252058"/>
          </a:xfrm>
          <a:prstGeom prst="rect">
            <a:avLst/>
          </a:prstGeom>
          <a:noFill/>
          <a:ln>
            <a:noFill/>
          </a:ln>
        </p:spPr>
      </p:pic>
      <p:sp>
        <p:nvSpPr>
          <p:cNvPr id="168" name="Google Shape;168;p5"/>
          <p:cNvSpPr txBox="1"/>
          <p:nvPr>
            <p:ph idx="1" type="body"/>
          </p:nvPr>
        </p:nvSpPr>
        <p:spPr>
          <a:xfrm>
            <a:off x="6734641" y="2474804"/>
            <a:ext cx="4310702" cy="373972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b="1" lang="en-US" sz="1700"/>
              <a:t>Source:</a:t>
            </a:r>
            <a:r>
              <a:rPr lang="en-US" sz="1700"/>
              <a:t> iNaturalist 2021 training set, kingdom </a:t>
            </a:r>
            <a:r>
              <a:rPr b="1" lang="en-US" sz="1700"/>
              <a:t>Plantae</a:t>
            </a:r>
            <a:r>
              <a:rPr lang="en-US" sz="1700"/>
              <a:t> (or local folders)</a:t>
            </a:r>
            <a:endParaRPr/>
          </a:p>
          <a:p>
            <a:pPr indent="-228600" lvl="0" marL="228600" rtl="0" algn="l">
              <a:lnSpc>
                <a:spcPct val="90000"/>
              </a:lnSpc>
              <a:spcBef>
                <a:spcPts val="1000"/>
              </a:spcBef>
              <a:spcAft>
                <a:spcPts val="0"/>
              </a:spcAft>
              <a:buClr>
                <a:schemeClr val="dk1"/>
              </a:buClr>
              <a:buSzPts val="1700"/>
              <a:buChar char="•"/>
            </a:pPr>
            <a:r>
              <a:rPr b="1" lang="en-US" sz="1700"/>
              <a:t>Subsampling:</a:t>
            </a:r>
            <a:r>
              <a:rPr lang="en-US" sz="1700"/>
              <a:t> cap at 10k images for feasible runs; random seed for reproducibility</a:t>
            </a:r>
            <a:endParaRPr/>
          </a:p>
          <a:p>
            <a:pPr indent="-228600" lvl="0" marL="228600" rtl="0" algn="l">
              <a:lnSpc>
                <a:spcPct val="90000"/>
              </a:lnSpc>
              <a:spcBef>
                <a:spcPts val="1000"/>
              </a:spcBef>
              <a:spcAft>
                <a:spcPts val="0"/>
              </a:spcAft>
              <a:buClr>
                <a:schemeClr val="dk1"/>
              </a:buClr>
              <a:buSzPts val="1700"/>
              <a:buChar char="•"/>
            </a:pPr>
            <a:r>
              <a:rPr b="1" lang="en-US" sz="1700"/>
              <a:t>Transforms:</a:t>
            </a:r>
            <a:r>
              <a:rPr lang="en-US" sz="1700"/>
              <a:t> resize </a:t>
            </a:r>
            <a:r>
              <a:rPr b="1" lang="en-US" sz="1700"/>
              <a:t>64×64</a:t>
            </a:r>
            <a:r>
              <a:rPr lang="en-US" sz="1700"/>
              <a:t> for raw and handcrafted; </a:t>
            </a:r>
            <a:r>
              <a:rPr b="1" lang="en-US" sz="1700"/>
              <a:t>224×224</a:t>
            </a:r>
            <a:r>
              <a:rPr lang="en-US" sz="1700"/>
              <a:t> for CNN; ImageNet normalization for CNN</a:t>
            </a:r>
            <a:endParaRPr/>
          </a:p>
          <a:p>
            <a:pPr indent="-228600" lvl="0" marL="228600" rtl="0" algn="l">
              <a:lnSpc>
                <a:spcPct val="90000"/>
              </a:lnSpc>
              <a:spcBef>
                <a:spcPts val="1000"/>
              </a:spcBef>
              <a:spcAft>
                <a:spcPts val="0"/>
              </a:spcAft>
              <a:buClr>
                <a:schemeClr val="dk1"/>
              </a:buClr>
              <a:buSzPts val="1700"/>
              <a:buChar char="•"/>
            </a:pPr>
            <a:r>
              <a:rPr b="1" lang="en-US" sz="1700"/>
              <a:t>Raw vector:</a:t>
            </a:r>
            <a:r>
              <a:rPr lang="en-US" sz="1700"/>
              <a:t> 64×64×3 flattened (12,288 dims); often </a:t>
            </a:r>
            <a:r>
              <a:rPr b="1" lang="en-US" sz="1700"/>
              <a:t>standardize + PCA</a:t>
            </a:r>
            <a:r>
              <a:rPr lang="en-US" sz="1700"/>
              <a:t> (~95% variance retained) before clustering</a:t>
            </a:r>
            <a:endParaRPr sz="1700"/>
          </a:p>
        </p:txBody>
      </p:sp>
      <p:sp>
        <p:nvSpPr>
          <p:cNvPr id="169" name="Google Shape;169;p5"/>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https://github.com/D3VTHSTVR/plant_clustering</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6"/>
          <p:cNvSpPr/>
          <p:nvPr/>
        </p:nvSpPr>
        <p:spPr>
          <a:xfrm>
            <a:off x="10" y="0"/>
            <a:ext cx="6095990" cy="6858001"/>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6" name="Google Shape;176;p6"/>
          <p:cNvSpPr txBox="1"/>
          <p:nvPr>
            <p:ph type="title"/>
          </p:nvPr>
        </p:nvSpPr>
        <p:spPr>
          <a:xfrm>
            <a:off x="1157955" y="4360366"/>
            <a:ext cx="4284420" cy="16871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Play"/>
              <a:buNone/>
            </a:pPr>
            <a:r>
              <a:rPr lang="en-US">
                <a:solidFill>
                  <a:schemeClr val="lt1"/>
                </a:solidFill>
              </a:rPr>
              <a:t>Features after preprocessing</a:t>
            </a:r>
            <a:endParaRPr/>
          </a:p>
        </p:txBody>
      </p:sp>
      <p:sp>
        <p:nvSpPr>
          <p:cNvPr id="177" name="Google Shape;177;p6"/>
          <p:cNvSpPr/>
          <p:nvPr/>
        </p:nvSpPr>
        <p:spPr>
          <a:xfrm>
            <a:off x="6096000" y="0"/>
            <a:ext cx="6095990" cy="6858001"/>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8" name="Google Shape;178;p6"/>
          <p:cNvSpPr/>
          <p:nvPr/>
        </p:nvSpPr>
        <p:spPr>
          <a:xfrm>
            <a:off x="6734650" y="4544112"/>
            <a:ext cx="457200" cy="457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9" name="Google Shape;179;p6"/>
          <p:cNvSpPr txBox="1"/>
          <p:nvPr>
            <p:ph idx="1" type="body"/>
          </p:nvPr>
        </p:nvSpPr>
        <p:spPr>
          <a:xfrm>
            <a:off x="6600320" y="4635553"/>
            <a:ext cx="5317360" cy="191927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1400"/>
              <a:buChar char="•"/>
            </a:pPr>
            <a:r>
              <a:rPr lang="en-US" sz="1400"/>
              <a:t>Images resized: </a:t>
            </a:r>
            <a:r>
              <a:rPr b="1" lang="en-US" sz="1400"/>
              <a:t>64×64</a:t>
            </a:r>
            <a:r>
              <a:rPr lang="en-US" sz="1400"/>
              <a:t> for raw / handcrafted; </a:t>
            </a:r>
            <a:r>
              <a:rPr b="1" lang="en-US" sz="1400"/>
              <a:t>224×224</a:t>
            </a:r>
            <a:r>
              <a:rPr lang="en-US" sz="1400"/>
              <a:t> for CNN.</a:t>
            </a:r>
            <a:endParaRPr/>
          </a:p>
          <a:p>
            <a:pPr indent="-228600" lvl="0" marL="228600" rtl="0" algn="l">
              <a:lnSpc>
                <a:spcPct val="90000"/>
              </a:lnSpc>
              <a:spcBef>
                <a:spcPts val="1000"/>
              </a:spcBef>
              <a:spcAft>
                <a:spcPts val="0"/>
              </a:spcAft>
              <a:buClr>
                <a:schemeClr val="dk1"/>
              </a:buClr>
              <a:buSzPts val="1400"/>
              <a:buChar char="•"/>
            </a:pPr>
            <a:r>
              <a:rPr b="1" lang="en-US" sz="1400"/>
              <a:t>Raw pixels:</a:t>
            </a:r>
            <a:r>
              <a:rPr lang="en-US" sz="1400"/>
              <a:t> flattened vector length </a:t>
            </a:r>
            <a:r>
              <a:rPr b="1" lang="en-US" sz="1400"/>
              <a:t>64×64×3 = 12,288</a:t>
            </a:r>
            <a:r>
              <a:rPr lang="en-US" sz="1400"/>
              <a:t> (then </a:t>
            </a:r>
            <a:r>
              <a:rPr b="1" lang="en-US" sz="1400"/>
              <a:t>standardize + optional PCA</a:t>
            </a:r>
            <a:r>
              <a:rPr lang="en-US" sz="1400"/>
              <a:t> retaining ~95% variance).</a:t>
            </a:r>
            <a:endParaRPr/>
          </a:p>
          <a:p>
            <a:pPr indent="-228600" lvl="0" marL="228600" rtl="0" algn="l">
              <a:lnSpc>
                <a:spcPct val="90000"/>
              </a:lnSpc>
              <a:spcBef>
                <a:spcPts val="1000"/>
              </a:spcBef>
              <a:spcAft>
                <a:spcPts val="0"/>
              </a:spcAft>
              <a:buClr>
                <a:schemeClr val="dk1"/>
              </a:buClr>
              <a:buSzPts val="1400"/>
              <a:buChar char="•"/>
            </a:pPr>
            <a:r>
              <a:rPr b="1" lang="en-US" sz="1400"/>
              <a:t>Handcrafted:</a:t>
            </a:r>
            <a:r>
              <a:rPr lang="en-US" sz="1400"/>
              <a:t> RGB histograms (32 bins × 3 channels) </a:t>
            </a:r>
            <a:r>
              <a:rPr b="1" lang="en-US" sz="1400"/>
              <a:t>+ HOG</a:t>
            </a:r>
            <a:r>
              <a:rPr lang="en-US" sz="1400"/>
              <a:t> -&gt; fixed-length vector per image.</a:t>
            </a:r>
            <a:endParaRPr/>
          </a:p>
          <a:p>
            <a:pPr indent="-228600" lvl="0" marL="228600" rtl="0" algn="l">
              <a:lnSpc>
                <a:spcPct val="90000"/>
              </a:lnSpc>
              <a:spcBef>
                <a:spcPts val="1000"/>
              </a:spcBef>
              <a:spcAft>
                <a:spcPts val="0"/>
              </a:spcAft>
              <a:buClr>
                <a:schemeClr val="dk1"/>
              </a:buClr>
              <a:buSzPts val="1400"/>
              <a:buChar char="•"/>
            </a:pPr>
            <a:r>
              <a:rPr b="1" lang="en-US" sz="1400"/>
              <a:t>CNN:</a:t>
            </a:r>
            <a:r>
              <a:rPr lang="en-US" sz="1400"/>
              <a:t> ImageNet-normalized tensors -&gt; </a:t>
            </a:r>
            <a:r>
              <a:rPr b="1" lang="en-US" sz="1400"/>
              <a:t>embedding vector</a:t>
            </a:r>
            <a:r>
              <a:rPr lang="en-US" sz="1400"/>
              <a:t> from backbone without the final classifier (e.g. ResNet-18).</a:t>
            </a:r>
            <a:endParaRPr/>
          </a:p>
          <a:p>
            <a:pPr indent="-139700" lvl="0" marL="228600" rtl="0" algn="l">
              <a:lnSpc>
                <a:spcPct val="90000"/>
              </a:lnSpc>
              <a:spcBef>
                <a:spcPts val="1000"/>
              </a:spcBef>
              <a:spcAft>
                <a:spcPts val="0"/>
              </a:spcAft>
              <a:buClr>
                <a:schemeClr val="dk1"/>
              </a:buClr>
              <a:buSzPts val="1400"/>
              <a:buNone/>
            </a:pPr>
            <a:r>
              <a:t/>
            </a:r>
            <a:endParaRPr sz="1400"/>
          </a:p>
        </p:txBody>
      </p:sp>
      <p:sp>
        <p:nvSpPr>
          <p:cNvPr id="180" name="Google Shape;180;p6"/>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https://github.com/D3VTHSTVR/plant_clustering</a:t>
            </a:r>
            <a:endParaRPr b="0" i="0" sz="1800" u="none" cap="none" strike="noStrike">
              <a:solidFill>
                <a:schemeClr val="lt1"/>
              </a:solidFill>
              <a:latin typeface="Arial"/>
              <a:ea typeface="Arial"/>
              <a:cs typeface="Arial"/>
              <a:sym typeface="Arial"/>
            </a:endParaRPr>
          </a:p>
        </p:txBody>
      </p:sp>
      <p:pic>
        <p:nvPicPr>
          <p:cNvPr descr="Plant Image Gallery" id="181" name="Google Shape;181;p6"/>
          <p:cNvPicPr preferRelativeResize="0"/>
          <p:nvPr/>
        </p:nvPicPr>
        <p:blipFill rotWithShape="1">
          <a:blip r:embed="rId3">
            <a:alphaModFix/>
          </a:blip>
          <a:srcRect b="0" l="0" r="0" t="0"/>
          <a:stretch/>
        </p:blipFill>
        <p:spPr>
          <a:xfrm>
            <a:off x="1895682" y="798544"/>
            <a:ext cx="3097192" cy="3097192"/>
          </a:xfrm>
          <a:prstGeom prst="rect">
            <a:avLst/>
          </a:prstGeom>
          <a:noFill/>
          <a:ln>
            <a:noFill/>
          </a:ln>
        </p:spPr>
      </p:pic>
      <p:pic>
        <p:nvPicPr>
          <p:cNvPr id="182" name="Google Shape;182;p6"/>
          <p:cNvPicPr preferRelativeResize="0"/>
          <p:nvPr/>
        </p:nvPicPr>
        <p:blipFill rotWithShape="1">
          <a:blip r:embed="rId4">
            <a:alphaModFix/>
          </a:blip>
          <a:srcRect b="0" l="0" r="0" t="0"/>
          <a:stretch/>
        </p:blipFill>
        <p:spPr>
          <a:xfrm>
            <a:off x="7374028" y="739818"/>
            <a:ext cx="3155918" cy="3155918"/>
          </a:xfrm>
          <a:prstGeom prst="rect">
            <a:avLst/>
          </a:prstGeom>
          <a:noFill/>
          <a:ln>
            <a:noFill/>
          </a:ln>
        </p:spPr>
      </p:pic>
      <p:sp>
        <p:nvSpPr>
          <p:cNvPr id="183" name="Google Shape;183;p6"/>
          <p:cNvSpPr/>
          <p:nvPr/>
        </p:nvSpPr>
        <p:spPr>
          <a:xfrm>
            <a:off x="5442375" y="2085411"/>
            <a:ext cx="1552617" cy="706635"/>
          </a:xfrm>
          <a:prstGeom prst="rightArrow">
            <a:avLst>
              <a:gd fmla="val 50000" name="adj1"/>
              <a:gd fmla="val 50000" name="adj2"/>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sp>
        <p:nvSpPr>
          <p:cNvPr id="189" name="Google Shape;189;p7"/>
          <p:cNvSpPr txBox="1"/>
          <p:nvPr>
            <p:ph type="title"/>
          </p:nvPr>
        </p:nvSpPr>
        <p:spPr>
          <a:xfrm>
            <a:off x="838200" y="4138163"/>
            <a:ext cx="3687491" cy="210633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b="1" lang="en-US" sz="3200"/>
              <a:t>Initial experimental results</a:t>
            </a:r>
            <a:endParaRPr/>
          </a:p>
        </p:txBody>
      </p:sp>
      <p:pic>
        <p:nvPicPr>
          <p:cNvPr id="190" name="Google Shape;190;p7"/>
          <p:cNvPicPr preferRelativeResize="0"/>
          <p:nvPr/>
        </p:nvPicPr>
        <p:blipFill rotWithShape="1">
          <a:blip r:embed="rId3">
            <a:alphaModFix/>
          </a:blip>
          <a:srcRect b="0" l="0" r="444" t="0"/>
          <a:stretch/>
        </p:blipFill>
        <p:spPr>
          <a:xfrm>
            <a:off x="-2" y="10"/>
            <a:ext cx="12192002" cy="3428990"/>
          </a:xfrm>
          <a:prstGeom prst="rect">
            <a:avLst/>
          </a:prstGeom>
          <a:noFill/>
          <a:ln>
            <a:noFill/>
          </a:ln>
        </p:spPr>
      </p:pic>
      <p:grpSp>
        <p:nvGrpSpPr>
          <p:cNvPr id="191" name="Google Shape;191;p7"/>
          <p:cNvGrpSpPr/>
          <p:nvPr/>
        </p:nvGrpSpPr>
        <p:grpSpPr>
          <a:xfrm>
            <a:off x="-7600" y="3401858"/>
            <a:ext cx="12207200" cy="123363"/>
            <a:chOff x="-5025" y="6737718"/>
            <a:chExt cx="12207200" cy="123363"/>
          </a:xfrm>
        </p:grpSpPr>
        <p:sp>
          <p:nvSpPr>
            <p:cNvPr id="192" name="Google Shape;192;p7"/>
            <p:cNvSpPr/>
            <p:nvPr/>
          </p:nvSpPr>
          <p:spPr>
            <a:xfrm flipH="1" rot="5400000">
              <a:off x="6036894" y="695800"/>
              <a:ext cx="123362" cy="12207199"/>
            </a:xfrm>
            <a:prstGeom prst="rect">
              <a:avLst/>
            </a:prstGeom>
            <a:gradFill>
              <a:gsLst>
                <a:gs pos="0">
                  <a:schemeClr val="accent5"/>
                </a:gs>
                <a:gs pos="100000">
                  <a:schemeClr val="accent2"/>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3" name="Google Shape;193;p7"/>
            <p:cNvSpPr/>
            <p:nvPr/>
          </p:nvSpPr>
          <p:spPr>
            <a:xfrm rot="-5400000">
              <a:off x="9176406" y="3835311"/>
              <a:ext cx="123362" cy="5928176"/>
            </a:xfrm>
            <a:prstGeom prst="rect">
              <a:avLst/>
            </a:prstGeom>
            <a:gradFill>
              <a:gsLst>
                <a:gs pos="0">
                  <a:srgbClr val="A02B93">
                    <a:alpha val="0"/>
                  </a:srgbClr>
                </a:gs>
                <a:gs pos="19000">
                  <a:srgbClr val="A02B93">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94" name="Google Shape;194;p7"/>
          <p:cNvSpPr txBox="1"/>
          <p:nvPr>
            <p:ph idx="1" type="body"/>
          </p:nvPr>
        </p:nvSpPr>
        <p:spPr>
          <a:xfrm>
            <a:off x="5341546" y="4088724"/>
            <a:ext cx="6012254" cy="21714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Silhouette vs </a:t>
            </a:r>
            <a:r>
              <a:rPr i="1" lang="en-US" sz="2000"/>
              <a:t>k</a:t>
            </a:r>
            <a:r>
              <a:rPr lang="en-US" sz="2000"/>
              <a:t> for </a:t>
            </a:r>
            <a:r>
              <a:rPr b="1" lang="en-US" sz="2000"/>
              <a:t>raw</a:t>
            </a:r>
            <a:r>
              <a:rPr lang="en-US" sz="2000"/>
              <a:t>, </a:t>
            </a:r>
            <a:r>
              <a:rPr b="1" lang="en-US" sz="2000"/>
              <a:t>handcrafted</a:t>
            </a:r>
            <a:r>
              <a:rPr lang="en-US" sz="2000"/>
              <a:t>, and </a:t>
            </a:r>
            <a:r>
              <a:rPr b="1" lang="en-US" sz="2000"/>
              <a:t>CNN</a:t>
            </a:r>
            <a:endParaRPr sz="2000"/>
          </a:p>
          <a:p>
            <a:pPr indent="-228600" lvl="0" marL="228600" rtl="0" algn="l">
              <a:lnSpc>
                <a:spcPct val="90000"/>
              </a:lnSpc>
              <a:spcBef>
                <a:spcPts val="1000"/>
              </a:spcBef>
              <a:spcAft>
                <a:spcPts val="0"/>
              </a:spcAft>
              <a:buClr>
                <a:schemeClr val="dk1"/>
              </a:buClr>
              <a:buSzPts val="2000"/>
              <a:buChar char="•"/>
            </a:pPr>
            <a:r>
              <a:rPr lang="en-US" sz="2000"/>
              <a:t>Best </a:t>
            </a:r>
            <a:r>
              <a:rPr i="1" lang="en-US" sz="2000"/>
              <a:t>k</a:t>
            </a:r>
            <a:r>
              <a:rPr lang="en-US" sz="2000"/>
              <a:t> (red vertical line): raw </a:t>
            </a:r>
            <a:r>
              <a:rPr b="1" lang="en-US" sz="2000"/>
              <a:t>4</a:t>
            </a:r>
            <a:r>
              <a:rPr lang="en-US" sz="2000"/>
              <a:t>, handcrafted </a:t>
            </a:r>
            <a:r>
              <a:rPr b="1" lang="en-US" sz="2000"/>
              <a:t>5</a:t>
            </a:r>
            <a:r>
              <a:rPr lang="en-US" sz="2000"/>
              <a:t>, CNN </a:t>
            </a:r>
            <a:r>
              <a:rPr b="1" lang="en-US" sz="2000"/>
              <a:t>4</a:t>
            </a:r>
            <a:endParaRPr sz="2000"/>
          </a:p>
          <a:p>
            <a:pPr indent="-228600" lvl="0" marL="228600" rtl="0" algn="l">
              <a:lnSpc>
                <a:spcPct val="90000"/>
              </a:lnSpc>
              <a:spcBef>
                <a:spcPts val="1000"/>
              </a:spcBef>
              <a:spcAft>
                <a:spcPts val="0"/>
              </a:spcAft>
              <a:buClr>
                <a:schemeClr val="dk1"/>
              </a:buClr>
              <a:buSzPts val="2000"/>
              <a:buChar char="•"/>
            </a:pPr>
            <a:r>
              <a:rPr lang="en-US" sz="2000"/>
              <a:t>Raw silhouette </a:t>
            </a:r>
            <a:r>
              <a:rPr b="1" lang="en-US" sz="2000"/>
              <a:t>highest</a:t>
            </a:r>
            <a:r>
              <a:rPr lang="en-US" sz="2000"/>
              <a:t> in this run (~0.06 peak); handcrafted </a:t>
            </a:r>
            <a:r>
              <a:rPr b="1" lang="en-US" sz="2000"/>
              <a:t>near or below zero</a:t>
            </a:r>
            <a:r>
              <a:rPr lang="en-US" sz="2000"/>
              <a:t>; CNN strong at </a:t>
            </a:r>
            <a:r>
              <a:rPr i="1" lang="en-US" sz="2000"/>
              <a:t>k</a:t>
            </a:r>
            <a:r>
              <a:rPr lang="en-US" sz="2000"/>
              <a:t>=4 then weaker</a:t>
            </a:r>
            <a:endParaRPr/>
          </a:p>
        </p:txBody>
      </p:sp>
      <p:sp>
        <p:nvSpPr>
          <p:cNvPr id="195" name="Google Shape;195;p7"/>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https://github.com/D3VTHSTVR/plant_clustering</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8"/>
          <p:cNvSpPr txBox="1"/>
          <p:nvPr>
            <p:ph type="title"/>
          </p:nvPr>
        </p:nvSpPr>
        <p:spPr>
          <a:xfrm>
            <a:off x="838200" y="4138163"/>
            <a:ext cx="3687491" cy="210633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b="1" lang="en-US" sz="3200"/>
              <a:t>Initial results</a:t>
            </a:r>
            <a:endParaRPr sz="3200"/>
          </a:p>
        </p:txBody>
      </p:sp>
      <p:grpSp>
        <p:nvGrpSpPr>
          <p:cNvPr id="202" name="Google Shape;202;p8"/>
          <p:cNvGrpSpPr/>
          <p:nvPr/>
        </p:nvGrpSpPr>
        <p:grpSpPr>
          <a:xfrm>
            <a:off x="0" y="3349153"/>
            <a:ext cx="12207200" cy="123363"/>
            <a:chOff x="-5025" y="6737718"/>
            <a:chExt cx="12207200" cy="123363"/>
          </a:xfrm>
        </p:grpSpPr>
        <p:sp>
          <p:nvSpPr>
            <p:cNvPr id="203" name="Google Shape;203;p8"/>
            <p:cNvSpPr/>
            <p:nvPr/>
          </p:nvSpPr>
          <p:spPr>
            <a:xfrm flipH="1" rot="5400000">
              <a:off x="6036894" y="695800"/>
              <a:ext cx="123362" cy="12207199"/>
            </a:xfrm>
            <a:prstGeom prst="rect">
              <a:avLst/>
            </a:prstGeom>
            <a:gradFill>
              <a:gsLst>
                <a:gs pos="0">
                  <a:schemeClr val="accent5"/>
                </a:gs>
                <a:gs pos="100000">
                  <a:schemeClr val="accent2"/>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4" name="Google Shape;204;p8"/>
            <p:cNvSpPr/>
            <p:nvPr/>
          </p:nvSpPr>
          <p:spPr>
            <a:xfrm rot="-5400000">
              <a:off x="9176406" y="3835311"/>
              <a:ext cx="123362" cy="5928176"/>
            </a:xfrm>
            <a:prstGeom prst="rect">
              <a:avLst/>
            </a:prstGeom>
            <a:gradFill>
              <a:gsLst>
                <a:gs pos="0">
                  <a:srgbClr val="A02B93">
                    <a:alpha val="0"/>
                  </a:srgbClr>
                </a:gs>
                <a:gs pos="19000">
                  <a:srgbClr val="A02B93">
                    <a:alpha val="0"/>
                  </a:srgbClr>
                </a:gs>
                <a:gs pos="100000">
                  <a:srgbClr val="D86CCC"/>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205" name="Google Shape;205;p8"/>
          <p:cNvSpPr txBox="1"/>
          <p:nvPr>
            <p:ph idx="1" type="body"/>
          </p:nvPr>
        </p:nvSpPr>
        <p:spPr>
          <a:xfrm>
            <a:off x="5341546" y="4088724"/>
            <a:ext cx="5974154" cy="21714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Raw: mixed semantics but some color/texture grouping at low resolution</a:t>
            </a:r>
            <a:endParaRPr/>
          </a:p>
          <a:p>
            <a:pPr indent="-228600" lvl="0" marL="228600" rtl="0" algn="l">
              <a:lnSpc>
                <a:spcPct val="90000"/>
              </a:lnSpc>
              <a:spcBef>
                <a:spcPts val="1000"/>
              </a:spcBef>
              <a:spcAft>
                <a:spcPts val="0"/>
              </a:spcAft>
              <a:buClr>
                <a:schemeClr val="dk1"/>
              </a:buClr>
              <a:buSzPts val="2000"/>
              <a:buChar char="•"/>
            </a:pPr>
            <a:r>
              <a:rPr lang="en-US" sz="2000"/>
              <a:t>Handcrafted: some color-driven rows; metric weak despite visible structure</a:t>
            </a:r>
            <a:endParaRPr/>
          </a:p>
          <a:p>
            <a:pPr indent="-228600" lvl="0" marL="228600" rtl="0" algn="l">
              <a:lnSpc>
                <a:spcPct val="90000"/>
              </a:lnSpc>
              <a:spcBef>
                <a:spcPts val="1000"/>
              </a:spcBef>
              <a:spcAft>
                <a:spcPts val="0"/>
              </a:spcAft>
              <a:buClr>
                <a:schemeClr val="dk1"/>
              </a:buClr>
              <a:buSzPts val="2000"/>
              <a:buChar char="•"/>
            </a:pPr>
            <a:r>
              <a:rPr lang="en-US" sz="2000"/>
              <a:t>CNN: rows look interpretable | flowers vs dense foliage vs fern-like structure</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206" name="Google Shape;206;p8"/>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https://github.com/D3VTHSTVR/plant_clustering</a:t>
            </a:r>
            <a:endParaRPr/>
          </a:p>
        </p:txBody>
      </p:sp>
      <p:pic>
        <p:nvPicPr>
          <p:cNvPr id="207" name="Google Shape;207;p8"/>
          <p:cNvPicPr preferRelativeResize="0"/>
          <p:nvPr/>
        </p:nvPicPr>
        <p:blipFill rotWithShape="1">
          <a:blip r:embed="rId3">
            <a:alphaModFix/>
          </a:blip>
          <a:srcRect b="-20683" l="0" r="4648" t="0"/>
          <a:stretch/>
        </p:blipFill>
        <p:spPr>
          <a:xfrm>
            <a:off x="4064112" y="1"/>
            <a:ext cx="4061633" cy="4138162"/>
          </a:xfrm>
          <a:prstGeom prst="rect">
            <a:avLst/>
          </a:prstGeom>
          <a:noFill/>
          <a:ln>
            <a:noFill/>
          </a:ln>
        </p:spPr>
      </p:pic>
      <p:pic>
        <p:nvPicPr>
          <p:cNvPr id="208" name="Google Shape;208;p8"/>
          <p:cNvPicPr preferRelativeResize="0"/>
          <p:nvPr/>
        </p:nvPicPr>
        <p:blipFill rotWithShape="1">
          <a:blip r:embed="rId4">
            <a:alphaModFix/>
          </a:blip>
          <a:srcRect b="-19240" l="0" r="4447" t="1"/>
          <a:stretch/>
        </p:blipFill>
        <p:spPr>
          <a:xfrm>
            <a:off x="8124308" y="9"/>
            <a:ext cx="4070173" cy="4088713"/>
          </a:xfrm>
          <a:prstGeom prst="rect">
            <a:avLst/>
          </a:prstGeom>
          <a:noFill/>
          <a:ln>
            <a:noFill/>
          </a:ln>
        </p:spPr>
      </p:pic>
      <p:pic>
        <p:nvPicPr>
          <p:cNvPr id="209" name="Google Shape;209;p8"/>
          <p:cNvPicPr preferRelativeResize="0"/>
          <p:nvPr/>
        </p:nvPicPr>
        <p:blipFill rotWithShape="1">
          <a:blip r:embed="rId5">
            <a:alphaModFix/>
          </a:blip>
          <a:srcRect b="0" l="-142" r="143" t="-204"/>
          <a:stretch/>
        </p:blipFill>
        <p:spPr>
          <a:xfrm>
            <a:off x="-5761" y="10"/>
            <a:ext cx="4070172" cy="40887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4" name="Shape 214"/>
        <p:cNvGrpSpPr/>
        <p:nvPr/>
      </p:nvGrpSpPr>
      <p:grpSpPr>
        <a:xfrm>
          <a:off x="0" y="0"/>
          <a:ext cx="0" cy="0"/>
          <a:chOff x="0" y="0"/>
          <a:chExt cx="0" cy="0"/>
        </a:xfrm>
      </p:grpSpPr>
      <p:sp>
        <p:nvSpPr>
          <p:cNvPr id="215" name="Google Shape;215;p9"/>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6" name="Google Shape;216;p9"/>
          <p:cNvSpPr txBox="1"/>
          <p:nvPr>
            <p:ph type="title"/>
          </p:nvPr>
        </p:nvSpPr>
        <p:spPr>
          <a:xfrm>
            <a:off x="589560" y="856180"/>
            <a:ext cx="5279408" cy="112806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b="1" lang="en-US"/>
              <a:t>Discussion &amp; next steps</a:t>
            </a:r>
            <a:endParaRPr/>
          </a:p>
        </p:txBody>
      </p:sp>
      <p:grpSp>
        <p:nvGrpSpPr>
          <p:cNvPr id="217" name="Google Shape;217;p9"/>
          <p:cNvGrpSpPr/>
          <p:nvPr/>
        </p:nvGrpSpPr>
        <p:grpSpPr>
          <a:xfrm>
            <a:off x="0" y="1083484"/>
            <a:ext cx="355196" cy="673460"/>
            <a:chOff x="0" y="823811"/>
            <a:chExt cx="355196" cy="673460"/>
          </a:xfrm>
        </p:grpSpPr>
        <p:sp>
          <p:nvSpPr>
            <p:cNvPr id="218" name="Google Shape;218;p9"/>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9" name="Google Shape;219;p9"/>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220" name="Google Shape;220;p9"/>
          <p:cNvSpPr/>
          <p:nvPr/>
        </p:nvSpPr>
        <p:spPr>
          <a:xfrm flipH="1">
            <a:off x="665085" y="2123821"/>
            <a:ext cx="4975066"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21" name="Google Shape;221;p9"/>
          <p:cNvGrpSpPr/>
          <p:nvPr/>
        </p:nvGrpSpPr>
        <p:grpSpPr>
          <a:xfrm>
            <a:off x="590719" y="2332569"/>
            <a:ext cx="5278066" cy="3975455"/>
            <a:chOff x="0" y="2064"/>
            <a:chExt cx="5278066" cy="3975455"/>
          </a:xfrm>
        </p:grpSpPr>
        <p:sp>
          <p:nvSpPr>
            <p:cNvPr id="222" name="Google Shape;222;p9"/>
            <p:cNvSpPr/>
            <p:nvPr/>
          </p:nvSpPr>
          <p:spPr>
            <a:xfrm>
              <a:off x="0" y="2064"/>
              <a:ext cx="5278066" cy="1157072"/>
            </a:xfrm>
            <a:prstGeom prst="roundRect">
              <a:avLst>
                <a:gd fmla="val 10000" name="adj"/>
              </a:avLst>
            </a:prstGeom>
            <a:solidFill>
              <a:srgbClr val="CAD1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350014" y="262405"/>
              <a:ext cx="637012" cy="636389"/>
            </a:xfrm>
            <a:prstGeom prst="rect">
              <a:avLst/>
            </a:prstGeom>
            <a:no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1337041" y="2064"/>
              <a:ext cx="3817437" cy="115820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txBox="1"/>
            <p:nvPr/>
          </p:nvSpPr>
          <p:spPr>
            <a:xfrm>
              <a:off x="1337041" y="2064"/>
              <a:ext cx="3817437" cy="1158203"/>
            </a:xfrm>
            <a:prstGeom prst="rect">
              <a:avLst/>
            </a:prstGeom>
            <a:noFill/>
            <a:ln>
              <a:noFill/>
            </a:ln>
          </p:spPr>
          <p:txBody>
            <a:bodyPr anchorCtr="0" anchor="ctr" bIns="122575" lIns="122575" spcFirstLastPara="1" rIns="122575" wrap="square" tIns="122575">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What results suggest:</a:t>
              </a:r>
              <a:r>
                <a:rPr b="0" i="0" lang="en-US" sz="1400" u="none" cap="none" strike="noStrike">
                  <a:solidFill>
                    <a:schemeClr val="dk1"/>
                  </a:solidFill>
                  <a:latin typeface="Arial"/>
                  <a:ea typeface="Arial"/>
                  <a:cs typeface="Arial"/>
                  <a:sym typeface="Arial"/>
                </a:rPr>
                <a:t> silhouette favors small </a:t>
              </a:r>
              <a:r>
                <a:rPr b="0" i="1" lang="en-US" sz="1400" u="none" cap="none" strike="noStrike">
                  <a:solidFill>
                    <a:schemeClr val="dk1"/>
                  </a:solidFill>
                  <a:latin typeface="Arial"/>
                  <a:ea typeface="Arial"/>
                  <a:cs typeface="Arial"/>
                  <a:sym typeface="Arial"/>
                </a:rPr>
                <a:t>k</a:t>
              </a:r>
              <a:r>
                <a:rPr b="0" i="0" lang="en-US" sz="1400" u="none" cap="none" strike="noStrike">
                  <a:solidFill>
                    <a:schemeClr val="dk1"/>
                  </a:solidFill>
                  <a:latin typeface="Arial"/>
                  <a:ea typeface="Arial"/>
                  <a:cs typeface="Arial"/>
                  <a:sym typeface="Arial"/>
                </a:rPr>
                <a:t> and raw in this run; CNN gives interpretable partitions at </a:t>
              </a:r>
              <a:r>
                <a:rPr b="0" i="1" lang="en-US" sz="1400" u="none" cap="none" strike="noStrike">
                  <a:solidFill>
                    <a:schemeClr val="dk1"/>
                  </a:solidFill>
                  <a:latin typeface="Arial"/>
                  <a:ea typeface="Arial"/>
                  <a:cs typeface="Arial"/>
                  <a:sym typeface="Arial"/>
                </a:rPr>
                <a:t>k</a:t>
              </a:r>
              <a:r>
                <a:rPr b="0" i="0" lang="en-US" sz="1400" u="none" cap="none" strike="noStrike">
                  <a:solidFill>
                    <a:schemeClr val="dk1"/>
                  </a:solidFill>
                  <a:latin typeface="Arial"/>
                  <a:ea typeface="Arial"/>
                  <a:cs typeface="Arial"/>
                  <a:sym typeface="Arial"/>
                </a:rPr>
                <a:t>=4; handcrafted needs re-tuning or different scaling / dimensionality</a:t>
              </a:r>
              <a:endParaRPr/>
            </a:p>
          </p:txBody>
        </p:sp>
        <p:sp>
          <p:nvSpPr>
            <p:cNvPr id="226" name="Google Shape;226;p9"/>
            <p:cNvSpPr/>
            <p:nvPr/>
          </p:nvSpPr>
          <p:spPr>
            <a:xfrm>
              <a:off x="0" y="1410690"/>
              <a:ext cx="5278066" cy="1157072"/>
            </a:xfrm>
            <a:prstGeom prst="roundRect">
              <a:avLst>
                <a:gd fmla="val 10000" name="adj"/>
              </a:avLst>
            </a:prstGeom>
            <a:solidFill>
              <a:srgbClr val="CAD1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350014" y="1671031"/>
              <a:ext cx="637012" cy="636389"/>
            </a:xfrm>
            <a:prstGeom prst="rect">
              <a:avLst/>
            </a:prstGeom>
            <a:no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1337041" y="1410690"/>
              <a:ext cx="3817437" cy="115820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txBox="1"/>
            <p:nvPr/>
          </p:nvSpPr>
          <p:spPr>
            <a:xfrm>
              <a:off x="1337041" y="1410690"/>
              <a:ext cx="3817437" cy="1158203"/>
            </a:xfrm>
            <a:prstGeom prst="rect">
              <a:avLst/>
            </a:prstGeom>
            <a:noFill/>
            <a:ln>
              <a:noFill/>
            </a:ln>
          </p:spPr>
          <p:txBody>
            <a:bodyPr anchorCtr="0" anchor="ctr" bIns="122575" lIns="122575" spcFirstLastPara="1" rIns="122575" wrap="square" tIns="122575">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Open questions:</a:t>
              </a:r>
              <a:r>
                <a:rPr b="0" i="0" lang="en-US" sz="1400" u="none" cap="none" strike="noStrike">
                  <a:solidFill>
                    <a:schemeClr val="dk1"/>
                  </a:solidFill>
                  <a:latin typeface="Arial"/>
                  <a:ea typeface="Arial"/>
                  <a:cs typeface="Arial"/>
                  <a:sym typeface="Arial"/>
                </a:rPr>
                <a:t> does PCA variance or HOG cell size explain handcrafted failure? does CNN benefit from different </a:t>
              </a:r>
              <a:r>
                <a:rPr b="0" i="1" lang="en-US" sz="1400" u="none" cap="none" strike="noStrike">
                  <a:solidFill>
                    <a:schemeClr val="dk1"/>
                  </a:solidFill>
                  <a:latin typeface="Arial"/>
                  <a:ea typeface="Arial"/>
                  <a:cs typeface="Arial"/>
                  <a:sym typeface="Arial"/>
                </a:rPr>
                <a:t>k</a:t>
              </a:r>
              <a:r>
                <a:rPr b="0" i="0" lang="en-US" sz="1400" u="none" cap="none" strike="noStrike">
                  <a:solidFill>
                    <a:schemeClr val="dk1"/>
                  </a:solidFill>
                  <a:latin typeface="Arial"/>
                  <a:ea typeface="Arial"/>
                  <a:cs typeface="Arial"/>
                  <a:sym typeface="Arial"/>
                </a:rPr>
                <a:t> or backbone?</a:t>
              </a:r>
              <a:endParaRPr/>
            </a:p>
          </p:txBody>
        </p:sp>
        <p:sp>
          <p:nvSpPr>
            <p:cNvPr id="230" name="Google Shape;230;p9"/>
            <p:cNvSpPr/>
            <p:nvPr/>
          </p:nvSpPr>
          <p:spPr>
            <a:xfrm>
              <a:off x="0" y="2819316"/>
              <a:ext cx="5278066" cy="1157072"/>
            </a:xfrm>
            <a:prstGeom prst="roundRect">
              <a:avLst>
                <a:gd fmla="val 10000" name="adj"/>
              </a:avLst>
            </a:prstGeom>
            <a:solidFill>
              <a:srgbClr val="CAD1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350014" y="3079658"/>
              <a:ext cx="637012" cy="636389"/>
            </a:xfrm>
            <a:prstGeom prst="rect">
              <a:avLst/>
            </a:prstGeom>
            <a:no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1337041" y="2819316"/>
              <a:ext cx="3817437" cy="115820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txBox="1"/>
            <p:nvPr/>
          </p:nvSpPr>
          <p:spPr>
            <a:xfrm>
              <a:off x="1337041" y="2819316"/>
              <a:ext cx="3817437" cy="1158203"/>
            </a:xfrm>
            <a:prstGeom prst="rect">
              <a:avLst/>
            </a:prstGeom>
            <a:noFill/>
            <a:ln>
              <a:noFill/>
            </a:ln>
          </p:spPr>
          <p:txBody>
            <a:bodyPr anchorCtr="0" anchor="ctr" bIns="122575" lIns="122575" spcFirstLastPara="1" rIns="122575" wrap="square" tIns="122575">
              <a:no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Next steps:</a:t>
              </a:r>
              <a:r>
                <a:rPr b="0" i="0" lang="en-US" sz="1400" u="none" cap="none" strike="noStrike">
                  <a:solidFill>
                    <a:schemeClr val="dk1"/>
                  </a:solidFill>
                  <a:latin typeface="Arial"/>
                  <a:ea typeface="Arial"/>
                  <a:cs typeface="Arial"/>
                  <a:sym typeface="Arial"/>
                </a:rPr>
                <a:t> finalize </a:t>
              </a:r>
              <a:r>
                <a:rPr b="0" i="1" lang="en-US" sz="1400" u="none" cap="none" strike="noStrike">
                  <a:solidFill>
                    <a:schemeClr val="dk1"/>
                  </a:solidFill>
                  <a:latin typeface="Arial"/>
                  <a:ea typeface="Arial"/>
                  <a:cs typeface="Arial"/>
                  <a:sym typeface="Arial"/>
                </a:rPr>
                <a:t>N</a:t>
              </a:r>
              <a:r>
                <a:rPr b="0" i="0" lang="en-US" sz="1400" u="none" cap="none" strike="noStrike">
                  <a:solidFill>
                    <a:schemeClr val="dk1"/>
                  </a:solidFill>
                  <a:latin typeface="Arial"/>
                  <a:ea typeface="Arial"/>
                  <a:cs typeface="Arial"/>
                  <a:sym typeface="Arial"/>
                </a:rPr>
                <a:t> and </a:t>
              </a:r>
              <a:r>
                <a:rPr b="0" i="1" lang="en-US" sz="1400" u="none" cap="none" strike="noStrike">
                  <a:solidFill>
                    <a:schemeClr val="dk1"/>
                  </a:solidFill>
                  <a:latin typeface="Arial"/>
                  <a:ea typeface="Arial"/>
                  <a:cs typeface="Arial"/>
                  <a:sym typeface="Arial"/>
                </a:rPr>
                <a:t>k</a:t>
              </a:r>
              <a:r>
                <a:rPr b="0" i="0" lang="en-US" sz="1400" u="none" cap="none" strike="noStrike">
                  <a:solidFill>
                    <a:schemeClr val="dk1"/>
                  </a:solidFill>
                  <a:latin typeface="Arial"/>
                  <a:ea typeface="Arial"/>
                  <a:cs typeface="Arial"/>
                  <a:sym typeface="Arial"/>
                </a:rPr>
                <a:t> range for final report; document runtime; expand per-cluster samples; relate low ARI/NMI to limitation_notes in code; final paper PDF and Drive deck naming per instructions</a:t>
              </a:r>
              <a:endParaRPr/>
            </a:p>
          </p:txBody>
        </p:sp>
      </p:grpSp>
      <p:sp>
        <p:nvSpPr>
          <p:cNvPr id="234" name="Google Shape;234;p9"/>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5" name="Google Shape;235;p9"/>
          <p:cNvSpPr/>
          <p:nvPr/>
        </p:nvSpPr>
        <p:spPr>
          <a:xfrm>
            <a:off x="6849687" y="357447"/>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36" name="Google Shape;236;p9"/>
          <p:cNvPicPr preferRelativeResize="0"/>
          <p:nvPr/>
        </p:nvPicPr>
        <p:blipFill rotWithShape="1">
          <a:blip r:embed="rId3">
            <a:alphaModFix/>
          </a:blip>
          <a:srcRect b="-1" l="0" r="11833" t="0"/>
          <a:stretch/>
        </p:blipFill>
        <p:spPr>
          <a:xfrm>
            <a:off x="7083423" y="581892"/>
            <a:ext cx="4397433" cy="2518756"/>
          </a:xfrm>
          <a:prstGeom prst="rect">
            <a:avLst/>
          </a:prstGeom>
          <a:noFill/>
          <a:ln>
            <a:noFill/>
          </a:ln>
        </p:spPr>
      </p:pic>
      <p:sp>
        <p:nvSpPr>
          <p:cNvPr id="237" name="Google Shape;237;p9"/>
          <p:cNvSpPr/>
          <p:nvPr/>
        </p:nvSpPr>
        <p:spPr>
          <a:xfrm>
            <a:off x="6849687" y="3505479"/>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38" name="Google Shape;238;p9"/>
          <p:cNvPicPr preferRelativeResize="0"/>
          <p:nvPr/>
        </p:nvPicPr>
        <p:blipFill rotWithShape="1">
          <a:blip r:embed="rId4">
            <a:alphaModFix/>
          </a:blip>
          <a:srcRect b="28135" l="0" r="1" t="6377"/>
          <a:stretch/>
        </p:blipFill>
        <p:spPr>
          <a:xfrm>
            <a:off x="7083423" y="3707894"/>
            <a:ext cx="4395569" cy="2518756"/>
          </a:xfrm>
          <a:prstGeom prst="rect">
            <a:avLst/>
          </a:prstGeom>
          <a:noFill/>
          <a:ln>
            <a:noFill/>
          </a:ln>
        </p:spPr>
      </p:pic>
      <p:sp>
        <p:nvSpPr>
          <p:cNvPr id="239" name="Google Shape;239;p9"/>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https://github.com/D3VTHSTVR/plant_clustering</a:t>
            </a:r>
            <a:endParaRPr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10"/>
          <p:cNvSpPr/>
          <p:nvPr/>
        </p:nvSpPr>
        <p:spPr>
          <a:xfrm flipH="1" rot="10800000">
            <a:off x="2" y="0"/>
            <a:ext cx="12191998" cy="1575955"/>
          </a:xfrm>
          <a:prstGeom prst="rect">
            <a:avLst/>
          </a:prstGeom>
          <a:gradFill>
            <a:gsLst>
              <a:gs pos="0">
                <a:srgbClr val="000000">
                  <a:alpha val="96078"/>
                </a:srgbClr>
              </a:gs>
              <a:gs pos="100000">
                <a:srgbClr val="0F4861"/>
              </a:gs>
            </a:gsLst>
            <a:lin ang="6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 name="Google Shape;247;p10"/>
          <p:cNvSpPr/>
          <p:nvPr/>
        </p:nvSpPr>
        <p:spPr>
          <a:xfrm>
            <a:off x="0" y="0"/>
            <a:ext cx="8128856" cy="1575461"/>
          </a:xfrm>
          <a:prstGeom prst="rect">
            <a:avLst/>
          </a:prstGeom>
          <a:gradFill>
            <a:gsLst>
              <a:gs pos="0">
                <a:srgbClr val="156082">
                  <a:alpha val="41176"/>
                </a:srgbClr>
              </a:gs>
              <a:gs pos="74000">
                <a:srgbClr val="43AFE2">
                  <a:alpha val="0"/>
                </a:srgbClr>
              </a:gs>
              <a:gs pos="100000">
                <a:srgbClr val="43AFE2">
                  <a:alpha val="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10"/>
          <p:cNvSpPr/>
          <p:nvPr/>
        </p:nvSpPr>
        <p:spPr>
          <a:xfrm flipH="1">
            <a:off x="-3" y="-1"/>
            <a:ext cx="12192002" cy="1574311"/>
          </a:xfrm>
          <a:prstGeom prst="rect">
            <a:avLst/>
          </a:prstGeom>
          <a:gradFill>
            <a:gsLst>
              <a:gs pos="0">
                <a:srgbClr val="000000">
                  <a:alpha val="63137"/>
                </a:srgbClr>
              </a:gs>
              <a:gs pos="78000">
                <a:srgbClr val="156082">
                  <a:alpha val="14901"/>
                </a:srgbClr>
              </a:gs>
              <a:gs pos="100000">
                <a:srgbClr val="156082">
                  <a:alpha val="14901"/>
                </a:srgbClr>
              </a:gs>
            </a:gsLst>
            <a:lin ang="15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 name="Google Shape;249;p10"/>
          <p:cNvSpPr txBox="1"/>
          <p:nvPr>
            <p:ph type="title"/>
          </p:nvPr>
        </p:nvSpPr>
        <p:spPr>
          <a:xfrm>
            <a:off x="699713" y="248038"/>
            <a:ext cx="7063721" cy="1159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000"/>
              <a:buFont typeface="Play"/>
              <a:buNone/>
            </a:pPr>
            <a:r>
              <a:rPr b="1" lang="en-US" sz="4000">
                <a:solidFill>
                  <a:srgbClr val="FFFFFF"/>
                </a:solidFill>
                <a:latin typeface="Play"/>
                <a:ea typeface="Play"/>
                <a:cs typeface="Play"/>
                <a:sym typeface="Play"/>
              </a:rPr>
              <a:t>Code snippet</a:t>
            </a:r>
            <a:endParaRPr/>
          </a:p>
        </p:txBody>
      </p:sp>
      <p:sp>
        <p:nvSpPr>
          <p:cNvPr id="250" name="Google Shape;250;p10"/>
          <p:cNvSpPr txBox="1"/>
          <p:nvPr/>
        </p:nvSpPr>
        <p:spPr>
          <a:xfrm>
            <a:off x="8572499" y="390832"/>
            <a:ext cx="3233585" cy="87361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lang="en-US" sz="2000">
                <a:solidFill>
                  <a:srgbClr val="FFFFFF"/>
                </a:solidFill>
                <a:latin typeface="Arial"/>
                <a:ea typeface="Arial"/>
                <a:cs typeface="Arial"/>
                <a:sym typeface="Arial"/>
              </a:rPr>
              <a:t>https://github.com/D3VTHSTVR/plant_clustering</a:t>
            </a:r>
            <a:endParaRPr/>
          </a:p>
        </p:txBody>
      </p:sp>
      <p:pic>
        <p:nvPicPr>
          <p:cNvPr id="251" name="Google Shape;251;p10"/>
          <p:cNvPicPr preferRelativeResize="0"/>
          <p:nvPr/>
        </p:nvPicPr>
        <p:blipFill rotWithShape="1">
          <a:blip r:embed="rId3">
            <a:alphaModFix/>
          </a:blip>
          <a:srcRect b="0" l="0" r="0" t="0"/>
          <a:stretch/>
        </p:blipFill>
        <p:spPr>
          <a:xfrm>
            <a:off x="2710326" y="1966293"/>
            <a:ext cx="6771346" cy="44521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sp>
        <p:nvSpPr>
          <p:cNvPr id="257" name="Google Shape;257;p11"/>
          <p:cNvSpPr/>
          <p:nvPr/>
        </p:nvSpPr>
        <p:spPr>
          <a:xfrm rot="-5400000">
            <a:off x="358254" y="-358254"/>
            <a:ext cx="6858000" cy="7574507"/>
          </a:xfrm>
          <a:prstGeom prst="rect">
            <a:avLst/>
          </a:prstGeom>
          <a:solidFill>
            <a:schemeClr val="lt1"/>
          </a:solidFill>
          <a:ln>
            <a:noFill/>
          </a:ln>
          <a:effectLst>
            <a:outerShdw blurRad="304800" sx="94000" rotWithShape="0" algn="l" dist="317500" sy="94000">
              <a:srgbClr val="000000">
                <a:alpha val="3215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11"/>
          <p:cNvSpPr txBox="1"/>
          <p:nvPr>
            <p:ph type="title"/>
          </p:nvPr>
        </p:nvSpPr>
        <p:spPr>
          <a:xfrm>
            <a:off x="758952" y="4853796"/>
            <a:ext cx="6032738" cy="128821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Timeline</a:t>
            </a:r>
            <a:endParaRPr/>
          </a:p>
        </p:txBody>
      </p:sp>
      <p:sp>
        <p:nvSpPr>
          <p:cNvPr id="259" name="Google Shape;259;p11"/>
          <p:cNvSpPr txBox="1"/>
          <p:nvPr>
            <p:ph idx="1" type="body"/>
          </p:nvPr>
        </p:nvSpPr>
        <p:spPr>
          <a:xfrm>
            <a:off x="8266006" y="743803"/>
            <a:ext cx="3304272" cy="547417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100"/>
              <a:buNone/>
            </a:pPr>
            <a:r>
              <a:rPr b="1" lang="en-US" sz="1100"/>
              <a:t>Phase 1: Setup</a:t>
            </a:r>
            <a:endParaRPr sz="1100"/>
          </a:p>
          <a:p>
            <a:pPr indent="-228600" lvl="0" marL="228600" rtl="0" algn="l">
              <a:lnSpc>
                <a:spcPct val="90000"/>
              </a:lnSpc>
              <a:spcBef>
                <a:spcPts val="1000"/>
              </a:spcBef>
              <a:spcAft>
                <a:spcPts val="0"/>
              </a:spcAft>
              <a:buClr>
                <a:schemeClr val="dk1"/>
              </a:buClr>
              <a:buSzPts val="1100"/>
              <a:buChar char="•"/>
            </a:pPr>
            <a:r>
              <a:rPr lang="en-US" sz="1100"/>
              <a:t>Dataset selection and download</a:t>
            </a:r>
            <a:endParaRPr/>
          </a:p>
          <a:p>
            <a:pPr indent="-228600" lvl="0" marL="228600" rtl="0" algn="l">
              <a:lnSpc>
                <a:spcPct val="90000"/>
              </a:lnSpc>
              <a:spcBef>
                <a:spcPts val="1000"/>
              </a:spcBef>
              <a:spcAft>
                <a:spcPts val="0"/>
              </a:spcAft>
              <a:buClr>
                <a:schemeClr val="dk1"/>
              </a:buClr>
              <a:buSzPts val="1100"/>
              <a:buChar char="•"/>
            </a:pPr>
            <a:r>
              <a:rPr lang="en-US" sz="1100"/>
              <a:t>Build preprocessing pipeline</a:t>
            </a:r>
            <a:endParaRPr/>
          </a:p>
          <a:p>
            <a:pPr indent="0" lvl="0" marL="0" rtl="0" algn="l">
              <a:lnSpc>
                <a:spcPct val="90000"/>
              </a:lnSpc>
              <a:spcBef>
                <a:spcPts val="1000"/>
              </a:spcBef>
              <a:spcAft>
                <a:spcPts val="0"/>
              </a:spcAft>
              <a:buClr>
                <a:schemeClr val="dk1"/>
              </a:buClr>
              <a:buSzPts val="1100"/>
              <a:buNone/>
            </a:pPr>
            <a:r>
              <a:t/>
            </a:r>
            <a:endParaRPr sz="1100"/>
          </a:p>
          <a:p>
            <a:pPr indent="0" lvl="0" marL="0" rtl="0" algn="l">
              <a:lnSpc>
                <a:spcPct val="90000"/>
              </a:lnSpc>
              <a:spcBef>
                <a:spcPts val="1000"/>
              </a:spcBef>
              <a:spcAft>
                <a:spcPts val="0"/>
              </a:spcAft>
              <a:buClr>
                <a:schemeClr val="dk1"/>
              </a:buClr>
              <a:buSzPts val="1100"/>
              <a:buNone/>
            </a:pPr>
            <a:r>
              <a:rPr b="1" lang="en-US" sz="1100"/>
              <a:t>Phase 2: Feature Engineering </a:t>
            </a:r>
            <a:endParaRPr sz="1100"/>
          </a:p>
          <a:p>
            <a:pPr indent="-228600" lvl="0" marL="228600" rtl="0" algn="l">
              <a:lnSpc>
                <a:spcPct val="90000"/>
              </a:lnSpc>
              <a:spcBef>
                <a:spcPts val="1000"/>
              </a:spcBef>
              <a:spcAft>
                <a:spcPts val="0"/>
              </a:spcAft>
              <a:buClr>
                <a:schemeClr val="dk1"/>
              </a:buClr>
              <a:buSzPts val="1100"/>
              <a:buChar char="•"/>
            </a:pPr>
            <a:r>
              <a:rPr lang="en-US" sz="1100"/>
              <a:t>Implement raw pixel baseline</a:t>
            </a:r>
            <a:endParaRPr/>
          </a:p>
          <a:p>
            <a:pPr indent="-228600" lvl="0" marL="228600" rtl="0" algn="l">
              <a:lnSpc>
                <a:spcPct val="90000"/>
              </a:lnSpc>
              <a:spcBef>
                <a:spcPts val="1000"/>
              </a:spcBef>
              <a:spcAft>
                <a:spcPts val="0"/>
              </a:spcAft>
              <a:buClr>
                <a:schemeClr val="dk1"/>
              </a:buClr>
              <a:buSzPts val="1100"/>
              <a:buChar char="•"/>
            </a:pPr>
            <a:r>
              <a:rPr lang="en-US" sz="1100"/>
              <a:t>Implement handcrafted features</a:t>
            </a:r>
            <a:endParaRPr/>
          </a:p>
          <a:p>
            <a:pPr indent="-228600" lvl="0" marL="228600" rtl="0" algn="l">
              <a:lnSpc>
                <a:spcPct val="90000"/>
              </a:lnSpc>
              <a:spcBef>
                <a:spcPts val="1000"/>
              </a:spcBef>
              <a:spcAft>
                <a:spcPts val="0"/>
              </a:spcAft>
              <a:buClr>
                <a:schemeClr val="dk1"/>
              </a:buClr>
              <a:buSzPts val="1100"/>
              <a:buChar char="•"/>
            </a:pPr>
            <a:r>
              <a:rPr lang="en-US" sz="1100"/>
              <a:t>Implement CNN embedding extraction</a:t>
            </a:r>
            <a:endParaRPr/>
          </a:p>
          <a:p>
            <a:pPr indent="0" lvl="0" marL="0" rtl="0" algn="l">
              <a:lnSpc>
                <a:spcPct val="90000"/>
              </a:lnSpc>
              <a:spcBef>
                <a:spcPts val="1000"/>
              </a:spcBef>
              <a:spcAft>
                <a:spcPts val="0"/>
              </a:spcAft>
              <a:buClr>
                <a:schemeClr val="dk1"/>
              </a:buClr>
              <a:buSzPts val="1100"/>
              <a:buNone/>
            </a:pPr>
            <a:r>
              <a:t/>
            </a:r>
            <a:endParaRPr sz="1100"/>
          </a:p>
          <a:p>
            <a:pPr indent="0" lvl="0" marL="0" rtl="0" algn="l">
              <a:lnSpc>
                <a:spcPct val="90000"/>
              </a:lnSpc>
              <a:spcBef>
                <a:spcPts val="1000"/>
              </a:spcBef>
              <a:spcAft>
                <a:spcPts val="0"/>
              </a:spcAft>
              <a:buClr>
                <a:schemeClr val="dk1"/>
              </a:buClr>
              <a:buSzPts val="1100"/>
              <a:buNone/>
            </a:pPr>
            <a:r>
              <a:rPr b="1" lang="en-US" sz="1100"/>
              <a:t>Phase 3: Clustering</a:t>
            </a:r>
            <a:endParaRPr sz="1100"/>
          </a:p>
          <a:p>
            <a:pPr indent="-228600" lvl="0" marL="228600" rtl="0" algn="l">
              <a:lnSpc>
                <a:spcPct val="90000"/>
              </a:lnSpc>
              <a:spcBef>
                <a:spcPts val="1000"/>
              </a:spcBef>
              <a:spcAft>
                <a:spcPts val="0"/>
              </a:spcAft>
              <a:buClr>
                <a:schemeClr val="dk1"/>
              </a:buClr>
              <a:buSzPts val="1100"/>
              <a:buChar char="•"/>
            </a:pPr>
            <a:r>
              <a:rPr lang="en-US" sz="1100"/>
              <a:t>Apply KMeans</a:t>
            </a:r>
            <a:endParaRPr sz="1100"/>
          </a:p>
          <a:p>
            <a:pPr indent="-228600" lvl="0" marL="228600" rtl="0" algn="l">
              <a:lnSpc>
                <a:spcPct val="90000"/>
              </a:lnSpc>
              <a:spcBef>
                <a:spcPts val="1000"/>
              </a:spcBef>
              <a:spcAft>
                <a:spcPts val="0"/>
              </a:spcAft>
              <a:buClr>
                <a:schemeClr val="dk1"/>
              </a:buClr>
              <a:buSzPts val="1100"/>
              <a:buChar char="•"/>
            </a:pPr>
            <a:r>
              <a:rPr lang="en-US" sz="1100"/>
              <a:t>Tune number of clusters</a:t>
            </a:r>
            <a:endParaRPr/>
          </a:p>
          <a:p>
            <a:pPr indent="-228600" lvl="0" marL="228600" rtl="0" algn="l">
              <a:lnSpc>
                <a:spcPct val="90000"/>
              </a:lnSpc>
              <a:spcBef>
                <a:spcPts val="1000"/>
              </a:spcBef>
              <a:spcAft>
                <a:spcPts val="0"/>
              </a:spcAft>
              <a:buClr>
                <a:schemeClr val="dk1"/>
              </a:buClr>
              <a:buSzPts val="1100"/>
              <a:buChar char="•"/>
            </a:pPr>
            <a:r>
              <a:rPr lang="en-US" sz="1100"/>
              <a:t>Compute silhouette scores</a:t>
            </a:r>
            <a:endParaRPr/>
          </a:p>
          <a:p>
            <a:pPr indent="0" lvl="0" marL="0" rtl="0" algn="l">
              <a:lnSpc>
                <a:spcPct val="90000"/>
              </a:lnSpc>
              <a:spcBef>
                <a:spcPts val="1000"/>
              </a:spcBef>
              <a:spcAft>
                <a:spcPts val="0"/>
              </a:spcAft>
              <a:buClr>
                <a:schemeClr val="dk1"/>
              </a:buClr>
              <a:buSzPts val="1100"/>
              <a:buNone/>
            </a:pPr>
            <a:r>
              <a:t/>
            </a:r>
            <a:endParaRPr sz="1100"/>
          </a:p>
          <a:p>
            <a:pPr indent="0" lvl="0" marL="0" rtl="0" algn="l">
              <a:lnSpc>
                <a:spcPct val="90000"/>
              </a:lnSpc>
              <a:spcBef>
                <a:spcPts val="1000"/>
              </a:spcBef>
              <a:spcAft>
                <a:spcPts val="0"/>
              </a:spcAft>
              <a:buClr>
                <a:schemeClr val="dk1"/>
              </a:buClr>
              <a:buSzPts val="1100"/>
              <a:buNone/>
            </a:pPr>
            <a:r>
              <a:rPr b="1" lang="en-US" sz="1100"/>
              <a:t>Phase 4: Evaluation and Report</a:t>
            </a:r>
            <a:endParaRPr sz="1100"/>
          </a:p>
          <a:p>
            <a:pPr indent="-228600" lvl="0" marL="228600" rtl="0" algn="l">
              <a:lnSpc>
                <a:spcPct val="90000"/>
              </a:lnSpc>
              <a:spcBef>
                <a:spcPts val="1000"/>
              </a:spcBef>
              <a:spcAft>
                <a:spcPts val="0"/>
              </a:spcAft>
              <a:buClr>
                <a:schemeClr val="dk1"/>
              </a:buClr>
              <a:buSzPts val="1100"/>
              <a:buChar char="•"/>
            </a:pPr>
            <a:r>
              <a:rPr lang="en-US" sz="1100"/>
              <a:t>Visualize cluster samples</a:t>
            </a:r>
            <a:endParaRPr/>
          </a:p>
          <a:p>
            <a:pPr indent="-228600" lvl="0" marL="228600" rtl="0" algn="l">
              <a:lnSpc>
                <a:spcPct val="90000"/>
              </a:lnSpc>
              <a:spcBef>
                <a:spcPts val="1000"/>
              </a:spcBef>
              <a:spcAft>
                <a:spcPts val="0"/>
              </a:spcAft>
              <a:buClr>
                <a:schemeClr val="dk1"/>
              </a:buClr>
              <a:buSzPts val="1100"/>
              <a:buChar char="•"/>
            </a:pPr>
            <a:r>
              <a:rPr lang="en-US" sz="1100"/>
              <a:t>Compare feature methods</a:t>
            </a:r>
            <a:endParaRPr/>
          </a:p>
          <a:p>
            <a:pPr indent="-228600" lvl="0" marL="228600" rtl="0" algn="l">
              <a:lnSpc>
                <a:spcPct val="90000"/>
              </a:lnSpc>
              <a:spcBef>
                <a:spcPts val="1000"/>
              </a:spcBef>
              <a:spcAft>
                <a:spcPts val="0"/>
              </a:spcAft>
              <a:buClr>
                <a:schemeClr val="dk1"/>
              </a:buClr>
              <a:buSzPts val="1100"/>
              <a:buChar char="•"/>
            </a:pPr>
            <a:r>
              <a:rPr lang="en-US" sz="1100"/>
              <a:t>Write analysis and conclusions</a:t>
            </a:r>
            <a:endParaRPr/>
          </a:p>
        </p:txBody>
      </p:sp>
      <p:sp>
        <p:nvSpPr>
          <p:cNvPr id="260" name="Google Shape;260;p11"/>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https://github.com/D3VTHSTVR/plant_clustering</a:t>
            </a:r>
            <a:endParaRPr/>
          </a:p>
        </p:txBody>
      </p:sp>
      <p:pic>
        <p:nvPicPr>
          <p:cNvPr id="261" name="Google Shape;261;p11"/>
          <p:cNvPicPr preferRelativeResize="0"/>
          <p:nvPr/>
        </p:nvPicPr>
        <p:blipFill rotWithShape="1">
          <a:blip r:embed="rId3">
            <a:alphaModFix/>
          </a:blip>
          <a:srcRect b="0" l="0" r="0" t="0"/>
          <a:stretch/>
        </p:blipFill>
        <p:spPr>
          <a:xfrm>
            <a:off x="-93237" y="-10160"/>
            <a:ext cx="12376677" cy="69604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5" name="Shape 265"/>
        <p:cNvGrpSpPr/>
        <p:nvPr/>
      </p:nvGrpSpPr>
      <p:grpSpPr>
        <a:xfrm>
          <a:off x="0" y="0"/>
          <a:ext cx="0" cy="0"/>
          <a:chOff x="0" y="0"/>
          <a:chExt cx="0" cy="0"/>
        </a:xfrm>
      </p:grpSpPr>
      <p:sp>
        <p:nvSpPr>
          <p:cNvPr id="266" name="Google Shape;266;p12"/>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 name="Google Shape;267;p12"/>
          <p:cNvSpPr/>
          <p:nvPr/>
        </p:nvSpPr>
        <p:spPr>
          <a:xfrm>
            <a:off x="0" y="2"/>
            <a:ext cx="12192000" cy="441258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 name="Google Shape;268;p12"/>
          <p:cNvSpPr/>
          <p:nvPr/>
        </p:nvSpPr>
        <p:spPr>
          <a:xfrm>
            <a:off x="596464" y="551962"/>
            <a:ext cx="10999072" cy="4618549"/>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 name="Google Shape;269;p12"/>
          <p:cNvSpPr txBox="1"/>
          <p:nvPr>
            <p:ph type="title"/>
          </p:nvPr>
        </p:nvSpPr>
        <p:spPr>
          <a:xfrm>
            <a:off x="1524000" y="1293338"/>
            <a:ext cx="9144000" cy="32745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7200"/>
              <a:buFont typeface="Play"/>
              <a:buNone/>
            </a:pPr>
            <a:r>
              <a:rPr lang="en-US" sz="7200">
                <a:solidFill>
                  <a:schemeClr val="dk1"/>
                </a:solidFill>
                <a:latin typeface="Play"/>
                <a:ea typeface="Play"/>
                <a:cs typeface="Play"/>
                <a:sym typeface="Play"/>
              </a:rPr>
              <a:t>Thank you</a:t>
            </a:r>
            <a:endParaRPr/>
          </a:p>
        </p:txBody>
      </p:sp>
      <p:cxnSp>
        <p:nvCxnSpPr>
          <p:cNvPr id="270" name="Google Shape;270;p12"/>
          <p:cNvCxnSpPr/>
          <p:nvPr/>
        </p:nvCxnSpPr>
        <p:spPr>
          <a:xfrm rot="10800000">
            <a:off x="596464" y="6354708"/>
            <a:ext cx="11000232" cy="0"/>
          </a:xfrm>
          <a:prstGeom prst="straightConnector1">
            <a:avLst/>
          </a:prstGeom>
          <a:noFill/>
          <a:ln cap="flat" cmpd="sng" w="101600">
            <a:solidFill>
              <a:schemeClr val="accent4"/>
            </a:solidFill>
            <a:prstDash val="solid"/>
            <a:miter lim="800000"/>
            <a:headEnd len="sm" w="sm" type="none"/>
            <a:tailEnd len="sm" w="sm" type="none"/>
          </a:ln>
        </p:spPr>
      </p:cxnSp>
      <p:sp>
        <p:nvSpPr>
          <p:cNvPr id="271" name="Google Shape;271;p12"/>
          <p:cNvSpPr txBox="1"/>
          <p:nvPr/>
        </p:nvSpPr>
        <p:spPr>
          <a:xfrm>
            <a:off x="-6828" y="6554827"/>
            <a:ext cx="4999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https://github.com/D3VTHSTVR/plant_clustering</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69"/>
                                        </p:tgtEl>
                                        <p:attrNameLst>
                                          <p:attrName>style.visibility</p:attrName>
                                        </p:attrNameLst>
                                      </p:cBhvr>
                                      <p:to>
                                        <p:strVal val="visible"/>
                                      </p:to>
                                    </p:set>
                                    <p:animEffect filter="fade" transition="in">
                                      <p:cBhvr>
                                        <p:cTn dur="7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2026-04-07T19:57:42Z</dcterms:created>
  <dc:creator>Victor Rodriguez</dc:creator>
</cp:coreProperties>
</file>